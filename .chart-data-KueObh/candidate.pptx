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slides/charts/rt-v01-chart1.xml" ContentType="application/vnd.openxmlformats-officedocument.drawingml.chart+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823" r:id="rId4"/>
    <p:sldMasterId id="2147483826" r:id="rId5"/>
    <p:sldMasterId id="2147483841" r:id="rId6"/>
  </p:sldMasterIdLst>
  <p:notesMasterIdLst>
    <p:notesMasterId r:id="rId10"/>
  </p:notesMasterIdLst>
  <p:handoutMasterIdLst>
    <p:handoutMasterId r:id="rId11"/>
  </p:handoutMasterIdLst>
  <p:sldIdLst>
    <p:sldId id="501" r:id="rIdRtSlide1"/>
    <p:sldId id="502" r:id="rIdRtSlide2"/>
    <p:sldId id="503" r:id="rIdRtSlide3"/>
    <p:sldId id="504" r:id="rIdRtSlide4"/>
    <p:sldId id="505" r:id="rIdRtSlide5"/>
    <p:sldId id="506" r:id="rIdRtSlide6"/>
    <p:sldId id="507" r:id="rIdRtSlide7"/>
    <p:sldId id="508" r:id="rIdRtSlide8"/>
    <p:sldId id="509" r:id="rIdRtSlide9"/>
    <p:sldId id="510" r:id="rIdRtSlide10"/>
    <p:sldId id="511" r:id="rIdRtSlide11"/>
    <p:sldId id="512" r:id="rIdRtSlide12"/>
    <p:sldId id="513" r:id="rIdRtSlide13"/>
  </p:sldIdLst>
  <p:sldSz cx="12192000" cy="6858000"/>
  <p:notesSz cx="6858000" cy="9144000"/>
  <p:embeddedFontLst>
    <p:embeddedFont>
      <p:font typeface="Calibri Bold" panose="020F0702030404030204" pitchFamily="34" charset="0"/>
      <p:bold r:id="rId12"/>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FF7E29"/>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5777" autoAdjust="0"/>
  </p:normalViewPr>
  <p:slideViewPr>
    <p:cSldViewPr snapToGrid="0">
      <p:cViewPr varScale="1">
        <p:scale>
          <a:sx n="103" d="100"/>
          <a:sy n="103" d="100"/>
        </p:scale>
        <p:origin x="340" y="64"/>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18" Type="http://schemas.microsoft.com/office/2018/10/relationships/authors" Target="authors.xml"/><Relationship Id="rId12" Type="http://schemas.openxmlformats.org/officeDocument/2006/relationships/font" Target="fonts/font1.fntdata"/><Relationship Id="rId17" Type="http://schemas.microsoft.com/office/2016/11/relationships/changesInfo" Target="changesInfos/changesInfo1.xml"/><Relationship Id="rId16" Type="http://schemas.openxmlformats.org/officeDocument/2006/relationships/tableStyles" Target="tableStyles.xml"/><Relationship Id="rId6" Type="http://schemas.openxmlformats.org/officeDocument/2006/relationships/slideMaster" Target="slideMasters/slideMaster3.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14" Type="http://schemas.openxmlformats.org/officeDocument/2006/relationships/viewProps" Target="viewProps.xml"/><Relationship Id="rIdRtSlide1" Type="http://schemas.openxmlformats.org/officeDocument/2006/relationships/slide" Target="slides/slide1.xml"/><Relationship Id="rIdRtSlide2" Type="http://schemas.openxmlformats.org/officeDocument/2006/relationships/slide" Target="slides/slide2.xml"/><Relationship Id="rIdRtSlide3" Type="http://schemas.openxmlformats.org/officeDocument/2006/relationships/slide" Target="slides/slide3.xml"/><Relationship Id="rIdRtSlide4" Type="http://schemas.openxmlformats.org/officeDocument/2006/relationships/slide" Target="slides/slide4.xml"/><Relationship Id="rIdRtSlide5" Type="http://schemas.openxmlformats.org/officeDocument/2006/relationships/slide" Target="slides/slide5.xml"/><Relationship Id="rIdRtSlide6" Type="http://schemas.openxmlformats.org/officeDocument/2006/relationships/slide" Target="slides/slide6.xml"/><Relationship Id="rIdRtSlide7" Type="http://schemas.openxmlformats.org/officeDocument/2006/relationships/slide" Target="slides/slide7.xml"/><Relationship Id="rIdRtSlide8" Type="http://schemas.openxmlformats.org/officeDocument/2006/relationships/slide" Target="slides/slide8.xml"/><Relationship Id="rIdRtSlide9" Type="http://schemas.openxmlformats.org/officeDocument/2006/relationships/slide" Target="slides/slide9.xml"/><Relationship Id="rIdRtSlide10" Type="http://schemas.openxmlformats.org/officeDocument/2006/relationships/slide" Target="slides/slide10.xml"/><Relationship Id="rIdRtSlide11" Type="http://schemas.openxmlformats.org/officeDocument/2006/relationships/slide" Target="slides/slide11.xml"/><Relationship Id="rIdRtSlide12" Type="http://schemas.openxmlformats.org/officeDocument/2006/relationships/slide" Target="slides/slide12.xml"/><Relationship Id="rIdRtSlide13"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custSel addSld delSld modSld modMainMaster">
      <pc:chgData name="Tobias Unger" userId="0a5458e38b5f4a0f" providerId="LiveId" clId="{5C6CAE59-BAC7-4E9C-B1A6-AA8C1CFC41BD}" dt="2026-10-02T10:11:51.110" v="219" actId="20577"/>
      <pc:docMkLst>
        <pc:docMk/>
      </pc:docMkLst>
      <pc:sldChg chg="del">
        <pc:chgData name="Tobias Unger" userId="0a5458e38b5f4a0f" providerId="LiveId" clId="{5C6CAE59-BAC7-4E9C-B1A6-AA8C1CFC41BD}" dt="2026-10-02T09:51:23.201" v="11" actId="47"/>
        <pc:sldMkLst>
          <pc:docMk/>
          <pc:sldMk cId="4064054551" sldId="257"/>
        </pc:sldMkLst>
      </pc:sldChg>
      <pc:sldChg chg="del">
        <pc:chgData name="Tobias Unger" userId="0a5458e38b5f4a0f" providerId="LiveId" clId="{5C6CAE59-BAC7-4E9C-B1A6-AA8C1CFC41BD}" dt="2026-10-02T09:51:26.192" v="16" actId="47"/>
        <pc:sldMkLst>
          <pc:docMk/>
          <pc:sldMk cId="776697194" sldId="258"/>
        </pc:sldMkLst>
      </pc:sldChg>
      <pc:sldChg chg="del">
        <pc:chgData name="Tobias Unger" userId="0a5458e38b5f4a0f" providerId="LiveId" clId="{5C6CAE59-BAC7-4E9C-B1A6-AA8C1CFC41BD}" dt="2026-10-02T09:51:23.685" v="12" actId="47"/>
        <pc:sldMkLst>
          <pc:docMk/>
          <pc:sldMk cId="2547372177" sldId="259"/>
        </pc:sldMkLst>
      </pc:sldChg>
      <pc:sldChg chg="del">
        <pc:chgData name="Tobias Unger" userId="0a5458e38b5f4a0f" providerId="LiveId" clId="{5C6CAE59-BAC7-4E9C-B1A6-AA8C1CFC41BD}" dt="2026-10-02T09:51:24.787" v="14" actId="47"/>
        <pc:sldMkLst>
          <pc:docMk/>
          <pc:sldMk cId="4130864484" sldId="261"/>
        </pc:sldMkLst>
      </pc:sldChg>
      <pc:sldChg chg="del">
        <pc:chgData name="Tobias Unger" userId="0a5458e38b5f4a0f" providerId="LiveId" clId="{5C6CAE59-BAC7-4E9C-B1A6-AA8C1CFC41BD}" dt="2026-10-02T09:51:24.178" v="13" actId="47"/>
        <pc:sldMkLst>
          <pc:docMk/>
          <pc:sldMk cId="1654567552" sldId="262"/>
        </pc:sldMkLst>
      </pc:sldChg>
      <pc:sldChg chg="del">
        <pc:chgData name="Tobias Unger" userId="0a5458e38b5f4a0f" providerId="LiveId" clId="{5C6CAE59-BAC7-4E9C-B1A6-AA8C1CFC41BD}" dt="2026-10-02T09:51:25.296" v="15" actId="47"/>
        <pc:sldMkLst>
          <pc:docMk/>
          <pc:sldMk cId="1081979601" sldId="263"/>
        </pc:sldMkLst>
      </pc:sldChg>
      <pc:sldChg chg="del">
        <pc:chgData name="Tobias Unger" userId="0a5458e38b5f4a0f" providerId="LiveId" clId="{5C6CAE59-BAC7-4E9C-B1A6-AA8C1CFC41BD}" dt="2026-10-02T09:51:26.772" v="17" actId="47"/>
        <pc:sldMkLst>
          <pc:docMk/>
          <pc:sldMk cId="262804524" sldId="264"/>
        </pc:sldMkLst>
      </pc:sldChg>
      <pc:sldChg chg="modSp mod modNotesTx">
        <pc:chgData name="Tobias Unger" userId="0a5458e38b5f4a0f" providerId="LiveId" clId="{5C6CAE59-BAC7-4E9C-B1A6-AA8C1CFC41BD}" dt="2026-10-02T10:11:51.110" v="219" actId="20577"/>
        <pc:sldMkLst>
          <pc:docMk/>
          <pc:sldMk cId="1507760600" sldId="283"/>
        </pc:sldMkLst>
        <pc:spChg chg="mod">
          <ac:chgData name="Tobias Unger" userId="0a5458e38b5f4a0f" providerId="LiveId" clId="{5C6CAE59-BAC7-4E9C-B1A6-AA8C1CFC41BD}" dt="2026-10-02T10:11:51.110" v="219" actId="20577"/>
          <ac:spMkLst>
            <pc:docMk/>
            <pc:sldMk cId="1507760600" sldId="283"/>
            <ac:spMk id="2" creationId="{CD85A63D-333E-6514-BF40-3AB9B57780BE}"/>
          </ac:spMkLst>
        </pc:spChg>
      </pc:sldChg>
      <pc:sldChg chg="del">
        <pc:chgData name="Tobias Unger" userId="0a5458e38b5f4a0f" providerId="LiveId" clId="{5C6CAE59-BAC7-4E9C-B1A6-AA8C1CFC41BD}" dt="2026-10-02T09:51:10.158" v="0" actId="47"/>
        <pc:sldMkLst>
          <pc:docMk/>
          <pc:sldMk cId="2705658137" sldId="285"/>
        </pc:sldMkLst>
      </pc:sldChg>
      <pc:sldChg chg="del">
        <pc:chgData name="Tobias Unger" userId="0a5458e38b5f4a0f" providerId="LiveId" clId="{5C6CAE59-BAC7-4E9C-B1A6-AA8C1CFC41BD}" dt="2026-10-02T09:51:10.612" v="1" actId="47"/>
        <pc:sldMkLst>
          <pc:docMk/>
          <pc:sldMk cId="2320437464" sldId="286"/>
        </pc:sldMkLst>
      </pc:sldChg>
      <pc:sldChg chg="addSp delSp modSp mod modNotesTx">
        <pc:chgData name="Tobias Unger" userId="0a5458e38b5f4a0f" providerId="LiveId" clId="{5C6CAE59-BAC7-4E9C-B1A6-AA8C1CFC41BD}" dt="2026-10-02T10:10:30.498" v="208" actId="732"/>
        <pc:sldMkLst>
          <pc:docMk/>
          <pc:sldMk cId="1106493487" sldId="287"/>
        </pc:sldMkLst>
        <pc:spChg chg="del">
          <ac:chgData name="Tobias Unger" userId="0a5458e38b5f4a0f" providerId="LiveId" clId="{5C6CAE59-BAC7-4E9C-B1A6-AA8C1CFC41BD}" dt="2026-10-02T10:04:29.514" v="39" actId="478"/>
          <ac:spMkLst>
            <pc:docMk/>
            <pc:sldMk cId="1106493487" sldId="287"/>
            <ac:spMk id="2" creationId="{92AB0512-8960-8919-E57C-28ABD78254AD}"/>
          </ac:spMkLst>
        </pc:spChg>
        <pc:spChg chg="mod">
          <ac:chgData name="Tobias Unger" userId="0a5458e38b5f4a0f" providerId="LiveId" clId="{5C6CAE59-BAC7-4E9C-B1A6-AA8C1CFC41BD}" dt="2026-10-02T10:09:56.809" v="203" actId="20577"/>
          <ac:spMkLst>
            <pc:docMk/>
            <pc:sldMk cId="1106493487" sldId="287"/>
            <ac:spMk id="4" creationId="{E0FFCA09-E868-9414-C3D5-52C11A450128}"/>
          </ac:spMkLst>
        </pc:spChg>
        <pc:picChg chg="add mod modCrop">
          <ac:chgData name="Tobias Unger" userId="0a5458e38b5f4a0f" providerId="LiveId" clId="{5C6CAE59-BAC7-4E9C-B1A6-AA8C1CFC41BD}" dt="2026-10-02T10:10:30.498" v="208" actId="732"/>
          <ac:picMkLst>
            <pc:docMk/>
            <pc:sldMk cId="1106493487" sldId="287"/>
            <ac:picMk id="8" creationId="{3CF03F9A-F67E-9F69-BD76-4B3981425054}"/>
          </ac:picMkLst>
        </pc:picChg>
        <pc:picChg chg="del">
          <ac:chgData name="Tobias Unger" userId="0a5458e38b5f4a0f" providerId="LiveId" clId="{5C6CAE59-BAC7-4E9C-B1A6-AA8C1CFC41BD}" dt="2026-10-02T10:04:06.355" v="18" actId="478"/>
          <ac:picMkLst>
            <pc:docMk/>
            <pc:sldMk cId="1106493487" sldId="287"/>
            <ac:picMk id="11" creationId="{402FCDD3-F931-CA83-9606-42AB528288E8}"/>
          </ac:picMkLst>
        </pc:picChg>
      </pc:sldChg>
      <pc:sldChg chg="new del">
        <pc:chgData name="Tobias Unger" userId="0a5458e38b5f4a0f" providerId="LiveId" clId="{5C6CAE59-BAC7-4E9C-B1A6-AA8C1CFC41BD}" dt="2026-10-02T10:10:01.624" v="205" actId="47"/>
        <pc:sldMkLst>
          <pc:docMk/>
          <pc:sldMk cId="1030919349" sldId="288"/>
        </pc:sldMkLst>
      </pc:sldChg>
      <pc:sldChg chg="del">
        <pc:chgData name="Tobias Unger" userId="0a5458e38b5f4a0f" providerId="LiveId" clId="{5C6CAE59-BAC7-4E9C-B1A6-AA8C1CFC41BD}" dt="2026-10-02T09:51:12.937" v="2" actId="47"/>
        <pc:sldMkLst>
          <pc:docMk/>
          <pc:sldMk cId="2330328085" sldId="288"/>
        </pc:sldMkLst>
      </pc:sldChg>
      <pc:sldChg chg="del">
        <pc:chgData name="Tobias Unger" userId="0a5458e38b5f4a0f" providerId="LiveId" clId="{5C6CAE59-BAC7-4E9C-B1A6-AA8C1CFC41BD}" dt="2026-10-02T09:51:16.276" v="3" actId="47"/>
        <pc:sldMkLst>
          <pc:docMk/>
          <pc:sldMk cId="1861167432" sldId="289"/>
        </pc:sldMkLst>
      </pc:sldChg>
      <pc:sldChg chg="del">
        <pc:chgData name="Tobias Unger" userId="0a5458e38b5f4a0f" providerId="LiveId" clId="{5C6CAE59-BAC7-4E9C-B1A6-AA8C1CFC41BD}" dt="2026-10-02T09:51:17.442" v="6" actId="47"/>
        <pc:sldMkLst>
          <pc:docMk/>
          <pc:sldMk cId="469138483" sldId="290"/>
        </pc:sldMkLst>
      </pc:sldChg>
      <pc:sldChg chg="del">
        <pc:chgData name="Tobias Unger" userId="0a5458e38b5f4a0f" providerId="LiveId" clId="{5C6CAE59-BAC7-4E9C-B1A6-AA8C1CFC41BD}" dt="2026-10-02T09:51:20.002" v="10" actId="47"/>
        <pc:sldMkLst>
          <pc:docMk/>
          <pc:sldMk cId="842808788" sldId="291"/>
        </pc:sldMkLst>
      </pc:sldChg>
      <pc:sldChg chg="del">
        <pc:chgData name="Tobias Unger" userId="0a5458e38b5f4a0f" providerId="LiveId" clId="{5C6CAE59-BAC7-4E9C-B1A6-AA8C1CFC41BD}" dt="2026-10-02T09:51:16.626" v="4" actId="47"/>
        <pc:sldMkLst>
          <pc:docMk/>
          <pc:sldMk cId="3053518870" sldId="292"/>
        </pc:sldMkLst>
      </pc:sldChg>
      <pc:sldChg chg="del">
        <pc:chgData name="Tobias Unger" userId="0a5458e38b5f4a0f" providerId="LiveId" clId="{5C6CAE59-BAC7-4E9C-B1A6-AA8C1CFC41BD}" dt="2026-10-02T09:51:17.052" v="5" actId="47"/>
        <pc:sldMkLst>
          <pc:docMk/>
          <pc:sldMk cId="3433869764" sldId="293"/>
        </pc:sldMkLst>
      </pc:sldChg>
      <pc:sldChg chg="del">
        <pc:chgData name="Tobias Unger" userId="0a5458e38b5f4a0f" providerId="LiveId" clId="{5C6CAE59-BAC7-4E9C-B1A6-AA8C1CFC41BD}" dt="2026-10-02T09:51:18.303" v="9" actId="47"/>
        <pc:sldMkLst>
          <pc:docMk/>
          <pc:sldMk cId="3407056978" sldId="294"/>
        </pc:sldMkLst>
      </pc:sldChg>
      <pc:sldChg chg="del">
        <pc:chgData name="Tobias Unger" userId="0a5458e38b5f4a0f" providerId="LiveId" clId="{5C6CAE59-BAC7-4E9C-B1A6-AA8C1CFC41BD}" dt="2026-10-02T09:51:17.754" v="7" actId="47"/>
        <pc:sldMkLst>
          <pc:docMk/>
          <pc:sldMk cId="3290981332" sldId="295"/>
        </pc:sldMkLst>
      </pc:sldChg>
      <pc:sldChg chg="del">
        <pc:chgData name="Tobias Unger" userId="0a5458e38b5f4a0f" providerId="LiveId" clId="{5C6CAE59-BAC7-4E9C-B1A6-AA8C1CFC41BD}" dt="2026-10-02T09:51:18.017" v="8" actId="47"/>
        <pc:sldMkLst>
          <pc:docMk/>
          <pc:sldMk cId="4125639930" sldId="296"/>
        </pc:sldMkLst>
      </pc:sldChg>
      <pc:sldMasterChg chg="delSldLayout modSldLayout">
        <pc:chgData name="Tobias Unger" userId="0a5458e38b5f4a0f" providerId="LiveId" clId="{5C6CAE59-BAC7-4E9C-B1A6-AA8C1CFC41BD}" dt="2026-10-02T10:07:10.517" v="158" actId="20577"/>
        <pc:sldMasterMkLst>
          <pc:docMk/>
          <pc:sldMasterMk cId="921850606" sldId="2147483823"/>
        </pc:sldMasterMkLst>
        <pc:sldLayoutChg chg="modSp mod">
          <pc:chgData name="Tobias Unger" userId="0a5458e38b5f4a0f" providerId="LiveId" clId="{5C6CAE59-BAC7-4E9C-B1A6-AA8C1CFC41BD}" dt="2026-10-02T10:05:56.679" v="124" actId="20577"/>
          <pc:sldLayoutMkLst>
            <pc:docMk/>
            <pc:sldMasterMk cId="921850606" sldId="2147483823"/>
            <pc:sldLayoutMk cId="1401137780" sldId="2147483824"/>
          </pc:sldLayoutMkLst>
          <pc:spChg chg="mod">
            <ac:chgData name="Tobias Unger" userId="0a5458e38b5f4a0f" providerId="LiveId" clId="{5C6CAE59-BAC7-4E9C-B1A6-AA8C1CFC41BD}" dt="2026-10-02T10:05:56.679" v="124" actId="20577"/>
            <ac:spMkLst>
              <pc:docMk/>
              <pc:sldMasterMk cId="921850606" sldId="2147483823"/>
              <pc:sldLayoutMk cId="1401137780" sldId="2147483824"/>
              <ac:spMk id="4" creationId="{F600A371-89E2-ED47-9691-9E9170B97BE8}"/>
            </ac:spMkLst>
          </pc:spChg>
        </pc:sldLayoutChg>
        <pc:sldLayoutChg chg="modSp mod">
          <pc:chgData name="Tobias Unger" userId="0a5458e38b5f4a0f" providerId="LiveId" clId="{5C6CAE59-BAC7-4E9C-B1A6-AA8C1CFC41BD}" dt="2026-10-02T10:07:10.517" v="158" actId="20577"/>
          <pc:sldLayoutMkLst>
            <pc:docMk/>
            <pc:sldMasterMk cId="921850606" sldId="2147483823"/>
            <pc:sldLayoutMk cId="2257337023" sldId="2147483825"/>
          </pc:sldLayoutMkLst>
          <pc:spChg chg="mod">
            <ac:chgData name="Tobias Unger" userId="0a5458e38b5f4a0f" providerId="LiveId" clId="{5C6CAE59-BAC7-4E9C-B1A6-AA8C1CFC41BD}" dt="2026-10-02T10:07:10.517" v="158" actId="20577"/>
            <ac:spMkLst>
              <pc:docMk/>
              <pc:sldMasterMk cId="921850606" sldId="2147483823"/>
              <pc:sldLayoutMk cId="2257337023" sldId="2147483825"/>
              <ac:spMk id="8" creationId="{C8BD6479-55DD-AC47-9F75-3DCC5AA8DAAA}"/>
            </ac:spMkLst>
          </pc:spChg>
        </pc:sldLayoutChg>
        <pc:sldLayoutChg chg="del">
          <pc:chgData name="Tobias Unger" userId="0a5458e38b5f4a0f" providerId="LiveId" clId="{5C6CAE59-BAC7-4E9C-B1A6-AA8C1CFC41BD}" dt="2026-10-02T09:51:23.201" v="11" actId="47"/>
          <pc:sldLayoutMkLst>
            <pc:docMk/>
            <pc:sldMasterMk cId="921850606" sldId="2147483823"/>
            <pc:sldLayoutMk cId="400087694" sldId="2147483871"/>
          </pc:sldLayoutMkLst>
        </pc:sldLayoutChg>
        <pc:sldLayoutChg chg="del">
          <pc:chgData name="Tobias Unger" userId="0a5458e38b5f4a0f" providerId="LiveId" clId="{5C6CAE59-BAC7-4E9C-B1A6-AA8C1CFC41BD}" dt="2026-10-02T09:51:26.772" v="17" actId="47"/>
          <pc:sldLayoutMkLst>
            <pc:docMk/>
            <pc:sldMasterMk cId="921850606" sldId="2147483823"/>
            <pc:sldLayoutMk cId="715836009" sldId="2147483872"/>
          </pc:sldLayoutMkLst>
        </pc:sldLayoutChg>
      </pc:sldMasterChg>
      <pc:sldMasterChg chg="modSldLayout sldLayoutOrd">
        <pc:chgData name="Tobias Unger" userId="0a5458e38b5f4a0f" providerId="LiveId" clId="{5C6CAE59-BAC7-4E9C-B1A6-AA8C1CFC41BD}" dt="2026-10-02T10:09:08.682" v="198" actId="20577"/>
        <pc:sldMasterMkLst>
          <pc:docMk/>
          <pc:sldMasterMk cId="2534388412" sldId="2147483826"/>
        </pc:sldMasterMkLst>
        <pc:sldLayoutChg chg="modSp mod">
          <pc:chgData name="Tobias Unger" userId="0a5458e38b5f4a0f" providerId="LiveId" clId="{5C6CAE59-BAC7-4E9C-B1A6-AA8C1CFC41BD}" dt="2026-10-02T10:07:36.214" v="162" actId="20577"/>
          <pc:sldLayoutMkLst>
            <pc:docMk/>
            <pc:sldMasterMk cId="2534388412" sldId="2147483826"/>
            <pc:sldLayoutMk cId="1593054334" sldId="2147483827"/>
          </pc:sldLayoutMkLst>
          <pc:spChg chg="mod">
            <ac:chgData name="Tobias Unger" userId="0a5458e38b5f4a0f" providerId="LiveId" clId="{5C6CAE59-BAC7-4E9C-B1A6-AA8C1CFC41BD}" dt="2026-10-02T10:07:36.214" v="162" actId="20577"/>
            <ac:spMkLst>
              <pc:docMk/>
              <pc:sldMasterMk cId="2534388412" sldId="2147483826"/>
              <pc:sldLayoutMk cId="1593054334" sldId="2147483827"/>
              <ac:spMk id="6" creationId="{6AB2C604-EF2B-4241-9B8D-353525CC64B5}"/>
            </ac:spMkLst>
          </pc:spChg>
        </pc:sldLayoutChg>
        <pc:sldLayoutChg chg="modSp mod">
          <pc:chgData name="Tobias Unger" userId="0a5458e38b5f4a0f" providerId="LiveId" clId="{5C6CAE59-BAC7-4E9C-B1A6-AA8C1CFC41BD}" dt="2026-10-02T10:07:47.534" v="165" actId="20577"/>
          <pc:sldLayoutMkLst>
            <pc:docMk/>
            <pc:sldMasterMk cId="2534388412" sldId="2147483826"/>
            <pc:sldLayoutMk cId="1470982144" sldId="2147483828"/>
          </pc:sldLayoutMkLst>
          <pc:spChg chg="mod">
            <ac:chgData name="Tobias Unger" userId="0a5458e38b5f4a0f" providerId="LiveId" clId="{5C6CAE59-BAC7-4E9C-B1A6-AA8C1CFC41BD}" dt="2026-10-02T10:07:47.534" v="165" actId="20577"/>
            <ac:spMkLst>
              <pc:docMk/>
              <pc:sldMasterMk cId="2534388412" sldId="2147483826"/>
              <pc:sldLayoutMk cId="1470982144" sldId="2147483828"/>
              <ac:spMk id="9" creationId="{C5E3C4FF-AC9F-F54B-8465-1AC4021BC55E}"/>
            </ac:spMkLst>
          </pc:spChg>
        </pc:sldLayoutChg>
        <pc:sldLayoutChg chg="modSp mod ord">
          <pc:chgData name="Tobias Unger" userId="0a5458e38b5f4a0f" providerId="LiveId" clId="{5C6CAE59-BAC7-4E9C-B1A6-AA8C1CFC41BD}" dt="2026-10-02T10:07:54.678" v="170" actId="20577"/>
          <pc:sldLayoutMkLst>
            <pc:docMk/>
            <pc:sldMasterMk cId="2534388412" sldId="2147483826"/>
            <pc:sldLayoutMk cId="1547547267" sldId="2147483829"/>
          </pc:sldLayoutMkLst>
          <pc:spChg chg="mod">
            <ac:chgData name="Tobias Unger" userId="0a5458e38b5f4a0f" providerId="LiveId" clId="{5C6CAE59-BAC7-4E9C-B1A6-AA8C1CFC41BD}" dt="2026-10-02T10:07:54.678" v="170" actId="20577"/>
            <ac:spMkLst>
              <pc:docMk/>
              <pc:sldMasterMk cId="2534388412" sldId="2147483826"/>
              <pc:sldLayoutMk cId="1547547267" sldId="2147483829"/>
              <ac:spMk id="5" creationId="{BACCCF20-7C7E-1A46-AA50-89130936CD2A}"/>
            </ac:spMkLst>
          </pc:spChg>
        </pc:sldLayoutChg>
        <pc:sldLayoutChg chg="modSp mod">
          <pc:chgData name="Tobias Unger" userId="0a5458e38b5f4a0f" providerId="LiveId" clId="{5C6CAE59-BAC7-4E9C-B1A6-AA8C1CFC41BD}" dt="2026-10-02T10:08:02.504" v="174" actId="20577"/>
          <pc:sldLayoutMkLst>
            <pc:docMk/>
            <pc:sldMasterMk cId="2534388412" sldId="2147483826"/>
            <pc:sldLayoutMk cId="3120061420" sldId="2147483830"/>
          </pc:sldLayoutMkLst>
          <pc:spChg chg="mod">
            <ac:chgData name="Tobias Unger" userId="0a5458e38b5f4a0f" providerId="LiveId" clId="{5C6CAE59-BAC7-4E9C-B1A6-AA8C1CFC41BD}" dt="2026-10-02T10:08:02.504" v="174" actId="20577"/>
            <ac:spMkLst>
              <pc:docMk/>
              <pc:sldMasterMk cId="2534388412" sldId="2147483826"/>
              <pc:sldLayoutMk cId="3120061420" sldId="2147483830"/>
              <ac:spMk id="2" creationId="{D50B5E35-EA0F-7F44-9443-E548EA3B39D6}"/>
            </ac:spMkLst>
          </pc:spChg>
        </pc:sldLayoutChg>
        <pc:sldLayoutChg chg="modSp mod">
          <pc:chgData name="Tobias Unger" userId="0a5458e38b5f4a0f" providerId="LiveId" clId="{5C6CAE59-BAC7-4E9C-B1A6-AA8C1CFC41BD}" dt="2026-10-02T10:08:11.198" v="177" actId="20577"/>
          <pc:sldLayoutMkLst>
            <pc:docMk/>
            <pc:sldMasterMk cId="2534388412" sldId="2147483826"/>
            <pc:sldLayoutMk cId="3779162260" sldId="2147483831"/>
          </pc:sldLayoutMkLst>
          <pc:spChg chg="mod">
            <ac:chgData name="Tobias Unger" userId="0a5458e38b5f4a0f" providerId="LiveId" clId="{5C6CAE59-BAC7-4E9C-B1A6-AA8C1CFC41BD}" dt="2026-10-02T10:08:11.198" v="177" actId="20577"/>
            <ac:spMkLst>
              <pc:docMk/>
              <pc:sldMasterMk cId="2534388412" sldId="2147483826"/>
              <pc:sldLayoutMk cId="3779162260" sldId="2147483831"/>
              <ac:spMk id="2" creationId="{19335B3D-A935-7941-BAFB-C7A98F057C47}"/>
            </ac:spMkLst>
          </pc:spChg>
        </pc:sldLayoutChg>
        <pc:sldLayoutChg chg="modSp mod">
          <pc:chgData name="Tobias Unger" userId="0a5458e38b5f4a0f" providerId="LiveId" clId="{5C6CAE59-BAC7-4E9C-B1A6-AA8C1CFC41BD}" dt="2026-10-02T10:08:25.895" v="180" actId="20577"/>
          <pc:sldLayoutMkLst>
            <pc:docMk/>
            <pc:sldMasterMk cId="2534388412" sldId="2147483826"/>
            <pc:sldLayoutMk cId="2512498250" sldId="2147483832"/>
          </pc:sldLayoutMkLst>
          <pc:spChg chg="mod">
            <ac:chgData name="Tobias Unger" userId="0a5458e38b5f4a0f" providerId="LiveId" clId="{5C6CAE59-BAC7-4E9C-B1A6-AA8C1CFC41BD}" dt="2026-10-02T10:08:25.895" v="180" actId="20577"/>
            <ac:spMkLst>
              <pc:docMk/>
              <pc:sldMasterMk cId="2534388412" sldId="2147483826"/>
              <pc:sldLayoutMk cId="2512498250" sldId="2147483832"/>
              <ac:spMk id="2" creationId="{F96A7003-49E0-2846-9672-C857D8C45E91}"/>
            </ac:spMkLst>
          </pc:spChg>
        </pc:sldLayoutChg>
        <pc:sldLayoutChg chg="modSp mod">
          <pc:chgData name="Tobias Unger" userId="0a5458e38b5f4a0f" providerId="LiveId" clId="{5C6CAE59-BAC7-4E9C-B1A6-AA8C1CFC41BD}" dt="2026-10-02T10:08:31.270" v="183" actId="20577"/>
          <pc:sldLayoutMkLst>
            <pc:docMk/>
            <pc:sldMasterMk cId="2534388412" sldId="2147483826"/>
            <pc:sldLayoutMk cId="3449698238" sldId="2147483833"/>
          </pc:sldLayoutMkLst>
          <pc:spChg chg="mod">
            <ac:chgData name="Tobias Unger" userId="0a5458e38b5f4a0f" providerId="LiveId" clId="{5C6CAE59-BAC7-4E9C-B1A6-AA8C1CFC41BD}" dt="2026-10-02T10:08:31.270" v="183" actId="20577"/>
            <ac:spMkLst>
              <pc:docMk/>
              <pc:sldMasterMk cId="2534388412" sldId="2147483826"/>
              <pc:sldLayoutMk cId="3449698238" sldId="2147483833"/>
              <ac:spMk id="4" creationId="{100179CD-2DFE-FE48-88FA-99A080006606}"/>
            </ac:spMkLst>
          </pc:spChg>
        </pc:sldLayoutChg>
        <pc:sldLayoutChg chg="modSp mod">
          <pc:chgData name="Tobias Unger" userId="0a5458e38b5f4a0f" providerId="LiveId" clId="{5C6CAE59-BAC7-4E9C-B1A6-AA8C1CFC41BD}" dt="2026-10-02T10:08:41.511" v="186" actId="20577"/>
          <pc:sldLayoutMkLst>
            <pc:docMk/>
            <pc:sldMasterMk cId="2534388412" sldId="2147483826"/>
            <pc:sldLayoutMk cId="1087756823" sldId="2147483834"/>
          </pc:sldLayoutMkLst>
          <pc:spChg chg="mod">
            <ac:chgData name="Tobias Unger" userId="0a5458e38b5f4a0f" providerId="LiveId" clId="{5C6CAE59-BAC7-4E9C-B1A6-AA8C1CFC41BD}" dt="2026-10-02T10:08:41.511" v="186" actId="20577"/>
            <ac:spMkLst>
              <pc:docMk/>
              <pc:sldMasterMk cId="2534388412" sldId="2147483826"/>
              <pc:sldLayoutMk cId="1087756823" sldId="2147483834"/>
              <ac:spMk id="4" creationId="{73B06E7E-E9A1-9840-A9E1-79686DE197B3}"/>
            </ac:spMkLst>
          </pc:spChg>
        </pc:sldLayoutChg>
        <pc:sldLayoutChg chg="modSp mod">
          <pc:chgData name="Tobias Unger" userId="0a5458e38b5f4a0f" providerId="LiveId" clId="{5C6CAE59-BAC7-4E9C-B1A6-AA8C1CFC41BD}" dt="2026-10-02T10:08:48.141" v="189" actId="20577"/>
          <pc:sldLayoutMkLst>
            <pc:docMk/>
            <pc:sldMasterMk cId="2534388412" sldId="2147483826"/>
            <pc:sldLayoutMk cId="1421266352" sldId="2147483835"/>
          </pc:sldLayoutMkLst>
          <pc:spChg chg="mod">
            <ac:chgData name="Tobias Unger" userId="0a5458e38b5f4a0f" providerId="LiveId" clId="{5C6CAE59-BAC7-4E9C-B1A6-AA8C1CFC41BD}" dt="2026-10-02T10:08:48.141" v="189" actId="20577"/>
            <ac:spMkLst>
              <pc:docMk/>
              <pc:sldMasterMk cId="2534388412" sldId="2147483826"/>
              <pc:sldLayoutMk cId="1421266352" sldId="2147483835"/>
              <ac:spMk id="3" creationId="{439B1BBC-665F-AF4B-8F72-7AB1B40FEBE5}"/>
            </ac:spMkLst>
          </pc:spChg>
        </pc:sldLayoutChg>
        <pc:sldLayoutChg chg="modSp mod">
          <pc:chgData name="Tobias Unger" userId="0a5458e38b5f4a0f" providerId="LiveId" clId="{5C6CAE59-BAC7-4E9C-B1A6-AA8C1CFC41BD}" dt="2026-10-02T10:08:53.552" v="192" actId="20577"/>
          <pc:sldLayoutMkLst>
            <pc:docMk/>
            <pc:sldMasterMk cId="2534388412" sldId="2147483826"/>
            <pc:sldLayoutMk cId="3505848889" sldId="2147483836"/>
          </pc:sldLayoutMkLst>
          <pc:spChg chg="mod">
            <ac:chgData name="Tobias Unger" userId="0a5458e38b5f4a0f" providerId="LiveId" clId="{5C6CAE59-BAC7-4E9C-B1A6-AA8C1CFC41BD}" dt="2026-10-02T10:08:53.552" v="192" actId="20577"/>
            <ac:spMkLst>
              <pc:docMk/>
              <pc:sldMasterMk cId="2534388412" sldId="2147483826"/>
              <pc:sldLayoutMk cId="3505848889" sldId="2147483836"/>
              <ac:spMk id="3" creationId="{33D1ADDF-8F4C-BC48-B65C-59B0BEC4AA8D}"/>
            </ac:spMkLst>
          </pc:spChg>
        </pc:sldLayoutChg>
        <pc:sldLayoutChg chg="modSp mod">
          <pc:chgData name="Tobias Unger" userId="0a5458e38b5f4a0f" providerId="LiveId" clId="{5C6CAE59-BAC7-4E9C-B1A6-AA8C1CFC41BD}" dt="2026-10-02T10:09:00.544" v="195" actId="20577"/>
          <pc:sldLayoutMkLst>
            <pc:docMk/>
            <pc:sldMasterMk cId="2534388412" sldId="2147483826"/>
            <pc:sldLayoutMk cId="2306951066" sldId="2147483838"/>
          </pc:sldLayoutMkLst>
          <pc:spChg chg="mod">
            <ac:chgData name="Tobias Unger" userId="0a5458e38b5f4a0f" providerId="LiveId" clId="{5C6CAE59-BAC7-4E9C-B1A6-AA8C1CFC41BD}" dt="2026-10-02T10:09:00.544" v="195" actId="20577"/>
            <ac:spMkLst>
              <pc:docMk/>
              <pc:sldMasterMk cId="2534388412" sldId="2147483826"/>
              <pc:sldLayoutMk cId="2306951066" sldId="2147483838"/>
              <ac:spMk id="4" creationId="{48B3E935-DC8B-EE4A-A835-A6B75AB07EE4}"/>
            </ac:spMkLst>
          </pc:spChg>
        </pc:sldLayoutChg>
        <pc:sldLayoutChg chg="modSp mod">
          <pc:chgData name="Tobias Unger" userId="0a5458e38b5f4a0f" providerId="LiveId" clId="{5C6CAE59-BAC7-4E9C-B1A6-AA8C1CFC41BD}" dt="2026-10-02T10:09:08.682" v="198" actId="20577"/>
          <pc:sldLayoutMkLst>
            <pc:docMk/>
            <pc:sldMasterMk cId="2534388412" sldId="2147483826"/>
            <pc:sldLayoutMk cId="2574526683" sldId="2147483840"/>
          </pc:sldLayoutMkLst>
          <pc:spChg chg="mod">
            <ac:chgData name="Tobias Unger" userId="0a5458e38b5f4a0f" providerId="LiveId" clId="{5C6CAE59-BAC7-4E9C-B1A6-AA8C1CFC41BD}" dt="2026-10-02T10:09:08.682" v="198" actId="20577"/>
            <ac:spMkLst>
              <pc:docMk/>
              <pc:sldMasterMk cId="2534388412" sldId="2147483826"/>
              <pc:sldLayoutMk cId="2574526683" sldId="2147483840"/>
              <ac:spMk id="3" creationId="{0FADD80C-69BF-394C-8E09-B1E69D9AF17E}"/>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02.10.2026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1: Inverses „Tetris“ für Roboter</a:t>
            </a:r>
          </a:p>
          <a:p xmlns:a="http://schemas.openxmlformats.org/drawingml/2006/main">
            <a:r>
              <a:t>Geplante Sprechzeit: 0:30 Minuten.</a:t>
            </a:r>
          </a:p>
          <a:p xmlns:a="http://schemas.openxmlformats.org/drawingml/2006/main">
            <a:r>
              <a:t/>
            </a:r>
          </a:p>
          <a:p xmlns:a="http://schemas.openxmlformats.org/drawingml/2006/main">
            <a:r>
              <a:t>Wir stellen die Weiterentwicklung eines bestehenden Aufbaus zum robotergestützten Greifen vor. Der Schwerpunkt liegt auf dem Greifen von einem laufenden Förderband. Der Roboter soll sich mit einem ausgewählten Klotz mitbewegen, ihn greifen, anheben und in der Box ablegen. Die Bewegung wird ausschließlich aus Kameradaten geschätzt. Es geht um einen Konzeptnachweis, nicht um ein fertiges Industrieprodukt.</a:t>
            </a:r>
          </a:p>
          <a:p xmlns:a="http://schemas.openxmlformats.org/drawingml/2006/main">
            <a:r>
              <a:t>Übergang: Welche Aufgaben waren vorgegeben und was haben wir zusätzlich umgesetzt?</a:t>
            </a:r>
          </a:p>
          <a:p xmlns:a="http://schemas.openxmlformats.org/drawingml/2006/main">
            <a:r>
              <a:t/>
            </a:r>
          </a:p>
          <a:p xmlns:a="http://schemas.openxmlformats.org/drawingml/2006/main">
            <a:r>
              <a:t>Quellen: Projektbericht/entwuerfe/berichtstext.md, Kapitel 1, Stand 02.10.2026. Abbildung: Projektbericht/abbildungen/WhatsApp Image 2026-09-24 at 19.31.05 (3).jpeg.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2: Aufgabenstellung und Projektziel</a:t>
            </a:r>
          </a:p>
          <a:p xmlns:a="http://schemas.openxmlformats.org/drawingml/2006/main">
            <a:r>
              <a:t>Geplante Sprechzeit: 1:30 Minuten.</a:t>
            </a:r>
          </a:p>
          <a:p xmlns:a="http://schemas.openxmlformats.org/drawingml/2006/main">
            <a:r>
              <a:t/>
            </a:r>
          </a:p>
          <a:p xmlns:a="http://schemas.openxmlformats.org/drawingml/2006/main">
            <a:r>
              <a:t>Ausgangslage: Das bestehende System fuhr einen berechneten festen Abgriffpunkt an und wartete dort auf das Objekt. Die Weiterentwicklung soll mitfahrend greifen. Die Aufgabenstellung fordert mehrere gleichzeitig vorhandene Objekte, bildbasierte Positions- und Geschwindigkeitsschätzung, AICA-Ansteuerung, schnelle Kamerakalibrierung sowie Priorisierung und Bahnplanung.</a:t>
            </a:r>
          </a:p>
          <a:p xmlns:a="http://schemas.openxmlformats.org/drawingml/2006/main">
            <a:r>
              <a:t>Die Entwicklung wurde mit quaderförmigen Klötzen geprüft. Eine vollständige Sortierung in mehrere Zielkisten ist keine erbrachte Projektleistung. Das neue Förderband war vorgesehen, seine Integration wegen unsicherer Lieferzeiten aber keine Voraussetzung. Wir nutzten verschiedene Stufen des vorhandenen Bandes. Höhere Stufen bis 3 wurden erfolgreich beobachtet, aber nicht vermessen. Die Auslagerung der Bildverarbeitung war nur bei Bedarf gefordert. Wir begrenzten stattdessen die Last im bestehenden Rechner.</a:t>
            </a:r>
          </a:p>
          <a:p xmlns:a="http://schemas.openxmlformats.org/drawingml/2006/main">
            <a:r>
              <a:t>Zusätzliche Funktionen sind die Laufzeitdiagnose sowie kontrollierte Abbruch-/Ablageabläufe. Dass die Basiskamera allein genügt, vereinfacht das ursprünglich duale Konzept. Priorisierung und verschiedene Geschwindigkeiten sind bereits Anforderungen, keine zusätzlichen Ziele. Eine feste Mindest-Erfolgsquote wurde nicht verlangt.</a:t>
            </a:r>
          </a:p>
          <a:p xmlns:a="http://schemas.openxmlformats.org/drawingml/2006/main">
            <a:r>
              <a:t/>
            </a:r>
          </a:p>
          <a:p xmlns:a="http://schemas.openxmlformats.org/drawingml/2006/main">
            <a:r>
              <a:t>Quellen: Projektbericht/entwuerfe/berichtstext.md, Abschnitte 1.1 bis 1.3, 3.1, 3.7 und 6.4; Aufgabenstellung [1],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3: Versuchsaufbau</a:t>
            </a:r>
          </a:p>
          <a:p xmlns:a="http://schemas.openxmlformats.org/drawingml/2006/main">
            <a:r>
              <a:t>Geplante Sprechzeit: 1:00 Minuten.</a:t>
            </a:r>
          </a:p>
          <a:p xmlns:a="http://schemas.openxmlformats.org/drawingml/2006/main">
            <a:r>
              <a:t/>
            </a:r>
          </a:p>
          <a:p xmlns:a="http://schemas.openxmlformats.org/drawingml/2006/main">
            <a:r>
              <a:t>Der UR10e steht in Bandlaufrichtung links neben dem Förderband nahe dem Bandende. Die Ablagebox steht auf derselben Seite vor dem Roboter. Der Robotiq 2F-140 ist per USB extern angesteuert. Die L515 hängt mittig über dem Bandanfang, etwa 0,85 m über der Bandebene.</a:t>
            </a:r>
          </a:p>
          <a:p xmlns:a="http://schemas.openxmlformats.org/drawingml/2006/main">
            <a:r>
              <a:t>Die Kamera beobachtet den Bereich vor der Greifzone. Sobald ein Klotz diese erreicht, liegt er bereits außerhalb der Kameraerfassung. Die weitere Lage ist dann vorhergesagt.</a:t>
            </a:r>
          </a:p>
          <a:p xmlns:a="http://schemas.openxmlformats.org/drawingml/2006/main">
            <a:r>
              <a:t>conveyor_frame war die anfängliche Kalibrierkonvention: Ursprung mittig am Bandanfang, Y in Bandrichtung, X in Bandlaufrichtung rechts, Z nach oben. Im finalen Regelpfad werden world-Koordinaten verwendet. world liegt in der Roboterbasis. Der technische UR-Rahmen base ist gegenüber world um 180 Grad gedreht. Nicht beide Systeme ohne Einschränkung gleichsetzen.</a:t>
            </a:r>
          </a:p>
          <a:p xmlns:a="http://schemas.openxmlformats.org/drawingml/2006/main">
            <a:r>
              <a:t>Die D435i ist am Flansch vorhanden, wird im finalen Regelpfad aber nicht verwendet. Die Abbildung ist der bestehende freigegebene Arbeitsstand. Eine spätere maßstäbliche Überarbeitung wird getrennt vorgenommen.</a:t>
            </a:r>
          </a:p>
          <a:p xmlns:a="http://schemas.openxmlformats.org/drawingml/2006/main">
            <a:r>
              <a:t/>
            </a:r>
          </a:p>
          <a:p xmlns:a="http://schemas.openxmlformats.org/drawingml/2006/main">
            <a:r>
              <a:t>Quellen: Projektbericht/entwuerfe/berichtstext.md, Abschnitte 2.1.1, 2.1.3, 2.1.5, 2.1.6 und 2.2, Stand 02.10.2026. Abbildung: Projektbericht/abbildungen/systemskizzen_layout_v03.pdf, Seite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4: Kalibrierung mit der Roboterkamera</a:t>
            </a:r>
          </a:p>
          <a:p xmlns:a="http://schemas.openxmlformats.org/drawingml/2006/main">
            <a:r>
              <a:t>Geplante Sprechzeit: 1:15 Minuten.</a:t>
            </a:r>
          </a:p>
          <a:p xmlns:a="http://schemas.openxmlformats.org/drawingml/2006/main">
            <a:r>
              <a:t/>
            </a:r>
          </a:p>
          <a:p xmlns:a="http://schemas.openxmlformats.org/drawingml/2006/main">
            <a:r>
              <a:t>Anordnung: Die D435i bewegt sich mit dem Flansch. Das ChArUco-Board bleibt fest am Bandrand. Das ist Eye-in-Hand. Gesucht ist die feste Transformation zwischen Kamera und Flansch.</a:t>
            </a:r>
          </a:p>
          <a:p xmlns:a="http://schemas.openxmlformats.org/drawingml/2006/main">
            <a:r>
              <a:t>Der Roboter fährt eine Orbit-Trajektorie: Startpose im Zentrum und acht Punkte auf einem Kreisring mit Radius 50 mm. Die Kamera blickt an jedem Punkt auf die Boardmitte. Nach dem Ausschwingen werden mehrere Detektionen gemittelt. Aus Flansch- und Boardposen berechnet OpenCV die Transformation. Daneben entstehen weitere Transformationen als Nebenprodukt.</a:t>
            </a:r>
          </a:p>
          <a:p xmlns:a="http://schemas.openxmlformats.org/drawingml/2006/main">
            <a:r>
              <a:t>Eine Prüffahrt zentriert das Fadenkreuz auf dem Board und fährt 200 mm entlang der Bandachse vor und zurück. Im beschriebenen Lauf lag der RMSE über die Wegpunkte bei etwa 1,5 bis 2 mm. Das ist kein direkt vergleichbarer Fehlerwert zu den unabhängigen Prüfposen des AprilGrid-Verfahrens.</a:t>
            </a:r>
          </a:p>
          <a:p xmlns:a="http://schemas.openxmlformats.org/drawingml/2006/main">
            <a:r>
              <a:t>Diese eigenständige Kalibrieranwendung ist für die spätere Roboterkamera-Einbindung vorhanden. Im finalen Greifbetrieb ist die Roboterkamera nicht aktiv.</a:t>
            </a:r>
          </a:p>
          <a:p xmlns:a="http://schemas.openxmlformats.org/drawingml/2006/main">
            <a:r>
              <a:t>Externe Grundlagen aus dem Bericht: OpenCV Camera Calibration and 3D Reconstruction, https://docs.opencv.org/4.x/d9/d0c/group__calib3d.html; ChArUco-Erkennung, https://docs.opencv.org/4.12.0/df/d4a/tutorial_charuco_detection.html.</a:t>
            </a:r>
          </a:p>
          <a:p xmlns:a="http://schemas.openxmlformats.org/drawingml/2006/main">
            <a:r>
              <a:t/>
            </a:r>
          </a:p>
          <a:p xmlns:a="http://schemas.openxmlformats.org/drawingml/2006/main">
            <a:r>
              <a:t>Quellen: Projektbericht/entwuerfe/berichtstext.md, Abschnitt 4.3, Stand 02.10.2026. Abbildung: Projektbericht/abbildungen/fig-orbit-trajektorie.jpg, schematische KI-generierte Darstellung.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5: Kalibrierung der Basiskamera</a:t>
            </a:r>
          </a:p>
          <a:p xmlns:a="http://schemas.openxmlformats.org/drawingml/2006/main">
            <a:r>
              <a:t>Geplante Sprechzeit: 1:30 Minuten.</a:t>
            </a:r>
          </a:p>
          <a:p xmlns:a="http://schemas.openxmlformats.org/drawingml/2006/main">
            <a:r>
              <a:t/>
            </a:r>
          </a:p>
          <a:p xmlns:a="http://schemas.openxmlformats.org/drawingml/2006/main">
            <a:r>
              <a:t>Anordnung: Die L515 bleibt ortsfest, der Greifer hält das AprilGrid aus 7 mal 11 AprilTags und bewegt es durch verschiedene Posen. Gesucht sind Kameralage in world und Boardlage am Flansch. Beide werden gemeinsam bestimmt und anschließend anhand der Tag-Ecken optimiert.</a:t>
            </a:r>
          </a:p>
          <a:p xmlns:a="http://schemas.openxmlformats.org/drawingml/2006/main">
            <a:r>
              <a:t>Das Board wird einmal von Hand eingelegt. Danach fährt der Roboter 40 Messposen und vier unabhängige Prüfposen. Die erste Pose wird zum Abschluss wiederholt, um Verrutschen des Boards zu erkennen. Ein Messlauf dauert rund vier Minuten, mit Vorbereitung etwa fünf.</a:t>
            </a:r>
          </a:p>
          <a:p xmlns:a="http://schemas.openxmlformats.org/drawingml/2006/main">
            <a:r>
              <a:t>Die Prüfung am 28.09.2026 ergab 0,34 px mittleren Bildfehler, 0,54 mm Prüfposenabweichung und 0,04 mm Boardverrutschen. Zwischen Läufen über drei Tage war die Kameralage mit unter 1 mm Abweichung wiederholbar. Diese Größen sind keine absolute Greifgenauigkeit.</a:t>
            </a:r>
          </a:p>
          <a:p xmlns:a="http://schemas.openxmlformats.org/drawingml/2006/main">
            <a:r>
              <a:t>Die Farb-/Tiefengeometrie der L515 weicht ab: Tiefenebene 1,0 bis 1,8 Grad verkippt, Tiefe am Klotz 5,5 bis 13,5 mm zu tief. Deshalb wird die Kalibrierung für die tatsächlich verwendete Tiefenauswertung angepasst.</a:t>
            </a:r>
          </a:p>
          <a:p xmlns:a="http://schemas.openxmlformats.org/drawingml/2006/main">
            <a:r>
              <a:t>Das Verfahren wird für die Basiskamera im Greifbetrieb verwendet. Ein protokollierter Kalibrier-Greiflauf mit sieben Klötzen wurde vollständig abgelegt. Kalibrierung liefert räumliche Zuordnung, nicht Geschwindigkeit oder Richtung der Bandbewegung.</a:t>
            </a:r>
          </a:p>
          <a:p xmlns:a="http://schemas.openxmlformats.org/drawingml/2006/main">
            <a:r>
              <a:t>Grundlagen: Kalibr calibration targets, https://github.com/ethz-asl/kalibr/wiki/calibration-targets; OpenCV Camera Calibration and 3D Reconstruction, https://docs.opencv.org/4.x/d9/d0c/group__calib3d.html.</a:t>
            </a:r>
          </a:p>
          <a:p xmlns:a="http://schemas.openxmlformats.org/drawingml/2006/main">
            <a:r>
              <a:t/>
            </a:r>
          </a:p>
          <a:p xmlns:a="http://schemas.openxmlformats.org/drawingml/2006/main">
            <a:r>
              <a:t>Quellen: Projektbericht/entwuerfe/berichtstext.md, Abschnitte 4.2 und 4.4, Stand 02.10.2026. Abbildung: Projektbericht/abbildungen/fig-kalibrierung-board-greifer.png.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6: Systemkonzept und AICA</a:t>
            </a:r>
          </a:p>
          <a:p xmlns:a="http://schemas.openxmlformats.org/drawingml/2006/main">
            <a:r>
              <a:t>Geplante Sprechzeit: 0:45 Minuten.</a:t>
            </a:r>
          </a:p>
          <a:p xmlns:a="http://schemas.openxmlformats.org/drawingml/2006/main">
            <a:r>
              <a:t/>
            </a:r>
          </a:p>
          <a:p xmlns:a="http://schemas.openxmlformats.org/drawingml/2006/main">
            <a:r>
              <a:t>Die fünf Funktionsgruppen verknüpfen die Kameramessung mit der Bewegung. Die eigenen Komponenten lösen Erkennung, Schätzung, Auswahl und Ablauf. AICA stellt die grafische Verdrahtung sowie Attractor, IK-Controller und Hardwareanbindung bereit.</a:t>
            </a:r>
          </a:p>
          <a:p xmlns:a="http://schemas.openxmlformats.org/drawingml/2006/main">
            <a:r>
              <a:t>Erkennung und Schätzung sind mit 15 Hz konfiguriert, Auswahl mit 20 Hz, der Follower berechnet Flansch-Zielposen mit 50 Hz. Die Roboterregelung läuft mit 500 Hz. Dies sind konfigurierte Raten, nicht zwangsläufig die Rate neuer Bilder.</a:t>
            </a:r>
          </a:p>
          <a:p xmlns:a="http://schemas.openxmlformats.org/drawingml/2006/main">
            <a:r>
              <a:t>Follower-Zielpose an den Attractor, daraus kartesischer Twist, daraus Gelenkgeschwindigkeiten. Roboterpose und Greiferzustand laufen als Rückmeldungen in Auswahl und Ablauf ein. Eine Abschlussmeldung gibt nach der Ablage die nächste Auswahl frei. Diagnose gehört nicht in diesen Regelkreis.</a:t>
            </a:r>
          </a:p>
          <a:p xmlns:a="http://schemas.openxmlformats.org/drawingml/2006/main">
            <a:r>
              <a:t>AICA-Grundlagen: https://docs.aica.tech/; Components https://docs.aica.tech/docs/concepts/building-blocks/components/; Signals https://docs.aica.tech/docs/concepts/building-blocks/signals/.</a:t>
            </a:r>
          </a:p>
          <a:p xmlns:a="http://schemas.openxmlformats.org/drawingml/2006/main">
            <a:r>
              <a:t/>
            </a:r>
          </a:p>
          <a:p xmlns:a="http://schemas.openxmlformats.org/drawingml/2006/main">
            <a:r>
              <a:t>Quellen: Projektbericht/entwuerfe/berichtstext.md, Abschnitte 2.3 und 3.1 bis 3.6,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7: Erkennung und Objektbeschreibung</a:t>
            </a:r>
          </a:p>
          <a:p xmlns:a="http://schemas.openxmlformats.org/drawingml/2006/main">
            <a:r>
              <a:t>Geplante Sprechzeit: 1:00 Minuten.</a:t>
            </a:r>
          </a:p>
          <a:p xmlns:a="http://schemas.openxmlformats.org/drawingml/2006/main">
            <a:r>
              <a:t/>
            </a:r>
          </a:p>
          <a:p xmlns:a="http://schemas.openxmlformats.org/drawingml/2006/main">
            <a:r>
              <a:t>Die Basiskamera wertet Farb- und Tiefenbilder aus. Im Tiefenbild werden innerhalb des ROI Punkte oberhalb der Bandebene als Kandidaten betrachtet. Ein umschließendes Rechteck liefert Mittelpunkt, Länge, Breite und Winkel. Medianwerte reduzieren den Einfluss von Randpixeln. Die Farbe kommt aus dem Farbbild.</a:t>
            </a:r>
          </a:p>
          <a:p xmlns:a="http://schemas.openxmlformats.org/drawingml/2006/main">
            <a:r>
              <a:t>Jedes Objekt erhält eine dauerhafte ID. Aufeinanderfolgende Bilder werden dadurch demselben Klotz zugeordnet. Die gezeigten Klötze tragen IDs 10 und 11 und ihre Farben. Positionen werden mit der Kalibrierung in world umgerechnet.</a:t>
            </a:r>
          </a:p>
          <a:p xmlns:a="http://schemas.openxmlformats.org/drawingml/2006/main">
            <a:r>
              <a:t>Die Lage streut wenig, die gemessenen Abmessungen stärker. Reflexionen und unvollständige Tiefenwerte begrenzen die Erkennung. Die nächste Stufe glättet deshalb zeitlich. Farbe beschreibt den Klotz, ist aber kein Sortierkriterium für unterschiedliche Ablagekisten.</a:t>
            </a:r>
          </a:p>
          <a:p xmlns:a="http://schemas.openxmlformats.org/drawingml/2006/main">
            <a:r>
              <a:t/>
            </a:r>
          </a:p>
          <a:p xmlns:a="http://schemas.openxmlformats.org/drawingml/2006/main">
            <a:r>
              <a:t>Quellen: Projektbericht/entwuerfe/berichtstext.md, Abschnitte 3.2.1 und 3.7, Stand 02.10.2026. Abbildung: Projektbericht/abbildungen/fig-basecam-erkennung-roi.png.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8: Bewegungsschätzung und Vorhersage</a:t>
            </a:r>
          </a:p>
          <a:p xmlns:a="http://schemas.openxmlformats.org/drawingml/2006/main">
            <a:r>
              <a:t>Geplante Sprechzeit: 1:15 Minuten.</a:t>
            </a:r>
          </a:p>
          <a:p xmlns:a="http://schemas.openxmlformats.org/drawingml/2006/main">
            <a:r>
              <a:t/>
            </a:r>
          </a:p>
          <a:p xmlns:a="http://schemas.openxmlformats.org/drawingml/2006/main">
            <a:r>
              <a:t>Die Grafik ist schematisch, keine reale Messreihe. Sie zeigt Messungen im Kamerabereich und die anschließende Vorhersage bis in den Greifbereich. Richtung und Betrag der Bandgeschwindigkeit entstehen ausschließlich aus dem Verlauf der Bildpositionen.</a:t>
            </a:r>
          </a:p>
          <a:p xmlns:a="http://schemas.openxmlformats.org/drawingml/2006/main">
            <a:r>
              <a:t>Frisch aufgelegte Klötze können kippen. Zwei aufeinanderfolgende Fenster von je fünf Messungen liefern Geschwindigkeitsschätzungen. Stimmen sie auf 0,01 m/s überein, gilt das Objekt als eingeschwungen. Ausreißer werden verworfen.</a:t>
            </a:r>
          </a:p>
          <a:p xmlns:a="http://schemas.openxmlformats.org/drawingml/2006/main">
            <a:r>
              <a:t>Alle stabilen Klötze bewegen sich frei mit dem Band. Ihre Spuren gehen in eine gemeinsame Ausgleichsrechnung ein. Lange ungestörte Spuren tragen stärker bei. Position, Abmessungen und Winkel werden über die letzten 20 Messungen geglättet. Nach Verlassen des Kamerabilds wird die Position mit der geschätzten Geschwindigkeit weitergeführt.</a:t>
            </a:r>
          </a:p>
          <a:p xmlns:a="http://schemas.openxmlformats.org/drawingml/2006/main">
            <a:r>
              <a:t>Die dokumentierte Schätzung von etwa 127,9 mm/s stimmt mit der Stoppuhr-Gegenprobe 125 bis 133 mm/s überein. Kalibrierung definiert das Bezugssystem, keine fest vorgegebene Bandbewegung.</a:t>
            </a:r>
          </a:p>
          <a:p xmlns:a="http://schemas.openxmlformats.org/drawingml/2006/main">
            <a:r>
              <a:t/>
            </a:r>
          </a:p>
          <a:p xmlns:a="http://schemas.openxmlformats.org/drawingml/2006/main">
            <a:r>
              <a:t>Quellen: Projektbericht/entwuerfe/berichtstext.md, Abschnitt 3.2.2; Projektdokumentation zur Geschwindigkeitsschätzung,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9: Zielauswahl und Erreichbarkeit</a:t>
            </a:r>
          </a:p>
          <a:p xmlns:a="http://schemas.openxmlformats.org/drawingml/2006/main">
            <a:r>
              <a:t>Geplante Sprechzeit: 1:00 Minuten.</a:t>
            </a:r>
          </a:p>
          <a:p xmlns:a="http://schemas.openxmlformats.org/drawingml/2006/main">
            <a:r>
              <a:t/>
            </a:r>
          </a:p>
          <a:p xmlns:a="http://schemas.openxmlformats.org/drawingml/2006/main">
            <a:r>
              <a:t>Das Bandbild ist schematisch und zeigt verschiedene Auswahlzustände, keine realen IDs oder Versuchsdaten. Nur eingeschwungene, geometrisch greifbare und rechtzeitig erreichbare Klötze sind Kandidaten. Die Auswahl bleibt bis zur Abschlussmeldung gebunden.</a:t>
            </a:r>
          </a:p>
          <a:p xmlns:a="http://schemas.openxmlformats.org/drawingml/2006/main">
            <a:r>
              <a:t>Die Greifzone ist der räumlich nutzbare Bereich auf dem Band. Die Greifebene ist dagegen die letzte Position, an der das Absenken beginnen darf. Bis zum Zonenende muss der Greifvorgang abgeschlossen sein. Ihre Lage folgt aus Geschwindigkeit, Prozessdauer und 20 Prozent Reserve. Bei höherer Geschwindigkeit rückt sie an den Zonenanfang.</a:t>
            </a:r>
          </a:p>
          <a:p xmlns:a="http://schemas.openxmlformats.org/drawingml/2006/main">
            <a:r>
              <a:t>Zeit bis zur Greifebene wird mit Anfahr- und Einschwingzeit verglichen. Das dringendste noch erreichbare Ziel wird gewählt. Zu spät kommende Objekte bleiben auf dem Band. Ein Durchläufer kann daher die korrekte Auswahlentscheidung sein.</a:t>
            </a:r>
          </a:p>
          <a:p xmlns:a="http://schemas.openxmlformats.org/drawingml/2006/main">
            <a:r>
              <a:t/>
            </a:r>
          </a:p>
          <a:p xmlns:a="http://schemas.openxmlformats.org/drawingml/2006/main">
            <a:r>
              <a:t>Quellen: Projektbericht/entwuerfe/berichtstext.md, Abschnitte 3.3.1 und 3.3.2,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10: Greifen während der Bewegung</a:t>
            </a:r>
          </a:p>
          <a:p xmlns:a="http://schemas.openxmlformats.org/drawingml/2006/main">
            <a:r>
              <a:t>Geplante Sprechzeit: 1:30 Minuten.</a:t>
            </a:r>
          </a:p>
          <a:p xmlns:a="http://schemas.openxmlformats.org/drawingml/2006/main">
            <a:r>
              <a:t/>
            </a:r>
          </a:p>
          <a:p xmlns:a="http://schemas.openxmlformats.org/drawingml/2006/main">
            <a:r>
              <a:t>Der Zustandsautomat führt den vollständigen Versuch. Anfahren bringt den Greifer über die vorhergesagte Position. Folgen stabilisiert den Abstand. Beim Absenken und Schließen bewegt sich der Roboter mit dem Klotz weiter. Die Orientierung wird beim Absenken eingefroren.</a:t>
            </a:r>
          </a:p>
          <a:p xmlns:a="http://schemas.openxmlformats.org/drawingml/2006/main">
            <a:r>
              <a:t>Der Greifer meldet Bewegung fertig und Klotz gehalten. Nach bestätigtem Griff wird zunächst mitfahrend angehoben, danach auf Freihöhe gestiegen und zur Box gefahren. Öffnen und Rückfahrt schließen den Zyklus ab.</a:t>
            </a:r>
          </a:p>
          <a:p xmlns:a="http://schemas.openxmlformats.org/drawingml/2006/main">
            <a:r>
              <a:t>Der Attractor arbeitet proportional zur Abweichung von der Zielpose. Bei einem bewegten Ziel entsteht ein bleibender Nachlauf etwa v/K. Die empirisch abgestimmte Vorhaltezeit 0,24 s versetzt die Zielpose deshalb voraus. Geregelt wird der Flansch ur_tool0. Den gemessenen Abstand von 0,235 m zum Griffpunkt berücksichtigt der Follower.</a:t>
            </a:r>
          </a:p>
          <a:p xmlns:a="http://schemas.openxmlformats.org/drawingml/2006/main">
            <a:r>
              <a:t>Bei veralteten Daten oder nicht mehr erreichbarer Greifebene wird vor erfolgreicher Aufnahme abgebrochen. Ein bereits gehaltener Klotz wird auch bei Abbruch kontrolliert abgelegt. Die Grafik fasst den Ablauf zusammen; das vollständige Zustandsdiagramm steht im Bericht.</a:t>
            </a:r>
          </a:p>
          <a:p xmlns:a="http://schemas.openxmlformats.org/drawingml/2006/main">
            <a:r>
              <a:t/>
            </a:r>
          </a:p>
          <a:p xmlns:a="http://schemas.openxmlformats.org/drawingml/2006/main">
            <a:r>
              <a:t>Quellen: Projektbericht/entwuerfe/berichtstext.md, Abschnitte 3.4 bis 3.6; Grundlage fig-follower-zustandsdiagramm,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11: Inbetriebnahme und Rechenlast</a:t>
            </a:r>
          </a:p>
          <a:p xmlns:a="http://schemas.openxmlformats.org/drawingml/2006/main">
            <a:r>
              <a:t>Geplante Sprechzeit: 1:00 Minuten.</a:t>
            </a:r>
          </a:p>
          <a:p xmlns:a="http://schemas.openxmlformats.org/drawingml/2006/main">
            <a:r>
              <a:t/>
            </a:r>
          </a:p>
          <a:p xmlns:a="http://schemas.openxmlformats.org/drawingml/2006/main">
            <a:r>
              <a:t>Alle eigenen Python-Komponenten teilen sich einen Prozess. Diagnose und zusätzliche Auswertung können daher die Bildverarbeitung verzögern. Die Grafik vergleicht dokumentierte Entwicklungsstände, keine kontrollierte Einzelmaßnahmenstudie.</a:t>
            </a:r>
          </a:p>
          <a:p xmlns:a="http://schemas.openxmlformats.org/drawingml/2006/main">
            <a:r>
              <a:t>Zunächst kamen etwa 5,1 neue Messungen je Sekunde an, mittleres Messalter etwa 450 ms. Nach Reduktion der Diagnoseraten stieg die Messrate auf 7,1 Hz; eine Eingangsqueue der Tiefe 1 verhinderte aufgestaute alte Bilder. Das dokumentierte mittlere Messalter sank auf 139 ms. Im finalen Betrieb wurden rund 8,6 neue Messungen je Sekunde erreicht.</a:t>
            </a:r>
          </a:p>
          <a:p xmlns:a="http://schemas.openxmlformats.org/drawingml/2006/main">
            <a:r>
              <a:t>Konfigurierte Rate und neue Messrate unterscheiden. Kameraauswertung und Vectoring sind mit 15 Hz konfiguriert. Data Tracker läuft mit 2 Hz, Interface Streamer mit 10 Hz. Nicht benötigte Roboterkamera, RViz-Ansichten und parallele Diagnoseprozesse werden nicht geladen bzw. geschlossen. Der ROI beschränkt die auszuwertende Bildmenge.</a:t>
            </a:r>
          </a:p>
          <a:p xmlns:a="http://schemas.openxmlformats.org/drawingml/2006/main">
            <a:r>
              <a:t>Die gezeigte Parameteransicht verdeutlicht die direkt einstellbare Rate in AICA. Die reale Roboterregelung bleibt davon getrennt bei 500 Hz.</a:t>
            </a:r>
          </a:p>
          <a:p xmlns:a="http://schemas.openxmlformats.org/drawingml/2006/main">
            <a:r>
              <a:t/>
            </a:r>
          </a:p>
          <a:p xmlns:a="http://schemas.openxmlformats.org/drawingml/2006/main">
            <a:r>
              <a:t>Quellen: Projektbericht/entwuerfe/berichtstext.md, Abschnitte 5.1 und 5.3, Stand 02.10.2026. Abbildung: Projektbericht/abbildungen/fig-aica-vectoring-parameter.png, Ausschnitt.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12: Entwicklungsabnahme und Ergebnisse</a:t>
            </a:r>
          </a:p>
          <a:p xmlns:a="http://schemas.openxmlformats.org/drawingml/2006/main">
            <a:r>
              <a:t>Geplante Sprechzeit: 1:45 Minuten.</a:t>
            </a:r>
          </a:p>
          <a:p xmlns:a="http://schemas.openxmlformats.org/drawingml/2006/main">
            <a:r>
              <a:t/>
            </a:r>
          </a:p>
          <a:p xmlns:a="http://schemas.openxmlformats.org/drawingml/2006/main">
            <a:r>
              <a:t>Als Erfolg zählt Erkennen, Auswählen, Greifen im Lauf, Anheben und vollständige Ablage. Die Läufe wurden mit unterschiedlichen Einstellungen durchgeführt und dürfen nicht zu einer allgemeinen Erfolgsquote addiert werden.</a:t>
            </a:r>
          </a:p>
          <a:p xmlns:a="http://schemas.openxmlformats.org/drawingml/2006/main">
            <a:r>
              <a:t>Vor Änderung der Zeitgrenzen wurden 3 von 7 Klötzen abgelegt. Die Daten waren teilweise zu alt, die Greifebene wurde zu spät erreicht und ein Timeout trat auf. Nach Anhebung der Extrapolationsgrenze von 0,6 auf 1,0 s und des Ziel-Timeouts von 1,0 auf 1,5 s wurden mit denselben Klötzen 9 von 9 Ablagen dokumentiert.</a:t>
            </a:r>
          </a:p>
          <a:p xmlns:a="http://schemas.openxmlformats.org/drawingml/2006/main">
            <a:r>
              <a:t>Der separate Dauerlauf mit horizontal 0,5 m/s und vertikal 0,25 m/s ergab in rund zwei Minuten 15 Ablagen, einen Fehlgriff und neun Durchläufer. Die Durchläufer folgten zu dicht auf bereits gegriffene Ziele, während der Roboter noch hob, ablegte oder zurückfuhr. Sie waren nicht mehr sicher erreichbar.</a:t>
            </a:r>
          </a:p>
          <a:p xmlns:a="http://schemas.openxmlformats.org/drawingml/2006/main">
            <a:r>
              <a:t>Weitere Läufe mit gedrehten und gemischten Klötzen sowie höhere Bandstufen bis Stufe 3 waren nach Beobachtung erfolgreich. Dafür liegen keine gemessenen Geschwindigkeiten oder systematische Zählung vor. Der zusätzliche Kalibrier-Greiflauf wird nicht nochmals als unabhängiger Datensatz gezählt.</a:t>
            </a:r>
          </a:p>
          <a:p xmlns:a="http://schemas.openxmlformats.org/drawingml/2006/main">
            <a:r>
              <a:t>Der Screenshot zeigt die tatsächliche Laufzeitdiagnose mit Zustand, Ziel-ID, geschätzter Geschwindigkeit und Regelabweichungen. Es liegt derzeit kein Video vor; der Screenshot ist kein vollständiger videografischer Ablaufnachweis.</a:t>
            </a:r>
          </a:p>
          <a:p xmlns:a="http://schemas.openxmlformats.org/drawingml/2006/main">
            <a:r>
              <a:t/>
            </a:r>
          </a:p>
          <a:p xmlns:a="http://schemas.openxmlformats.org/drawingml/2006/main">
            <a:r>
              <a:t>Quellen: Projektbericht/entwuerfe/berichtstext.md, Kapitel 6, Stand 02.10.2026. Abbildung: Projektbericht/abbildungen/fig-interface-streamer-betrieb.png.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13: Bewertung und Weiterentwicklung</a:t>
            </a:r>
          </a:p>
          <a:p xmlns:a="http://schemas.openxmlformats.org/drawingml/2006/main">
            <a:r>
              <a:t>Geplante Sprechzeit: 1:00 Minuten.</a:t>
            </a:r>
          </a:p>
          <a:p xmlns:a="http://schemas.openxmlformats.org/drawingml/2006/main">
            <a:r>
              <a:t/>
            </a:r>
          </a:p>
          <a:p xmlns:a="http://schemas.openxmlformats.org/drawingml/2006/main">
            <a:r>
              <a:t>Der Konzeptnachweis ist erbracht: quaderförmige Klötze werden auf dem laufenden Band anhand von Kameradaten ausgewählt, gegriffen, angehoben und abgelegt. Kein Encoder ist erforderlich. Bei dichter Folge wählt das System erreichbare Ziele statt unsichere Griffe zu erzwingen.</a:t>
            </a:r>
          </a:p>
          <a:p xmlns:a="http://schemas.openxmlformats.org/drawingml/2006/main">
            <a:r>
              <a:t>Der Durchsatz wird wesentlich durch Heben, Ablage, Öffnen und Rückfahrt begrenzt. Bildverarbeitung und Rechenplattform arbeiten nahe ihrer Leistungsgrenze. Reflexionen, flache Klötze und positionsabhängige Tiefenfehler bleiben Randbedingungen. Es handelt sich nicht um ein fertig qualifiziertes Industrieprodukt.</a:t>
            </a:r>
          </a:p>
          <a:p xmlns:a="http://schemas.openxmlformats.org/drawingml/2006/main">
            <a:r>
              <a:t>Weiterentwicklungsvorschläge: Ablage näher am Band verkürzt den Rückweg. Trennung von Bildverarbeitung und Diagnose beziehungsweise leistungsfähigere Hardware stabilisiert den Ablauf. Tiefenkorrektur, Entzerrung und feste Referenzmarken können Erkennung und Nachkalibrierung verbessern. Die Roboterkamera erst bei belastbarem Zusatznutzen wieder einbinden. Diese Maßnahmen sind Vorschläge, keine bereits nachgewiesenen zusätzlichen Funktionen.</a:t>
            </a:r>
          </a:p>
          <a:p xmlns:a="http://schemas.openxmlformats.org/drawingml/2006/main">
            <a:r>
              <a:t>Abschluss: Die Kombination aus Bildvorhersage, Erreichbarkeitsprüfung und rückgekoppelter Bewegung ermöglicht das Greifen ohne Bandencoder.</a:t>
            </a:r>
          </a:p>
          <a:p xmlns:a="http://schemas.openxmlformats.org/drawingml/2006/main">
            <a:r>
              <a:t/>
            </a:r>
          </a:p>
          <a:p xmlns:a="http://schemas.openxmlformats.org/drawingml/2006/main">
            <a:r>
              <a:t>Quellen: Projektbericht/entwuerfe/berichtstext.md, Kapitel 7, Stand 02.10.2026.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HkaLayout" Type="http://schemas.openxmlformats.org/officeDocument/2006/relationships/slideLayout" Target="../slideLayouts/slideLayout1.xml"/><Relationship Id="R8bece376c76f44fd" Type="http://schemas.openxmlformats.org/officeDocument/2006/relationships/image" Target="../media/rt-v01-image.jpeg"/><Relationship Id="R8d143e6d1cd1450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HkaLayout" Type="http://schemas.openxmlformats.org/officeDocument/2006/relationships/slideLayout" Target="../slideLayouts/slideLayout4.xml"/><Relationship Id="R767442d78faa4eb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HkaLayout" Type="http://schemas.openxmlformats.org/officeDocument/2006/relationships/slideLayout" Target="../slideLayouts/slideLayout4.xml"/><Relationship Id="R23e690cdedd54e99" Type="http://schemas.openxmlformats.org/officeDocument/2006/relationships/image" Target="../media/rt-v01-image.png"/><Relationship Id="R69931b1fff0d42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HkaLayout" Type="http://schemas.openxmlformats.org/officeDocument/2006/relationships/slideLayout" Target="../slideLayouts/slideLayout4.xml"/><Relationship Id="Rbd8cc06f03054796" Type="http://schemas.openxmlformats.org/officeDocument/2006/relationships/image" Target="../media/rt-v01-image2.jpeg"/><Relationship Id="R35ebbcae793548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HkaLayout" Type="http://schemas.openxmlformats.org/officeDocument/2006/relationships/slideLayout" Target="../slideLayouts/slideLayout4.xml"/><Relationship Id="Re94891cfd8bb44fa" Type="http://schemas.openxmlformats.org/officeDocument/2006/relationships/image" Target="../media/rt-v01-image2.png"/><Relationship Id="Rc3d71a6c264b48da"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HkaLayout" Type="http://schemas.openxmlformats.org/officeDocument/2006/relationships/slideLayout" Target="../slideLayouts/slideLayout4.xml"/><Relationship Id="Rb95fc36f7dcb468c"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HkaLayout" Type="http://schemas.openxmlformats.org/officeDocument/2006/relationships/slideLayout" Target="../slideLayouts/slideLayout4.xml"/><Relationship Id="R65ea668b47994cc0" Type="http://schemas.openxmlformats.org/officeDocument/2006/relationships/image" Target="../media/rt-v01-image3.png"/><Relationship Id="R7a1a28a146184e9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HkaLayout" Type="http://schemas.openxmlformats.org/officeDocument/2006/relationships/slideLayout" Target="../slideLayouts/slideLayout4.xml"/><Relationship Id="Rc51d88bb052247e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HkaLayout" Type="http://schemas.openxmlformats.org/officeDocument/2006/relationships/slideLayout" Target="../slideLayouts/slideLayout4.xml"/><Relationship Id="Rc346779ce0474cc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HkaLayout" Type="http://schemas.openxmlformats.org/officeDocument/2006/relationships/slideLayout" Target="../slideLayouts/slideLayout4.xml"/><Relationship Id="R90a8bc34ed2c45eb"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HkaLayout" Type="http://schemas.openxmlformats.org/officeDocument/2006/relationships/slideLayout" Target="../slideLayouts/slideLayout4.xml"/><Relationship Id="Rf5302b2020d7450d" Type="http://schemas.openxmlformats.org/officeDocument/2006/relationships/chart" Target="charts/rt-v01-chart1.xml"/><Relationship Id="Rcfbd7a08eb474199" Type="http://schemas.openxmlformats.org/officeDocument/2006/relationships/image" Target="../media/rt-v01-image4.png"/><Relationship Id="Rdbc4e91ad65343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HkaLayout" Type="http://schemas.openxmlformats.org/officeDocument/2006/relationships/slideLayout" Target="../slideLayouts/slideLayout4.xml"/><Relationship Id="R02fd3e8f9dca43de" Type="http://schemas.openxmlformats.org/officeDocument/2006/relationships/image" Target="../media/rt-v01-image5.png"/><Relationship Id="R9e353340e26846c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HkaLayout" Type="http://schemas.openxmlformats.org/officeDocument/2006/relationships/slideLayout" Target="../slideLayouts/slideLayout4.xml"/><Relationship Id="R448716d2fa2e4a32" Type="http://schemas.openxmlformats.org/officeDocument/2006/relationships/notesSlide" Target="../notesSlides/notesSlide13.xml"/></Relationships>
</file>

<file path=ppt/slides/charts/_rels/rt-v01-chart1.xml.rels><Relationships xmlns="http://schemas.openxmlformats.org/package/2006/relationships"><Relationship Id="rIdChartSnapshot1" Type="http://schemas.openxmlformats.org/officeDocument/2006/relationships/package" Target="../../embeddings/chart-data-snapshot-001.xlsx"/></Relationships>
</file>

<file path=ppt/slides/charts/rt-v01-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Mittleres Messalter</c:v>
          </c:tx>
          <c:spPr>
            <a:solidFill xmlns:a="http://schemas.openxmlformats.org/drawingml/2006/main">
              <a:srgbClr val="2869AF"/>
            </a:solidFill>
          </c:spPr>
          <c:dPt>
            <c:idx val="0"/>
            <c:invertIfNegative val="0"/>
            <c:spPr>
              <a:solidFill xmlns:a="http://schemas.openxmlformats.org/drawingml/2006/main">
                <a:srgbClr val="A8B7C5"/>
              </a:solidFill>
            </c:spPr>
          </c:dPt>
          <c:dPt>
            <c:idx val="1"/>
            <c:invertIfNegative val="0"/>
            <c:spPr>
              <a:solidFill xmlns:a="http://schemas.openxmlformats.org/drawingml/2006/main">
                <a:srgbClr val="2869AF"/>
              </a:solidFill>
            </c:spPr>
          </c:dPt>
          <c:cat>
            <c:strRef>
              <c:f>'Chart Data'!$A$2:$A$3</c:f>
              <c:strCache>
                <c:ptCount val="2"/>
                <c:pt idx="0">
                  <c:v>Vor Optimierung</c:v>
                </c:pt>
                <c:pt idx="1">
                  <c:v>Nach Maßnahmen</c:v>
                </c:pt>
              </c:strCache>
            </c:strRef>
          </c:cat>
          <c:val>
            <c:numRef>
              <c:f>'Chart Data'!$B$2:$B$3</c:f>
              <c:numCache>
                <c:formatCode>0" ms"</c:formatCode>
                <c:ptCount val="2"/>
                <c:pt idx="0">
                  <c:v>450</c:v>
                </c:pt>
                <c:pt idx="1">
                  <c:v>139</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2869AF"/>
                  </a:solidFill>
                  <a:latin typeface="Calibri"/>
                  <a:ea typeface="Calibri"/>
                  <a:cs typeface="Calibr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9525">
              <a:solidFill>
                <a:srgbClr val="DCE2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07D"/>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232E"/>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 name="cover-title">
            <a:extLst>
              <a:ext uri="{FF2B5EF4-FFF2-40B4-BE49-F238E27FC236}">
                <a16:creationId xmlns:a16="http://schemas.microsoft.com/office/drawing/2014/main" id="{D14D73E5-CD6A-4C84-A953-C4F689148525}"/>
              </a:ext>
            </a:extLst>
          </p:cNvPr>
          <p:cNvSpPr>
            <a:spLocks noGrp="1"/>
          </p:cNvSpPr>
          <p:nvPr/>
        </p:nvSpPr>
        <p:spPr>
          <a:xfrm>
            <a:off x="333375" y="1571625"/>
            <a:ext cx="9620250" cy="12763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Inverses „Tetris“</a:t>
            </a:r>
          </a:p>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für Roboter</a:t>
            </a:r>
          </a:p>
        </p:txBody>
      </p:sp>
      <p:sp>
        <p:nvSpPr>
          <p:cNvPr id="1002" name="cover-subtitle">
            <a:extLst>
              <a:ext uri="{FF2B5EF4-FFF2-40B4-BE49-F238E27FC236}">
                <a16:creationId xmlns:a16="http://schemas.microsoft.com/office/drawing/2014/main" id="{A4F7349F-4F0D-4972-9EA2-8C1C81E3C736}"/>
              </a:ext>
            </a:extLst>
          </p:cNvPr>
          <p:cNvSpPr>
            <a:spLocks noGrp="1"/>
          </p:cNvSpPr>
          <p:nvPr/>
        </p:nvSpPr>
        <p:spPr>
          <a:xfrm>
            <a:off x="333375" y="2847975"/>
            <a:ext cx="10191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a:solidFill>
                  <a:srgbClr val="2869AF"/>
                </a:solidFill>
                <a:latin typeface="Calibri"/>
                <a:ea typeface="Calibri"/>
                <a:cs typeface="Calibri"/>
              </a:rPr>
              <a:t>„On the Fly“-Picking bei verschiedenen Bandgeschwindigkeiten</a:t>
            </a:r>
          </a:p>
        </p:txBody>
      </p:sp>
      <p:pic>
        <p:nvPicPr>
          <p:cNvPr id="1009" name=""/>
          <p:cNvPicPr>
            <a:picLocks noChangeAspect="1"/>
          </p:cNvPicPr>
          <p:nvPr/>
        </p:nvPicPr>
        <p:blipFill>
          <a:blip r:embed="R8bece376c76f44fd"/>
          <a:srcRect l="0" t="18634" r="0" b="18634"/>
          <a:stretch>
            <a:fillRect l="0" t="0" r="0" b="0"/>
          </a:stretch>
        </p:blipFill>
        <p:spPr>
          <a:xfrm>
            <a:off x="333375" y="3352800"/>
            <a:ext cx="5810250" cy="2733675"/>
          </a:xfrm>
          <a:prstGeom prst="rect">
            <a:avLst/>
          </a:prstGeom>
        </p:spPr>
      </p:pic>
      <p:sp>
        <p:nvSpPr>
          <p:cNvPr id="1004" name="cover-team-label">
            <a:extLst>
              <a:ext uri="{FF2B5EF4-FFF2-40B4-BE49-F238E27FC236}">
                <a16:creationId xmlns:a16="http://schemas.microsoft.com/office/drawing/2014/main" id="{3F223023-A4F0-4950-B224-E49E3C663526}"/>
              </a:ext>
            </a:extLst>
          </p:cNvPr>
          <p:cNvSpPr>
            <a:spLocks noGrp="1"/>
          </p:cNvSpPr>
          <p:nvPr/>
        </p:nvSpPr>
        <p:spPr>
          <a:xfrm>
            <a:off x="6572250" y="3505200"/>
            <a:ext cx="352425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1">
                <a:solidFill>
                  <a:srgbClr val="2869AF"/>
                </a:solidFill>
                <a:latin typeface="Calibri"/>
                <a:ea typeface="Calibri"/>
                <a:cs typeface="Calibri"/>
              </a:defRPr>
            </a:pPr>
            <a:r>
              <a:rPr sz="2200" b="1">
                <a:solidFill>
                  <a:srgbClr val="2869AF"/>
                </a:solidFill>
                <a:latin typeface="Calibri"/>
                <a:ea typeface="Calibri"/>
                <a:cs typeface="Calibri"/>
              </a:rPr>
              <a:t>Projektgruppe</a:t>
            </a:r>
          </a:p>
        </p:txBody>
      </p:sp>
      <p:sp>
        <p:nvSpPr>
          <p:cNvPr id="1005" name="cover-team">
            <a:extLst>
              <a:ext uri="{FF2B5EF4-FFF2-40B4-BE49-F238E27FC236}">
                <a16:creationId xmlns:a16="http://schemas.microsoft.com/office/drawing/2014/main" id="{639B3C0C-21CF-4C88-93FA-A143657AFED0}"/>
              </a:ext>
            </a:extLst>
          </p:cNvPr>
          <p:cNvSpPr>
            <a:spLocks noGrp="1"/>
          </p:cNvSpPr>
          <p:nvPr/>
        </p:nvSpPr>
        <p:spPr>
          <a:xfrm>
            <a:off x="6572250" y="4000500"/>
            <a:ext cx="3476625" cy="1381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Tobias Unger</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Lukas Norz</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Simon Hoess</a:t>
            </a:r>
          </a:p>
        </p:txBody>
      </p:sp>
      <p:sp>
        <p:nvSpPr>
          <p:cNvPr id="1006" name="cover-semester">
            <a:extLst>
              <a:ext uri="{FF2B5EF4-FFF2-40B4-BE49-F238E27FC236}">
                <a16:creationId xmlns:a16="http://schemas.microsoft.com/office/drawing/2014/main" id="{B37F9C3E-4DA5-4AEE-9EF2-50E56CC0638E}"/>
              </a:ext>
            </a:extLst>
          </p:cNvPr>
          <p:cNvSpPr>
            <a:spLocks noGrp="1"/>
          </p:cNvSpPr>
          <p:nvPr/>
        </p:nvSpPr>
        <p:spPr>
          <a:xfrm>
            <a:off x="6572250" y="5524500"/>
            <a:ext cx="3619500"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FuE-Projekt</a:t>
            </a:r>
          </a:p>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Sommersemester 2026</a:t>
            </a:r>
          </a:p>
        </p:txBody>
      </p:sp>
      <p:sp>
        <p:nvSpPr>
          <p:cNvPr id="5" name="Textplatzhalter 4">
            <a:extLst>
              <a:ext uri="{FF2B5EF4-FFF2-40B4-BE49-F238E27FC236}">
                <a16:creationId xmlns:a16="http://schemas.microsoft.com/office/drawing/2014/main" id="{C1DE1C2D-C59C-15E8-8E38-B89202283379}"/>
              </a:ext>
            </a:extLst>
          </p:cNvPr>
          <p:cNvSpPr>
            <a:spLocks noGrp="1"/>
          </p:cNvSpPr>
          <p:nvPr>
            <p:ph type="body" sz="quarter" idx="15"/>
          </p:nvPr>
        </p:nvSpPr>
        <p:spPr/>
        <p:txBody>
          <a:bodyPr/>
          <a:lstStyle/>
          <a:p>
            <a:r>
              <a:rPr lang="de-DE"/>
              <a:t>FuE-Projekt Sommersemester 2026 | 02.10.2026</a:t>
            </a:r>
          </a:p>
          <a:p>
            <a:endParaRPr lang="de-DE"/>
          </a:p>
        </p:txBody>
      </p:sp>
    </p:spTree>
    <p:extLst>
      <p:ext uri="{BB962C8B-B14F-4D97-AF65-F5344CB8AC3E}">
        <p14:creationId xmlns:p14="http://schemas.microsoft.com/office/powerpoint/2010/main" val="1507760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slide-title">
            <a:extLst>
              <a:ext uri="{FF2B5EF4-FFF2-40B4-BE49-F238E27FC236}">
                <a16:creationId xmlns:a16="http://schemas.microsoft.com/office/drawing/2014/main" id="{654AAF4C-2050-496F-AAF7-038B44B42FA3}"/>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Aufgabenstellung und Projektziel</a:t>
            </a:r>
          </a:p>
        </p:txBody>
      </p:sp>
      <p:sp>
        <p:nvSpPr>
          <p:cNvPr id="1002" name="task-heading">
            <a:extLst>
              <a:ext uri="{FF2B5EF4-FFF2-40B4-BE49-F238E27FC236}">
                <a16:creationId xmlns:a16="http://schemas.microsoft.com/office/drawing/2014/main" id="{521D79AD-AAF7-4132-BE96-7FD5AAF09539}"/>
              </a:ext>
            </a:extLst>
          </p:cNvPr>
          <p:cNvSpPr>
            <a:spLocks noGrp="1"/>
          </p:cNvSpPr>
          <p:nvPr/>
        </p:nvSpPr>
        <p:spPr>
          <a:xfrm>
            <a:off x="571500" y="1476375"/>
            <a:ext cx="52387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1">
                <a:solidFill>
                  <a:srgbClr val="2869AF"/>
                </a:solidFill>
                <a:latin typeface="Calibri"/>
                <a:ea typeface="Calibri"/>
                <a:cs typeface="Calibri"/>
              </a:defRPr>
            </a:pPr>
            <a:r>
              <a:rPr sz="2600" b="1">
                <a:solidFill>
                  <a:srgbClr val="2869AF"/>
                </a:solidFill>
                <a:latin typeface="Calibri"/>
                <a:ea typeface="Calibri"/>
                <a:cs typeface="Calibri"/>
              </a:rPr>
              <a:t>Aufgabenstellung</a:t>
            </a:r>
          </a:p>
        </p:txBody>
      </p:sp>
      <p:sp>
        <p:nvSpPr>
          <p:cNvPr id="1003" name="task-bullets-0">
            <a:extLst>
              <a:ext uri="{FF2B5EF4-FFF2-40B4-BE49-F238E27FC236}">
                <a16:creationId xmlns:a16="http://schemas.microsoft.com/office/drawing/2014/main" id="{48B2B4A5-063B-4328-96F5-4AEB73B55B5E}"/>
              </a:ext>
            </a:extLst>
          </p:cNvPr>
          <p:cNvSpPr>
            <a:spLocks noGrp="1"/>
          </p:cNvSpPr>
          <p:nvPr/>
        </p:nvSpPr>
        <p:spPr>
          <a:xfrm>
            <a:off x="571500" y="21145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Greifen im Lauf</a:t>
            </a:r>
          </a:p>
        </p:txBody>
      </p:sp>
      <p:sp>
        <p:nvSpPr>
          <p:cNvPr id="1004" name="task-bullets-1">
            <a:extLst>
              <a:ext uri="{FF2B5EF4-FFF2-40B4-BE49-F238E27FC236}">
                <a16:creationId xmlns:a16="http://schemas.microsoft.com/office/drawing/2014/main" id="{808922D0-6143-4374-A754-175AF22DCFBD}"/>
              </a:ext>
            </a:extLst>
          </p:cNvPr>
          <p:cNvSpPr>
            <a:spLocks noGrp="1"/>
          </p:cNvSpPr>
          <p:nvPr/>
        </p:nvSpPr>
        <p:spPr>
          <a:xfrm>
            <a:off x="571500" y="26289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Mehrere Objekte, Priorisierung</a:t>
            </a:r>
          </a:p>
        </p:txBody>
      </p:sp>
      <p:sp>
        <p:nvSpPr>
          <p:cNvPr id="1005" name="task-bullets-2">
            <a:extLst>
              <a:ext uri="{FF2B5EF4-FFF2-40B4-BE49-F238E27FC236}">
                <a16:creationId xmlns:a16="http://schemas.microsoft.com/office/drawing/2014/main" id="{544D7FC6-0737-4BC6-8229-329EC8686B51}"/>
              </a:ext>
            </a:extLst>
          </p:cNvPr>
          <p:cNvSpPr>
            <a:spLocks noGrp="1"/>
          </p:cNvSpPr>
          <p:nvPr/>
        </p:nvSpPr>
        <p:spPr>
          <a:xfrm>
            <a:off x="571500" y="31432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Bildbasierte Bewegungsschätzung</a:t>
            </a:r>
          </a:p>
        </p:txBody>
      </p:sp>
      <p:sp>
        <p:nvSpPr>
          <p:cNvPr id="1006" name="task-bullets-3">
            <a:extLst>
              <a:ext uri="{FF2B5EF4-FFF2-40B4-BE49-F238E27FC236}">
                <a16:creationId xmlns:a16="http://schemas.microsoft.com/office/drawing/2014/main" id="{01353B30-97F6-4963-B45B-DC86A6F2DEA7}"/>
              </a:ext>
            </a:extLst>
          </p:cNvPr>
          <p:cNvSpPr>
            <a:spLocks noGrp="1"/>
          </p:cNvSpPr>
          <p:nvPr/>
        </p:nvSpPr>
        <p:spPr>
          <a:xfrm>
            <a:off x="571500" y="36576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UR10e mit AICA</a:t>
            </a:r>
          </a:p>
        </p:txBody>
      </p:sp>
      <p:sp>
        <p:nvSpPr>
          <p:cNvPr id="1007" name="task-bullets-4">
            <a:extLst>
              <a:ext uri="{FF2B5EF4-FFF2-40B4-BE49-F238E27FC236}">
                <a16:creationId xmlns:a16="http://schemas.microsoft.com/office/drawing/2014/main" id="{D6D9CA20-BCA5-48C8-90E0-E5FC12C745F2}"/>
              </a:ext>
            </a:extLst>
          </p:cNvPr>
          <p:cNvSpPr>
            <a:spLocks noGrp="1"/>
          </p:cNvSpPr>
          <p:nvPr/>
        </p:nvSpPr>
        <p:spPr>
          <a:xfrm>
            <a:off x="571500" y="41719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Schnelle Kamerakalibrierung</a:t>
            </a:r>
          </a:p>
        </p:txBody>
      </p:sp>
      <p:sp>
        <p:nvSpPr>
          <p:cNvPr id="1008" name="task-bullets-5">
            <a:extLst>
              <a:ext uri="{FF2B5EF4-FFF2-40B4-BE49-F238E27FC236}">
                <a16:creationId xmlns:a16="http://schemas.microsoft.com/office/drawing/2014/main" id="{AF36FEEE-0838-4125-8575-9EC4D9B38050}"/>
              </a:ext>
            </a:extLst>
          </p:cNvPr>
          <p:cNvSpPr>
            <a:spLocks noGrp="1"/>
          </p:cNvSpPr>
          <p:nvPr/>
        </p:nvSpPr>
        <p:spPr>
          <a:xfrm>
            <a:off x="571500" y="46863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Verschiedene Bandgeschwindigkeiten</a:t>
            </a:r>
          </a:p>
        </p:txBody>
      </p:sp>
      <p:sp>
        <p:nvSpPr>
          <p:cNvPr id="1009" name="extra-heading">
            <a:extLst>
              <a:ext uri="{FF2B5EF4-FFF2-40B4-BE49-F238E27FC236}">
                <a16:creationId xmlns:a16="http://schemas.microsoft.com/office/drawing/2014/main" id="{0ACE4B2F-0CD0-4108-B3E3-9CCB4C2D0FC9}"/>
              </a:ext>
            </a:extLst>
          </p:cNvPr>
          <p:cNvSpPr>
            <a:spLocks noGrp="1"/>
          </p:cNvSpPr>
          <p:nvPr/>
        </p:nvSpPr>
        <p:spPr>
          <a:xfrm>
            <a:off x="6905625" y="1476375"/>
            <a:ext cx="4333875"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1">
                <a:solidFill>
                  <a:srgbClr val="2869AF"/>
                </a:solidFill>
                <a:latin typeface="Calibri"/>
                <a:ea typeface="Calibri"/>
                <a:cs typeface="Calibri"/>
              </a:defRPr>
            </a:pPr>
            <a:r>
              <a:rPr sz="2600" b="1">
                <a:solidFill>
                  <a:srgbClr val="2869AF"/>
                </a:solidFill>
                <a:latin typeface="Calibri"/>
                <a:ea typeface="Calibri"/>
                <a:cs typeface="Calibri"/>
              </a:rPr>
              <a:t>Zusätzliche Funktionen</a:t>
            </a:r>
          </a:p>
        </p:txBody>
      </p:sp>
      <p:sp>
        <p:nvSpPr>
          <p:cNvPr id="1010" name="extra-bullets-0">
            <a:extLst>
              <a:ext uri="{FF2B5EF4-FFF2-40B4-BE49-F238E27FC236}">
                <a16:creationId xmlns:a16="http://schemas.microsoft.com/office/drawing/2014/main" id="{FAEAA48E-8A90-4F86-B239-5766FB090C16}"/>
              </a:ext>
            </a:extLst>
          </p:cNvPr>
          <p:cNvSpPr>
            <a:spLocks noGrp="1"/>
          </p:cNvSpPr>
          <p:nvPr/>
        </p:nvSpPr>
        <p:spPr>
          <a:xfrm>
            <a:off x="6905625" y="2114550"/>
            <a:ext cx="43338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Basiskamera allein</a:t>
            </a:r>
          </a:p>
        </p:txBody>
      </p:sp>
      <p:sp>
        <p:nvSpPr>
          <p:cNvPr id="1011" name="extra-bullets-1">
            <a:extLst>
              <a:ext uri="{FF2B5EF4-FFF2-40B4-BE49-F238E27FC236}">
                <a16:creationId xmlns:a16="http://schemas.microsoft.com/office/drawing/2014/main" id="{717FFB99-0D0E-4E2A-A1DA-78A9B80B2F80}"/>
              </a:ext>
            </a:extLst>
          </p:cNvPr>
          <p:cNvSpPr>
            <a:spLocks noGrp="1"/>
          </p:cNvSpPr>
          <p:nvPr/>
        </p:nvSpPr>
        <p:spPr>
          <a:xfrm>
            <a:off x="6905625" y="2628900"/>
            <a:ext cx="43338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Laufzeitdiagnose</a:t>
            </a:r>
          </a:p>
        </p:txBody>
      </p:sp>
      <p:sp>
        <p:nvSpPr>
          <p:cNvPr id="1012" name="extra-bullets-2">
            <a:extLst>
              <a:ext uri="{FF2B5EF4-FFF2-40B4-BE49-F238E27FC236}">
                <a16:creationId xmlns:a16="http://schemas.microsoft.com/office/drawing/2014/main" id="{900F2CCF-C32B-4CD4-9A70-E318A53D7CC2}"/>
              </a:ext>
            </a:extLst>
          </p:cNvPr>
          <p:cNvSpPr>
            <a:spLocks noGrp="1"/>
          </p:cNvSpPr>
          <p:nvPr/>
        </p:nvSpPr>
        <p:spPr>
          <a:xfrm>
            <a:off x="6905625" y="3143250"/>
            <a:ext cx="43338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Kontrollierte Abbrüche und Ablage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 name="slide-title">
            <a:extLst>
              <a:ext uri="{FF2B5EF4-FFF2-40B4-BE49-F238E27FC236}">
                <a16:creationId xmlns:a16="http://schemas.microsoft.com/office/drawing/2014/main" id="{0C7B2CB4-8606-40F2-B9C3-4059BCCBE311}"/>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Versuchsaufbau</a:t>
            </a:r>
          </a:p>
        </p:txBody>
      </p:sp>
      <p:pic>
        <p:nvPicPr>
          <p:cNvPr id="1005" name=""/>
          <p:cNvPicPr>
            <a:picLocks noChangeAspect="1"/>
          </p:cNvPicPr>
          <p:nvPr/>
        </p:nvPicPr>
        <p:blipFill>
          <a:blip r:embed="R23e690cdedd54e99"/>
          <a:stretch/>
        </p:blipFill>
        <p:spPr>
          <a:xfrm>
            <a:off x="1720406" y="1095375"/>
            <a:ext cx="8132064" cy="4572000"/>
          </a:xfrm>
          <a:prstGeom prst="rect">
            <a:avLst/>
          </a:prstGeom>
        </p:spPr>
      </p:pic>
      <p:sp>
        <p:nvSpPr>
          <p:cNvPr id="1003" name="caption-3">
            <a:extLst>
              <a:ext uri="{FF2B5EF4-FFF2-40B4-BE49-F238E27FC236}">
                <a16:creationId xmlns:a16="http://schemas.microsoft.com/office/drawing/2014/main" id="{4356857E-D8D6-4467-807C-97DA7767AB72}"/>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Draufsicht des Versuchsaufbaus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D007A893-B6A3-42C6-83B5-8E7BF7FBAFC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mit der Roboterkamera</a:t>
            </a:r>
          </a:p>
        </p:txBody>
      </p:sp>
      <p:pic>
        <p:nvPicPr>
          <p:cNvPr id="1011" name=""/>
          <p:cNvPicPr>
            <a:picLocks noChangeAspect="1"/>
          </p:cNvPicPr>
          <p:nvPr/>
        </p:nvPicPr>
        <p:blipFill>
          <a:blip r:embed="Rbd8cc06f03054796"/>
          <a:stretch/>
        </p:blipFill>
        <p:spPr>
          <a:xfrm>
            <a:off x="474266" y="1238250"/>
            <a:ext cx="7338219" cy="4095750"/>
          </a:xfrm>
          <a:prstGeom prst="rect">
            <a:avLst/>
          </a:prstGeom>
        </p:spPr>
      </p:pic>
      <p:sp>
        <p:nvSpPr>
          <p:cNvPr id="1003" name="eye-label">
            <a:extLst>
              <a:ext uri="{FF2B5EF4-FFF2-40B4-BE49-F238E27FC236}">
                <a16:creationId xmlns:a16="http://schemas.microsoft.com/office/drawing/2014/main" id="{86607CE0-CAA9-4B6E-BB53-DD018735FD94}"/>
              </a:ext>
            </a:extLst>
          </p:cNvPr>
          <p:cNvSpPr>
            <a:spLocks noGrp="1"/>
          </p:cNvSpPr>
          <p:nvPr/>
        </p:nvSpPr>
        <p:spPr>
          <a:xfrm>
            <a:off x="8239125" y="1390650"/>
            <a:ext cx="285750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Eye-in-Hand</a:t>
            </a:r>
          </a:p>
        </p:txBody>
      </p:sp>
      <p:sp>
        <p:nvSpPr>
          <p:cNvPr id="1004" name="eye-points-0">
            <a:extLst>
              <a:ext uri="{FF2B5EF4-FFF2-40B4-BE49-F238E27FC236}">
                <a16:creationId xmlns:a16="http://schemas.microsoft.com/office/drawing/2014/main" id="{CFBDC452-129E-4A91-A9CC-A5E4E2026C42}"/>
              </a:ext>
            </a:extLst>
          </p:cNvPr>
          <p:cNvSpPr>
            <a:spLocks noGrp="1"/>
          </p:cNvSpPr>
          <p:nvPr/>
        </p:nvSpPr>
        <p:spPr>
          <a:xfrm>
            <a:off x="8239125" y="19812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Kamera am Flansch</a:t>
            </a:r>
          </a:p>
        </p:txBody>
      </p:sp>
      <p:sp>
        <p:nvSpPr>
          <p:cNvPr id="1005" name="eye-points-1">
            <a:extLst>
              <a:ext uri="{FF2B5EF4-FFF2-40B4-BE49-F238E27FC236}">
                <a16:creationId xmlns:a16="http://schemas.microsoft.com/office/drawing/2014/main" id="{7A01877D-BBEA-4CA2-A5EB-D8DB8FC4B9EA}"/>
              </a:ext>
            </a:extLst>
          </p:cNvPr>
          <p:cNvSpPr>
            <a:spLocks noGrp="1"/>
          </p:cNvSpPr>
          <p:nvPr/>
        </p:nvSpPr>
        <p:spPr>
          <a:xfrm>
            <a:off x="8239125" y="24955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ChArUco-Board ortsfest</a:t>
            </a:r>
          </a:p>
        </p:txBody>
      </p:sp>
      <p:sp>
        <p:nvSpPr>
          <p:cNvPr id="1006" name="eye-points-2">
            <a:extLst>
              <a:ext uri="{FF2B5EF4-FFF2-40B4-BE49-F238E27FC236}">
                <a16:creationId xmlns:a16="http://schemas.microsoft.com/office/drawing/2014/main" id="{02AE70C4-3EAB-49B9-ACFA-97EF517BB9DB}"/>
              </a:ext>
            </a:extLst>
          </p:cNvPr>
          <p:cNvSpPr>
            <a:spLocks noGrp="1"/>
          </p:cNvSpPr>
          <p:nvPr/>
        </p:nvSpPr>
        <p:spPr>
          <a:xfrm>
            <a:off x="8239125" y="30099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9 Wegpunkte</a:t>
            </a:r>
          </a:p>
        </p:txBody>
      </p:sp>
      <p:sp>
        <p:nvSpPr>
          <p:cNvPr id="1007" name="eye-points-3">
            <a:extLst>
              <a:ext uri="{FF2B5EF4-FFF2-40B4-BE49-F238E27FC236}">
                <a16:creationId xmlns:a16="http://schemas.microsoft.com/office/drawing/2014/main" id="{C0558A57-5817-45E8-9A07-99CAD3A23CB5}"/>
              </a:ext>
            </a:extLst>
          </p:cNvPr>
          <p:cNvSpPr>
            <a:spLocks noGrp="1"/>
          </p:cNvSpPr>
          <p:nvPr/>
        </p:nvSpPr>
        <p:spPr>
          <a:xfrm>
            <a:off x="8239125" y="35242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Radius 50 mm</a:t>
            </a:r>
          </a:p>
        </p:txBody>
      </p:sp>
      <p:sp>
        <p:nvSpPr>
          <p:cNvPr id="1008" name="eye-status">
            <a:extLst>
              <a:ext uri="{FF2B5EF4-FFF2-40B4-BE49-F238E27FC236}">
                <a16:creationId xmlns:a16="http://schemas.microsoft.com/office/drawing/2014/main" id="{A8F086D0-71A6-410A-A54D-6FE62C3F6729}"/>
              </a:ext>
            </a:extLst>
          </p:cNvPr>
          <p:cNvSpPr>
            <a:spLocks noGrp="1"/>
          </p:cNvSpPr>
          <p:nvPr/>
        </p:nvSpPr>
        <p:spPr>
          <a:xfrm>
            <a:off x="8239125" y="4743450"/>
            <a:ext cx="2857500" cy="714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Eigenständige</a:t>
            </a:r>
          </a:p>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Kalibrieranwendung</a:t>
            </a:r>
          </a:p>
        </p:txBody>
      </p:sp>
      <p:sp>
        <p:nvSpPr>
          <p:cNvPr id="1009" name="caption-4">
            <a:extLst>
              <a:ext uri="{FF2B5EF4-FFF2-40B4-BE49-F238E27FC236}">
                <a16:creationId xmlns:a16="http://schemas.microsoft.com/office/drawing/2014/main" id="{3A06F77F-D7E6-4E6C-BE2E-0157D1A876A8}"/>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Orbit-Trajektorie, schematisch (KI-generierte Darstellung)</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4</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C40DF51C-6EBA-4B4B-BFFA-81E5AF19857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der Basiskamera</a:t>
            </a:r>
          </a:p>
        </p:txBody>
      </p:sp>
      <p:pic>
        <p:nvPicPr>
          <p:cNvPr id="1011" name=""/>
          <p:cNvPicPr>
            <a:picLocks noChangeAspect="1"/>
          </p:cNvPicPr>
          <p:nvPr/>
        </p:nvPicPr>
        <p:blipFill>
          <a:blip r:embed="Re94891cfd8bb44fa"/>
          <a:stretch/>
        </p:blipFill>
        <p:spPr>
          <a:xfrm>
            <a:off x="333375" y="1305223"/>
            <a:ext cx="6619875" cy="3723680"/>
          </a:xfrm>
          <a:prstGeom prst="rect">
            <a:avLst/>
          </a:prstGeom>
        </p:spPr>
      </p:pic>
      <p:sp>
        <p:nvSpPr>
          <p:cNvPr id="1003" name="basecal-heading">
            <a:extLst>
              <a:ext uri="{FF2B5EF4-FFF2-40B4-BE49-F238E27FC236}">
                <a16:creationId xmlns:a16="http://schemas.microsoft.com/office/drawing/2014/main" id="{8AA161C8-5B09-483E-A440-67C1066E21D0}"/>
              </a:ext>
            </a:extLst>
          </p:cNvPr>
          <p:cNvSpPr>
            <a:spLocks noGrp="1"/>
          </p:cNvSpPr>
          <p:nvPr/>
        </p:nvSpPr>
        <p:spPr>
          <a:xfrm>
            <a:off x="7334250" y="1381125"/>
            <a:ext cx="39052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AprilGrid im Greifer</a:t>
            </a:r>
          </a:p>
        </p:txBody>
      </p:sp>
      <p:sp>
        <p:nvSpPr>
          <p:cNvPr id="1004" name="basecal-poses">
            <a:extLst>
              <a:ext uri="{FF2B5EF4-FFF2-40B4-BE49-F238E27FC236}">
                <a16:creationId xmlns:a16="http://schemas.microsoft.com/office/drawing/2014/main" id="{FACD35A4-CF35-4F4F-9CD0-19CBBA376333}"/>
              </a:ext>
            </a:extLst>
          </p:cNvPr>
          <p:cNvSpPr>
            <a:spLocks noGrp="1"/>
          </p:cNvSpPr>
          <p:nvPr/>
        </p:nvSpPr>
        <p:spPr>
          <a:xfrm>
            <a:off x="7334250" y="2057400"/>
            <a:ext cx="3857625" cy="838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40 Messposen</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 Prüfposen</a:t>
            </a:r>
          </a:p>
        </p:txBody>
      </p:sp>
      <p:sp>
        <p:nvSpPr>
          <p:cNvPr id="1005" name="basecal-duration">
            <a:extLst>
              <a:ext uri="{FF2B5EF4-FFF2-40B4-BE49-F238E27FC236}">
                <a16:creationId xmlns:a16="http://schemas.microsoft.com/office/drawing/2014/main" id="{8F8540FD-A694-48B2-8D79-9F994A7DAC21}"/>
              </a:ext>
            </a:extLst>
          </p:cNvPr>
          <p:cNvSpPr>
            <a:spLocks noGrp="1"/>
          </p:cNvSpPr>
          <p:nvPr/>
        </p:nvSpPr>
        <p:spPr>
          <a:xfrm>
            <a:off x="7334250" y="3086100"/>
            <a:ext cx="3857625"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Rund 4 Minuten</a:t>
            </a:r>
          </a:p>
        </p:txBody>
      </p:sp>
      <p:sp>
        <p:nvSpPr>
          <p:cNvPr id="1006" name="basecal-error-label">
            <a:extLst>
              <a:ext uri="{FF2B5EF4-FFF2-40B4-BE49-F238E27FC236}">
                <a16:creationId xmlns:a16="http://schemas.microsoft.com/office/drawing/2014/main" id="{C5AEA2DB-9B57-4CA5-BF24-9AE12E67F117}"/>
              </a:ext>
            </a:extLst>
          </p:cNvPr>
          <p:cNvSpPr>
            <a:spLocks noGrp="1"/>
          </p:cNvSpPr>
          <p:nvPr/>
        </p:nvSpPr>
        <p:spPr>
          <a:xfrm>
            <a:off x="7334250" y="3676650"/>
            <a:ext cx="39052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Prüfposenabweichung</a:t>
            </a:r>
          </a:p>
        </p:txBody>
      </p:sp>
      <p:sp>
        <p:nvSpPr>
          <p:cNvPr id="1007" name="basecal-error">
            <a:extLst>
              <a:ext uri="{FF2B5EF4-FFF2-40B4-BE49-F238E27FC236}">
                <a16:creationId xmlns:a16="http://schemas.microsoft.com/office/drawing/2014/main" id="{1664A8BC-A3FD-45D2-92C2-99501FF51A7D}"/>
              </a:ext>
            </a:extLst>
          </p:cNvPr>
          <p:cNvSpPr>
            <a:spLocks noGrp="1"/>
          </p:cNvSpPr>
          <p:nvPr/>
        </p:nvSpPr>
        <p:spPr>
          <a:xfrm>
            <a:off x="7334250" y="4038600"/>
            <a:ext cx="3857625" cy="5238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1">
                <a:solidFill>
                  <a:srgbClr val="2869AF"/>
                </a:solidFill>
                <a:latin typeface="Calibri"/>
                <a:ea typeface="Calibri"/>
                <a:cs typeface="Calibri"/>
              </a:defRPr>
            </a:pPr>
            <a:r>
              <a:rPr sz="3200" b="1">
                <a:solidFill>
                  <a:srgbClr val="2869AF"/>
                </a:solidFill>
                <a:latin typeface="Calibri"/>
                <a:ea typeface="Calibri"/>
                <a:cs typeface="Calibri"/>
              </a:rPr>
              <a:t>0,54 mm</a:t>
            </a:r>
          </a:p>
        </p:txBody>
      </p:sp>
      <p:sp>
        <p:nvSpPr>
          <p:cNvPr id="1008" name="basecal-repeat">
            <a:extLst>
              <a:ext uri="{FF2B5EF4-FFF2-40B4-BE49-F238E27FC236}">
                <a16:creationId xmlns:a16="http://schemas.microsoft.com/office/drawing/2014/main" id="{697916DD-60DD-4EAE-A1D0-046226D43033}"/>
              </a:ext>
            </a:extLst>
          </p:cNvPr>
          <p:cNvSpPr>
            <a:spLocks noGrp="1"/>
          </p:cNvSpPr>
          <p:nvPr/>
        </p:nvSpPr>
        <p:spPr>
          <a:xfrm>
            <a:off x="7334250" y="4705350"/>
            <a:ext cx="3857625"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Kameralage: unter 1 mm</a:t>
            </a:r>
          </a:p>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Wiederholabweichung</a:t>
            </a:r>
          </a:p>
        </p:txBody>
      </p:sp>
      <p:sp>
        <p:nvSpPr>
          <p:cNvPr id="1009" name="caption-5">
            <a:extLst>
              <a:ext uri="{FF2B5EF4-FFF2-40B4-BE49-F238E27FC236}">
                <a16:creationId xmlns:a16="http://schemas.microsoft.com/office/drawing/2014/main" id="{439011C0-6FFA-49B6-8A8F-8FBE4050D675}"/>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Im finalen Greifbetrieb verwendet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5</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2" name=""/>
          <p:cNvCxnSpPr>
            <a:stCxn id="1018" idx="0"/>
            <a:endCxn id="1006" idx="2"/>
          </p:cNvCxnSpPr>
          <p:nvPr/>
        </p:nvCxnSpPr>
        <p:spPr>
          <a:xfrm flipH="1" flipV="1">
            <a:off x="8013383" y="3495675"/>
            <a:ext cx="82868" cy="1362075"/>
          </a:xfrm>
          <a:prstGeom prst="bentConnector4">
            <a:avLst>
              <a:gd name="adj1" fmla="val 0"/>
              <a:gd name="adj2" fmla="val 50000"/>
            </a:avLst>
          </a:prstGeom>
          <a:ln w="19050">
            <a:solidFill>
              <a:srgbClr val="61707D"/>
            </a:solidFill>
            <a:prstDash val="dash"/>
            <a:tailEnd type="triangle" w="sm" len="sm"/>
          </a:ln>
        </p:spPr>
      </p:cxnSp>
      <p:cxnSp>
        <p:nvCxnSpPr>
          <p:cNvPr id="1023" name=""/>
          <p:cNvCxnSpPr>
            <a:stCxn id="1017" idx="0"/>
            <a:endCxn id="1005" idx="2"/>
          </p:cNvCxnSpPr>
          <p:nvPr/>
        </p:nvCxnSpPr>
        <p:spPr>
          <a:xfrm flipV="1">
            <a:off x="5572125" y="3495675"/>
            <a:ext cx="214313" cy="1362075"/>
          </a:xfrm>
          <a:prstGeom prst="bentConnector4">
            <a:avLst>
              <a:gd name="adj1" fmla="val 0"/>
              <a:gd name="adj2" fmla="val 50000"/>
            </a:avLst>
          </a:prstGeom>
          <a:ln w="19050">
            <a:solidFill>
              <a:srgbClr val="61707D"/>
            </a:solidFill>
            <a:prstDash val="dash"/>
            <a:tailEnd type="triangle" w="sm" len="sm"/>
          </a:ln>
        </p:spPr>
      </p:cxnSp>
      <p:cxnSp>
        <p:nvCxnSpPr>
          <p:cNvPr id="1024" name=""/>
          <p:cNvCxnSpPr>
            <a:stCxn id="1006" idx="3"/>
            <a:endCxn id="1007" idx="1"/>
          </p:cNvCxnSpPr>
          <p:nvPr/>
        </p:nvCxnSpPr>
        <p:spPr>
          <a:xfrm>
            <a:off x="9012555" y="2971800"/>
            <a:ext cx="228600" cy="0"/>
          </a:xfrm>
          <a:prstGeom prst="straightConnector1">
            <a:avLst/>
          </a:prstGeom>
          <a:ln w="19050">
            <a:solidFill>
              <a:srgbClr val="2869AF"/>
            </a:solidFill>
            <a:prstDash val="solid"/>
            <a:tailEnd type="triangle" w="sm" len="sm"/>
          </a:ln>
        </p:spPr>
      </p:cxnSp>
      <p:cxnSp>
        <p:nvCxnSpPr>
          <p:cNvPr id="1025" name=""/>
          <p:cNvCxnSpPr>
            <a:stCxn id="1005" idx="3"/>
            <a:endCxn id="1006" idx="1"/>
          </p:cNvCxnSpPr>
          <p:nvPr/>
        </p:nvCxnSpPr>
        <p:spPr>
          <a:xfrm>
            <a:off x="6785610" y="2971800"/>
            <a:ext cx="228600" cy="0"/>
          </a:xfrm>
          <a:prstGeom prst="straightConnector1">
            <a:avLst/>
          </a:prstGeom>
          <a:ln w="19050">
            <a:solidFill>
              <a:srgbClr val="2869AF"/>
            </a:solidFill>
            <a:prstDash val="solid"/>
            <a:tailEnd type="triangle" w="sm" len="sm"/>
          </a:ln>
        </p:spPr>
      </p:cxnSp>
      <p:cxnSp>
        <p:nvCxnSpPr>
          <p:cNvPr id="1026" name=""/>
          <p:cNvCxnSpPr>
            <a:stCxn id="1004" idx="3"/>
            <a:endCxn id="1005" idx="1"/>
          </p:cNvCxnSpPr>
          <p:nvPr/>
        </p:nvCxnSpPr>
        <p:spPr>
          <a:xfrm>
            <a:off x="4558665" y="2971800"/>
            <a:ext cx="228600" cy="0"/>
          </a:xfrm>
          <a:prstGeom prst="straightConnector1">
            <a:avLst/>
          </a:prstGeom>
          <a:ln w="19050">
            <a:solidFill>
              <a:srgbClr val="2869AF"/>
            </a:solidFill>
            <a:prstDash val="solid"/>
            <a:tailEnd type="triangle" w="sm" len="sm"/>
          </a:ln>
        </p:spPr>
      </p:cxnSp>
      <p:cxnSp>
        <p:nvCxnSpPr>
          <p:cNvPr id="1027" name=""/>
          <p:cNvCxnSpPr>
            <a:stCxn id="1003" idx="3"/>
            <a:endCxn id="1004" idx="1"/>
          </p:cNvCxnSpPr>
          <p:nvPr/>
        </p:nvCxnSpPr>
        <p:spPr>
          <a:xfrm>
            <a:off x="2331720" y="2971800"/>
            <a:ext cx="228600" cy="0"/>
          </a:xfrm>
          <a:prstGeom prst="straightConnector1">
            <a:avLst/>
          </a:prstGeom>
          <a:ln w="19050">
            <a:solidFill>
              <a:srgbClr val="2869AF"/>
            </a:solidFill>
            <a:prstDash val="solid"/>
            <a:tailEnd type="triangle" w="sm" len="sm"/>
          </a:ln>
        </p:spPr>
      </p:cxnSp>
      <p:sp>
        <p:nvSpPr>
          <p:cNvPr id="1028" name="slide-title">
            <a:extLst>
              <a:ext uri="{FF2B5EF4-FFF2-40B4-BE49-F238E27FC236}">
                <a16:creationId xmlns:a16="http://schemas.microsoft.com/office/drawing/2014/main" id="{DE494103-EA52-47CF-92CA-523F2A8E6074}"/>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Systemkonzept und AICA</a:t>
            </a:r>
          </a:p>
        </p:txBody>
      </p:sp>
      <p:sp>
        <p:nvSpPr>
          <p:cNvPr id="1002" name="aica-label">
            <a:extLst>
              <a:ext uri="{FF2B5EF4-FFF2-40B4-BE49-F238E27FC236}">
                <a16:creationId xmlns:a16="http://schemas.microsoft.com/office/drawing/2014/main" id="{AB37586A-E685-41B0-B2B1-8E9D58336070}"/>
              </a:ext>
            </a:extLst>
          </p:cNvPr>
          <p:cNvSpPr>
            <a:spLocks noGrp="1"/>
          </p:cNvSpPr>
          <p:nvPr/>
        </p:nvSpPr>
        <p:spPr>
          <a:xfrm>
            <a:off x="333375" y="138112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0">
                <a:solidFill>
                  <a:srgbClr val="2869AF"/>
                </a:solidFill>
                <a:latin typeface="Calibri"/>
                <a:ea typeface="Calibri"/>
                <a:cs typeface="Calibri"/>
              </a:defRPr>
            </a:pPr>
            <a:r>
              <a:rPr sz="2600" b="0">
                <a:solidFill>
                  <a:srgbClr val="2869AF"/>
                </a:solidFill>
                <a:latin typeface="Calibri"/>
                <a:ea typeface="Calibri"/>
                <a:cs typeface="Calibri"/>
              </a:rPr>
              <a:t>Echtzeitsteuerung mit AICA</a:t>
            </a:r>
          </a:p>
        </p:txBody>
      </p:sp>
      <p:sp>
        <p:nvSpPr>
          <p:cNvPr id="1003" name="step-0">
            <a:extLst>
              <a:ext uri="{FF2B5EF4-FFF2-40B4-BE49-F238E27FC236}">
                <a16:creationId xmlns:a16="http://schemas.microsoft.com/office/drawing/2014/main" id="{635B6CFA-5AF2-43DD-BA74-3B17D5EFF9B8}"/>
              </a:ext>
            </a:extLst>
          </p:cNvPr>
          <p:cNvSpPr>
            <a:spLocks noGrp="1"/>
          </p:cNvSpPr>
          <p:nvPr/>
        </p:nvSpPr>
        <p:spPr>
          <a:xfrm>
            <a:off x="333375" y="2447925"/>
            <a:ext cx="1998345" cy="10477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Bild-</a:t>
            </a:r>
          </a:p>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auswertung</a:t>
            </a:r>
          </a:p>
        </p:txBody>
      </p:sp>
      <p:sp>
        <p:nvSpPr>
          <p:cNvPr id="1004" name="step-1">
            <a:extLst>
              <a:ext uri="{FF2B5EF4-FFF2-40B4-BE49-F238E27FC236}">
                <a16:creationId xmlns:a16="http://schemas.microsoft.com/office/drawing/2014/main" id="{59C40E72-4ACC-4C99-B11B-0F7B2A8F8EE6}"/>
              </a:ext>
            </a:extLst>
          </p:cNvPr>
          <p:cNvSpPr>
            <a:spLocks noGrp="1"/>
          </p:cNvSpPr>
          <p:nvPr/>
        </p:nvSpPr>
        <p:spPr>
          <a:xfrm>
            <a:off x="2560320" y="2447925"/>
            <a:ext cx="1998345" cy="10477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schätzung</a:t>
            </a:r>
          </a:p>
        </p:txBody>
      </p:sp>
      <p:sp>
        <p:nvSpPr>
          <p:cNvPr id="1005" name="step-2">
            <a:extLst>
              <a:ext uri="{FF2B5EF4-FFF2-40B4-BE49-F238E27FC236}">
                <a16:creationId xmlns:a16="http://schemas.microsoft.com/office/drawing/2014/main" id="{8A1F2223-A842-45E2-8AB8-A2682ECE7EB6}"/>
              </a:ext>
            </a:extLst>
          </p:cNvPr>
          <p:cNvSpPr>
            <a:spLocks noGrp="1"/>
          </p:cNvSpPr>
          <p:nvPr/>
        </p:nvSpPr>
        <p:spPr>
          <a:xfrm>
            <a:off x="4787265" y="2447925"/>
            <a:ext cx="1998345" cy="10477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Ziel-</a:t>
            </a:r>
          </a:p>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auswahl</a:t>
            </a:r>
          </a:p>
        </p:txBody>
      </p:sp>
      <p:sp>
        <p:nvSpPr>
          <p:cNvPr id="1006" name="step-3">
            <a:extLst>
              <a:ext uri="{FF2B5EF4-FFF2-40B4-BE49-F238E27FC236}">
                <a16:creationId xmlns:a16="http://schemas.microsoft.com/office/drawing/2014/main" id="{211522E1-51A6-44D3-A658-A06ADFB3D205}"/>
              </a:ext>
            </a:extLst>
          </p:cNvPr>
          <p:cNvSpPr>
            <a:spLocks noGrp="1"/>
          </p:cNvSpPr>
          <p:nvPr/>
        </p:nvSpPr>
        <p:spPr>
          <a:xfrm>
            <a:off x="7014210" y="2447925"/>
            <a:ext cx="1998345" cy="10477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Greif-</a:t>
            </a:r>
          </a:p>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ablauf</a:t>
            </a:r>
          </a:p>
        </p:txBody>
      </p:sp>
      <p:sp>
        <p:nvSpPr>
          <p:cNvPr id="1007" name="step-4">
            <a:extLst>
              <a:ext uri="{FF2B5EF4-FFF2-40B4-BE49-F238E27FC236}">
                <a16:creationId xmlns:a16="http://schemas.microsoft.com/office/drawing/2014/main" id="{87F3C944-A954-4F00-B32C-B25FEA80FB14}"/>
              </a:ext>
            </a:extLst>
          </p:cNvPr>
          <p:cNvSpPr>
            <a:spLocks noGrp="1"/>
          </p:cNvSpPr>
          <p:nvPr/>
        </p:nvSpPr>
        <p:spPr>
          <a:xfrm>
            <a:off x="9241155" y="2447925"/>
            <a:ext cx="1998345" cy="10477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lnSpc>
                <a:spcPct val="103000"/>
              </a:lnSpc>
              <a:spcBef>
                <a:spcPts val="0"/>
              </a:spcBef>
              <a:spcAft>
                <a:spcPts val="0"/>
              </a:spcAft>
              <a:buNone/>
              <a:defRPr sz="2000">
                <a:solidFill>
                  <a:srgbClr val="17232E"/>
                </a:solidFill>
                <a:latin typeface="Calibri"/>
                <a:ea typeface="Calibri"/>
                <a:cs typeface="Calibri"/>
              </a:defRPr>
            </a:pPr>
            <a:r>
              <a:rPr sz="2000">
                <a:solidFill>
                  <a:srgbClr val="17232E"/>
                </a:solidFill>
                <a:latin typeface="Calibri"/>
                <a:ea typeface="Calibri"/>
                <a:cs typeface="Calibri"/>
              </a:rPr>
              <a:t>regelung</a:t>
            </a:r>
          </a:p>
        </p:txBody>
      </p:sp>
      <p:sp>
        <p:nvSpPr>
          <p:cNvPr id="1012" name="rate-0">
            <a:extLst>
              <a:ext uri="{FF2B5EF4-FFF2-40B4-BE49-F238E27FC236}">
                <a16:creationId xmlns:a16="http://schemas.microsoft.com/office/drawing/2014/main" id="{B6582AE6-7A6F-460F-98B7-5C0E4433888C}"/>
              </a:ext>
            </a:extLst>
          </p:cNvPr>
          <p:cNvSpPr>
            <a:spLocks noGrp="1"/>
          </p:cNvSpPr>
          <p:nvPr/>
        </p:nvSpPr>
        <p:spPr>
          <a:xfrm>
            <a:off x="333375" y="2076450"/>
            <a:ext cx="1998345" cy="3429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15 Hz</a:t>
            </a:r>
          </a:p>
        </p:txBody>
      </p:sp>
      <p:sp>
        <p:nvSpPr>
          <p:cNvPr id="1013" name="rate-1">
            <a:extLst>
              <a:ext uri="{FF2B5EF4-FFF2-40B4-BE49-F238E27FC236}">
                <a16:creationId xmlns:a16="http://schemas.microsoft.com/office/drawing/2014/main" id="{459A76D5-6493-4830-AE31-34ABC0B14FD8}"/>
              </a:ext>
            </a:extLst>
          </p:cNvPr>
          <p:cNvSpPr>
            <a:spLocks noGrp="1"/>
          </p:cNvSpPr>
          <p:nvPr/>
        </p:nvSpPr>
        <p:spPr>
          <a:xfrm>
            <a:off x="2560320" y="2076450"/>
            <a:ext cx="1998345" cy="3429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15 Hz</a:t>
            </a:r>
          </a:p>
        </p:txBody>
      </p:sp>
      <p:sp>
        <p:nvSpPr>
          <p:cNvPr id="1014" name="rate-2">
            <a:extLst>
              <a:ext uri="{FF2B5EF4-FFF2-40B4-BE49-F238E27FC236}">
                <a16:creationId xmlns:a16="http://schemas.microsoft.com/office/drawing/2014/main" id="{5A306B30-98E3-47DE-BAB8-8140921F696F}"/>
              </a:ext>
            </a:extLst>
          </p:cNvPr>
          <p:cNvSpPr>
            <a:spLocks noGrp="1"/>
          </p:cNvSpPr>
          <p:nvPr/>
        </p:nvSpPr>
        <p:spPr>
          <a:xfrm>
            <a:off x="4787265" y="2076450"/>
            <a:ext cx="1998345" cy="3429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20 Hz</a:t>
            </a:r>
          </a:p>
        </p:txBody>
      </p:sp>
      <p:sp>
        <p:nvSpPr>
          <p:cNvPr id="1015" name="rate-3">
            <a:extLst>
              <a:ext uri="{FF2B5EF4-FFF2-40B4-BE49-F238E27FC236}">
                <a16:creationId xmlns:a16="http://schemas.microsoft.com/office/drawing/2014/main" id="{04961187-1042-4B72-8A37-01C387285D31}"/>
              </a:ext>
            </a:extLst>
          </p:cNvPr>
          <p:cNvSpPr>
            <a:spLocks noGrp="1"/>
          </p:cNvSpPr>
          <p:nvPr/>
        </p:nvSpPr>
        <p:spPr>
          <a:xfrm>
            <a:off x="7014210" y="2076450"/>
            <a:ext cx="1998345" cy="3429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Zielpose 50 Hz</a:t>
            </a:r>
          </a:p>
        </p:txBody>
      </p:sp>
      <p:sp>
        <p:nvSpPr>
          <p:cNvPr id="1016" name="rate-4">
            <a:extLst>
              <a:ext uri="{FF2B5EF4-FFF2-40B4-BE49-F238E27FC236}">
                <a16:creationId xmlns:a16="http://schemas.microsoft.com/office/drawing/2014/main" id="{700FC67A-D238-424E-985C-7E17F682395C}"/>
              </a:ext>
            </a:extLst>
          </p:cNvPr>
          <p:cNvSpPr>
            <a:spLocks noGrp="1"/>
          </p:cNvSpPr>
          <p:nvPr/>
        </p:nvSpPr>
        <p:spPr>
          <a:xfrm>
            <a:off x="9241155" y="2076450"/>
            <a:ext cx="1998345" cy="3429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Roboter 500 Hz</a:t>
            </a:r>
          </a:p>
        </p:txBody>
      </p:sp>
      <p:sp>
        <p:nvSpPr>
          <p:cNvPr id="1017" name="robot-feedback">
            <a:extLst>
              <a:ext uri="{FF2B5EF4-FFF2-40B4-BE49-F238E27FC236}">
                <a16:creationId xmlns:a16="http://schemas.microsoft.com/office/drawing/2014/main" id="{58A90703-89D5-4823-9DF4-47B4FFA71F79}"/>
              </a:ext>
            </a:extLst>
          </p:cNvPr>
          <p:cNvSpPr>
            <a:spLocks noGrp="1"/>
          </p:cNvSpPr>
          <p:nvPr/>
        </p:nvSpPr>
        <p:spPr>
          <a:xfrm>
            <a:off x="4667250" y="4857750"/>
            <a:ext cx="1809750" cy="59055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900">
                <a:solidFill>
                  <a:srgbClr val="17232E"/>
                </a:solidFill>
                <a:latin typeface="Calibri"/>
                <a:ea typeface="Calibri"/>
                <a:cs typeface="Calibri"/>
              </a:defRPr>
            </a:pPr>
            <a:r>
              <a:rPr sz="1900">
                <a:solidFill>
                  <a:srgbClr val="17232E"/>
                </a:solidFill>
                <a:latin typeface="Calibri"/>
                <a:ea typeface="Calibri"/>
                <a:cs typeface="Calibri"/>
              </a:rPr>
              <a:t>Roboterpose</a:t>
            </a:r>
          </a:p>
        </p:txBody>
      </p:sp>
      <p:sp>
        <p:nvSpPr>
          <p:cNvPr id="1018" name="gripper-feedback">
            <a:extLst>
              <a:ext uri="{FF2B5EF4-FFF2-40B4-BE49-F238E27FC236}">
                <a16:creationId xmlns:a16="http://schemas.microsoft.com/office/drawing/2014/main" id="{D86A2D0F-3C58-427D-A09A-3FAA8EA010BE}"/>
              </a:ext>
            </a:extLst>
          </p:cNvPr>
          <p:cNvSpPr>
            <a:spLocks noGrp="1"/>
          </p:cNvSpPr>
          <p:nvPr/>
        </p:nvSpPr>
        <p:spPr>
          <a:xfrm>
            <a:off x="7096125" y="4857750"/>
            <a:ext cx="2000250" cy="59055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900">
                <a:solidFill>
                  <a:srgbClr val="17232E"/>
                </a:solidFill>
                <a:latin typeface="Calibri"/>
                <a:ea typeface="Calibri"/>
                <a:cs typeface="Calibri"/>
              </a:defRPr>
            </a:pPr>
            <a:r>
              <a:rPr sz="1900">
                <a:solidFill>
                  <a:srgbClr val="17232E"/>
                </a:solidFill>
                <a:latin typeface="Calibri"/>
                <a:ea typeface="Calibri"/>
                <a:cs typeface="Calibri"/>
              </a:rPr>
              <a:t>Greiferzustand</a:t>
            </a:r>
          </a:p>
        </p:txBody>
      </p:sp>
      <p:sp>
        <p:nvSpPr>
          <p:cNvPr id="1021" name="caption-6">
            <a:extLst>
              <a:ext uri="{FF2B5EF4-FFF2-40B4-BE49-F238E27FC236}">
                <a16:creationId xmlns:a16="http://schemas.microsoft.com/office/drawing/2014/main" id="{D8A1DD59-DDEE-442D-8F48-94898710CF72}"/>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Funktionsgruppen und Rückmeldungen im Regelpfad</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6</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 name="slide-title">
            <a:extLst>
              <a:ext uri="{FF2B5EF4-FFF2-40B4-BE49-F238E27FC236}">
                <a16:creationId xmlns:a16="http://schemas.microsoft.com/office/drawing/2014/main" id="{B0F69FFD-FDE8-4ADC-AE86-00008AF98F9D}"/>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Erkennung und Objektbeschreibung</a:t>
            </a:r>
          </a:p>
        </p:txBody>
      </p:sp>
      <p:pic>
        <p:nvPicPr>
          <p:cNvPr id="1007" name=""/>
          <p:cNvPicPr>
            <a:picLocks noChangeAspect="1"/>
          </p:cNvPicPr>
          <p:nvPr/>
        </p:nvPicPr>
        <p:blipFill>
          <a:blip r:embed="R65ea668b47994cc0"/>
          <a:stretch/>
        </p:blipFill>
        <p:spPr>
          <a:xfrm>
            <a:off x="644673" y="1171575"/>
            <a:ext cx="7616529" cy="4286250"/>
          </a:xfrm>
          <a:prstGeom prst="rect">
            <a:avLst/>
          </a:prstGeom>
        </p:spPr>
      </p:pic>
      <p:sp>
        <p:nvSpPr>
          <p:cNvPr id="1003" name="detection-input">
            <a:extLst>
              <a:ext uri="{FF2B5EF4-FFF2-40B4-BE49-F238E27FC236}">
                <a16:creationId xmlns:a16="http://schemas.microsoft.com/office/drawing/2014/main" id="{65724FC6-8B79-4326-A4B2-61A94ADDB466}"/>
              </a:ext>
            </a:extLst>
          </p:cNvPr>
          <p:cNvSpPr>
            <a:spLocks noGrp="1"/>
          </p:cNvSpPr>
          <p:nvPr/>
        </p:nvSpPr>
        <p:spPr>
          <a:xfrm>
            <a:off x="9001125" y="1362075"/>
            <a:ext cx="2238375"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RGB und Tiefe</a:t>
            </a:r>
          </a:p>
        </p:txBody>
      </p:sp>
      <p:sp>
        <p:nvSpPr>
          <p:cNvPr id="1004" name="detection-outputs">
            <a:extLst>
              <a:ext uri="{FF2B5EF4-FFF2-40B4-BE49-F238E27FC236}">
                <a16:creationId xmlns:a16="http://schemas.microsoft.com/office/drawing/2014/main" id="{FD672616-FA83-481C-A744-5E2B1D881F92}"/>
              </a:ext>
            </a:extLst>
          </p:cNvPr>
          <p:cNvSpPr>
            <a:spLocks noGrp="1"/>
          </p:cNvSpPr>
          <p:nvPr/>
        </p:nvSpPr>
        <p:spPr>
          <a:xfrm>
            <a:off x="9001125" y="2428875"/>
            <a:ext cx="2238375" cy="2533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ROI</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ID und Farbe</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Position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Abmessungen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Orientierung</a:t>
            </a:r>
          </a:p>
        </p:txBody>
      </p:sp>
      <p:sp>
        <p:nvSpPr>
          <p:cNvPr id="1005" name="caption-7">
            <a:extLst>
              <a:ext uri="{FF2B5EF4-FFF2-40B4-BE49-F238E27FC236}">
                <a16:creationId xmlns:a16="http://schemas.microsoft.com/office/drawing/2014/main" id="{A94F0292-CDCF-409E-AA17-21E3E14ADA4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Objekt-IDs und Farben innerhalb des definierten ROI</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7</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1002" name="prediction-label">
            <a:extLst>
              <a:ext uri="{FF2B5EF4-FFF2-40B4-BE49-F238E27FC236}">
                <a16:creationId xmlns:a16="http://schemas.microsoft.com/office/drawing/2014/main" id="{CC8FD9C2-5C7E-49E8-A9B1-83CF9C38B155}"/>
              </a:ext>
            </a:extLst>
          </p:cNvPr>
          <p:cNvSpPr>
            <a:spLocks noGrp="1"/>
          </p:cNvSpPr>
          <p:nvPr/>
        </p:nvSpPr>
        <p:spPr>
          <a:xfrm>
            <a:off x="685800" y="1171575"/>
            <a:ext cx="4762500"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a:solidFill>
                  <a:srgbClr val="2869AF"/>
                </a:solidFill>
                <a:latin typeface="Calibri"/>
                <a:ea typeface="Calibri"/>
                <a:cs typeface="Calibri"/>
              </a:rPr>
              <a:t>Positionshistorie</a:t>
            </a:r>
          </a:p>
        </p:txBody>
      </p:sp>
      <p:sp>
        <p:nvSpPr>
          <p:cNvPr id="1003" name="time-axis">
            <a:extLst>
              <a:ext uri="{FF2B5EF4-FFF2-40B4-BE49-F238E27FC236}">
                <a16:creationId xmlns:a16="http://schemas.microsoft.com/office/drawing/2014/main" id="{7F36E993-8553-4656-8348-B3A9DF360CFD}"/>
              </a:ext>
            </a:extLst>
          </p:cNvPr>
          <p:cNvSpPr>
            <a:spLocks noGrp="1"/>
          </p:cNvSpPr>
          <p:nvPr/>
        </p:nvSpPr>
        <p:spPr>
          <a:xfrm>
            <a:off x="1047750" y="4600575"/>
            <a:ext cx="9620250" cy="953"/>
          </a:xfrm>
          <a:custGeom>
            <a:pathLst>
              <a:path w="9620250" h="953">
                <a:moveTo>
                  <a:pt x="0" y="0"/>
                </a:moveTo>
                <a:lnTo>
                  <a:pt x="9620250" y="0"/>
                </a:lnTo>
              </a:path>
            </a:pathLst>
          </a:custGeom>
          <a:noFill/>
          <a:ln w="19050">
            <a:solidFill>
              <a:srgbClr val="61707D"/>
            </a:solidFill>
            <a:prstDash val="solid"/>
          </a:ln>
        </p:spPr>
      </p:sp>
      <p:sp>
        <p:nvSpPr>
          <p:cNvPr id="1004" name="position-axis">
            <a:extLst>
              <a:ext uri="{FF2B5EF4-FFF2-40B4-BE49-F238E27FC236}">
                <a16:creationId xmlns:a16="http://schemas.microsoft.com/office/drawing/2014/main" id="{36661B43-7655-4E9D-9C01-882F0744623D}"/>
              </a:ext>
            </a:extLst>
          </p:cNvPr>
          <p:cNvSpPr>
            <a:spLocks noGrp="1"/>
          </p:cNvSpPr>
          <p:nvPr/>
        </p:nvSpPr>
        <p:spPr>
          <a:xfrm>
            <a:off x="1047750" y="1733550"/>
            <a:ext cx="953" cy="2867025"/>
          </a:xfrm>
          <a:custGeom>
            <a:pathLst>
              <a:path w="953" h="2867025">
                <a:moveTo>
                  <a:pt x="0" y="0"/>
                </a:moveTo>
                <a:lnTo>
                  <a:pt x="0" y="2867025"/>
                </a:lnTo>
              </a:path>
            </a:pathLst>
          </a:custGeom>
          <a:noFill/>
          <a:ln w="19050">
            <a:solidFill>
              <a:srgbClr val="61707D"/>
            </a:solidFill>
            <a:prstDash val="solid"/>
          </a:ln>
        </p:spPr>
      </p:sp>
      <p:sp>
        <p:nvSpPr>
          <p:cNvPr id="1005" name="position-axis-label">
            <a:extLst>
              <a:ext uri="{FF2B5EF4-FFF2-40B4-BE49-F238E27FC236}">
                <a16:creationId xmlns:a16="http://schemas.microsoft.com/office/drawing/2014/main" id="{80864DC8-8550-4CE5-ABC4-2F4941D620EF}"/>
              </a:ext>
            </a:extLst>
          </p:cNvPr>
          <p:cNvSpPr>
            <a:spLocks noGrp="1"/>
          </p:cNvSpPr>
          <p:nvPr/>
        </p:nvSpPr>
        <p:spPr>
          <a:xfrm>
            <a:off x="333375" y="1552575"/>
            <a:ext cx="13811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Position</a:t>
            </a:r>
          </a:p>
        </p:txBody>
      </p:sp>
      <p:sp>
        <p:nvSpPr>
          <p:cNvPr id="1006" name="time-axis-label">
            <a:extLst>
              <a:ext uri="{FF2B5EF4-FFF2-40B4-BE49-F238E27FC236}">
                <a16:creationId xmlns:a16="http://schemas.microsoft.com/office/drawing/2014/main" id="{620DC2EB-7A2E-4571-A6F4-C254292E612C}"/>
              </a:ext>
            </a:extLst>
          </p:cNvPr>
          <p:cNvSpPr>
            <a:spLocks noGrp="1"/>
          </p:cNvSpPr>
          <p:nvPr/>
        </p:nvSpPr>
        <p:spPr>
          <a:xfrm>
            <a:off x="10239375" y="4667250"/>
            <a:ext cx="952500" cy="3048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Zeit</a:t>
            </a:r>
          </a:p>
        </p:txBody>
      </p:sp>
      <p:sp>
        <p:nvSpPr>
          <p:cNvPr id="1007" name="measured-fit-1">
            <a:extLst>
              <a:ext uri="{FF2B5EF4-FFF2-40B4-BE49-F238E27FC236}">
                <a16:creationId xmlns:a16="http://schemas.microsoft.com/office/drawing/2014/main" id="{81B06D4E-0E2A-4769-912F-21D4D2F98C18}"/>
              </a:ext>
            </a:extLst>
          </p:cNvPr>
          <p:cNvSpPr>
            <a:spLocks noGrp="1"/>
          </p:cNvSpPr>
          <p:nvPr/>
        </p:nvSpPr>
        <p:spPr>
          <a:xfrm>
            <a:off x="1352550" y="2114550"/>
            <a:ext cx="647700" cy="180975"/>
          </a:xfrm>
          <a:custGeom>
            <a:pathLst>
              <a:path w="647700" h="180975">
                <a:moveTo>
                  <a:pt x="0" y="0"/>
                </a:moveTo>
                <a:lnTo>
                  <a:pt x="647700" y="180975"/>
                </a:lnTo>
              </a:path>
            </a:pathLst>
          </a:custGeom>
          <a:noFill/>
          <a:ln w="22860">
            <a:solidFill>
              <a:srgbClr val="2869AF"/>
            </a:solidFill>
            <a:prstDash val="solid"/>
          </a:ln>
        </p:spPr>
      </p:sp>
      <p:sp>
        <p:nvSpPr>
          <p:cNvPr id="1008" name="measured-fit-2">
            <a:extLst>
              <a:ext uri="{FF2B5EF4-FFF2-40B4-BE49-F238E27FC236}">
                <a16:creationId xmlns:a16="http://schemas.microsoft.com/office/drawing/2014/main" id="{F52F145C-BB3D-481C-946D-842787624988}"/>
              </a:ext>
            </a:extLst>
          </p:cNvPr>
          <p:cNvSpPr>
            <a:spLocks noGrp="1"/>
          </p:cNvSpPr>
          <p:nvPr/>
        </p:nvSpPr>
        <p:spPr>
          <a:xfrm>
            <a:off x="2000250" y="2295525"/>
            <a:ext cx="714375" cy="180975"/>
          </a:xfrm>
          <a:custGeom>
            <a:pathLst>
              <a:path w="714375" h="180975">
                <a:moveTo>
                  <a:pt x="0" y="0"/>
                </a:moveTo>
                <a:lnTo>
                  <a:pt x="714375" y="180975"/>
                </a:lnTo>
              </a:path>
            </a:pathLst>
          </a:custGeom>
          <a:noFill/>
          <a:ln w="22860">
            <a:solidFill>
              <a:srgbClr val="2869AF"/>
            </a:solidFill>
            <a:prstDash val="solid"/>
          </a:ln>
        </p:spPr>
      </p:sp>
      <p:sp>
        <p:nvSpPr>
          <p:cNvPr id="1009" name="measured-fit-3">
            <a:extLst>
              <a:ext uri="{FF2B5EF4-FFF2-40B4-BE49-F238E27FC236}">
                <a16:creationId xmlns:a16="http://schemas.microsoft.com/office/drawing/2014/main" id="{4FEEADA6-D95A-4E58-95C3-E9EA50A20404}"/>
              </a:ext>
            </a:extLst>
          </p:cNvPr>
          <p:cNvSpPr>
            <a:spLocks noGrp="1"/>
          </p:cNvSpPr>
          <p:nvPr/>
        </p:nvSpPr>
        <p:spPr>
          <a:xfrm>
            <a:off x="2714625" y="2476500"/>
            <a:ext cx="733425" cy="200025"/>
          </a:xfrm>
          <a:custGeom>
            <a:pathLst>
              <a:path w="733425" h="200025">
                <a:moveTo>
                  <a:pt x="0" y="0"/>
                </a:moveTo>
                <a:lnTo>
                  <a:pt x="733425" y="200025"/>
                </a:lnTo>
              </a:path>
            </a:pathLst>
          </a:custGeom>
          <a:noFill/>
          <a:ln w="22860">
            <a:solidFill>
              <a:srgbClr val="2869AF"/>
            </a:solidFill>
            <a:prstDash val="solid"/>
          </a:ln>
        </p:spPr>
      </p:sp>
      <p:sp>
        <p:nvSpPr>
          <p:cNvPr id="1010" name="measured-fit-4">
            <a:extLst>
              <a:ext uri="{FF2B5EF4-FFF2-40B4-BE49-F238E27FC236}">
                <a16:creationId xmlns:a16="http://schemas.microsoft.com/office/drawing/2014/main" id="{3D417465-D6A9-49FE-8464-60E23D2B7111}"/>
              </a:ext>
            </a:extLst>
          </p:cNvPr>
          <p:cNvSpPr>
            <a:spLocks noGrp="1"/>
          </p:cNvSpPr>
          <p:nvPr/>
        </p:nvSpPr>
        <p:spPr>
          <a:xfrm>
            <a:off x="3448050" y="2676525"/>
            <a:ext cx="771525" cy="209550"/>
          </a:xfrm>
          <a:custGeom>
            <a:pathLst>
              <a:path w="771525" h="209550">
                <a:moveTo>
                  <a:pt x="0" y="0"/>
                </a:moveTo>
                <a:lnTo>
                  <a:pt x="771525" y="209550"/>
                </a:lnTo>
              </a:path>
            </a:pathLst>
          </a:custGeom>
          <a:noFill/>
          <a:ln w="22860">
            <a:solidFill>
              <a:srgbClr val="2869AF"/>
            </a:solidFill>
            <a:prstDash val="solid"/>
          </a:ln>
        </p:spPr>
      </p:sp>
      <p:sp>
        <p:nvSpPr>
          <p:cNvPr id="1011" name="measured-fit-5">
            <a:extLst>
              <a:ext uri="{FF2B5EF4-FFF2-40B4-BE49-F238E27FC236}">
                <a16:creationId xmlns:a16="http://schemas.microsoft.com/office/drawing/2014/main" id="{BECF242E-F05F-4E30-B3A8-A29650037FB8}"/>
              </a:ext>
            </a:extLst>
          </p:cNvPr>
          <p:cNvSpPr>
            <a:spLocks noGrp="1"/>
          </p:cNvSpPr>
          <p:nvPr/>
        </p:nvSpPr>
        <p:spPr>
          <a:xfrm>
            <a:off x="4219575" y="2886075"/>
            <a:ext cx="676275" cy="190500"/>
          </a:xfrm>
          <a:custGeom>
            <a:pathLst>
              <a:path w="676275" h="190500">
                <a:moveTo>
                  <a:pt x="0" y="0"/>
                </a:moveTo>
                <a:lnTo>
                  <a:pt x="676275" y="190500"/>
                </a:lnTo>
              </a:path>
            </a:pathLst>
          </a:custGeom>
          <a:noFill/>
          <a:ln w="22860">
            <a:solidFill>
              <a:srgbClr val="2869AF"/>
            </a:solidFill>
            <a:prstDash val="solid"/>
          </a:ln>
        </p:spPr>
      </p:sp>
      <p:sp>
        <p:nvSpPr>
          <p:cNvPr id="1012" name="measured-fit-6">
            <a:extLst>
              <a:ext uri="{FF2B5EF4-FFF2-40B4-BE49-F238E27FC236}">
                <a16:creationId xmlns:a16="http://schemas.microsoft.com/office/drawing/2014/main" id="{F3FA78FB-D3D8-4906-B1CF-BF989B6610E2}"/>
              </a:ext>
            </a:extLst>
          </p:cNvPr>
          <p:cNvSpPr>
            <a:spLocks noGrp="1"/>
          </p:cNvSpPr>
          <p:nvPr/>
        </p:nvSpPr>
        <p:spPr>
          <a:xfrm>
            <a:off x="4895850" y="3076575"/>
            <a:ext cx="723900" cy="180975"/>
          </a:xfrm>
          <a:custGeom>
            <a:pathLst>
              <a:path w="723900" h="180975">
                <a:moveTo>
                  <a:pt x="0" y="0"/>
                </a:moveTo>
                <a:lnTo>
                  <a:pt x="723900" y="180975"/>
                </a:lnTo>
              </a:path>
            </a:pathLst>
          </a:custGeom>
          <a:noFill/>
          <a:ln w="22860">
            <a:solidFill>
              <a:srgbClr val="2869AF"/>
            </a:solidFill>
            <a:prstDash val="solid"/>
          </a:ln>
        </p:spPr>
      </p:sp>
      <p:sp>
        <p:nvSpPr>
          <p:cNvPr id="1013" name="measured-fit-7">
            <a:extLst>
              <a:ext uri="{FF2B5EF4-FFF2-40B4-BE49-F238E27FC236}">
                <a16:creationId xmlns:a16="http://schemas.microsoft.com/office/drawing/2014/main" id="{225EBE05-DCC3-4BE6-9818-B552D4A6C10D}"/>
              </a:ext>
            </a:extLst>
          </p:cNvPr>
          <p:cNvSpPr>
            <a:spLocks noGrp="1"/>
          </p:cNvSpPr>
          <p:nvPr/>
        </p:nvSpPr>
        <p:spPr>
          <a:xfrm>
            <a:off x="5619750" y="3257550"/>
            <a:ext cx="542925" cy="161925"/>
          </a:xfrm>
          <a:custGeom>
            <a:pathLst>
              <a:path w="542925" h="161925">
                <a:moveTo>
                  <a:pt x="0" y="0"/>
                </a:moveTo>
                <a:lnTo>
                  <a:pt x="542925" y="161925"/>
                </a:lnTo>
              </a:path>
            </a:pathLst>
          </a:custGeom>
          <a:noFill/>
          <a:ln w="22860">
            <a:solidFill>
              <a:srgbClr val="2869AF"/>
            </a:solidFill>
            <a:prstDash val="solid"/>
          </a:ln>
        </p:spPr>
      </p:sp>
      <p:sp>
        <p:nvSpPr>
          <p:cNvPr id="1014" name="measurement-0">
            <a:extLst>
              <a:ext uri="{FF2B5EF4-FFF2-40B4-BE49-F238E27FC236}">
                <a16:creationId xmlns:a16="http://schemas.microsoft.com/office/drawing/2014/main" id="{AC8044CA-F411-481F-A15B-E877CA0661B0}"/>
              </a:ext>
            </a:extLst>
          </p:cNvPr>
          <p:cNvSpPr>
            <a:spLocks noGrp="1"/>
          </p:cNvSpPr>
          <p:nvPr/>
        </p:nvSpPr>
        <p:spPr>
          <a:xfrm>
            <a:off x="1304925" y="2066925"/>
            <a:ext cx="95250" cy="95250"/>
          </a:xfrm>
          <a:prstGeom prst="ellipse">
            <a:avLst/>
          </a:prstGeom>
          <a:solidFill>
            <a:srgbClr val="2869AF"/>
          </a:solidFill>
          <a:ln w="0">
            <a:noFill/>
          </a:ln>
        </p:spPr>
      </p:sp>
      <p:sp>
        <p:nvSpPr>
          <p:cNvPr id="1015" name="measurement-1">
            <a:extLst>
              <a:ext uri="{FF2B5EF4-FFF2-40B4-BE49-F238E27FC236}">
                <a16:creationId xmlns:a16="http://schemas.microsoft.com/office/drawing/2014/main" id="{38F1B733-5A71-4C7E-BFD9-DF5405453732}"/>
              </a:ext>
            </a:extLst>
          </p:cNvPr>
          <p:cNvSpPr>
            <a:spLocks noGrp="1"/>
          </p:cNvSpPr>
          <p:nvPr/>
        </p:nvSpPr>
        <p:spPr>
          <a:xfrm>
            <a:off x="1952625" y="2247900"/>
            <a:ext cx="95250" cy="95250"/>
          </a:xfrm>
          <a:prstGeom prst="ellipse">
            <a:avLst/>
          </a:prstGeom>
          <a:solidFill>
            <a:srgbClr val="2869AF"/>
          </a:solidFill>
          <a:ln w="0">
            <a:noFill/>
          </a:ln>
        </p:spPr>
      </p:sp>
      <p:sp>
        <p:nvSpPr>
          <p:cNvPr id="1016" name="measurement-2">
            <a:extLst>
              <a:ext uri="{FF2B5EF4-FFF2-40B4-BE49-F238E27FC236}">
                <a16:creationId xmlns:a16="http://schemas.microsoft.com/office/drawing/2014/main" id="{CA42FBD6-05E8-44F1-B828-149BDBC78981}"/>
              </a:ext>
            </a:extLst>
          </p:cNvPr>
          <p:cNvSpPr>
            <a:spLocks noGrp="1"/>
          </p:cNvSpPr>
          <p:nvPr/>
        </p:nvSpPr>
        <p:spPr>
          <a:xfrm>
            <a:off x="2667000" y="2428875"/>
            <a:ext cx="95250" cy="95250"/>
          </a:xfrm>
          <a:prstGeom prst="ellipse">
            <a:avLst/>
          </a:prstGeom>
          <a:solidFill>
            <a:srgbClr val="2869AF"/>
          </a:solidFill>
          <a:ln w="0">
            <a:noFill/>
          </a:ln>
        </p:spPr>
      </p:sp>
      <p:sp>
        <p:nvSpPr>
          <p:cNvPr id="1017" name="measurement-3">
            <a:extLst>
              <a:ext uri="{FF2B5EF4-FFF2-40B4-BE49-F238E27FC236}">
                <a16:creationId xmlns:a16="http://schemas.microsoft.com/office/drawing/2014/main" id="{677CB3F1-9BDF-4B07-A57C-AE7265520C66}"/>
              </a:ext>
            </a:extLst>
          </p:cNvPr>
          <p:cNvSpPr>
            <a:spLocks noGrp="1"/>
          </p:cNvSpPr>
          <p:nvPr/>
        </p:nvSpPr>
        <p:spPr>
          <a:xfrm>
            <a:off x="3400425" y="2628900"/>
            <a:ext cx="95250" cy="95250"/>
          </a:xfrm>
          <a:prstGeom prst="ellipse">
            <a:avLst/>
          </a:prstGeom>
          <a:solidFill>
            <a:srgbClr val="2869AF"/>
          </a:solidFill>
          <a:ln w="0">
            <a:noFill/>
          </a:ln>
        </p:spPr>
      </p:sp>
      <p:sp>
        <p:nvSpPr>
          <p:cNvPr id="1018" name="measurement-4">
            <a:extLst>
              <a:ext uri="{FF2B5EF4-FFF2-40B4-BE49-F238E27FC236}">
                <a16:creationId xmlns:a16="http://schemas.microsoft.com/office/drawing/2014/main" id="{8771327B-AE3E-4F54-9EBF-D6F921FD66E5}"/>
              </a:ext>
            </a:extLst>
          </p:cNvPr>
          <p:cNvSpPr>
            <a:spLocks noGrp="1"/>
          </p:cNvSpPr>
          <p:nvPr/>
        </p:nvSpPr>
        <p:spPr>
          <a:xfrm>
            <a:off x="4171950" y="2838450"/>
            <a:ext cx="95250" cy="95250"/>
          </a:xfrm>
          <a:prstGeom prst="ellipse">
            <a:avLst/>
          </a:prstGeom>
          <a:solidFill>
            <a:srgbClr val="2869AF"/>
          </a:solidFill>
          <a:ln w="0">
            <a:noFill/>
          </a:ln>
        </p:spPr>
      </p:sp>
      <p:sp>
        <p:nvSpPr>
          <p:cNvPr id="1019" name="measurement-5">
            <a:extLst>
              <a:ext uri="{FF2B5EF4-FFF2-40B4-BE49-F238E27FC236}">
                <a16:creationId xmlns:a16="http://schemas.microsoft.com/office/drawing/2014/main" id="{C19DCDFF-E6C6-4AE3-BCB8-E62032572BFA}"/>
              </a:ext>
            </a:extLst>
          </p:cNvPr>
          <p:cNvSpPr>
            <a:spLocks noGrp="1"/>
          </p:cNvSpPr>
          <p:nvPr/>
        </p:nvSpPr>
        <p:spPr>
          <a:xfrm>
            <a:off x="4848225" y="3028950"/>
            <a:ext cx="95250" cy="95250"/>
          </a:xfrm>
          <a:prstGeom prst="ellipse">
            <a:avLst/>
          </a:prstGeom>
          <a:solidFill>
            <a:srgbClr val="2869AF"/>
          </a:solidFill>
          <a:ln w="0">
            <a:noFill/>
          </a:ln>
        </p:spPr>
      </p:sp>
      <p:sp>
        <p:nvSpPr>
          <p:cNvPr id="1020" name="measurement-6">
            <a:extLst>
              <a:ext uri="{FF2B5EF4-FFF2-40B4-BE49-F238E27FC236}">
                <a16:creationId xmlns:a16="http://schemas.microsoft.com/office/drawing/2014/main" id="{49B0B7B8-B231-4E16-8C1B-C8F8757E75A7}"/>
              </a:ext>
            </a:extLst>
          </p:cNvPr>
          <p:cNvSpPr>
            <a:spLocks noGrp="1"/>
          </p:cNvSpPr>
          <p:nvPr/>
        </p:nvSpPr>
        <p:spPr>
          <a:xfrm>
            <a:off x="5572125" y="3209925"/>
            <a:ext cx="95250" cy="95250"/>
          </a:xfrm>
          <a:prstGeom prst="ellipse">
            <a:avLst/>
          </a:prstGeom>
          <a:solidFill>
            <a:srgbClr val="2869AF"/>
          </a:solidFill>
          <a:ln w="0">
            <a:noFill/>
          </a:ln>
        </p:spPr>
      </p:sp>
      <p:sp>
        <p:nvSpPr>
          <p:cNvPr id="1021" name="measurement-7">
            <a:extLst>
              <a:ext uri="{FF2B5EF4-FFF2-40B4-BE49-F238E27FC236}">
                <a16:creationId xmlns:a16="http://schemas.microsoft.com/office/drawing/2014/main" id="{A718259C-45A4-4A42-912F-B94D537C1DE3}"/>
              </a:ext>
            </a:extLst>
          </p:cNvPr>
          <p:cNvSpPr>
            <a:spLocks noGrp="1"/>
          </p:cNvSpPr>
          <p:nvPr/>
        </p:nvSpPr>
        <p:spPr>
          <a:xfrm>
            <a:off x="6115050" y="3371850"/>
            <a:ext cx="95250" cy="95250"/>
          </a:xfrm>
          <a:prstGeom prst="ellipse">
            <a:avLst/>
          </a:prstGeom>
          <a:solidFill>
            <a:srgbClr val="2869AF"/>
          </a:solidFill>
          <a:ln w="0">
            <a:noFill/>
          </a:ln>
        </p:spPr>
      </p:sp>
      <p:sp>
        <p:nvSpPr>
          <p:cNvPr id="1022" name="predicted-position">
            <a:extLst>
              <a:ext uri="{FF2B5EF4-FFF2-40B4-BE49-F238E27FC236}">
                <a16:creationId xmlns:a16="http://schemas.microsoft.com/office/drawing/2014/main" id="{DC963ACD-A0CB-46F0-90E0-93791E9B7035}"/>
              </a:ext>
            </a:extLst>
          </p:cNvPr>
          <p:cNvSpPr>
            <a:spLocks noGrp="1"/>
          </p:cNvSpPr>
          <p:nvPr/>
        </p:nvSpPr>
        <p:spPr>
          <a:xfrm>
            <a:off x="6162675" y="3419475"/>
            <a:ext cx="3790950" cy="1009650"/>
          </a:xfrm>
          <a:custGeom>
            <a:pathLst>
              <a:path w="3790950" h="1009650">
                <a:moveTo>
                  <a:pt x="0" y="0"/>
                </a:moveTo>
                <a:lnTo>
                  <a:pt x="3790950" y="1009650"/>
                </a:lnTo>
              </a:path>
            </a:pathLst>
          </a:custGeom>
          <a:noFill/>
          <a:ln w="28575">
            <a:solidFill>
              <a:srgbClr val="C86C18"/>
            </a:solidFill>
            <a:prstDash val="dash"/>
          </a:ln>
        </p:spPr>
      </p:sp>
      <p:sp>
        <p:nvSpPr>
          <p:cNvPr id="1023" name="camera-boundary">
            <a:extLst>
              <a:ext uri="{FF2B5EF4-FFF2-40B4-BE49-F238E27FC236}">
                <a16:creationId xmlns:a16="http://schemas.microsoft.com/office/drawing/2014/main" id="{5DF1A6D1-FC67-437E-A6F2-C5A6D21C9F70}"/>
              </a:ext>
            </a:extLst>
          </p:cNvPr>
          <p:cNvSpPr>
            <a:spLocks noGrp="1"/>
          </p:cNvSpPr>
          <p:nvPr/>
        </p:nvSpPr>
        <p:spPr>
          <a:xfrm>
            <a:off x="6286500" y="1743075"/>
            <a:ext cx="953" cy="2857500"/>
          </a:xfrm>
          <a:custGeom>
            <a:pathLst>
              <a:path w="953" h="2857500">
                <a:moveTo>
                  <a:pt x="0" y="0"/>
                </a:moveTo>
                <a:lnTo>
                  <a:pt x="0" y="2857500"/>
                </a:lnTo>
              </a:path>
            </a:pathLst>
          </a:custGeom>
          <a:noFill/>
          <a:ln w="19050">
            <a:solidFill>
              <a:srgbClr val="61707D"/>
            </a:solidFill>
            <a:prstDash val="dash"/>
          </a:ln>
        </p:spPr>
      </p:sp>
      <p:sp>
        <p:nvSpPr>
          <p:cNvPr id="1024" name="measurement-region">
            <a:extLst>
              <a:ext uri="{FF2B5EF4-FFF2-40B4-BE49-F238E27FC236}">
                <a16:creationId xmlns:a16="http://schemas.microsoft.com/office/drawing/2014/main" id="{4C622455-7956-4A0D-99AA-6A32791E9A0B}"/>
              </a:ext>
            </a:extLst>
          </p:cNvPr>
          <p:cNvSpPr>
            <a:spLocks noGrp="1"/>
          </p:cNvSpPr>
          <p:nvPr/>
        </p:nvSpPr>
        <p:spPr>
          <a:xfrm>
            <a:off x="2428875" y="1809750"/>
            <a:ext cx="28575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Kameramessung</a:t>
            </a:r>
          </a:p>
        </p:txBody>
      </p:sp>
      <p:sp>
        <p:nvSpPr>
          <p:cNvPr id="1025" name="forecast-region">
            <a:extLst>
              <a:ext uri="{FF2B5EF4-FFF2-40B4-BE49-F238E27FC236}">
                <a16:creationId xmlns:a16="http://schemas.microsoft.com/office/drawing/2014/main" id="{E3F91C9B-8277-44CD-AE3D-E744AE758700}"/>
              </a:ext>
            </a:extLst>
          </p:cNvPr>
          <p:cNvSpPr>
            <a:spLocks noGrp="1"/>
          </p:cNvSpPr>
          <p:nvPr/>
        </p:nvSpPr>
        <p:spPr>
          <a:xfrm>
            <a:off x="7762875" y="2952750"/>
            <a:ext cx="24765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Vorhersage</a:t>
            </a:r>
          </a:p>
        </p:txBody>
      </p:sp>
      <p:sp>
        <p:nvSpPr>
          <p:cNvPr id="1026" name="camera-exit">
            <a:extLst>
              <a:ext uri="{FF2B5EF4-FFF2-40B4-BE49-F238E27FC236}">
                <a16:creationId xmlns:a16="http://schemas.microsoft.com/office/drawing/2014/main" id="{B0F80878-6152-4207-8387-AC96E46FF01C}"/>
              </a:ext>
            </a:extLst>
          </p:cNvPr>
          <p:cNvSpPr>
            <a:spLocks noGrp="1"/>
          </p:cNvSpPr>
          <p:nvPr/>
        </p:nvSpPr>
        <p:spPr>
          <a:xfrm>
            <a:off x="5238750" y="4762500"/>
            <a:ext cx="2428875" cy="30480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Ende Kamerabild</a:t>
            </a:r>
          </a:p>
        </p:txBody>
      </p:sp>
      <p:sp>
        <p:nvSpPr>
          <p:cNvPr id="1027" name="schematic">
            <a:extLst>
              <a:ext uri="{FF2B5EF4-FFF2-40B4-BE49-F238E27FC236}">
                <a16:creationId xmlns:a16="http://schemas.microsoft.com/office/drawing/2014/main" id="{67A8D2D9-9ED0-4080-A30E-2D60CB8BE939}"/>
              </a:ext>
            </a:extLst>
          </p:cNvPr>
          <p:cNvSpPr>
            <a:spLocks noGrp="1"/>
          </p:cNvSpPr>
          <p:nvPr/>
        </p:nvSpPr>
        <p:spPr>
          <a:xfrm>
            <a:off x="333375" y="5476875"/>
            <a:ext cx="3714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400" b="0">
                <a:solidFill>
                  <a:srgbClr val="61707D"/>
                </a:solidFill>
                <a:latin typeface="Calibri"/>
                <a:ea typeface="Calibri"/>
                <a:cs typeface="Calibri"/>
              </a:defRPr>
            </a:pPr>
            <a:r>
              <a:rPr sz="1400" b="0">
                <a:solidFill>
                  <a:srgbClr val="61707D"/>
                </a:solidFill>
                <a:latin typeface="Calibri"/>
                <a:ea typeface="Calibri"/>
                <a:cs typeface="Calibri"/>
              </a:rPr>
              <a:t>Schematische Darstellung</a:t>
            </a:r>
          </a:p>
        </p:txBody>
      </p:sp>
      <p:sp>
        <p:nvSpPr>
          <p:cNvPr id="1028" name="speed-probe">
            <a:extLst>
              <a:ext uri="{FF2B5EF4-FFF2-40B4-BE49-F238E27FC236}">
                <a16:creationId xmlns:a16="http://schemas.microsoft.com/office/drawing/2014/main" id="{F53FCF0A-9B40-4715-B39E-6CEA51747DE9}"/>
              </a:ext>
            </a:extLst>
          </p:cNvPr>
          <p:cNvSpPr>
            <a:spLocks noGrp="1"/>
          </p:cNvSpPr>
          <p:nvPr/>
        </p:nvSpPr>
        <p:spPr>
          <a:xfrm>
            <a:off x="5143500" y="5381625"/>
            <a:ext cx="6096000" cy="457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Bilddaten: ca. 128 mm/s    Stoppuhr: 125–133 mm/s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slide-title">
            <a:extLst>
              <a:ext uri="{FF2B5EF4-FFF2-40B4-BE49-F238E27FC236}">
                <a16:creationId xmlns:a16="http://schemas.microsoft.com/office/drawing/2014/main" id="{DA63A62F-3C3F-4733-93FC-CB33A7B23978}"/>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Zielauswahl und Erreichbarkeit</a:t>
            </a:r>
          </a:p>
        </p:txBody>
      </p:sp>
      <p:sp>
        <p:nvSpPr>
          <p:cNvPr id="1002" name="conveyor">
            <a:extLst>
              <a:ext uri="{FF2B5EF4-FFF2-40B4-BE49-F238E27FC236}">
                <a16:creationId xmlns:a16="http://schemas.microsoft.com/office/drawing/2014/main" id="{06E110AE-F1EE-40A7-91D1-AC360E7E0633}"/>
              </a:ext>
            </a:extLst>
          </p:cNvPr>
          <p:cNvSpPr>
            <a:spLocks noGrp="1"/>
          </p:cNvSpPr>
          <p:nvPr/>
        </p:nvSpPr>
        <p:spPr>
          <a:xfrm>
            <a:off x="762000" y="2524125"/>
            <a:ext cx="10048875" cy="1857375"/>
          </a:xfrm>
          <a:prstGeom prst="rect">
            <a:avLst/>
          </a:prstGeom>
          <a:solidFill>
            <a:srgbClr val="EAF0F5"/>
          </a:solidFill>
          <a:ln w="9525">
            <a:solidFill>
              <a:srgbClr val="ADB8C3"/>
            </a:solidFill>
          </a:ln>
        </p:spPr>
      </p:sp>
      <p:sp>
        <p:nvSpPr>
          <p:cNvPr id="1003" name="grip-zone">
            <a:extLst>
              <a:ext uri="{FF2B5EF4-FFF2-40B4-BE49-F238E27FC236}">
                <a16:creationId xmlns:a16="http://schemas.microsoft.com/office/drawing/2014/main" id="{D499349D-2AC6-45BA-83CC-5479179DBC16}"/>
              </a:ext>
            </a:extLst>
          </p:cNvPr>
          <p:cNvSpPr>
            <a:spLocks noGrp="1"/>
          </p:cNvSpPr>
          <p:nvPr/>
        </p:nvSpPr>
        <p:spPr>
          <a:xfrm>
            <a:off x="4000500" y="2524125"/>
            <a:ext cx="6286500" cy="1857375"/>
          </a:xfrm>
          <a:prstGeom prst="rect">
            <a:avLst/>
          </a:prstGeom>
          <a:solidFill>
            <a:srgbClr val="E9F2EB"/>
          </a:solidFill>
          <a:ln w="15240">
            <a:solidFill>
              <a:srgbClr val="39734C"/>
            </a:solidFill>
          </a:ln>
        </p:spPr>
      </p:sp>
      <p:sp>
        <p:nvSpPr>
          <p:cNvPr id="1004" name="grip-zone-label">
            <a:extLst>
              <a:ext uri="{FF2B5EF4-FFF2-40B4-BE49-F238E27FC236}">
                <a16:creationId xmlns:a16="http://schemas.microsoft.com/office/drawing/2014/main" id="{53F8AE99-821F-423C-ADCC-F340EDF2D1DE}"/>
              </a:ext>
            </a:extLst>
          </p:cNvPr>
          <p:cNvSpPr>
            <a:spLocks noGrp="1"/>
          </p:cNvSpPr>
          <p:nvPr/>
        </p:nvSpPr>
        <p:spPr>
          <a:xfrm>
            <a:off x="7762875" y="2647950"/>
            <a:ext cx="2333625" cy="333375"/>
          </a:xfrm>
          <a:prstGeom prst="rect">
            <a:avLst/>
          </a:prstGeom>
          <a:noFill/>
          <a:ln w="0">
            <a:noFill/>
          </a:ln>
        </p:spPr>
        <p:txBody>
          <a:bodyPr wrap="square" lIns="0" tIns="0" rIns="0" bIns="0" anchor="t">
            <a:noAutofit/>
          </a:bodyPr>
          <a:lstStyle/>
          <a:p>
            <a:pPr algn="r">
              <a:lnSpc>
                <a:spcPct val="105000"/>
              </a:lnSpc>
              <a:spcBef>
                <a:spcPts val="0"/>
              </a:spcBef>
              <a:spcAft>
                <a:spcPts val="0"/>
              </a:spcAft>
              <a:buNone/>
              <a:defRPr sz="2100" b="0">
                <a:solidFill>
                  <a:srgbClr val="39734C"/>
                </a:solidFill>
                <a:latin typeface="Calibri"/>
                <a:ea typeface="Calibri"/>
                <a:cs typeface="Calibri"/>
              </a:defRPr>
            </a:pPr>
            <a:r>
              <a:rPr sz="2100" b="0">
                <a:solidFill>
                  <a:srgbClr val="39734C"/>
                </a:solidFill>
                <a:latin typeface="Calibri"/>
                <a:ea typeface="Calibri"/>
                <a:cs typeface="Calibri"/>
              </a:rPr>
              <a:t>Greifzone</a:t>
            </a:r>
          </a:p>
        </p:txBody>
      </p:sp>
      <p:sp>
        <p:nvSpPr>
          <p:cNvPr id="1005" name="belt-direction">
            <a:extLst>
              <a:ext uri="{FF2B5EF4-FFF2-40B4-BE49-F238E27FC236}">
                <a16:creationId xmlns:a16="http://schemas.microsoft.com/office/drawing/2014/main" id="{D66EE593-5C04-4A92-A6C0-0A1FAD9D542E}"/>
              </a:ext>
            </a:extLst>
          </p:cNvPr>
          <p:cNvSpPr>
            <a:spLocks noGrp="1"/>
          </p:cNvSpPr>
          <p:nvPr/>
        </p:nvSpPr>
        <p:spPr>
          <a:xfrm>
            <a:off x="762000" y="1781175"/>
            <a:ext cx="2095500" cy="266700"/>
          </a:xfrm>
          <a:prstGeom prst="rightArrow">
            <a:avLst/>
          </a:prstGeom>
          <a:solidFill>
            <a:srgbClr val="2869AF"/>
          </a:solidFill>
          <a:ln w="0">
            <a:noFill/>
          </a:ln>
        </p:spPr>
      </p:sp>
      <p:sp>
        <p:nvSpPr>
          <p:cNvPr id="1006" name="belt-direction-label">
            <a:extLst>
              <a:ext uri="{FF2B5EF4-FFF2-40B4-BE49-F238E27FC236}">
                <a16:creationId xmlns:a16="http://schemas.microsoft.com/office/drawing/2014/main" id="{E4C50435-83D4-4122-99A9-7FA091E61F91}"/>
              </a:ext>
            </a:extLst>
          </p:cNvPr>
          <p:cNvSpPr>
            <a:spLocks noGrp="1"/>
          </p:cNvSpPr>
          <p:nvPr/>
        </p:nvSpPr>
        <p:spPr>
          <a:xfrm>
            <a:off x="3238500" y="1724025"/>
            <a:ext cx="2428875"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Bandrichtung</a:t>
            </a:r>
          </a:p>
        </p:txBody>
      </p:sp>
      <p:sp>
        <p:nvSpPr>
          <p:cNvPr id="1007" name="normal-grip-plane">
            <a:extLst>
              <a:ext uri="{FF2B5EF4-FFF2-40B4-BE49-F238E27FC236}">
                <a16:creationId xmlns:a16="http://schemas.microsoft.com/office/drawing/2014/main" id="{E6A18E1D-2166-42EB-81A8-F13C249FE7B9}"/>
              </a:ext>
            </a:extLst>
          </p:cNvPr>
          <p:cNvSpPr>
            <a:spLocks noGrp="1"/>
          </p:cNvSpPr>
          <p:nvPr/>
        </p:nvSpPr>
        <p:spPr>
          <a:xfrm>
            <a:off x="8572500" y="2381250"/>
            <a:ext cx="953" cy="2152650"/>
          </a:xfrm>
          <a:custGeom>
            <a:pathLst>
              <a:path w="953" h="2152650">
                <a:moveTo>
                  <a:pt x="0" y="0"/>
                </a:moveTo>
                <a:lnTo>
                  <a:pt x="0" y="2152650"/>
                </a:lnTo>
              </a:path>
            </a:pathLst>
          </a:custGeom>
          <a:noFill/>
          <a:ln w="28575">
            <a:solidFill>
              <a:srgbClr val="2869AF"/>
            </a:solidFill>
            <a:prstDash val="dash"/>
          </a:ln>
        </p:spPr>
      </p:sp>
      <p:sp>
        <p:nvSpPr>
          <p:cNvPr id="1008" name="fast-grip-plane">
            <a:extLst>
              <a:ext uri="{FF2B5EF4-FFF2-40B4-BE49-F238E27FC236}">
                <a16:creationId xmlns:a16="http://schemas.microsoft.com/office/drawing/2014/main" id="{F3FA55B6-7962-4CB7-8D4E-A6659A4DB67F}"/>
              </a:ext>
            </a:extLst>
          </p:cNvPr>
          <p:cNvSpPr>
            <a:spLocks noGrp="1"/>
          </p:cNvSpPr>
          <p:nvPr/>
        </p:nvSpPr>
        <p:spPr>
          <a:xfrm>
            <a:off x="6810375" y="2381250"/>
            <a:ext cx="953" cy="2152650"/>
          </a:xfrm>
          <a:custGeom>
            <a:pathLst>
              <a:path w="953" h="2152650">
                <a:moveTo>
                  <a:pt x="0" y="0"/>
                </a:moveTo>
                <a:lnTo>
                  <a:pt x="0" y="2152650"/>
                </a:lnTo>
              </a:path>
            </a:pathLst>
          </a:custGeom>
          <a:noFill/>
          <a:ln w="28575">
            <a:solidFill>
              <a:srgbClr val="C86C18"/>
            </a:solidFill>
            <a:prstDash val="dash"/>
          </a:ln>
        </p:spPr>
      </p:sp>
      <p:sp>
        <p:nvSpPr>
          <p:cNvPr id="1009" name="normal-plane-label">
            <a:extLst>
              <a:ext uri="{FF2B5EF4-FFF2-40B4-BE49-F238E27FC236}">
                <a16:creationId xmlns:a16="http://schemas.microsoft.com/office/drawing/2014/main" id="{1809F7FE-64BD-47B1-9087-9B8E3525DB95}"/>
              </a:ext>
            </a:extLst>
          </p:cNvPr>
          <p:cNvSpPr>
            <a:spLocks noGrp="1"/>
          </p:cNvSpPr>
          <p:nvPr/>
        </p:nvSpPr>
        <p:spPr>
          <a:xfrm>
            <a:off x="8810625" y="4552950"/>
            <a:ext cx="2000250"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Greifebene</a:t>
            </a:r>
          </a:p>
        </p:txBody>
      </p:sp>
      <p:sp>
        <p:nvSpPr>
          <p:cNvPr id="1010" name="faster-plane-label">
            <a:extLst>
              <a:ext uri="{FF2B5EF4-FFF2-40B4-BE49-F238E27FC236}">
                <a16:creationId xmlns:a16="http://schemas.microsoft.com/office/drawing/2014/main" id="{44DC8F82-30EC-41BF-B8EB-01D5B1E9ADBA}"/>
              </a:ext>
            </a:extLst>
          </p:cNvPr>
          <p:cNvSpPr>
            <a:spLocks noGrp="1"/>
          </p:cNvSpPr>
          <p:nvPr/>
        </p:nvSpPr>
        <p:spPr>
          <a:xfrm>
            <a:off x="5953125" y="2066925"/>
            <a:ext cx="3095625"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Höhere Geschwindigkeit</a:t>
            </a:r>
          </a:p>
        </p:txBody>
      </p:sp>
      <p:sp>
        <p:nvSpPr>
          <p:cNvPr id="1011" name="unstable-object">
            <a:extLst>
              <a:ext uri="{FF2B5EF4-FFF2-40B4-BE49-F238E27FC236}">
                <a16:creationId xmlns:a16="http://schemas.microsoft.com/office/drawing/2014/main" id="{4BD14D1F-6912-4A3C-8FEE-E8960D196216}"/>
              </a:ext>
            </a:extLst>
          </p:cNvPr>
          <p:cNvSpPr>
            <a:spLocks noGrp="1"/>
          </p:cNvSpPr>
          <p:nvPr/>
        </p:nvSpPr>
        <p:spPr>
          <a:xfrm>
            <a:off x="2000250" y="3152775"/>
            <a:ext cx="762000" cy="666750"/>
          </a:xfrm>
          <a:prstGeom prst="rect">
            <a:avLst/>
          </a:prstGeom>
          <a:solidFill>
            <a:srgbClr val="DCE1E5"/>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A</a:t>
            </a:r>
          </a:p>
        </p:txBody>
      </p:sp>
      <p:sp>
        <p:nvSpPr>
          <p:cNvPr id="1012" name="selected-object">
            <a:extLst>
              <a:ext uri="{FF2B5EF4-FFF2-40B4-BE49-F238E27FC236}">
                <a16:creationId xmlns:a16="http://schemas.microsoft.com/office/drawing/2014/main" id="{A699B7A2-B8EB-4F1A-9CEA-B9AE59157863}"/>
              </a:ext>
            </a:extLst>
          </p:cNvPr>
          <p:cNvSpPr>
            <a:spLocks noGrp="1"/>
          </p:cNvSpPr>
          <p:nvPr/>
        </p:nvSpPr>
        <p:spPr>
          <a:xfrm>
            <a:off x="4953000" y="3152775"/>
            <a:ext cx="857250" cy="666750"/>
          </a:xfrm>
          <a:prstGeom prst="rect">
            <a:avLst/>
          </a:prstGeom>
          <a:solidFill>
            <a:srgbClr val="2869A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400">
                <a:solidFill>
                  <a:srgbClr val="FFFFFF"/>
                </a:solidFill>
                <a:latin typeface="Calibri"/>
                <a:ea typeface="Calibri"/>
                <a:cs typeface="Calibri"/>
              </a:defRPr>
            </a:pPr>
            <a:r>
              <a:rPr sz="2400">
                <a:solidFill>
                  <a:srgbClr val="FFFFFF"/>
                </a:solidFill>
                <a:latin typeface="Calibri"/>
                <a:ea typeface="Calibri"/>
                <a:cs typeface="Calibri"/>
              </a:rPr>
              <a:t>B</a:t>
            </a:r>
          </a:p>
        </p:txBody>
      </p:sp>
      <p:sp>
        <p:nvSpPr>
          <p:cNvPr id="1013" name="late-object">
            <a:extLst>
              <a:ext uri="{FF2B5EF4-FFF2-40B4-BE49-F238E27FC236}">
                <a16:creationId xmlns:a16="http://schemas.microsoft.com/office/drawing/2014/main" id="{D6713A25-39E3-4BF8-B133-A73BBBCDEEC1}"/>
              </a:ext>
            </a:extLst>
          </p:cNvPr>
          <p:cNvSpPr>
            <a:spLocks noGrp="1"/>
          </p:cNvSpPr>
          <p:nvPr/>
        </p:nvSpPr>
        <p:spPr>
          <a:xfrm>
            <a:off x="9153525" y="3152775"/>
            <a:ext cx="781050" cy="666750"/>
          </a:xfrm>
          <a:prstGeom prst="rect">
            <a:avLst/>
          </a:prstGeom>
          <a:solidFill>
            <a:srgbClr val="FFF1E3"/>
          </a:solidFill>
          <a:ln w="15240">
            <a:solidFill>
              <a:srgbClr val="C86C18"/>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C</a:t>
            </a:r>
          </a:p>
        </p:txBody>
      </p:sp>
      <p:sp>
        <p:nvSpPr>
          <p:cNvPr id="1014" name="unstable-label">
            <a:extLst>
              <a:ext uri="{FF2B5EF4-FFF2-40B4-BE49-F238E27FC236}">
                <a16:creationId xmlns:a16="http://schemas.microsoft.com/office/drawing/2014/main" id="{BF925AE4-B5DF-4F86-AE91-DF5C60F72CBC}"/>
              </a:ext>
            </a:extLst>
          </p:cNvPr>
          <p:cNvSpPr>
            <a:spLocks noGrp="1"/>
          </p:cNvSpPr>
          <p:nvPr/>
        </p:nvSpPr>
        <p:spPr>
          <a:xfrm>
            <a:off x="1333500" y="4629150"/>
            <a:ext cx="2476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61707D"/>
                </a:solidFill>
                <a:latin typeface="Calibri"/>
                <a:ea typeface="Calibri"/>
                <a:cs typeface="Calibri"/>
              </a:defRPr>
            </a:pPr>
            <a:r>
              <a:rPr sz="2000" b="0">
                <a:solidFill>
                  <a:srgbClr val="61707D"/>
                </a:solidFill>
                <a:latin typeface="Calibri"/>
                <a:ea typeface="Calibri"/>
                <a:cs typeface="Calibri"/>
              </a:rPr>
              <a:t>Einschwingend</a:t>
            </a:r>
          </a:p>
        </p:txBody>
      </p:sp>
      <p:sp>
        <p:nvSpPr>
          <p:cNvPr id="1015" name="selected-label">
            <a:extLst>
              <a:ext uri="{FF2B5EF4-FFF2-40B4-BE49-F238E27FC236}">
                <a16:creationId xmlns:a16="http://schemas.microsoft.com/office/drawing/2014/main" id="{70D1634B-182F-4522-A2EA-FC4280D89DCE}"/>
              </a:ext>
            </a:extLst>
          </p:cNvPr>
          <p:cNvSpPr>
            <a:spLocks noGrp="1"/>
          </p:cNvSpPr>
          <p:nvPr/>
        </p:nvSpPr>
        <p:spPr>
          <a:xfrm>
            <a:off x="4476750" y="4629150"/>
            <a:ext cx="2095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Ausgewählt</a:t>
            </a:r>
          </a:p>
        </p:txBody>
      </p:sp>
      <p:sp>
        <p:nvSpPr>
          <p:cNvPr id="1016" name="late-label">
            <a:extLst>
              <a:ext uri="{FF2B5EF4-FFF2-40B4-BE49-F238E27FC236}">
                <a16:creationId xmlns:a16="http://schemas.microsoft.com/office/drawing/2014/main" id="{92F92F70-E486-48E8-AD73-4EAF0D6040B3}"/>
              </a:ext>
            </a:extLst>
          </p:cNvPr>
          <p:cNvSpPr>
            <a:spLocks noGrp="1"/>
          </p:cNvSpPr>
          <p:nvPr/>
        </p:nvSpPr>
        <p:spPr>
          <a:xfrm>
            <a:off x="9039225" y="4962525"/>
            <a:ext cx="161925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Zu spät</a:t>
            </a:r>
          </a:p>
        </p:txBody>
      </p:sp>
      <p:sp>
        <p:nvSpPr>
          <p:cNvPr id="1017" name="caption-9">
            <a:extLst>
              <a:ext uri="{FF2B5EF4-FFF2-40B4-BE49-F238E27FC236}">
                <a16:creationId xmlns:a16="http://schemas.microsoft.com/office/drawing/2014/main" id="{0DF87677-71B5-44B7-8258-A5ADBFD634B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Schematische Kandidaten und geschwindigkeitsabhängige Greifebene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9</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8" name=""/>
          <p:cNvCxnSpPr>
            <a:stCxn id="1008" idx="1"/>
            <a:endCxn id="1009" idx="3"/>
          </p:cNvCxnSpPr>
          <p:nvPr/>
        </p:nvCxnSpPr>
        <p:spPr>
          <a:xfrm flipH="1">
            <a:off x="2952750" y="3238500"/>
            <a:ext cx="400050" cy="0"/>
          </a:xfrm>
          <a:prstGeom prst="straightConnector1">
            <a:avLst/>
          </a:prstGeom>
          <a:ln w="19050">
            <a:solidFill>
              <a:srgbClr val="2869AF"/>
            </a:solidFill>
            <a:prstDash val="solid"/>
            <a:tailEnd type="triangle" w="sm" len="sm"/>
          </a:ln>
        </p:spPr>
      </p:cxnSp>
      <p:cxnSp>
        <p:nvCxnSpPr>
          <p:cNvPr id="1029" name=""/>
          <p:cNvCxnSpPr>
            <a:stCxn id="1007" idx="1"/>
            <a:endCxn id="1008" idx="3"/>
          </p:cNvCxnSpPr>
          <p:nvPr/>
        </p:nvCxnSpPr>
        <p:spPr>
          <a:xfrm flipH="1">
            <a:off x="5638800" y="3238500"/>
            <a:ext cx="400050" cy="0"/>
          </a:xfrm>
          <a:prstGeom prst="straightConnector1">
            <a:avLst/>
          </a:prstGeom>
          <a:ln w="19050">
            <a:solidFill>
              <a:srgbClr val="2869AF"/>
            </a:solidFill>
            <a:prstDash val="solid"/>
            <a:tailEnd type="triangle" w="sm" len="sm"/>
          </a:ln>
        </p:spPr>
      </p:cxnSp>
      <p:cxnSp>
        <p:nvCxnSpPr>
          <p:cNvPr id="1030" name=""/>
          <p:cNvCxnSpPr>
            <a:stCxn id="1006" idx="1"/>
            <a:endCxn id="1007" idx="3"/>
          </p:cNvCxnSpPr>
          <p:nvPr/>
        </p:nvCxnSpPr>
        <p:spPr>
          <a:xfrm flipH="1">
            <a:off x="8324850" y="3238500"/>
            <a:ext cx="400050" cy="0"/>
          </a:xfrm>
          <a:prstGeom prst="straightConnector1">
            <a:avLst/>
          </a:prstGeom>
          <a:ln w="19050">
            <a:solidFill>
              <a:srgbClr val="2869AF"/>
            </a:solidFill>
            <a:prstDash val="solid"/>
            <a:tailEnd type="triangle" w="sm" len="sm"/>
          </a:ln>
        </p:spPr>
      </p:cxnSp>
      <p:cxnSp>
        <p:nvCxnSpPr>
          <p:cNvPr id="1031" name=""/>
          <p:cNvCxnSpPr>
            <a:stCxn id="1005" idx="2"/>
            <a:endCxn id="1006" idx="0"/>
          </p:cNvCxnSpPr>
          <p:nvPr/>
        </p:nvCxnSpPr>
        <p:spPr>
          <a:xfrm>
            <a:off x="9867900" y="2162175"/>
            <a:ext cx="0" cy="733425"/>
          </a:xfrm>
          <a:prstGeom prst="straightConnector1">
            <a:avLst/>
          </a:prstGeom>
          <a:ln w="19050">
            <a:solidFill>
              <a:srgbClr val="2869AF"/>
            </a:solidFill>
            <a:prstDash val="solid"/>
            <a:tailEnd type="triangle" w="sm" len="sm"/>
          </a:ln>
        </p:spPr>
      </p:cxnSp>
      <p:cxnSp>
        <p:nvCxnSpPr>
          <p:cNvPr id="1032" name=""/>
          <p:cNvCxnSpPr>
            <a:stCxn id="1004" idx="3"/>
            <a:endCxn id="1005" idx="1"/>
          </p:cNvCxnSpPr>
          <p:nvPr/>
        </p:nvCxnSpPr>
        <p:spPr>
          <a:xfrm>
            <a:off x="8324850" y="1819275"/>
            <a:ext cx="400050" cy="0"/>
          </a:xfrm>
          <a:prstGeom prst="straightConnector1">
            <a:avLst/>
          </a:prstGeom>
          <a:ln w="19050">
            <a:solidFill>
              <a:srgbClr val="2869AF"/>
            </a:solidFill>
            <a:prstDash val="solid"/>
            <a:tailEnd type="triangle" w="sm" len="sm"/>
          </a:ln>
        </p:spPr>
      </p:cxnSp>
      <p:cxnSp>
        <p:nvCxnSpPr>
          <p:cNvPr id="1033" name=""/>
          <p:cNvCxnSpPr>
            <a:stCxn id="1003" idx="3"/>
            <a:endCxn id="1004" idx="1"/>
          </p:cNvCxnSpPr>
          <p:nvPr/>
        </p:nvCxnSpPr>
        <p:spPr>
          <a:xfrm>
            <a:off x="5638800" y="1819275"/>
            <a:ext cx="400050" cy="0"/>
          </a:xfrm>
          <a:prstGeom prst="straightConnector1">
            <a:avLst/>
          </a:prstGeom>
          <a:ln w="19050">
            <a:solidFill>
              <a:srgbClr val="2869AF"/>
            </a:solidFill>
            <a:prstDash val="solid"/>
            <a:tailEnd type="triangle" w="sm" len="sm"/>
          </a:ln>
        </p:spPr>
      </p:cxnSp>
      <p:cxnSp>
        <p:nvCxnSpPr>
          <p:cNvPr id="1034" name=""/>
          <p:cNvCxnSpPr>
            <a:stCxn id="1002" idx="3"/>
            <a:endCxn id="1003" idx="1"/>
          </p:cNvCxnSpPr>
          <p:nvPr/>
        </p:nvCxnSpPr>
        <p:spPr>
          <a:xfrm>
            <a:off x="2952750" y="1819275"/>
            <a:ext cx="400050" cy="0"/>
          </a:xfrm>
          <a:prstGeom prst="straightConnector1">
            <a:avLst/>
          </a:prstGeom>
          <a:ln w="19050">
            <a:solidFill>
              <a:srgbClr val="2869AF"/>
            </a:solidFill>
            <a:prstDash val="solid"/>
            <a:tailEnd type="triangle" w="sm" len="sm"/>
          </a:ln>
        </p:spPr>
      </p:cxnSp>
      <p:sp>
        <p:nvSpPr>
          <p:cNvPr id="1035" name="slide-title">
            <a:extLst>
              <a:ext uri="{FF2B5EF4-FFF2-40B4-BE49-F238E27FC236}">
                <a16:creationId xmlns:a16="http://schemas.microsoft.com/office/drawing/2014/main" id="{CFEE2F63-30CB-4E04-8A78-5BA8CB61EA52}"/>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Greifen während der Bewegung</a:t>
            </a:r>
          </a:p>
        </p:txBody>
      </p:sp>
      <p:sp>
        <p:nvSpPr>
          <p:cNvPr id="1002" name="state-0">
            <a:extLst>
              <a:ext uri="{FF2B5EF4-FFF2-40B4-BE49-F238E27FC236}">
                <a16:creationId xmlns:a16="http://schemas.microsoft.com/office/drawing/2014/main" id="{2624BDB3-72F6-4022-A169-8832C27E6F49}"/>
              </a:ext>
            </a:extLst>
          </p:cNvPr>
          <p:cNvSpPr>
            <a:spLocks noGrp="1"/>
          </p:cNvSpPr>
          <p:nvPr/>
        </p:nvSpPr>
        <p:spPr>
          <a:xfrm>
            <a:off x="66675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Warten</a:t>
            </a:r>
          </a:p>
        </p:txBody>
      </p:sp>
      <p:sp>
        <p:nvSpPr>
          <p:cNvPr id="1003" name="state-1">
            <a:extLst>
              <a:ext uri="{FF2B5EF4-FFF2-40B4-BE49-F238E27FC236}">
                <a16:creationId xmlns:a16="http://schemas.microsoft.com/office/drawing/2014/main" id="{34A2CA7D-D448-4586-8979-36835DDB66FD}"/>
              </a:ext>
            </a:extLst>
          </p:cNvPr>
          <p:cNvSpPr>
            <a:spLocks noGrp="1"/>
          </p:cNvSpPr>
          <p:nvPr/>
        </p:nvSpPr>
        <p:spPr>
          <a:xfrm>
            <a:off x="3352800" y="1476375"/>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Anfahren</a:t>
            </a:r>
          </a:p>
        </p:txBody>
      </p:sp>
      <p:sp>
        <p:nvSpPr>
          <p:cNvPr id="1004" name="state-2">
            <a:extLst>
              <a:ext uri="{FF2B5EF4-FFF2-40B4-BE49-F238E27FC236}">
                <a16:creationId xmlns:a16="http://schemas.microsoft.com/office/drawing/2014/main" id="{7055FF1E-55F9-4394-BB91-9FA71F31F299}"/>
              </a:ext>
            </a:extLst>
          </p:cNvPr>
          <p:cNvSpPr>
            <a:spLocks noGrp="1"/>
          </p:cNvSpPr>
          <p:nvPr/>
        </p:nvSpPr>
        <p:spPr>
          <a:xfrm>
            <a:off x="603885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Folgen</a:t>
            </a:r>
          </a:p>
        </p:txBody>
      </p:sp>
      <p:sp>
        <p:nvSpPr>
          <p:cNvPr id="1005" name="state-3">
            <a:extLst>
              <a:ext uri="{FF2B5EF4-FFF2-40B4-BE49-F238E27FC236}">
                <a16:creationId xmlns:a16="http://schemas.microsoft.com/office/drawing/2014/main" id="{059929A9-F475-4E69-8326-43D33F598FB8}"/>
              </a:ext>
            </a:extLst>
          </p:cNvPr>
          <p:cNvSpPr>
            <a:spLocks noGrp="1"/>
          </p:cNvSpPr>
          <p:nvPr/>
        </p:nvSpPr>
        <p:spPr>
          <a:xfrm>
            <a:off x="8724900" y="1476375"/>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Absenken</a:t>
            </a:r>
          </a:p>
        </p:txBody>
      </p:sp>
      <p:sp>
        <p:nvSpPr>
          <p:cNvPr id="1006" name="state-4">
            <a:extLst>
              <a:ext uri="{FF2B5EF4-FFF2-40B4-BE49-F238E27FC236}">
                <a16:creationId xmlns:a16="http://schemas.microsoft.com/office/drawing/2014/main" id="{0945D011-88DC-4CFE-BCE1-894F5CA6E6F7}"/>
              </a:ext>
            </a:extLst>
          </p:cNvPr>
          <p:cNvSpPr>
            <a:spLocks noGrp="1"/>
          </p:cNvSpPr>
          <p:nvPr/>
        </p:nvSpPr>
        <p:spPr>
          <a:xfrm>
            <a:off x="8724900" y="2895600"/>
            <a:ext cx="2286000" cy="68580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Greifen</a:t>
            </a:r>
          </a:p>
        </p:txBody>
      </p:sp>
      <p:sp>
        <p:nvSpPr>
          <p:cNvPr id="1007" name="state-5">
            <a:extLst>
              <a:ext uri="{FF2B5EF4-FFF2-40B4-BE49-F238E27FC236}">
                <a16:creationId xmlns:a16="http://schemas.microsoft.com/office/drawing/2014/main" id="{B1615AFB-DDD4-4EEC-B5B9-20591897DC35}"/>
              </a:ext>
            </a:extLst>
          </p:cNvPr>
          <p:cNvSpPr>
            <a:spLocks noGrp="1"/>
          </p:cNvSpPr>
          <p:nvPr/>
        </p:nvSpPr>
        <p:spPr>
          <a:xfrm>
            <a:off x="60388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Heben</a:t>
            </a:r>
          </a:p>
        </p:txBody>
      </p:sp>
      <p:sp>
        <p:nvSpPr>
          <p:cNvPr id="1008" name="state-6">
            <a:extLst>
              <a:ext uri="{FF2B5EF4-FFF2-40B4-BE49-F238E27FC236}">
                <a16:creationId xmlns:a16="http://schemas.microsoft.com/office/drawing/2014/main" id="{EF20A349-18F5-4D37-80EA-C1836C245C92}"/>
              </a:ext>
            </a:extLst>
          </p:cNvPr>
          <p:cNvSpPr>
            <a:spLocks noGrp="1"/>
          </p:cNvSpPr>
          <p:nvPr/>
        </p:nvSpPr>
        <p:spPr>
          <a:xfrm>
            <a:off x="335280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Ablegen</a:t>
            </a:r>
          </a:p>
        </p:txBody>
      </p:sp>
      <p:sp>
        <p:nvSpPr>
          <p:cNvPr id="1009" name="state-7">
            <a:extLst>
              <a:ext uri="{FF2B5EF4-FFF2-40B4-BE49-F238E27FC236}">
                <a16:creationId xmlns:a16="http://schemas.microsoft.com/office/drawing/2014/main" id="{D2D65AC4-6B48-4E81-8967-AB9AAA510A4D}"/>
              </a:ext>
            </a:extLst>
          </p:cNvPr>
          <p:cNvSpPr>
            <a:spLocks noGrp="1"/>
          </p:cNvSpPr>
          <p:nvPr/>
        </p:nvSpPr>
        <p:spPr>
          <a:xfrm>
            <a:off x="666750" y="2895600"/>
            <a:ext cx="2286000" cy="685800"/>
          </a:xfrm>
          <a:prstGeom prst="rect">
            <a:avLst/>
          </a:prstGeom>
          <a:solidFill>
            <a:srgbClr val="FFFFF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200">
                <a:solidFill>
                  <a:srgbClr val="17232E"/>
                </a:solidFill>
                <a:latin typeface="Calibri"/>
                <a:ea typeface="Calibri"/>
                <a:cs typeface="Calibri"/>
              </a:defRPr>
            </a:pPr>
            <a:r>
              <a:rPr sz="2200">
                <a:solidFill>
                  <a:srgbClr val="17232E"/>
                </a:solidFill>
                <a:latin typeface="Calibri"/>
                <a:ea typeface="Calibri"/>
                <a:cs typeface="Calibri"/>
              </a:rPr>
              <a:t>Lösen</a:t>
            </a:r>
          </a:p>
        </p:txBody>
      </p:sp>
      <p:sp>
        <p:nvSpPr>
          <p:cNvPr id="1017" name="with-belt">
            <a:extLst>
              <a:ext uri="{FF2B5EF4-FFF2-40B4-BE49-F238E27FC236}">
                <a16:creationId xmlns:a16="http://schemas.microsoft.com/office/drawing/2014/main" id="{7D71A3C3-A304-4873-AC8F-8A0A439CAD81}"/>
              </a:ext>
            </a:extLst>
          </p:cNvPr>
          <p:cNvSpPr>
            <a:spLocks noGrp="1"/>
          </p:cNvSpPr>
          <p:nvPr/>
        </p:nvSpPr>
        <p:spPr>
          <a:xfrm>
            <a:off x="666750" y="3819525"/>
            <a:ext cx="10382250"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sz="2100" b="0">
                <a:solidFill>
                  <a:srgbClr val="2869AF"/>
                </a:solidFill>
                <a:latin typeface="Calibri"/>
                <a:ea typeface="Calibri"/>
                <a:cs typeface="Calibri"/>
              </a:rPr>
              <a:t>Mitfahren beim Absenken und Schließen</a:t>
            </a:r>
          </a:p>
        </p:txBody>
      </p:sp>
      <p:sp>
        <p:nvSpPr>
          <p:cNvPr id="1018" name="lead-track">
            <a:extLst>
              <a:ext uri="{FF2B5EF4-FFF2-40B4-BE49-F238E27FC236}">
                <a16:creationId xmlns:a16="http://schemas.microsoft.com/office/drawing/2014/main" id="{32DEDF6B-20EA-4C0F-A026-C04CBCB8E2DB}"/>
              </a:ext>
            </a:extLst>
          </p:cNvPr>
          <p:cNvSpPr>
            <a:spLocks noGrp="1"/>
          </p:cNvSpPr>
          <p:nvPr/>
        </p:nvSpPr>
        <p:spPr>
          <a:xfrm>
            <a:off x="1333500" y="4914900"/>
            <a:ext cx="9001125" cy="953"/>
          </a:xfrm>
          <a:custGeom>
            <a:pathLst>
              <a:path w="9001125" h="953">
                <a:moveTo>
                  <a:pt x="0" y="0"/>
                </a:moveTo>
                <a:lnTo>
                  <a:pt x="9001125" y="0"/>
                </a:lnTo>
              </a:path>
            </a:pathLst>
          </a:custGeom>
          <a:noFill/>
          <a:ln w="19050">
            <a:solidFill>
              <a:srgbClr val="ADB8C3"/>
            </a:solidFill>
            <a:prstDash val="solid"/>
          </a:ln>
        </p:spPr>
      </p:sp>
      <p:sp>
        <p:nvSpPr>
          <p:cNvPr id="1019" name="block-position">
            <a:extLst>
              <a:ext uri="{FF2B5EF4-FFF2-40B4-BE49-F238E27FC236}">
                <a16:creationId xmlns:a16="http://schemas.microsoft.com/office/drawing/2014/main" id="{41F82690-E5F0-45D0-898B-2147F282FE7A}"/>
              </a:ext>
            </a:extLst>
          </p:cNvPr>
          <p:cNvSpPr>
            <a:spLocks noGrp="1"/>
          </p:cNvSpPr>
          <p:nvPr/>
        </p:nvSpPr>
        <p:spPr>
          <a:xfrm>
            <a:off x="4695825" y="4724400"/>
            <a:ext cx="419100" cy="371475"/>
          </a:xfrm>
          <a:prstGeom prst="rect">
            <a:avLst/>
          </a:prstGeom>
          <a:solidFill>
            <a:srgbClr val="2869AF"/>
          </a:solidFill>
          <a:ln w="0">
            <a:noFill/>
          </a:ln>
        </p:spPr>
      </p:sp>
      <p:sp>
        <p:nvSpPr>
          <p:cNvPr id="1020" name="flange-position">
            <a:extLst>
              <a:ext uri="{FF2B5EF4-FFF2-40B4-BE49-F238E27FC236}">
                <a16:creationId xmlns:a16="http://schemas.microsoft.com/office/drawing/2014/main" id="{C75BB4D3-9E8F-4018-B224-9DDDE7019C88}"/>
              </a:ext>
            </a:extLst>
          </p:cNvPr>
          <p:cNvSpPr>
            <a:spLocks noGrp="1"/>
          </p:cNvSpPr>
          <p:nvPr/>
        </p:nvSpPr>
        <p:spPr>
          <a:xfrm>
            <a:off x="3838575" y="4743450"/>
            <a:ext cx="285750" cy="285750"/>
          </a:xfrm>
          <a:prstGeom prst="ellipse">
            <a:avLst/>
          </a:prstGeom>
          <a:solidFill>
            <a:srgbClr val="61707D"/>
          </a:solidFill>
          <a:ln w="0">
            <a:noFill/>
          </a:ln>
        </p:spPr>
      </p:sp>
      <p:sp>
        <p:nvSpPr>
          <p:cNvPr id="1021" name="lead-position">
            <a:extLst>
              <a:ext uri="{FF2B5EF4-FFF2-40B4-BE49-F238E27FC236}">
                <a16:creationId xmlns:a16="http://schemas.microsoft.com/office/drawing/2014/main" id="{75CFEE39-32C8-46B7-84D7-159BCC06C910}"/>
              </a:ext>
            </a:extLst>
          </p:cNvPr>
          <p:cNvSpPr>
            <a:spLocks noGrp="1"/>
          </p:cNvSpPr>
          <p:nvPr/>
        </p:nvSpPr>
        <p:spPr>
          <a:xfrm>
            <a:off x="6219825" y="4743450"/>
            <a:ext cx="285750" cy="285750"/>
          </a:xfrm>
          <a:prstGeom prst="ellipse">
            <a:avLst/>
          </a:prstGeom>
          <a:noFill/>
          <a:ln w="28575">
            <a:solidFill>
              <a:srgbClr val="C86C18"/>
            </a:solidFill>
          </a:ln>
        </p:spPr>
      </p:sp>
      <p:sp>
        <p:nvSpPr>
          <p:cNvPr id="1022" name="lead-direction">
            <a:extLst>
              <a:ext uri="{FF2B5EF4-FFF2-40B4-BE49-F238E27FC236}">
                <a16:creationId xmlns:a16="http://schemas.microsoft.com/office/drawing/2014/main" id="{3CB68947-67B0-44EF-AAB3-ED54F5D5D78A}"/>
              </a:ext>
            </a:extLst>
          </p:cNvPr>
          <p:cNvSpPr>
            <a:spLocks noGrp="1"/>
          </p:cNvSpPr>
          <p:nvPr/>
        </p:nvSpPr>
        <p:spPr>
          <a:xfrm>
            <a:off x="5124450" y="4819650"/>
            <a:ext cx="933450" cy="161925"/>
          </a:xfrm>
          <a:prstGeom prst="rightArrow">
            <a:avLst/>
          </a:prstGeom>
          <a:solidFill>
            <a:srgbClr val="C86C18"/>
          </a:solidFill>
          <a:ln w="0">
            <a:noFill/>
          </a:ln>
        </p:spPr>
      </p:sp>
      <p:sp>
        <p:nvSpPr>
          <p:cNvPr id="1023" name="flange-tag">
            <a:extLst>
              <a:ext uri="{FF2B5EF4-FFF2-40B4-BE49-F238E27FC236}">
                <a16:creationId xmlns:a16="http://schemas.microsoft.com/office/drawing/2014/main" id="{4D12AFF2-60C8-4768-80CB-0957FC5924D1}"/>
              </a:ext>
            </a:extLst>
          </p:cNvPr>
          <p:cNvSpPr>
            <a:spLocks noGrp="1"/>
          </p:cNvSpPr>
          <p:nvPr/>
        </p:nvSpPr>
        <p:spPr>
          <a:xfrm>
            <a:off x="3095625" y="5191125"/>
            <a:ext cx="1762125" cy="3048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Griffpunkt</a:t>
            </a:r>
          </a:p>
        </p:txBody>
      </p:sp>
      <p:sp>
        <p:nvSpPr>
          <p:cNvPr id="1024" name="block-tag">
            <a:extLst>
              <a:ext uri="{FF2B5EF4-FFF2-40B4-BE49-F238E27FC236}">
                <a16:creationId xmlns:a16="http://schemas.microsoft.com/office/drawing/2014/main" id="{B72BE5AC-D8FF-4EB8-9680-A5D6AED99802}"/>
              </a:ext>
            </a:extLst>
          </p:cNvPr>
          <p:cNvSpPr>
            <a:spLocks noGrp="1"/>
          </p:cNvSpPr>
          <p:nvPr/>
        </p:nvSpPr>
        <p:spPr>
          <a:xfrm>
            <a:off x="4657725" y="4362450"/>
            <a:ext cx="15716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2869AF"/>
                </a:solidFill>
                <a:latin typeface="Calibri"/>
                <a:ea typeface="Calibri"/>
                <a:cs typeface="Calibri"/>
              </a:defRPr>
            </a:pPr>
            <a:r>
              <a:rPr sz="1800" b="0">
                <a:solidFill>
                  <a:srgbClr val="2869AF"/>
                </a:solidFill>
                <a:latin typeface="Calibri"/>
                <a:ea typeface="Calibri"/>
                <a:cs typeface="Calibri"/>
              </a:rPr>
              <a:t>Klotz</a:t>
            </a:r>
          </a:p>
        </p:txBody>
      </p:sp>
      <p:sp>
        <p:nvSpPr>
          <p:cNvPr id="1025" name="lead-tag">
            <a:extLst>
              <a:ext uri="{FF2B5EF4-FFF2-40B4-BE49-F238E27FC236}">
                <a16:creationId xmlns:a16="http://schemas.microsoft.com/office/drawing/2014/main" id="{6824386F-547B-4787-8D43-3EE2B75F256C}"/>
              </a:ext>
            </a:extLst>
          </p:cNvPr>
          <p:cNvSpPr>
            <a:spLocks noGrp="1"/>
          </p:cNvSpPr>
          <p:nvPr/>
        </p:nvSpPr>
        <p:spPr>
          <a:xfrm>
            <a:off x="6134100" y="5191125"/>
            <a:ext cx="38100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Zielpose mit Vorhalt</a:t>
            </a:r>
          </a:p>
        </p:txBody>
      </p:sp>
      <p:sp>
        <p:nvSpPr>
          <p:cNvPr id="1026" name="lead-value">
            <a:extLst>
              <a:ext uri="{FF2B5EF4-FFF2-40B4-BE49-F238E27FC236}">
                <a16:creationId xmlns:a16="http://schemas.microsoft.com/office/drawing/2014/main" id="{32C785F6-33B5-4EEF-BB2E-6CDD0D5554DA}"/>
              </a:ext>
            </a:extLst>
          </p:cNvPr>
          <p:cNvSpPr>
            <a:spLocks noGrp="1"/>
          </p:cNvSpPr>
          <p:nvPr/>
        </p:nvSpPr>
        <p:spPr>
          <a:xfrm>
            <a:off x="6715125" y="4419600"/>
            <a:ext cx="1809750" cy="3238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0,24 s</a:t>
            </a:r>
          </a:p>
        </p:txBody>
      </p:sp>
      <p:sp>
        <p:nvSpPr>
          <p:cNvPr id="1027" name="caption-10">
            <a:extLst>
              <a:ext uri="{FF2B5EF4-FFF2-40B4-BE49-F238E27FC236}">
                <a16:creationId xmlns:a16="http://schemas.microsoft.com/office/drawing/2014/main" id="{C2AC70AC-8B2F-4CE7-ABB0-569AB7009CE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Vereinfachter Zustandsablauf und Vorhalt, schematisch</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slide-title">
            <a:extLst>
              <a:ext uri="{FF2B5EF4-FFF2-40B4-BE49-F238E27FC236}">
                <a16:creationId xmlns:a16="http://schemas.microsoft.com/office/drawing/2014/main" id="{7138D7A5-9018-4CFB-A7B9-545A26D0766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Inbetriebnahme und Rechenlast</a:t>
            </a:r>
          </a:p>
        </p:txBody>
      </p:sp>
      <p:sp>
        <p:nvSpPr>
          <p:cNvPr id="1002" name="chart-unit">
            <a:extLst>
              <a:ext uri="{FF2B5EF4-FFF2-40B4-BE49-F238E27FC236}">
                <a16:creationId xmlns:a16="http://schemas.microsoft.com/office/drawing/2014/main" id="{FF10B3A0-E506-4D20-AB2E-5CF39943550B}"/>
              </a:ext>
            </a:extLst>
          </p:cNvPr>
          <p:cNvSpPr>
            <a:spLocks noGrp="1"/>
          </p:cNvSpPr>
          <p:nvPr/>
        </p:nvSpPr>
        <p:spPr>
          <a:xfrm>
            <a:off x="333375" y="1247775"/>
            <a:ext cx="6191250" cy="3143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Mittleres Messalter (ms)</a:t>
            </a:r>
          </a:p>
        </p:txBody>
      </p:sp>
      <p:graphicFrame>
        <p:nvGraphicFramePr>
          <p:cNvPr id="1010" name="Chart"/>
          <p:cNvGraphicFramePr/>
          <p:nvPr/>
        </p:nvGraphicFramePr>
        <p:xfrm>
          <a:off x="333375" y="1666875"/>
          <a:ext cx="6191250" cy="2971800"/>
        </p:xfrm>
        <a:graphic>
          <a:graphicData uri="http://schemas.openxmlformats.org/drawingml/2006/chart">
            <c:chart xmlns:c="http://schemas.openxmlformats.org/drawingml/2006/chart" r:id="Rf5302b2020d7450d"/>
          </a:graphicData>
        </a:graphic>
      </p:graphicFrame>
      <p:pic>
        <p:nvPicPr>
          <p:cNvPr id="1011" name=""/>
          <p:cNvPicPr>
            <a:picLocks noChangeAspect="1"/>
          </p:cNvPicPr>
          <p:nvPr/>
        </p:nvPicPr>
        <p:blipFill>
          <a:blip r:embed="Rcfbd7a08eb474199"/>
          <a:srcRect l="69200" t="43100" r="300" b="44000"/>
          <a:stretch/>
        </p:blipFill>
        <p:spPr>
          <a:xfrm>
            <a:off x="7143750" y="1809750"/>
            <a:ext cx="4095750" cy="895350"/>
          </a:xfrm>
          <a:prstGeom prst="rect">
            <a:avLst/>
          </a:prstGeom>
        </p:spPr>
      </p:pic>
      <p:sp>
        <p:nvSpPr>
          <p:cNvPr id="1005" name="rate-crop-caption">
            <a:extLst>
              <a:ext uri="{FF2B5EF4-FFF2-40B4-BE49-F238E27FC236}">
                <a16:creationId xmlns:a16="http://schemas.microsoft.com/office/drawing/2014/main" id="{83E77CE3-6B66-4238-B71E-403D7D603958}"/>
              </a:ext>
            </a:extLst>
          </p:cNvPr>
          <p:cNvSpPr>
            <a:spLocks noGrp="1"/>
          </p:cNvSpPr>
          <p:nvPr/>
        </p:nvSpPr>
        <p:spPr>
          <a:xfrm>
            <a:off x="7143750" y="3038475"/>
            <a:ext cx="4095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700" b="0">
                <a:solidFill>
                  <a:srgbClr val="61707D"/>
                </a:solidFill>
                <a:latin typeface="Calibri"/>
                <a:ea typeface="Calibri"/>
                <a:cs typeface="Calibri"/>
              </a:defRPr>
            </a:pPr>
            <a:r>
              <a:rPr sz="1700" b="0">
                <a:solidFill>
                  <a:srgbClr val="61707D"/>
                </a:solidFill>
                <a:latin typeface="Calibri"/>
                <a:ea typeface="Calibri"/>
                <a:cs typeface="Calibri"/>
              </a:rPr>
              <a:t>Rate im AICA-Interface</a:t>
            </a:r>
          </a:p>
        </p:txBody>
      </p:sp>
      <p:sp>
        <p:nvSpPr>
          <p:cNvPr id="1006" name="load-measures">
            <a:extLst>
              <a:ext uri="{FF2B5EF4-FFF2-40B4-BE49-F238E27FC236}">
                <a16:creationId xmlns:a16="http://schemas.microsoft.com/office/drawing/2014/main" id="{89ED7EC0-DBEB-4977-BEE9-23E875C6EF61}"/>
              </a:ext>
            </a:extLst>
          </p:cNvPr>
          <p:cNvSpPr>
            <a:spLocks noGrp="1"/>
          </p:cNvSpPr>
          <p:nvPr/>
        </p:nvSpPr>
        <p:spPr>
          <a:xfrm>
            <a:off x="7143750" y="3790950"/>
            <a:ext cx="4095750" cy="14097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Diagnoseraten begrenzen</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Queue-Tiefe 1</a:t>
            </a:r>
          </a:p>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ROI reduzieren</a:t>
            </a:r>
          </a:p>
        </p:txBody>
      </p:sp>
      <p:sp>
        <p:nvSpPr>
          <p:cNvPr id="1007" name="caption-11">
            <a:extLst>
              <a:ext uri="{FF2B5EF4-FFF2-40B4-BE49-F238E27FC236}">
                <a16:creationId xmlns:a16="http://schemas.microsoft.com/office/drawing/2014/main" id="{11AAE44A-EFDC-41A1-AF88-11ECA465D126}"/>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Dokumentierte Entwicklungsstände; Maßnahmen gemeinsam angepasst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11</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ide-title">
            <a:extLst>
              <a:ext uri="{FF2B5EF4-FFF2-40B4-BE49-F238E27FC236}">
                <a16:creationId xmlns:a16="http://schemas.microsoft.com/office/drawing/2014/main" id="{3808468A-C58E-4065-A915-87F8165B186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Entwicklungsabnahme und Ergebnisse</a:t>
            </a:r>
          </a:p>
        </p:txBody>
      </p:sp>
      <p:pic>
        <p:nvPicPr>
          <p:cNvPr id="1013" name=""/>
          <p:cNvPicPr>
            <a:picLocks noChangeAspect="1"/>
          </p:cNvPicPr>
          <p:nvPr/>
        </p:nvPicPr>
        <p:blipFill>
          <a:blip r:embed="R02fd3e8f9dca43de"/>
          <a:stretch/>
        </p:blipFill>
        <p:spPr>
          <a:xfrm>
            <a:off x="333375" y="1331999"/>
            <a:ext cx="6286500" cy="3098627"/>
          </a:xfrm>
          <a:prstGeom prst="rect">
            <a:avLst/>
          </a:prstGeom>
        </p:spPr>
      </p:pic>
      <p:sp>
        <p:nvSpPr>
          <p:cNvPr id="1003" name="run-before-label">
            <a:extLst>
              <a:ext uri="{FF2B5EF4-FFF2-40B4-BE49-F238E27FC236}">
                <a16:creationId xmlns:a16="http://schemas.microsoft.com/office/drawing/2014/main" id="{72B74606-102F-4175-9DB8-51E3A125FFEC}"/>
              </a:ext>
            </a:extLst>
          </p:cNvPr>
          <p:cNvSpPr>
            <a:spLocks noGrp="1"/>
          </p:cNvSpPr>
          <p:nvPr/>
        </p:nvSpPr>
        <p:spPr>
          <a:xfrm>
            <a:off x="7096125" y="139065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a:solidFill>
                  <a:srgbClr val="61707D"/>
                </a:solidFill>
                <a:latin typeface="Calibri"/>
                <a:ea typeface="Calibri"/>
                <a:cs typeface="Calibri"/>
              </a:rPr>
              <a:t>Zeitgrenzen vorher</a:t>
            </a:r>
          </a:p>
        </p:txBody>
      </p:sp>
      <p:sp>
        <p:nvSpPr>
          <p:cNvPr id="1004" name="run-before-value">
            <a:extLst>
              <a:ext uri="{FF2B5EF4-FFF2-40B4-BE49-F238E27FC236}">
                <a16:creationId xmlns:a16="http://schemas.microsoft.com/office/drawing/2014/main" id="{8F3FA940-90C6-4A3D-AA01-7F3332E9014D}"/>
              </a:ext>
            </a:extLst>
          </p:cNvPr>
          <p:cNvSpPr>
            <a:spLocks noGrp="1"/>
          </p:cNvSpPr>
          <p:nvPr/>
        </p:nvSpPr>
        <p:spPr>
          <a:xfrm>
            <a:off x="7096125" y="1752600"/>
            <a:ext cx="4095750"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a:solidFill>
                  <a:srgbClr val="2869AF"/>
                </a:solidFill>
                <a:latin typeface="Calibri"/>
                <a:ea typeface="Calibri"/>
                <a:cs typeface="Calibri"/>
              </a:rPr>
              <a:t>3 von 7 Ablagen</a:t>
            </a:r>
          </a:p>
        </p:txBody>
      </p:sp>
      <p:sp>
        <p:nvSpPr>
          <p:cNvPr id="1005" name="run-after-label">
            <a:extLst>
              <a:ext uri="{FF2B5EF4-FFF2-40B4-BE49-F238E27FC236}">
                <a16:creationId xmlns:a16="http://schemas.microsoft.com/office/drawing/2014/main" id="{BC86444D-A9B6-418E-BEEA-DD6D9DC6EE01}"/>
              </a:ext>
            </a:extLst>
          </p:cNvPr>
          <p:cNvSpPr>
            <a:spLocks noGrp="1"/>
          </p:cNvSpPr>
          <p:nvPr/>
        </p:nvSpPr>
        <p:spPr>
          <a:xfrm>
            <a:off x="7096125" y="249555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a:solidFill>
                  <a:srgbClr val="61707D"/>
                </a:solidFill>
                <a:latin typeface="Calibri"/>
                <a:ea typeface="Calibri"/>
                <a:cs typeface="Calibri"/>
              </a:rPr>
              <a:t>Zeitgrenzen angepasst</a:t>
            </a:r>
          </a:p>
        </p:txBody>
      </p:sp>
      <p:sp>
        <p:nvSpPr>
          <p:cNvPr id="1006" name="run-after-value">
            <a:extLst>
              <a:ext uri="{FF2B5EF4-FFF2-40B4-BE49-F238E27FC236}">
                <a16:creationId xmlns:a16="http://schemas.microsoft.com/office/drawing/2014/main" id="{73FDCB29-0031-4C87-9CF6-2D0BBE815EF9}"/>
              </a:ext>
            </a:extLst>
          </p:cNvPr>
          <p:cNvSpPr>
            <a:spLocks noGrp="1"/>
          </p:cNvSpPr>
          <p:nvPr/>
        </p:nvSpPr>
        <p:spPr>
          <a:xfrm>
            <a:off x="7096125" y="2857500"/>
            <a:ext cx="4095750"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a:solidFill>
                  <a:srgbClr val="2869AF"/>
                </a:solidFill>
                <a:latin typeface="Calibri"/>
                <a:ea typeface="Calibri"/>
                <a:cs typeface="Calibri"/>
              </a:rPr>
              <a:t>9 von 9 Ablagen</a:t>
            </a:r>
          </a:p>
        </p:txBody>
      </p:sp>
      <p:sp>
        <p:nvSpPr>
          <p:cNvPr id="1007" name="run-endurance-label">
            <a:extLst>
              <a:ext uri="{FF2B5EF4-FFF2-40B4-BE49-F238E27FC236}">
                <a16:creationId xmlns:a16="http://schemas.microsoft.com/office/drawing/2014/main" id="{196F3EA7-FA3B-4A61-B5F5-401C8CF494EE}"/>
              </a:ext>
            </a:extLst>
          </p:cNvPr>
          <p:cNvSpPr>
            <a:spLocks noGrp="1"/>
          </p:cNvSpPr>
          <p:nvPr/>
        </p:nvSpPr>
        <p:spPr>
          <a:xfrm>
            <a:off x="7096125" y="367665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a:solidFill>
                  <a:srgbClr val="61707D"/>
                </a:solidFill>
                <a:latin typeface="Calibri"/>
                <a:ea typeface="Calibri"/>
                <a:cs typeface="Calibri"/>
              </a:rPr>
              <a:t>Separater Dauerlauf</a:t>
            </a:r>
          </a:p>
        </p:txBody>
      </p:sp>
      <p:sp>
        <p:nvSpPr>
          <p:cNvPr id="1008" name="run-endurance-value">
            <a:extLst>
              <a:ext uri="{FF2B5EF4-FFF2-40B4-BE49-F238E27FC236}">
                <a16:creationId xmlns:a16="http://schemas.microsoft.com/office/drawing/2014/main" id="{518E772B-2299-45A5-9731-0FBB03B056D5}"/>
              </a:ext>
            </a:extLst>
          </p:cNvPr>
          <p:cNvSpPr>
            <a:spLocks noGrp="1"/>
          </p:cNvSpPr>
          <p:nvPr/>
        </p:nvSpPr>
        <p:spPr>
          <a:xfrm>
            <a:off x="7096125" y="4048125"/>
            <a:ext cx="4095750"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700" b="1">
                <a:solidFill>
                  <a:srgbClr val="2869AF"/>
                </a:solidFill>
                <a:latin typeface="Calibri"/>
                <a:ea typeface="Calibri"/>
                <a:cs typeface="Calibri"/>
              </a:defRPr>
            </a:pPr>
            <a:r>
              <a:rPr sz="2700" b="1">
                <a:solidFill>
                  <a:srgbClr val="2869AF"/>
                </a:solidFill>
                <a:latin typeface="Calibri"/>
                <a:ea typeface="Calibri"/>
                <a:cs typeface="Calibri"/>
              </a:rPr>
              <a:t>15 Ablagen / ca. 2 min</a:t>
            </a:r>
          </a:p>
        </p:txBody>
      </p:sp>
      <p:sp>
        <p:nvSpPr>
          <p:cNvPr id="1009" name="run-other">
            <a:extLst>
              <a:ext uri="{FF2B5EF4-FFF2-40B4-BE49-F238E27FC236}">
                <a16:creationId xmlns:a16="http://schemas.microsoft.com/office/drawing/2014/main" id="{38E55A21-ED92-408E-844E-61389314752C}"/>
              </a:ext>
            </a:extLst>
          </p:cNvPr>
          <p:cNvSpPr>
            <a:spLocks noGrp="1"/>
          </p:cNvSpPr>
          <p:nvPr/>
        </p:nvSpPr>
        <p:spPr>
          <a:xfrm>
            <a:off x="7096125" y="4591050"/>
            <a:ext cx="4095750" cy="742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1 Fehlgriff</a:t>
            </a:r>
          </a:p>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9 durchgelaufene Klötze</a:t>
            </a:r>
          </a:p>
        </p:txBody>
      </p:sp>
      <p:sp>
        <p:nvSpPr>
          <p:cNvPr id="1010" name="higher-stage">
            <a:extLst>
              <a:ext uri="{FF2B5EF4-FFF2-40B4-BE49-F238E27FC236}">
                <a16:creationId xmlns:a16="http://schemas.microsoft.com/office/drawing/2014/main" id="{D234FBCF-B69D-4AE1-A8B0-02A57F89C92B}"/>
              </a:ext>
            </a:extLst>
          </p:cNvPr>
          <p:cNvSpPr>
            <a:spLocks noGrp="1"/>
          </p:cNvSpPr>
          <p:nvPr/>
        </p:nvSpPr>
        <p:spPr>
          <a:xfrm>
            <a:off x="333375" y="4905375"/>
            <a:ext cx="6334125" cy="7810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sz="2100" b="0">
                <a:solidFill>
                  <a:srgbClr val="2869AF"/>
                </a:solidFill>
                <a:latin typeface="Calibri"/>
                <a:ea typeface="Calibri"/>
                <a:cs typeface="Calibri"/>
              </a:rPr>
              <a:t>Höhere Bandstufen bis 3</a:t>
            </a:r>
          </a:p>
          <a:p>
            <a:pPr algn="l">
              <a:lnSpc>
                <a:spcPct val="105000"/>
              </a:lnSpc>
              <a:spcBef>
                <a:spcPts val="0"/>
              </a:spcBef>
              <a:spcAft>
                <a:spcPts val="0"/>
              </a:spcAft>
              <a:buNone/>
              <a:defRPr sz="2100" b="0">
                <a:solidFill>
                  <a:srgbClr val="2869AF"/>
                </a:solidFill>
                <a:latin typeface="Calibri"/>
                <a:ea typeface="Calibri"/>
                <a:cs typeface="Calibri"/>
              </a:defRPr>
            </a:pPr>
            <a:r>
              <a:rPr sz="2100" b="0">
                <a:solidFill>
                  <a:srgbClr val="2869AF"/>
                </a:solidFill>
                <a:latin typeface="Calibri"/>
                <a:ea typeface="Calibri"/>
                <a:cs typeface="Calibri"/>
              </a:rPr>
              <a:t>Qualitativ erfolgreich</a:t>
            </a:r>
          </a:p>
        </p:txBody>
      </p:sp>
      <p:sp>
        <p:nvSpPr>
          <p:cNvPr id="1011" name="caption-12">
            <a:extLst>
              <a:ext uri="{FF2B5EF4-FFF2-40B4-BE49-F238E27FC236}">
                <a16:creationId xmlns:a16="http://schemas.microsoft.com/office/drawing/2014/main" id="{63671181-1977-4B60-A38B-05721186480C}"/>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Entwicklungsläufe mit unterschiedlichen Konfigurationen</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2" name=""/>
          <p:cNvCxnSpPr>
            <a:stCxn id="1018" idx="2"/>
            <a:endCxn id="1019" idx="0"/>
          </p:cNvCxnSpPr>
          <p:nvPr/>
        </p:nvCxnSpPr>
        <p:spPr>
          <a:xfrm>
            <a:off x="10120313" y="4371975"/>
            <a:ext cx="0" cy="247650"/>
          </a:xfrm>
          <a:prstGeom prst="straightConnector1">
            <a:avLst/>
          </a:prstGeom>
          <a:ln w="19050">
            <a:solidFill>
              <a:srgbClr val="39734C"/>
            </a:solidFill>
            <a:prstDash val="solid"/>
            <a:tailEnd type="triangle" w="sm" len="sm"/>
          </a:ln>
        </p:spPr>
      </p:cxnSp>
      <p:cxnSp>
        <p:nvCxnSpPr>
          <p:cNvPr id="1023" name=""/>
          <p:cNvCxnSpPr>
            <a:stCxn id="1012" idx="2"/>
            <a:endCxn id="1014" idx="0"/>
          </p:cNvCxnSpPr>
          <p:nvPr/>
        </p:nvCxnSpPr>
        <p:spPr>
          <a:xfrm>
            <a:off x="5310188" y="4591050"/>
            <a:ext cx="0" cy="323850"/>
          </a:xfrm>
          <a:prstGeom prst="straightConnector1">
            <a:avLst/>
          </a:prstGeom>
          <a:ln w="19050">
            <a:solidFill>
              <a:srgbClr val="61707D"/>
            </a:solidFill>
            <a:prstDash val="dash"/>
            <a:tailEnd type="triangle" w="sm" len="sm"/>
          </a:ln>
        </p:spPr>
      </p:cxnSp>
      <p:cxnSp>
        <p:nvCxnSpPr>
          <p:cNvPr id="1024" name=""/>
          <p:cNvCxnSpPr>
            <a:stCxn id="1012" idx="3"/>
            <a:endCxn id="1013" idx="1"/>
          </p:cNvCxnSpPr>
          <p:nvPr/>
        </p:nvCxnSpPr>
        <p:spPr>
          <a:xfrm>
            <a:off x="6429375" y="4291013"/>
            <a:ext cx="371475" cy="0"/>
          </a:xfrm>
          <a:prstGeom prst="straightConnector1">
            <a:avLst/>
          </a:prstGeom>
          <a:ln w="19050">
            <a:solidFill>
              <a:srgbClr val="2869AF"/>
            </a:solidFill>
            <a:prstDash val="solid"/>
            <a:tailEnd type="triangle" w="sm" len="sm"/>
          </a:ln>
        </p:spPr>
      </p:cxnSp>
      <p:cxnSp>
        <p:nvCxnSpPr>
          <p:cNvPr id="1025" name=""/>
          <p:cNvCxnSpPr>
            <a:stCxn id="1008" idx="2"/>
            <a:endCxn id="1007" idx="3"/>
          </p:cNvCxnSpPr>
          <p:nvPr/>
        </p:nvCxnSpPr>
        <p:spPr>
          <a:xfrm flipH="1">
            <a:off x="1571625" y="4305300"/>
            <a:ext cx="885825" cy="357188"/>
          </a:xfrm>
          <a:prstGeom prst="bentConnector5">
            <a:avLst>
              <a:gd name="adj1" fmla="val 0"/>
              <a:gd name="adj2" fmla="val 64000"/>
              <a:gd name="adj3" fmla="val 74194"/>
            </a:avLst>
          </a:prstGeom>
          <a:ln w="19050">
            <a:solidFill>
              <a:srgbClr val="39734C"/>
            </a:solidFill>
            <a:prstDash val="solid"/>
            <a:tailEnd type="triangle" w="sm" len="sm"/>
          </a:ln>
        </p:spPr>
      </p:cxnSp>
      <p:cxnSp>
        <p:nvCxnSpPr>
          <p:cNvPr id="1026" name=""/>
          <p:cNvCxnSpPr>
            <a:stCxn id="1008" idx="2"/>
            <a:endCxn id="1006" idx="0"/>
          </p:cNvCxnSpPr>
          <p:nvPr/>
        </p:nvCxnSpPr>
        <p:spPr>
          <a:xfrm>
            <a:off x="2457450" y="4305300"/>
            <a:ext cx="471488" cy="733425"/>
          </a:xfrm>
          <a:prstGeom prst="bentConnector4">
            <a:avLst>
              <a:gd name="adj1" fmla="val 0"/>
              <a:gd name="adj2" fmla="val 50000"/>
            </a:avLst>
          </a:prstGeom>
          <a:ln w="19050">
            <a:solidFill>
              <a:srgbClr val="61707D"/>
            </a:solidFill>
            <a:prstDash val="dash"/>
            <a:tailEnd type="triangle" w="sm" len="sm"/>
          </a:ln>
        </p:spPr>
      </p:cxnSp>
      <p:sp>
        <p:nvSpPr>
          <p:cNvPr id="1027" name="slide-title">
            <a:extLst>
              <a:ext uri="{FF2B5EF4-FFF2-40B4-BE49-F238E27FC236}">
                <a16:creationId xmlns:a16="http://schemas.microsoft.com/office/drawing/2014/main" id="{65661C0A-D179-4751-A55F-5E8757C688D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Bewertung und Weiterentwicklung</a:t>
            </a:r>
          </a:p>
        </p:txBody>
      </p:sp>
      <p:sp>
        <p:nvSpPr>
          <p:cNvPr id="1002" name="assessment">
            <a:extLst>
              <a:ext uri="{FF2B5EF4-FFF2-40B4-BE49-F238E27FC236}">
                <a16:creationId xmlns:a16="http://schemas.microsoft.com/office/drawing/2014/main" id="{F1AF2FEA-38FE-4EEB-94DC-539D266AF392}"/>
              </a:ext>
            </a:extLst>
          </p:cNvPr>
          <p:cNvSpPr>
            <a:spLocks noGrp="1"/>
          </p:cNvSpPr>
          <p:nvPr/>
        </p:nvSpPr>
        <p:spPr>
          <a:xfrm>
            <a:off x="333375" y="1238250"/>
            <a:ext cx="6667500" cy="14192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Konzeptnachweis erbracht</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Ohne Encoder</a:t>
            </a:r>
          </a:p>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Automatische Zielauswahl</a:t>
            </a:r>
          </a:p>
        </p:txBody>
      </p:sp>
      <p:sp>
        <p:nvSpPr>
          <p:cNvPr id="1003" name="limits">
            <a:extLst>
              <a:ext uri="{FF2B5EF4-FFF2-40B4-BE49-F238E27FC236}">
                <a16:creationId xmlns:a16="http://schemas.microsoft.com/office/drawing/2014/main" id="{3B6BDD44-7238-4EE9-881C-C146658A3A98}"/>
              </a:ext>
            </a:extLst>
          </p:cNvPr>
          <p:cNvSpPr>
            <a:spLocks noGrp="1"/>
          </p:cNvSpPr>
          <p:nvPr/>
        </p:nvSpPr>
        <p:spPr>
          <a:xfrm>
            <a:off x="7858125" y="1323975"/>
            <a:ext cx="3381375" cy="13620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Grenzen</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Ablagezyklus</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Rechenlast und Tiefenfehler</a:t>
            </a:r>
          </a:p>
        </p:txBody>
      </p:sp>
      <p:sp>
        <p:nvSpPr>
          <p:cNvPr id="1004" name="future-label">
            <a:extLst>
              <a:ext uri="{FF2B5EF4-FFF2-40B4-BE49-F238E27FC236}">
                <a16:creationId xmlns:a16="http://schemas.microsoft.com/office/drawing/2014/main" id="{3F08EA23-6263-4D5F-90FD-65B015A0B2C0}"/>
              </a:ext>
            </a:extLst>
          </p:cNvPr>
          <p:cNvSpPr>
            <a:spLocks noGrp="1"/>
          </p:cNvSpPr>
          <p:nvPr/>
        </p:nvSpPr>
        <p:spPr>
          <a:xfrm>
            <a:off x="333375" y="3105150"/>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Weiterentwicklung</a:t>
            </a:r>
          </a:p>
        </p:txBody>
      </p:sp>
      <p:sp>
        <p:nvSpPr>
          <p:cNvPr id="1005" name="short-band">
            <a:extLst>
              <a:ext uri="{FF2B5EF4-FFF2-40B4-BE49-F238E27FC236}">
                <a16:creationId xmlns:a16="http://schemas.microsoft.com/office/drawing/2014/main" id="{13D25098-E90E-48D2-958F-3EA27B34B7E8}"/>
              </a:ext>
            </a:extLst>
          </p:cNvPr>
          <p:cNvSpPr>
            <a:spLocks noGrp="1"/>
          </p:cNvSpPr>
          <p:nvPr/>
        </p:nvSpPr>
        <p:spPr>
          <a:xfrm>
            <a:off x="523875" y="3914775"/>
            <a:ext cx="2571750" cy="371475"/>
          </a:xfrm>
          <a:prstGeom prst="rect">
            <a:avLst/>
          </a:prstGeom>
          <a:solidFill>
            <a:srgbClr val="EAF0F5"/>
          </a:solidFill>
          <a:ln w="9525">
            <a:solidFill>
              <a:srgbClr val="ADB8C3"/>
            </a:solidFill>
          </a:ln>
        </p:spPr>
      </p:sp>
      <p:sp>
        <p:nvSpPr>
          <p:cNvPr id="1006" name="old-drop">
            <a:extLst>
              <a:ext uri="{FF2B5EF4-FFF2-40B4-BE49-F238E27FC236}">
                <a16:creationId xmlns:a16="http://schemas.microsoft.com/office/drawing/2014/main" id="{692A46A3-670E-40FE-BBF2-66988AEE29D6}"/>
              </a:ext>
            </a:extLst>
          </p:cNvPr>
          <p:cNvSpPr>
            <a:spLocks noGrp="1"/>
          </p:cNvSpPr>
          <p:nvPr/>
        </p:nvSpPr>
        <p:spPr>
          <a:xfrm>
            <a:off x="2428875" y="5038725"/>
            <a:ext cx="1000125" cy="50482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7" name="new-drop">
            <a:extLst>
              <a:ext uri="{FF2B5EF4-FFF2-40B4-BE49-F238E27FC236}">
                <a16:creationId xmlns:a16="http://schemas.microsoft.com/office/drawing/2014/main" id="{43494D0D-C06B-438D-9D2F-C76B16ECC719}"/>
              </a:ext>
            </a:extLst>
          </p:cNvPr>
          <p:cNvSpPr>
            <a:spLocks noGrp="1"/>
          </p:cNvSpPr>
          <p:nvPr/>
        </p:nvSpPr>
        <p:spPr>
          <a:xfrm>
            <a:off x="571500" y="4410075"/>
            <a:ext cx="1000125" cy="504825"/>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8" name="pick-point">
            <a:extLst>
              <a:ext uri="{FF2B5EF4-FFF2-40B4-BE49-F238E27FC236}">
                <a16:creationId xmlns:a16="http://schemas.microsoft.com/office/drawing/2014/main" id="{8CDC3FBE-AF08-4EC5-B3E0-D91A5AD4A44A}"/>
              </a:ext>
            </a:extLst>
          </p:cNvPr>
          <p:cNvSpPr>
            <a:spLocks noGrp="1"/>
          </p:cNvSpPr>
          <p:nvPr/>
        </p:nvSpPr>
        <p:spPr>
          <a:xfrm>
            <a:off x="2009775" y="3867150"/>
            <a:ext cx="895350" cy="4381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Griff</a:t>
            </a:r>
          </a:p>
        </p:txBody>
      </p:sp>
      <p:sp>
        <p:nvSpPr>
          <p:cNvPr id="1011" name="short-route-label">
            <a:extLst>
              <a:ext uri="{FF2B5EF4-FFF2-40B4-BE49-F238E27FC236}">
                <a16:creationId xmlns:a16="http://schemas.microsoft.com/office/drawing/2014/main" id="{3B137807-C5CD-45D2-B440-B5DE25FC2DC6}"/>
              </a:ext>
            </a:extLst>
          </p:cNvPr>
          <p:cNvSpPr>
            <a:spLocks noGrp="1"/>
          </p:cNvSpPr>
          <p:nvPr/>
        </p:nvSpPr>
        <p:spPr>
          <a:xfrm>
            <a:off x="333375" y="5629275"/>
            <a:ext cx="3429000"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Kürzerer Ablageweg</a:t>
            </a:r>
          </a:p>
        </p:txBody>
      </p:sp>
      <p:sp>
        <p:nvSpPr>
          <p:cNvPr id="1012" name="future-vision">
            <a:extLst>
              <a:ext uri="{FF2B5EF4-FFF2-40B4-BE49-F238E27FC236}">
                <a16:creationId xmlns:a16="http://schemas.microsoft.com/office/drawing/2014/main" id="{E92DE672-08C9-4B3A-BBCC-90C18C5AC740}"/>
              </a:ext>
            </a:extLst>
          </p:cNvPr>
          <p:cNvSpPr>
            <a:spLocks noGrp="1"/>
          </p:cNvSpPr>
          <p:nvPr/>
        </p:nvSpPr>
        <p:spPr>
          <a:xfrm>
            <a:off x="4191000" y="3990975"/>
            <a:ext cx="223837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Bildverarbeitung</a:t>
            </a:r>
          </a:p>
        </p:txBody>
      </p:sp>
      <p:sp>
        <p:nvSpPr>
          <p:cNvPr id="1013" name="future-control">
            <a:extLst>
              <a:ext uri="{FF2B5EF4-FFF2-40B4-BE49-F238E27FC236}">
                <a16:creationId xmlns:a16="http://schemas.microsoft.com/office/drawing/2014/main" id="{BF513544-6D5C-4797-BF86-B80E6E50BBEE}"/>
              </a:ext>
            </a:extLst>
          </p:cNvPr>
          <p:cNvSpPr>
            <a:spLocks noGrp="1"/>
          </p:cNvSpPr>
          <p:nvPr/>
        </p:nvSpPr>
        <p:spPr>
          <a:xfrm>
            <a:off x="6800850" y="3990975"/>
            <a:ext cx="176212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Regelpfad</a:t>
            </a:r>
          </a:p>
        </p:txBody>
      </p:sp>
      <p:sp>
        <p:nvSpPr>
          <p:cNvPr id="1014" name="future-diag">
            <a:extLst>
              <a:ext uri="{FF2B5EF4-FFF2-40B4-BE49-F238E27FC236}">
                <a16:creationId xmlns:a16="http://schemas.microsoft.com/office/drawing/2014/main" id="{4822C32E-ECEE-4BC8-8806-9D08A44F00DF}"/>
              </a:ext>
            </a:extLst>
          </p:cNvPr>
          <p:cNvSpPr>
            <a:spLocks noGrp="1"/>
          </p:cNvSpPr>
          <p:nvPr/>
        </p:nvSpPr>
        <p:spPr>
          <a:xfrm>
            <a:off x="4191000" y="4914900"/>
            <a:ext cx="2238375" cy="60007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Diagnose</a:t>
            </a:r>
          </a:p>
        </p:txBody>
      </p:sp>
      <p:sp>
        <p:nvSpPr>
          <p:cNvPr id="1017" name="separate-label">
            <a:extLst>
              <a:ext uri="{FF2B5EF4-FFF2-40B4-BE49-F238E27FC236}">
                <a16:creationId xmlns:a16="http://schemas.microsoft.com/office/drawing/2014/main" id="{A4B24960-CA94-4B51-804C-6B67167B26B4}"/>
              </a:ext>
            </a:extLst>
          </p:cNvPr>
          <p:cNvSpPr>
            <a:spLocks noGrp="1"/>
          </p:cNvSpPr>
          <p:nvPr/>
        </p:nvSpPr>
        <p:spPr>
          <a:xfrm>
            <a:off x="4191000" y="5629275"/>
            <a:ext cx="338137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Verarbeitung trennen</a:t>
            </a:r>
          </a:p>
        </p:txBody>
      </p:sp>
      <p:sp>
        <p:nvSpPr>
          <p:cNvPr id="1018" name="future-depth">
            <a:extLst>
              <a:ext uri="{FF2B5EF4-FFF2-40B4-BE49-F238E27FC236}">
                <a16:creationId xmlns:a16="http://schemas.microsoft.com/office/drawing/2014/main" id="{A81100D4-0F5B-49FE-B544-8BEBEA4ABDA9}"/>
              </a:ext>
            </a:extLst>
          </p:cNvPr>
          <p:cNvSpPr>
            <a:spLocks noGrp="1"/>
          </p:cNvSpPr>
          <p:nvPr/>
        </p:nvSpPr>
        <p:spPr>
          <a:xfrm>
            <a:off x="9096375" y="3857625"/>
            <a:ext cx="2047875" cy="5143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Tiefe</a:t>
            </a:r>
          </a:p>
        </p:txBody>
      </p:sp>
      <p:sp>
        <p:nvSpPr>
          <p:cNvPr id="1019" name="future-correction">
            <a:extLst>
              <a:ext uri="{FF2B5EF4-FFF2-40B4-BE49-F238E27FC236}">
                <a16:creationId xmlns:a16="http://schemas.microsoft.com/office/drawing/2014/main" id="{A9AAD365-C9F8-4BE7-84D7-C2A51F2DFDBC}"/>
              </a:ext>
            </a:extLst>
          </p:cNvPr>
          <p:cNvSpPr>
            <a:spLocks noGrp="1"/>
          </p:cNvSpPr>
          <p:nvPr/>
        </p:nvSpPr>
        <p:spPr>
          <a:xfrm>
            <a:off x="9096375" y="4619625"/>
            <a:ext cx="2047875" cy="514350"/>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Korrektur</a:t>
            </a:r>
          </a:p>
        </p:txBody>
      </p:sp>
      <p:sp>
        <p:nvSpPr>
          <p:cNvPr id="1021" name="depth-label">
            <a:extLst>
              <a:ext uri="{FF2B5EF4-FFF2-40B4-BE49-F238E27FC236}">
                <a16:creationId xmlns:a16="http://schemas.microsoft.com/office/drawing/2014/main" id="{A4D9B3D6-64A3-4912-8FFC-2CBFA58A09C6}"/>
              </a:ext>
            </a:extLst>
          </p:cNvPr>
          <p:cNvSpPr>
            <a:spLocks noGrp="1"/>
          </p:cNvSpPr>
          <p:nvPr/>
        </p:nvSpPr>
        <p:spPr>
          <a:xfrm>
            <a:off x="8982075" y="5629275"/>
            <a:ext cx="225742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Tiefenkorrektur</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64846b3-9217-45ec-81f6-714c079378fa" xsi:nil="true"/>
    <lcf76f155ced4ddcb4097134ff3c332f xmlns="25b8950e-cd1e-42e2-96ad-ea619c49443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9829DF8264B34C91F4BFE28CF5CC7F" ma:contentTypeVersion="11" ma:contentTypeDescription="Create a new document." ma:contentTypeScope="" ma:versionID="b5518809b05e66788b6c7836efafd6fc">
  <xsd:schema xmlns:xsd="http://www.w3.org/2001/XMLSchema" xmlns:xs="http://www.w3.org/2001/XMLSchema" xmlns:p="http://schemas.microsoft.com/office/2006/metadata/properties" xmlns:ns2="25b8950e-cd1e-42e2-96ad-ea619c49443c" xmlns:ns3="064846b3-9217-45ec-81f6-714c079378fa" targetNamespace="http://schemas.microsoft.com/office/2006/metadata/properties" ma:root="true" ma:fieldsID="fbbfc729e1cbc39b6fdb1d4a29ddcf61" ns2:_="" ns3:_="">
    <xsd:import namespace="25b8950e-cd1e-42e2-96ad-ea619c49443c"/>
    <xsd:import namespace="064846b3-9217-45ec-81f6-714c079378f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8950e-cd1e-42e2-96ad-ea619c4944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b068c93-f372-479e-8bd6-9f626c61856f"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4846b3-9217-45ec-81f6-714c079378f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08db3c6-3f66-47e6-9a49-8673de583359}" ma:internalName="TaxCatchAll" ma:showField="CatchAllData" ma:web="064846b3-9217-45ec-81f6-714c079378f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F6DA32-F57A-4293-965C-2B5C87CC5FDB}">
  <ds:schemaRefs>
    <ds:schemaRef ds:uri="http://purl.org/dc/elements/1.1/"/>
    <ds:schemaRef ds:uri="http://www.w3.org/XML/1998/namespace"/>
    <ds:schemaRef ds:uri="http://purl.org/dc/terms/"/>
    <ds:schemaRef ds:uri="25b8950e-cd1e-42e2-96ad-ea619c49443c"/>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064846b3-9217-45ec-81f6-714c079378fa"/>
    <ds:schemaRef ds:uri="http://schemas.microsoft.com/office/2006/metadata/properties"/>
  </ds:schemaRefs>
</ds:datastoreItem>
</file>

<file path=customXml/itemProps2.xml><?xml version="1.0" encoding="utf-8"?>
<ds:datastoreItem xmlns:ds="http://schemas.openxmlformats.org/officeDocument/2006/customXml" ds:itemID="{9540DCB6-614D-45BF-AB5B-1B47C188E007}">
  <ds:schemaRefs>
    <ds:schemaRef ds:uri="http://schemas.microsoft.com/sharepoint/v3/contenttype/forms"/>
  </ds:schemaRefs>
</ds:datastoreItem>
</file>

<file path=customXml/itemProps3.xml><?xml version="1.0" encoding="utf-8"?>
<ds:datastoreItem xmlns:ds="http://schemas.openxmlformats.org/officeDocument/2006/customXml" ds:itemID="{CDE1329F-4750-4852-A421-680115B483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8950e-cd1e-42e2-96ad-ea619c49443c"/>
    <ds:schemaRef ds:uri="064846b3-9217-45ec-81f6-714c079378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Powerpoint-HKA_MMT_16-9_styles</Template>
  <TotalTime>0</TotalTime>
  <Words>70</Words>
  <Application>Microsoft Office PowerPoint</Application>
  <PresentationFormat>Breitbild</PresentationFormat>
  <Paragraphs>17</Paragraphs>
  <Slides>3</Slides>
  <Notes>2</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3</vt:i4>
      </vt:variant>
    </vt:vector>
  </HeadingPairs>
  <TitlesOfParts>
    <vt:vector size="9" baseType="lpstr">
      <vt:lpstr>Calibri Bold</vt:lpstr>
      <vt:lpstr>Arial</vt:lpstr>
      <vt:lpstr>Calibri</vt:lpstr>
      <vt:lpstr>MMT_Präsentation // Cover</vt:lpstr>
      <vt:lpstr>MMT_Präsentation // Inhalt</vt:lpstr>
      <vt:lpstr>MMT_Präsentation // ENDE</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Tobias Unger</cp:lastModifiedBy>
  <cp:revision>3</cp:revision>
  <cp:lastPrinted>2020-09-16T09:23:03Z</cp:lastPrinted>
  <dcterms:created xsi:type="dcterms:W3CDTF">2024-06-23T17:11:02Z</dcterms:created>
  <dcterms:modified xsi:type="dcterms:W3CDTF">2026-10-02T10:12:03Z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