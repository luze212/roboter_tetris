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6040100" cy="227076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664" y="-1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custSel modSld">
      <pc:chgData name="Tobias Unger" userId="0a5458e38b5f4a0f" providerId="LiveId" clId="{5C6CAE59-BAC7-4E9C-B1A6-AA8C1CFC41BD}" dt="2026-10-01T18:06:09.389" v="0" actId="20577"/>
      <pc:docMkLst>
        <pc:docMk/>
      </pc:docMkLst>
      <pc:sldChg chg="modSp mod">
        <pc:chgData name="Tobias Unger" userId="0a5458e38b5f4a0f" providerId="LiveId" clId="{5C6CAE59-BAC7-4E9C-B1A6-AA8C1CFC41BD}" dt="2026-10-01T18:06:09.389" v="0" actId="20577"/>
        <pc:sldMkLst>
          <pc:docMk/>
          <pc:sldMk cId="2039414874" sldId="256"/>
        </pc:sldMkLst>
        <pc:spChg chg="mod">
          <ac:chgData name="Tobias Unger" userId="0a5458e38b5f4a0f" providerId="LiveId" clId="{5C6CAE59-BAC7-4E9C-B1A6-AA8C1CFC41BD}" dt="2026-10-01T18:06:09.389" v="0" actId="20577"/>
          <ac:spMkLst>
            <pc:docMk/>
            <pc:sldMk cId="2039414874" sldId="256"/>
            <ac:spMk id="13" creationId="{A41F31A2-FD78-40A9-B255-3A112AC78C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Inhaltliche Grundlage: Projektbericht/entwuerfe/berichtstext.md, Stand 01.10.2026. Abb. 1: Projektbericht/abbildungen/systemaufbau_draufsicht.png. Abb. 2: Projektbericht/abbildungen/fig-basecam-erkennung-roi.png. Alle Inhalte und Abbildungen stammen aus der Projektgruppe Robotertetris.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38C4A58-7756-4B2B-A177-659870B4C5A6}"/>
              </a:ext>
            </a:extLst>
          </p:cNvPr>
          <p:cNvSpPr>
            <a:spLocks noGrp="1"/>
          </p:cNvSpPr>
          <p:nvPr>
            <p:ph type="title"/>
          </p:nvPr>
        </p:nvSpPr>
        <p:spPr>
          <a:xfrm>
            <a:off x="1604010" y="8578427"/>
            <a:ext cx="12832080" cy="3279987"/>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12F35D4-2229-403E-BE61-9641D2300162}"/>
              </a:ext>
            </a:extLst>
          </p:cNvPr>
          <p:cNvSpPr>
            <a:spLocks noGrp="1"/>
          </p:cNvSpPr>
          <p:nvPr>
            <p:ph type="subTitle" idx="1"/>
          </p:nvPr>
        </p:nvSpPr>
        <p:spPr>
          <a:xfrm>
            <a:off x="2406015" y="12489180"/>
            <a:ext cx="11228070" cy="2523067"/>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E869B35-6408-4A33-A8E6-873870EF6692}"/>
              </a:ext>
            </a:extLst>
          </p:cNvPr>
          <p:cNvSpPr>
            <a:spLocks noGrp="1"/>
          </p:cNvSpPr>
          <p:nvPr>
            <p:ph type="title"/>
          </p:nvPr>
        </p:nvSpPr>
        <p:spPr>
          <a:xfrm>
            <a:off x="1604010" y="9461500"/>
            <a:ext cx="12832080" cy="3784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2344901-D7D1-4FC8-8D83-F13E72C1B307}"/>
              </a:ext>
            </a:extLst>
          </p:cNvPr>
          <p:cNvSpPr>
            <a:spLocks noGrp="1"/>
          </p:cNvSpPr>
          <p:nvPr>
            <p:ph type="title"/>
          </p:nvPr>
        </p:nvSpPr>
        <p:spPr>
          <a:xfrm>
            <a:off x="902256" y="1766147"/>
            <a:ext cx="14235589" cy="277537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32FDD16-FEAD-4685-ACDB-3B335017EAD2}"/>
              </a:ext>
            </a:extLst>
          </p:cNvPr>
          <p:cNvSpPr>
            <a:spLocks noGrp="1"/>
          </p:cNvSpPr>
          <p:nvPr>
            <p:ph type="body" idx="1"/>
          </p:nvPr>
        </p:nvSpPr>
        <p:spPr>
          <a:xfrm>
            <a:off x="902256" y="6307667"/>
            <a:ext cx="14235589" cy="14129173"/>
          </a:xfrm>
          <a:prstGeom prst="rect">
            <a:avLst/>
          </a:prstGeom>
          <a:noFill/>
          <a:ln>
            <a:noFill/>
            <a:prstDash val="solid"/>
          </a:ln>
        </p:spPr>
        <p:txBody>
          <a:bodyPr wrap="square" lIns="0" tIns="0" rIns="0" bIns="0" anchor="t">
            <a:normAutofit/>
          </a:bodyPr>
          <a:lstStyle>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4C1EBB0F-4960-465F-9C8C-A8184551DADC}"/>
              </a:ext>
            </a:extLst>
          </p:cNvPr>
          <p:cNvSpPr>
            <a:spLocks noGrp="1"/>
          </p:cNvSpPr>
          <p:nvPr>
            <p:ph type="title"/>
          </p:nvPr>
        </p:nvSpPr>
        <p:spPr>
          <a:xfrm>
            <a:off x="902256" y="1766147"/>
            <a:ext cx="14235589" cy="277537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6E02A58-B42C-40AF-8EE2-62CADB932ADD}"/>
              </a:ext>
            </a:extLst>
          </p:cNvPr>
          <p:cNvSpPr>
            <a:spLocks noGrp="1"/>
          </p:cNvSpPr>
          <p:nvPr>
            <p:ph type="body" idx="1"/>
          </p:nvPr>
        </p:nvSpPr>
        <p:spPr>
          <a:xfrm>
            <a:off x="902256" y="6307667"/>
            <a:ext cx="6616541" cy="14129173"/>
          </a:xfrm>
          <a:prstGeom prst="rect">
            <a:avLst/>
          </a:prstGeom>
          <a:noFill/>
          <a:ln>
            <a:noFill/>
            <a:prstDash val="solid"/>
          </a:ln>
        </p:spPr>
        <p:txBody>
          <a:bodyPr wrap="square" lIns="0" tIns="0" rIns="0" bIns="0" anchor="t">
            <a:normAutofit/>
          </a:bodyPr>
          <a:lstStyle>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a:endParaRPr/>
          </a:p>
        </p:txBody>
      </p:sp>
      <p:sp>
        <p:nvSpPr>
          <p:cNvPr id="3" name="Right column">
            <a:extLst>
              <a:ext uri="{FF2B5EF4-FFF2-40B4-BE49-F238E27FC236}">
                <a16:creationId xmlns:a16="http://schemas.microsoft.com/office/drawing/2014/main" id="{6570E30A-1D15-477E-A275-8F2E383CD181}"/>
              </a:ext>
            </a:extLst>
          </p:cNvPr>
          <p:cNvSpPr>
            <a:spLocks noGrp="1"/>
          </p:cNvSpPr>
          <p:nvPr>
            <p:ph type="body" idx="2"/>
          </p:nvPr>
        </p:nvSpPr>
        <p:spPr>
          <a:xfrm>
            <a:off x="8521303" y="6307667"/>
            <a:ext cx="6616541" cy="14129173"/>
          </a:xfrm>
          <a:prstGeom prst="rect">
            <a:avLst/>
          </a:prstGeom>
          <a:noFill/>
          <a:ln>
            <a:noFill/>
            <a:prstDash val="solid"/>
          </a:ln>
        </p:spPr>
        <p:txBody>
          <a:bodyPr wrap="square" lIns="0" tIns="0" rIns="0" bIns="0" anchor="t">
            <a:normAutofit/>
          </a:bodyPr>
          <a:lstStyle>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76BE1CD-BD7A-45F1-9739-408718BE83A4}"/>
              </a:ext>
            </a:extLst>
          </p:cNvPr>
          <p:cNvSpPr>
            <a:spLocks noGrp="1"/>
          </p:cNvSpPr>
          <p:nvPr>
            <p:ph type="title"/>
          </p:nvPr>
        </p:nvSpPr>
        <p:spPr>
          <a:xfrm>
            <a:off x="902256" y="1766147"/>
            <a:ext cx="14235589" cy="277537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9908BCA-9CE3-4FA4-9771-3BD5B561D8FA}"/>
              </a:ext>
            </a:extLst>
          </p:cNvPr>
          <p:cNvSpPr>
            <a:spLocks noGrp="1"/>
          </p:cNvSpPr>
          <p:nvPr>
            <p:ph type="body" idx="1"/>
          </p:nvPr>
        </p:nvSpPr>
        <p:spPr>
          <a:xfrm>
            <a:off x="902256" y="6307667"/>
            <a:ext cx="6616541" cy="14129173"/>
          </a:xfrm>
          <a:prstGeom prst="rect">
            <a:avLst/>
          </a:prstGeom>
          <a:noFill/>
          <a:ln>
            <a:noFill/>
            <a:prstDash val="solid"/>
          </a:ln>
        </p:spPr>
        <p:txBody>
          <a:bodyPr wrap="square" lIns="0" tIns="0" rIns="0" bIns="0" anchor="t">
            <a:normAutofit/>
          </a:bodyPr>
          <a:lstStyle>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Institution">
            <a:extLst>
              <a:ext uri="{FF2B5EF4-FFF2-40B4-BE49-F238E27FC236}">
                <a16:creationId xmlns:a16="http://schemas.microsoft.com/office/drawing/2014/main" id="{5B615717-3A8E-44A5-BE7D-260E1CD1EE89}"/>
              </a:ext>
            </a:extLst>
          </p:cNvPr>
          <p:cNvSpPr>
            <a:spLocks noGrp="1"/>
          </p:cNvSpPr>
          <p:nvPr/>
        </p:nvSpPr>
        <p:spPr>
          <a:xfrm>
            <a:off x="666750" y="495300"/>
            <a:ext cx="2857500" cy="1123950"/>
          </a:xfrm>
          <a:prstGeom prst="rect">
            <a:avLst/>
          </a:prstGeom>
          <a:noFill/>
          <a:ln w="0">
            <a:noFill/>
            <a:prstDash val="solid"/>
          </a:ln>
        </p:spPr>
        <p:txBody>
          <a:bodyPr wrap="square" lIns="0" tIns="0" rIns="0" bIns="0" anchor="t">
            <a:normAutofit/>
          </a:bodyPr>
          <a:lstStyle/>
          <a:p>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Hochschule Karlsruhe</a:t>
            </a:r>
          </a:p>
          <a:p>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University of Applied Sciences</a:t>
            </a:r>
          </a:p>
          <a:p>
            <a:endParaRPr sz="1425" b="0" i="0">
              <a:solidFill>
                <a:srgbClr val="2865AF"/>
              </a:solidFill>
              <a:latin typeface="Arial"/>
              <a:ea typeface="Arial"/>
              <a:cs typeface="Arial"/>
            </a:endParaRPr>
          </a:p>
          <a:p>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Fakultät für Maschinenbau</a:t>
            </a:r>
          </a:p>
          <a:p>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und Mechatronik</a:t>
            </a:r>
          </a:p>
        </p:txBody>
      </p:sp>
      <p:sp>
        <p:nvSpPr>
          <p:cNvPr id="2" name="HKA wordmark placeholder">
            <a:extLst>
              <a:ext uri="{FF2B5EF4-FFF2-40B4-BE49-F238E27FC236}">
                <a16:creationId xmlns:a16="http://schemas.microsoft.com/office/drawing/2014/main" id="{70526829-BB3B-4081-99D8-9DCF0B69DD18}"/>
              </a:ext>
            </a:extLst>
          </p:cNvPr>
          <p:cNvSpPr>
            <a:spLocks noGrp="1"/>
          </p:cNvSpPr>
          <p:nvPr/>
        </p:nvSpPr>
        <p:spPr>
          <a:xfrm>
            <a:off x="13049250" y="381000"/>
            <a:ext cx="2190750" cy="3381375"/>
          </a:xfrm>
          <a:prstGeom prst="rect">
            <a:avLst/>
          </a:prstGeom>
          <a:noFill/>
          <a:ln w="0">
            <a:noFill/>
            <a:prstDash val="solid"/>
          </a:ln>
        </p:spPr>
        <p:txBody>
          <a:bodyPr wrap="square" lIns="0" tIns="0" rIns="0" bIns="0" anchor="t">
            <a:normAutofit/>
          </a:bodyPr>
          <a:lstStyle/>
          <a:p>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H</a:t>
            </a:r>
          </a:p>
          <a:p>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K</a:t>
            </a:r>
          </a:p>
          <a:p>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A</a:t>
            </a:r>
          </a:p>
        </p:txBody>
      </p:sp>
      <p:sp>
        <p:nvSpPr>
          <p:cNvPr id="3" name="Document type">
            <a:extLst>
              <a:ext uri="{FF2B5EF4-FFF2-40B4-BE49-F238E27FC236}">
                <a16:creationId xmlns:a16="http://schemas.microsoft.com/office/drawing/2014/main" id="{C3877D13-DC55-41C3-8A67-95767E244AD2}"/>
              </a:ext>
            </a:extLst>
          </p:cNvPr>
          <p:cNvSpPr>
            <a:spLocks noGrp="1"/>
          </p:cNvSpPr>
          <p:nvPr/>
        </p:nvSpPr>
        <p:spPr>
          <a:xfrm>
            <a:off x="3524250" y="704850"/>
            <a:ext cx="8429625" cy="266700"/>
          </a:xfrm>
          <a:prstGeom prst="rect">
            <a:avLst/>
          </a:prstGeom>
          <a:noFill/>
          <a:ln w="0">
            <a:noFill/>
            <a:prstDash val="solid"/>
          </a:ln>
        </p:spPr>
        <p:txBody>
          <a:bodyPr wrap="square" lIns="0" tIns="0" rIns="0" bIns="0" anchor="t">
            <a:normAutofit/>
          </a:bodyPr>
          <a:lstStyle/>
          <a:p>
            <a:pPr algn="ctr">
              <a:lnSpc>
                <a:spcPct val="105000"/>
              </a:lnSpc>
              <a:buNone/>
              <a:defRPr sz="1275" b="1" i="0">
                <a:solidFill>
                  <a:srgbClr val="55616D"/>
                </a:solidFill>
                <a:latin typeface="Arial"/>
                <a:ea typeface="Arial"/>
                <a:cs typeface="Arial"/>
              </a:defRPr>
            </a:pPr>
            <a:r>
              <a:rPr sz="1275" b="1" i="0">
                <a:solidFill>
                  <a:srgbClr val="55616D"/>
                </a:solidFill>
                <a:latin typeface="Arial"/>
                <a:ea typeface="Arial"/>
                <a:cs typeface="Arial"/>
              </a:rPr>
              <a:t>PROJEKTBERICHT ZUM FORSCHUNGS- UND ENTWICKLUNGSPROJEKT</a:t>
            </a:r>
          </a:p>
        </p:txBody>
      </p:sp>
      <p:sp>
        <p:nvSpPr>
          <p:cNvPr id="4" name="Poster title">
            <a:extLst>
              <a:ext uri="{FF2B5EF4-FFF2-40B4-BE49-F238E27FC236}">
                <a16:creationId xmlns:a16="http://schemas.microsoft.com/office/drawing/2014/main" id="{7FE68557-B3ED-4A14-A13E-6744DDFF02AD}"/>
              </a:ext>
            </a:extLst>
          </p:cNvPr>
          <p:cNvSpPr>
            <a:spLocks noGrp="1"/>
          </p:cNvSpPr>
          <p:nvPr/>
        </p:nvSpPr>
        <p:spPr>
          <a:xfrm>
            <a:off x="2667000" y="1362075"/>
            <a:ext cx="10096500" cy="1447800"/>
          </a:xfrm>
          <a:prstGeom prst="rect">
            <a:avLst/>
          </a:prstGeom>
          <a:noFill/>
          <a:ln w="0">
            <a:noFill/>
            <a:prstDash val="solid"/>
          </a:ln>
        </p:spPr>
        <p:txBody>
          <a:bodyPr wrap="square" lIns="0" tIns="0" rIns="0" bIns="0" anchor="ctr">
            <a:normAutofit/>
          </a:bodyPr>
          <a:lstStyle/>
          <a:p>
            <a:pPr algn="ctr">
              <a:lnSpc>
                <a:spcPct val="105000"/>
              </a:lnSpc>
              <a:buNone/>
              <a:defRPr sz="4575" b="1" i="0">
                <a:solidFill>
                  <a:srgbClr val="2865AF"/>
                </a:solidFill>
                <a:latin typeface="Arial"/>
                <a:ea typeface="Arial"/>
                <a:cs typeface="Arial"/>
              </a:defRPr>
            </a:pPr>
            <a:r>
              <a:rPr sz="4575" b="1" i="0">
                <a:solidFill>
                  <a:srgbClr val="2865AF"/>
                </a:solidFill>
                <a:latin typeface="Arial"/>
                <a:ea typeface="Arial"/>
                <a:cs typeface="Arial"/>
              </a:rPr>
              <a:t>Inverses „Tetris“ für Roboter</a:t>
            </a:r>
          </a:p>
        </p:txBody>
      </p:sp>
      <p:sp>
        <p:nvSpPr>
          <p:cNvPr id="5" name="Poster subtitle">
            <a:extLst>
              <a:ext uri="{FF2B5EF4-FFF2-40B4-BE49-F238E27FC236}">
                <a16:creationId xmlns:a16="http://schemas.microsoft.com/office/drawing/2014/main" id="{35F8BE1D-B221-46BB-B6C3-6FB953E6A308}"/>
              </a:ext>
            </a:extLst>
          </p:cNvPr>
          <p:cNvSpPr>
            <a:spLocks noGrp="1"/>
          </p:cNvSpPr>
          <p:nvPr/>
        </p:nvSpPr>
        <p:spPr>
          <a:xfrm>
            <a:off x="2381250" y="2857500"/>
            <a:ext cx="10668000" cy="914400"/>
          </a:xfrm>
          <a:prstGeom prst="rect">
            <a:avLst/>
          </a:prstGeom>
          <a:noFill/>
          <a:ln w="0">
            <a:noFill/>
            <a:prstDash val="solid"/>
          </a:ln>
        </p:spPr>
        <p:txBody>
          <a:bodyPr wrap="square" lIns="0" tIns="0" rIns="0" bIns="0" anchor="ctr">
            <a:normAutofit fontScale="97680"/>
          </a:bodyPr>
          <a:lstStyle/>
          <a:p>
            <a:pPr algn="ctr">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„On the Fly“-Picking bei verschiedenen Geschwindigkeiten des Förderbands</a:t>
            </a:r>
          </a:p>
        </p:txBody>
      </p:sp>
      <p:sp>
        <p:nvSpPr>
          <p:cNvPr id="6" name="Poster descriptor">
            <a:extLst>
              <a:ext uri="{FF2B5EF4-FFF2-40B4-BE49-F238E27FC236}">
                <a16:creationId xmlns:a16="http://schemas.microsoft.com/office/drawing/2014/main" id="{4B8843E5-DF68-4A0A-8D34-E413967D1335}"/>
              </a:ext>
            </a:extLst>
          </p:cNvPr>
          <p:cNvSpPr>
            <a:spLocks noGrp="1"/>
          </p:cNvSpPr>
          <p:nvPr/>
        </p:nvSpPr>
        <p:spPr>
          <a:xfrm>
            <a:off x="2667000" y="3905250"/>
            <a:ext cx="10096500" cy="514350"/>
          </a:xfrm>
          <a:prstGeom prst="rect">
            <a:avLst/>
          </a:prstGeom>
          <a:noFill/>
          <a:ln w="0">
            <a:noFill/>
            <a:prstDash val="solid"/>
          </a:ln>
        </p:spPr>
        <p:txBody>
          <a:bodyPr wrap="square" lIns="0" tIns="0" rIns="0" bIns="0" anchor="ctr">
            <a:normAutofit fontScale="97734"/>
          </a:bodyPr>
          <a:lstStyle/>
          <a:p>
            <a:pPr algn="ctr">
              <a:lnSpc>
                <a:spcPct val="105000"/>
              </a:lnSpc>
              <a:buNone/>
              <a:defRPr sz="1875" b="0" i="0">
                <a:solidFill>
                  <a:srgbClr val="202A34"/>
                </a:solidFill>
                <a:latin typeface="Arial"/>
                <a:ea typeface="Arial"/>
                <a:cs typeface="Arial"/>
              </a:defRPr>
            </a:pPr>
            <a:r>
              <a:rPr sz="1875" b="0" i="0">
                <a:solidFill>
                  <a:srgbClr val="202A34"/>
                </a:solidFill>
                <a:latin typeface="Arial"/>
                <a:ea typeface="Arial"/>
                <a:cs typeface="Arial"/>
              </a:rPr>
              <a:t>Greifen unterschiedlich großer farbiger Klötze von einem laufenden Förderband mit einem UR10e</a:t>
            </a:r>
          </a:p>
        </p:txBody>
      </p:sp>
      <p:sp>
        <p:nvSpPr>
          <p:cNvPr id="7" name="Header divider">
            <a:extLst>
              <a:ext uri="{FF2B5EF4-FFF2-40B4-BE49-F238E27FC236}">
                <a16:creationId xmlns:a16="http://schemas.microsoft.com/office/drawing/2014/main" id="{91A814DF-FFBC-4E6A-A335-9C1CFE428665}"/>
              </a:ext>
            </a:extLst>
          </p:cNvPr>
          <p:cNvSpPr>
            <a:spLocks noGrp="1"/>
          </p:cNvSpPr>
          <p:nvPr/>
        </p:nvSpPr>
        <p:spPr>
          <a:xfrm>
            <a:off x="666750" y="4905375"/>
            <a:ext cx="14706600" cy="0"/>
          </a:xfrm>
          <a:prstGeom prst="line">
            <a:avLst/>
          </a:prstGeom>
          <a:noFill/>
          <a:ln w="28575">
            <a:solidFill>
              <a:srgbClr val="2865AF"/>
            </a:solidFill>
            <a:prstDash val="solid"/>
          </a:ln>
        </p:spPr>
      </p:sp>
      <p:sp>
        <p:nvSpPr>
          <p:cNvPr id="8" name="Goal heading">
            <a:extLst>
              <a:ext uri="{FF2B5EF4-FFF2-40B4-BE49-F238E27FC236}">
                <a16:creationId xmlns:a16="http://schemas.microsoft.com/office/drawing/2014/main" id="{18E2BE63-DF3C-4B32-A591-4CEFAD2F8721}"/>
              </a:ext>
            </a:extLst>
          </p:cNvPr>
          <p:cNvSpPr>
            <a:spLocks noGrp="1"/>
          </p:cNvSpPr>
          <p:nvPr/>
        </p:nvSpPr>
        <p:spPr>
          <a:xfrm>
            <a:off x="666750" y="5429250"/>
            <a:ext cx="6096000" cy="495300"/>
          </a:xfrm>
          <a:prstGeom prst="rect">
            <a:avLst/>
          </a:prstGeom>
          <a:noFill/>
          <a:ln w="0">
            <a:noFill/>
            <a:prstDash val="solid"/>
          </a:ln>
        </p:spPr>
        <p:txBody>
          <a:bodyPr wrap="square" lIns="0" tIns="0" rIns="0" bIns="0" anchor="t">
            <a:normAutofit/>
          </a:bodyPr>
          <a:lstStyle/>
          <a:p>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Ziel des Projekts</a:t>
            </a:r>
          </a:p>
        </p:txBody>
      </p:sp>
      <p:sp>
        <p:nvSpPr>
          <p:cNvPr id="9" name="Goal text">
            <a:extLst>
              <a:ext uri="{FF2B5EF4-FFF2-40B4-BE49-F238E27FC236}">
                <a16:creationId xmlns:a16="http://schemas.microsoft.com/office/drawing/2014/main" id="{284F9D22-3788-4FEA-A8E7-A5CAD7727A77}"/>
              </a:ext>
            </a:extLst>
          </p:cNvPr>
          <p:cNvSpPr>
            <a:spLocks noGrp="1"/>
          </p:cNvSpPr>
          <p:nvPr/>
        </p:nvSpPr>
        <p:spPr>
          <a:xfrm>
            <a:off x="666750" y="6038850"/>
            <a:ext cx="6115050" cy="2647950"/>
          </a:xfrm>
          <a:prstGeom prst="rect">
            <a:avLst/>
          </a:prstGeom>
          <a:noFill/>
          <a:ln w="0">
            <a:noFill/>
            <a:prstDash val="solid"/>
          </a:ln>
        </p:spPr>
        <p:txBody>
          <a:bodyPr wrap="square" lIns="0" tIns="0" rIns="0" bIns="0" anchor="t">
            <a:normAutofit fontScale="96674"/>
          </a:bodyPr>
          <a:lstStyle/>
          <a:p>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Der Versuchsaufbau weist nach, dass ein UR10e quaderförmige Klötze während der Förderbewegung greifen kann. Bewegungsrichtung und Geschwindigkeit entstehen ausschließlich aus Bilddaten. Ein Encoder oder ein vergleichbares Signal des Förderbands wird nicht genutzt.</a:t>
            </a:r>
          </a:p>
          <a:p>
            <a:endParaRPr sz="1875" b="0" i="0">
              <a:solidFill>
                <a:srgbClr val="202A34"/>
              </a:solidFill>
              <a:latin typeface="Arial"/>
              <a:ea typeface="Arial"/>
              <a:cs typeface="Arial"/>
            </a:endParaRPr>
          </a:p>
          <a:p>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Bei mehreren Klötzen wählt das System selbstständig ein noch erreichbares Ziel. Nicht mehr sicher greifbare Klötze bleiben auf dem Band.</a:t>
            </a:r>
          </a:p>
        </p:txBody>
      </p:sp>
      <p:sp>
        <p:nvSpPr>
          <p:cNvPr id="10" name="Runtime heading">
            <a:extLst>
              <a:ext uri="{FF2B5EF4-FFF2-40B4-BE49-F238E27FC236}">
                <a16:creationId xmlns:a16="http://schemas.microsoft.com/office/drawing/2014/main" id="{4044F37B-4BED-4FF1-A562-012964655209}"/>
              </a:ext>
            </a:extLst>
          </p:cNvPr>
          <p:cNvSpPr>
            <a:spLocks noGrp="1"/>
          </p:cNvSpPr>
          <p:nvPr/>
        </p:nvSpPr>
        <p:spPr>
          <a:xfrm>
            <a:off x="666750" y="9077325"/>
            <a:ext cx="6096000" cy="495300"/>
          </a:xfrm>
          <a:prstGeom prst="rect">
            <a:avLst/>
          </a:prstGeom>
          <a:noFill/>
          <a:ln w="0">
            <a:noFill/>
            <a:prstDash val="solid"/>
          </a:ln>
        </p:spPr>
        <p:txBody>
          <a:bodyPr wrap="square" lIns="0" tIns="0" rIns="0" bIns="0" anchor="t">
            <a:normAutofit/>
          </a:bodyPr>
          <a:lstStyle/>
          <a:p>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Software und Echtzeitsteuerung</a:t>
            </a:r>
          </a:p>
        </p:txBody>
      </p:sp>
      <p:sp>
        <p:nvSpPr>
          <p:cNvPr id="11" name="Runtime text">
            <a:extLst>
              <a:ext uri="{FF2B5EF4-FFF2-40B4-BE49-F238E27FC236}">
                <a16:creationId xmlns:a16="http://schemas.microsoft.com/office/drawing/2014/main" id="{56AAEFD3-54D4-4956-A577-AB19EEAC6A1F}"/>
              </a:ext>
            </a:extLst>
          </p:cNvPr>
          <p:cNvSpPr>
            <a:spLocks noGrp="1"/>
          </p:cNvSpPr>
          <p:nvPr/>
        </p:nvSpPr>
        <p:spPr>
          <a:xfrm>
            <a:off x="666750" y="9686925"/>
            <a:ext cx="6115050" cy="1733550"/>
          </a:xfrm>
          <a:prstGeom prst="rect">
            <a:avLst/>
          </a:prstGeom>
          <a:noFill/>
          <a:ln w="0">
            <a:noFill/>
            <a:prstDash val="solid"/>
          </a:ln>
        </p:spPr>
        <p:txBody>
          <a:bodyPr wrap="square" lIns="0" tIns="0" rIns="0" bIns="0" anchor="t">
            <a:normAutofit fontScale="99362"/>
          </a:bodyPr>
          <a:lstStyle/>
          <a:p>
            <a:pPr algn="l">
              <a:lnSpc>
                <a:spcPct val="106000"/>
              </a:lnSpc>
              <a:buNone/>
              <a:defRPr sz="1800" b="0" i="0">
                <a:solidFill>
                  <a:srgbClr val="202A34"/>
                </a:solidFill>
                <a:latin typeface="Arial"/>
                <a:ea typeface="Arial"/>
                <a:cs typeface="Arial"/>
              </a:defRPr>
            </a:pPr>
            <a:r>
              <a:rPr sz="1800" b="0" i="0" dirty="0">
                <a:solidFill>
                  <a:srgbClr val="202A34"/>
                </a:solidFill>
                <a:latin typeface="Arial"/>
                <a:ea typeface="Arial"/>
                <a:cs typeface="Arial"/>
              </a:rPr>
              <a:t>Die </a:t>
            </a:r>
            <a:r>
              <a:rPr sz="1800" b="0" i="0" dirty="0" err="1">
                <a:solidFill>
                  <a:srgbClr val="202A34"/>
                </a:solidFill>
                <a:latin typeface="Arial"/>
                <a:ea typeface="Arial"/>
                <a:cs typeface="Arial"/>
              </a:rPr>
              <a:t>Projektanwendung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nutzt</a:t>
            </a:r>
            <a:r>
              <a:rPr sz="1800" b="0" i="0" dirty="0">
                <a:solidFill>
                  <a:srgbClr val="202A34"/>
                </a:solidFill>
                <a:latin typeface="Arial"/>
                <a:ea typeface="Arial"/>
                <a:cs typeface="Arial"/>
              </a:rPr>
              <a:t> AICA und ROS 2. AICA </a:t>
            </a:r>
            <a:r>
              <a:rPr sz="1800" b="0" i="0" dirty="0" err="1">
                <a:solidFill>
                  <a:srgbClr val="202A34"/>
                </a:solidFill>
                <a:latin typeface="Arial"/>
                <a:ea typeface="Arial"/>
                <a:cs typeface="Arial"/>
              </a:rPr>
              <a:t>verbindet</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Bildverarbeitung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Zielauswahl</a:t>
            </a:r>
            <a:r>
              <a:rPr sz="1800" b="0" i="0" dirty="0">
                <a:solidFill>
                  <a:srgbClr val="202A34"/>
                </a:solidFill>
                <a:latin typeface="Arial"/>
                <a:ea typeface="Arial"/>
                <a:cs typeface="Arial"/>
              </a:rPr>
              <a:t> und </a:t>
            </a:r>
            <a:r>
              <a:rPr sz="1800" b="0" i="0" dirty="0" err="1">
                <a:solidFill>
                  <a:srgbClr val="202A34"/>
                </a:solidFill>
                <a:latin typeface="Arial"/>
                <a:ea typeface="Arial"/>
                <a:cs typeface="Arial"/>
              </a:rPr>
              <a:t>Roboterhardware</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zu</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einer</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periodischen</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Echtzeitsteuerung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Bildverarbeitung</a:t>
            </a:r>
            <a:r>
              <a:rPr sz="1800" b="0" i="0" dirty="0">
                <a:solidFill>
                  <a:srgbClr val="202A34"/>
                </a:solidFill>
                <a:latin typeface="Arial"/>
                <a:ea typeface="Arial"/>
                <a:cs typeface="Arial"/>
              </a:rPr>
              <a:t> und </a:t>
            </a:r>
            <a:r>
              <a:rPr sz="1800" b="0" i="0" dirty="0" err="1">
                <a:solidFill>
                  <a:srgbClr val="202A34"/>
                </a:solidFill>
                <a:latin typeface="Arial"/>
                <a:ea typeface="Arial"/>
                <a:cs typeface="Arial"/>
              </a:rPr>
              <a:t>Schätzung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arbeiten</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mit</a:t>
            </a:r>
            <a:r>
              <a:rPr sz="1800" b="0" i="0" dirty="0">
                <a:solidFill>
                  <a:srgbClr val="202A34"/>
                </a:solidFill>
                <a:latin typeface="Arial"/>
                <a:ea typeface="Arial"/>
                <a:cs typeface="Arial"/>
              </a:rPr>
              <a:t> 15 Hz, die </a:t>
            </a:r>
            <a:r>
              <a:rPr sz="1800" b="0" i="0" dirty="0" err="1">
                <a:solidFill>
                  <a:srgbClr val="202A34"/>
                </a:solidFill>
                <a:latin typeface="Arial"/>
                <a:ea typeface="Arial"/>
                <a:cs typeface="Arial"/>
              </a:rPr>
              <a:t>Bahnführung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mit</a:t>
            </a:r>
            <a:r>
              <a:rPr sz="1800" b="0" i="0" dirty="0">
                <a:solidFill>
                  <a:srgbClr val="202A34"/>
                </a:solidFill>
                <a:latin typeface="Arial"/>
                <a:ea typeface="Arial"/>
                <a:cs typeface="Arial"/>
              </a:rPr>
              <a:t> 50 Hz. Die </a:t>
            </a:r>
            <a:r>
              <a:rPr sz="1800" b="0" i="0" dirty="0" err="1">
                <a:solidFill>
                  <a:srgbClr val="202A34"/>
                </a:solidFill>
                <a:latin typeface="Arial"/>
                <a:ea typeface="Arial"/>
                <a:cs typeface="Arial"/>
              </a:rPr>
              <a:t>Roboterregelung</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läuft</a:t>
            </a:r>
            <a:r>
              <a:rPr sz="1800" b="0" i="0" dirty="0">
                <a:solidFill>
                  <a:srgbClr val="202A34"/>
                </a:solidFill>
                <a:latin typeface="Arial"/>
                <a:ea typeface="Arial"/>
                <a:cs typeface="Arial"/>
              </a:rPr>
              <a:t> </a:t>
            </a:r>
            <a:r>
              <a:rPr sz="1800" b="0" i="0" dirty="0" err="1">
                <a:solidFill>
                  <a:srgbClr val="202A34"/>
                </a:solidFill>
                <a:latin typeface="Arial"/>
                <a:ea typeface="Arial"/>
                <a:cs typeface="Arial"/>
              </a:rPr>
              <a:t>mit</a:t>
            </a:r>
            <a:r>
              <a:rPr sz="1800" b="0" i="0" dirty="0">
                <a:solidFill>
                  <a:srgbClr val="202A34"/>
                </a:solidFill>
                <a:latin typeface="Arial"/>
                <a:ea typeface="Arial"/>
                <a:cs typeface="Arial"/>
              </a:rPr>
              <a:t> 500 Hz.</a:t>
            </a:r>
          </a:p>
        </p:txBody>
      </p:sp>
      <p:sp>
        <p:nvSpPr>
          <p:cNvPr id="12" name="Challenge heading">
            <a:extLst>
              <a:ext uri="{FF2B5EF4-FFF2-40B4-BE49-F238E27FC236}">
                <a16:creationId xmlns:a16="http://schemas.microsoft.com/office/drawing/2014/main" id="{F2E831AA-5000-4F92-ACE9-1173EAB7F392}"/>
              </a:ext>
            </a:extLst>
          </p:cNvPr>
          <p:cNvSpPr>
            <a:spLocks noGrp="1"/>
          </p:cNvSpPr>
          <p:nvPr/>
        </p:nvSpPr>
        <p:spPr>
          <a:xfrm>
            <a:off x="666750" y="11887200"/>
            <a:ext cx="6096000" cy="495300"/>
          </a:xfrm>
          <a:prstGeom prst="rect">
            <a:avLst/>
          </a:prstGeom>
          <a:noFill/>
          <a:ln w="0">
            <a:noFill/>
            <a:prstDash val="solid"/>
          </a:ln>
        </p:spPr>
        <p:txBody>
          <a:bodyPr wrap="square" lIns="0" tIns="0" rIns="0" bIns="0" anchor="t">
            <a:normAutofit/>
          </a:bodyPr>
          <a:lstStyle/>
          <a:p>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Zentrale Herausforderung</a:t>
            </a:r>
          </a:p>
        </p:txBody>
      </p:sp>
      <p:sp>
        <p:nvSpPr>
          <p:cNvPr id="13" name="Challenge surface">
            <a:extLst>
              <a:ext uri="{FF2B5EF4-FFF2-40B4-BE49-F238E27FC236}">
                <a16:creationId xmlns:a16="http://schemas.microsoft.com/office/drawing/2014/main" id="{A41F31A2-FD78-40A9-B255-3A112AC78C4E}"/>
              </a:ext>
            </a:extLst>
          </p:cNvPr>
          <p:cNvSpPr>
            <a:spLocks noGrp="1"/>
          </p:cNvSpPr>
          <p:nvPr/>
        </p:nvSpPr>
        <p:spPr>
          <a:xfrm>
            <a:off x="666750" y="12515850"/>
            <a:ext cx="6096000" cy="1543050"/>
          </a:xfrm>
          <a:prstGeom prst="roundRect">
            <a:avLst>
              <a:gd name="adj" fmla="val 9877"/>
            </a:avLst>
          </a:prstGeom>
          <a:solidFill>
            <a:srgbClr val="F4F8FC"/>
          </a:solidFill>
          <a:ln w="9525">
            <a:solidFill>
              <a:srgbClr val="C9D5E1"/>
            </a:solidFill>
            <a:prstDash val="solid"/>
          </a:ln>
        </p:spPr>
        <p:txBody>
          <a:bodyPr/>
          <a:lstStyle/>
          <a:p>
            <a:endParaRPr lang="de-DE"/>
          </a:p>
        </p:txBody>
      </p:sp>
      <p:sp>
        <p:nvSpPr>
          <p:cNvPr id="14" name="Challenge text">
            <a:extLst>
              <a:ext uri="{FF2B5EF4-FFF2-40B4-BE49-F238E27FC236}">
                <a16:creationId xmlns:a16="http://schemas.microsoft.com/office/drawing/2014/main" id="{8CE24FCC-7469-4CB8-9F1F-88AED5D48BB3}"/>
              </a:ext>
            </a:extLst>
          </p:cNvPr>
          <p:cNvSpPr>
            <a:spLocks noGrp="1"/>
          </p:cNvSpPr>
          <p:nvPr/>
        </p:nvSpPr>
        <p:spPr>
          <a:xfrm>
            <a:off x="933450" y="12763500"/>
            <a:ext cx="5562600" cy="1028700"/>
          </a:xfrm>
          <a:prstGeom prst="rect">
            <a:avLst/>
          </a:prstGeom>
          <a:noFill/>
          <a:ln w="0">
            <a:noFill/>
            <a:prstDash val="solid"/>
          </a:ln>
        </p:spPr>
        <p:txBody>
          <a:bodyPr wrap="square" lIns="0" tIns="0" rIns="0" bIns="0" anchor="ctr">
            <a:normAutofit fontScale="98839"/>
          </a:bodyPr>
          <a:lstStyle/>
          <a:p>
            <a:pPr algn="ctr">
              <a:lnSpc>
                <a:spcPct val="102000"/>
              </a:lnSpc>
              <a:buNone/>
              <a:defRPr sz="2025" b="1" i="0">
                <a:solidFill>
                  <a:srgbClr val="2865AF"/>
                </a:solidFill>
                <a:latin typeface="Arial"/>
                <a:ea typeface="Arial"/>
                <a:cs typeface="Arial"/>
              </a:defRPr>
            </a:pPr>
            <a:r>
              <a:rPr sz="2025" b="1" i="0">
                <a:solidFill>
                  <a:srgbClr val="2865AF"/>
                </a:solidFill>
                <a:latin typeface="Arial"/>
                <a:ea typeface="Arial"/>
                <a:cs typeface="Arial"/>
              </a:rPr>
              <a:t>Der Klotz verlässt das Kamerabild, bevor der Roboter ihn erreicht. Die Software muss seine Position bis zur Greifzone vorausberechnen.</a:t>
            </a:r>
          </a:p>
        </p:txBody>
      </p:sp>
      <p:sp>
        <p:nvSpPr>
          <p:cNvPr id="15" name="Project information heading">
            <a:extLst>
              <a:ext uri="{FF2B5EF4-FFF2-40B4-BE49-F238E27FC236}">
                <a16:creationId xmlns:a16="http://schemas.microsoft.com/office/drawing/2014/main" id="{698946EF-0D88-4261-9C30-011362C1E06C}"/>
              </a:ext>
            </a:extLst>
          </p:cNvPr>
          <p:cNvSpPr>
            <a:spLocks noGrp="1"/>
          </p:cNvSpPr>
          <p:nvPr/>
        </p:nvSpPr>
        <p:spPr>
          <a:xfrm>
            <a:off x="666750" y="14706600"/>
            <a:ext cx="6096000" cy="495300"/>
          </a:xfrm>
          <a:prstGeom prst="rect">
            <a:avLst/>
          </a:prstGeom>
          <a:noFill/>
          <a:ln w="0">
            <a:noFill/>
            <a:prstDash val="solid"/>
          </a:ln>
        </p:spPr>
        <p:txBody>
          <a:bodyPr wrap="square" lIns="0" tIns="0" rIns="0" bIns="0" anchor="t">
            <a:normAutofit/>
          </a:bodyPr>
          <a:lstStyle/>
          <a:p>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Projektinformation</a:t>
            </a:r>
          </a:p>
        </p:txBody>
      </p:sp>
      <p:sp>
        <p:nvSpPr>
          <p:cNvPr id="16" name="Project information">
            <a:extLst>
              <a:ext uri="{FF2B5EF4-FFF2-40B4-BE49-F238E27FC236}">
                <a16:creationId xmlns:a16="http://schemas.microsoft.com/office/drawing/2014/main" id="{42966E7B-6EEC-445A-A5A0-D4B9043FED5F}"/>
              </a:ext>
            </a:extLst>
          </p:cNvPr>
          <p:cNvSpPr>
            <a:spLocks noGrp="1"/>
          </p:cNvSpPr>
          <p:nvPr/>
        </p:nvSpPr>
        <p:spPr>
          <a:xfrm>
            <a:off x="666750" y="15297150"/>
            <a:ext cx="6115050" cy="2895600"/>
          </a:xfrm>
          <a:prstGeom prst="rect">
            <a:avLst/>
          </a:prstGeom>
          <a:noFill/>
          <a:ln w="0">
            <a:noFill/>
            <a:prstDash val="solid"/>
          </a:ln>
        </p:spPr>
        <p:txBody>
          <a:bodyPr wrap="square" lIns="0" tIns="0" rIns="0" bIns="0" anchor="t">
            <a:normAutofit fontScale="97994"/>
          </a:bodyPr>
          <a:lstStyle/>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Art der Arbeit: Forschungs- und Entwicklungsprojekt</a:t>
            </a: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Zeitraum: Sommer-Semester 2026</a:t>
            </a:r>
          </a:p>
          <a:p>
            <a:endParaRPr sz="1725" b="0" i="0">
              <a:solidFill>
                <a:srgbClr val="202A34"/>
              </a:solidFill>
              <a:latin typeface="Arial"/>
              <a:ea typeface="Arial"/>
              <a:cs typeface="Arial"/>
            </a:endParaRP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Tobias Unger, RKIM</a:t>
            </a: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unto1011@h-ka.de</a:t>
            </a:r>
          </a:p>
          <a:p>
            <a:endParaRPr sz="1725" b="0" i="0">
              <a:solidFill>
                <a:srgbClr val="202A34"/>
              </a:solidFill>
              <a:latin typeface="Arial"/>
              <a:ea typeface="Arial"/>
              <a:cs typeface="Arial"/>
            </a:endParaRP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Lukas Norz, RKIM</a:t>
            </a: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nolu1012@h-ka.de</a:t>
            </a:r>
          </a:p>
          <a:p>
            <a:endParaRPr sz="1725" b="0" i="0">
              <a:solidFill>
                <a:srgbClr val="202A34"/>
              </a:solidFill>
              <a:latin typeface="Arial"/>
              <a:ea typeface="Arial"/>
              <a:cs typeface="Arial"/>
            </a:endParaRP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Simon Hoess, RKIM</a:t>
            </a:r>
          </a:p>
          <a:p>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hosi1025@h-ka.de</a:t>
            </a:r>
          </a:p>
        </p:txBody>
      </p:sp>
      <p:sp>
        <p:nvSpPr>
          <p:cNvPr id="17" name="System heading">
            <a:extLst>
              <a:ext uri="{FF2B5EF4-FFF2-40B4-BE49-F238E27FC236}">
                <a16:creationId xmlns:a16="http://schemas.microsoft.com/office/drawing/2014/main" id="{CBB56FC6-FFDD-4E25-B621-11B986638CE3}"/>
              </a:ext>
            </a:extLst>
          </p:cNvPr>
          <p:cNvSpPr>
            <a:spLocks noGrp="1"/>
          </p:cNvSpPr>
          <p:nvPr/>
        </p:nvSpPr>
        <p:spPr>
          <a:xfrm>
            <a:off x="7334250" y="5429250"/>
            <a:ext cx="8039100" cy="495300"/>
          </a:xfrm>
          <a:prstGeom prst="rect">
            <a:avLst/>
          </a:prstGeom>
          <a:noFill/>
          <a:ln w="0">
            <a:noFill/>
            <a:prstDash val="solid"/>
          </a:ln>
        </p:spPr>
        <p:txBody>
          <a:bodyPr wrap="square" lIns="0" tIns="0" rIns="0" bIns="0" anchor="t">
            <a:normAutofit/>
          </a:bodyPr>
          <a:lstStyle/>
          <a:p>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Systemaufbau</a:t>
            </a:r>
          </a:p>
        </p:txBody>
      </p:sp>
      <p:sp>
        <p:nvSpPr>
          <p:cNvPr id="18" name="System text">
            <a:extLst>
              <a:ext uri="{FF2B5EF4-FFF2-40B4-BE49-F238E27FC236}">
                <a16:creationId xmlns:a16="http://schemas.microsoft.com/office/drawing/2014/main" id="{4D15C579-104C-49E0-B923-219DF31B776C}"/>
              </a:ext>
            </a:extLst>
          </p:cNvPr>
          <p:cNvSpPr>
            <a:spLocks noGrp="1"/>
          </p:cNvSpPr>
          <p:nvPr/>
        </p:nvSpPr>
        <p:spPr>
          <a:xfrm>
            <a:off x="7334250" y="6038850"/>
            <a:ext cx="8039100" cy="2095500"/>
          </a:xfrm>
          <a:prstGeom prst="rect">
            <a:avLst/>
          </a:prstGeom>
          <a:noFill/>
          <a:ln w="0">
            <a:noFill/>
            <a:prstDash val="solid"/>
          </a:ln>
        </p:spPr>
        <p:txBody>
          <a:bodyPr wrap="square" lIns="0" tIns="0" rIns="0" bIns="0" anchor="t">
            <a:normAutofit/>
          </a:bodyPr>
          <a:lstStyle/>
          <a:p>
            <a:pPr algn="l">
              <a:lnSpc>
                <a:spcPct val="104000"/>
              </a:lnSpc>
              <a:buNone/>
              <a:defRPr sz="1800" b="0" i="0">
                <a:solidFill>
                  <a:srgbClr val="202A34"/>
                </a:solidFill>
                <a:latin typeface="Arial"/>
                <a:ea typeface="Arial"/>
                <a:cs typeface="Arial"/>
              </a:defRPr>
            </a:pPr>
            <a:r>
              <a:rPr sz="1800" b="0" i="0">
                <a:solidFill>
                  <a:srgbClr val="202A34"/>
                </a:solidFill>
                <a:latin typeface="Arial"/>
                <a:ea typeface="Arial"/>
                <a:cs typeface="Arial"/>
              </a:rPr>
              <a:t>Die fest über dem Band montierte Base-Kamera liefert RGB- und Tiefenbilder. Die Software vergibt für jeden Klotz eine dauerhafte ID und bestimmt Farbe, Position, Abmessungen sowie Orientierung. Aus den zeitlich aufeinanderfolgenden Positionen derselben ID werden Bewegungsrichtung und Geschwindigkeit geschätzt. Der UR10e folgt der vorhergesagten Objektposition und legt den gegriffenen Klotz in der Ablagebox ab.</a:t>
            </a:r>
          </a:p>
        </p:txBody>
      </p:sp>
      <p:sp>
        <p:nvSpPr>
          <p:cNvPr id="19" name="Top view frame">
            <a:extLst>
              <a:ext uri="{FF2B5EF4-FFF2-40B4-BE49-F238E27FC236}">
                <a16:creationId xmlns:a16="http://schemas.microsoft.com/office/drawing/2014/main" id="{B920BC91-34D7-4BC9-ADBB-6DEC8402721B}"/>
              </a:ext>
            </a:extLst>
          </p:cNvPr>
          <p:cNvSpPr>
            <a:spLocks noGrp="1"/>
          </p:cNvSpPr>
          <p:nvPr/>
        </p:nvSpPr>
        <p:spPr>
          <a:xfrm>
            <a:off x="7334250" y="8286750"/>
            <a:ext cx="8039100" cy="4895850"/>
          </a:xfrm>
          <a:prstGeom prst="rect">
            <a:avLst/>
          </a:prstGeom>
          <a:solidFill>
            <a:srgbClr val="FFFFFF"/>
          </a:solidFill>
          <a:ln w="9525">
            <a:solidFill>
              <a:srgbClr val="C9D5E1"/>
            </a:solidFill>
            <a:prstDash val="solid"/>
          </a:ln>
        </p:spPr>
      </p:sp>
      <p:pic>
        <p:nvPicPr>
          <p:cNvPr id="69" name="Grafik 68"/>
          <p:cNvPicPr>
            <a:picLocks noChangeAspect="1"/>
          </p:cNvPicPr>
          <p:nvPr/>
        </p:nvPicPr>
        <p:blipFill>
          <a:blip r:embed="rId3"/>
          <a:stretch/>
        </p:blipFill>
        <p:spPr>
          <a:xfrm>
            <a:off x="7994073" y="8382000"/>
            <a:ext cx="6719455" cy="4619625"/>
          </a:xfrm>
          <a:prstGeom prst="rect">
            <a:avLst/>
          </a:prstGeom>
        </p:spPr>
      </p:pic>
      <p:sp>
        <p:nvSpPr>
          <p:cNvPr id="21" name="Top view caption">
            <a:extLst>
              <a:ext uri="{FF2B5EF4-FFF2-40B4-BE49-F238E27FC236}">
                <a16:creationId xmlns:a16="http://schemas.microsoft.com/office/drawing/2014/main" id="{7BCAC052-A107-4D80-B7D2-C780FD851408}"/>
              </a:ext>
            </a:extLst>
          </p:cNvPr>
          <p:cNvSpPr>
            <a:spLocks noGrp="1"/>
          </p:cNvSpPr>
          <p:nvPr/>
        </p:nvSpPr>
        <p:spPr>
          <a:xfrm>
            <a:off x="7334250" y="13277850"/>
            <a:ext cx="8039100" cy="323850"/>
          </a:xfrm>
          <a:prstGeom prst="rect">
            <a:avLst/>
          </a:prstGeom>
          <a:noFill/>
          <a:ln w="0">
            <a:noFill/>
            <a:prstDash val="solid"/>
          </a:ln>
        </p:spPr>
        <p:txBody>
          <a:bodyPr wrap="square" lIns="0" tIns="0" rIns="0" bIns="0" anchor="t">
            <a:normAutofit/>
          </a:bodyPr>
          <a:lstStyle/>
          <a:p>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1: Draufsicht mit Base-Kamera, Förderband, Greifbereich und Ablageposition</a:t>
            </a:r>
          </a:p>
        </p:txBody>
      </p:sp>
      <p:sp>
        <p:nvSpPr>
          <p:cNvPr id="22" name="Vision heading">
            <a:extLst>
              <a:ext uri="{FF2B5EF4-FFF2-40B4-BE49-F238E27FC236}">
                <a16:creationId xmlns:a16="http://schemas.microsoft.com/office/drawing/2014/main" id="{25211FCB-D629-4BF5-A6B4-10541A5C39FE}"/>
              </a:ext>
            </a:extLst>
          </p:cNvPr>
          <p:cNvSpPr>
            <a:spLocks noGrp="1"/>
          </p:cNvSpPr>
          <p:nvPr/>
        </p:nvSpPr>
        <p:spPr>
          <a:xfrm>
            <a:off x="7334250" y="14039850"/>
            <a:ext cx="8039100" cy="457200"/>
          </a:xfrm>
          <a:prstGeom prst="rect">
            <a:avLst/>
          </a:prstGeom>
          <a:noFill/>
          <a:ln w="0">
            <a:noFill/>
            <a:prstDash val="solid"/>
          </a:ln>
        </p:spPr>
        <p:txBody>
          <a:bodyPr wrap="square" lIns="0" tIns="0" rIns="0" bIns="0" anchor="t">
            <a:normAutofit/>
          </a:bodyPr>
          <a:lstStyle/>
          <a:p>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Identifikation im Kamerabild</a:t>
            </a:r>
          </a:p>
        </p:txBody>
      </p:sp>
      <p:sp>
        <p:nvSpPr>
          <p:cNvPr id="23" name="Vision text">
            <a:extLst>
              <a:ext uri="{FF2B5EF4-FFF2-40B4-BE49-F238E27FC236}">
                <a16:creationId xmlns:a16="http://schemas.microsoft.com/office/drawing/2014/main" id="{273F7E6D-C3FF-47CB-8535-B16EFAB66485}"/>
              </a:ext>
            </a:extLst>
          </p:cNvPr>
          <p:cNvSpPr>
            <a:spLocks noGrp="1"/>
          </p:cNvSpPr>
          <p:nvPr/>
        </p:nvSpPr>
        <p:spPr>
          <a:xfrm>
            <a:off x="7334250" y="14573250"/>
            <a:ext cx="8039100" cy="904875"/>
          </a:xfrm>
          <a:prstGeom prst="rect">
            <a:avLst/>
          </a:prstGeom>
          <a:noFill/>
          <a:ln w="0">
            <a:noFill/>
            <a:prstDash val="solid"/>
          </a:ln>
        </p:spPr>
        <p:txBody>
          <a:bodyPr wrap="square" lIns="0" tIns="0" rIns="0" bIns="0" anchor="t">
            <a:normAutofit/>
          </a:bodyPr>
          <a:lstStyle/>
          <a:p>
            <a:pPr algn="l">
              <a:lnSpc>
                <a:spcPct val="104000"/>
              </a:lnSpc>
              <a:buNone/>
              <a:defRPr sz="1725" b="0" i="0">
                <a:solidFill>
                  <a:srgbClr val="202A34"/>
                </a:solidFill>
                <a:latin typeface="Arial"/>
                <a:ea typeface="Arial"/>
                <a:cs typeface="Arial"/>
              </a:defRPr>
            </a:pPr>
            <a:r>
              <a:rPr sz="1725" b="0" i="0">
                <a:solidFill>
                  <a:srgbClr val="202A34"/>
                </a:solidFill>
                <a:latin typeface="Arial"/>
                <a:ea typeface="Arial"/>
                <a:cs typeface="Arial"/>
              </a:rPr>
              <a:t>Das Debug-Bild zeigt zwei erkannte Klötze innerhalb der Region of Interest. Die IDs 10 und 11 erhalten jeweils eine Farbinformation und bleiben über mehrere Bilder hinweg zuordenbar.</a:t>
            </a:r>
          </a:p>
        </p:txBody>
      </p:sp>
      <p:sp>
        <p:nvSpPr>
          <p:cNvPr id="24" name="Vision image frame">
            <a:extLst>
              <a:ext uri="{FF2B5EF4-FFF2-40B4-BE49-F238E27FC236}">
                <a16:creationId xmlns:a16="http://schemas.microsoft.com/office/drawing/2014/main" id="{B6BF22C9-BB09-4C4F-8DAD-0DC9E395377C}"/>
              </a:ext>
            </a:extLst>
          </p:cNvPr>
          <p:cNvSpPr>
            <a:spLocks noGrp="1"/>
          </p:cNvSpPr>
          <p:nvPr/>
        </p:nvSpPr>
        <p:spPr>
          <a:xfrm>
            <a:off x="7334250" y="15668625"/>
            <a:ext cx="8039100" cy="4381500"/>
          </a:xfrm>
          <a:prstGeom prst="rect">
            <a:avLst/>
          </a:prstGeom>
          <a:solidFill>
            <a:srgbClr val="FFFFFF"/>
          </a:solidFill>
          <a:ln w="9525">
            <a:solidFill>
              <a:srgbClr val="C9D5E1"/>
            </a:solidFill>
            <a:prstDash val="solid"/>
          </a:ln>
        </p:spPr>
      </p:sp>
      <p:pic>
        <p:nvPicPr>
          <p:cNvPr id="74" name="Grafik 73"/>
          <p:cNvPicPr>
            <a:picLocks noChangeAspect="1"/>
          </p:cNvPicPr>
          <p:nvPr/>
        </p:nvPicPr>
        <p:blipFill>
          <a:blip r:embed="rId4"/>
          <a:stretch/>
        </p:blipFill>
        <p:spPr>
          <a:xfrm>
            <a:off x="7647089" y="15763875"/>
            <a:ext cx="7413421" cy="4171950"/>
          </a:xfrm>
          <a:prstGeom prst="rect">
            <a:avLst/>
          </a:prstGeom>
        </p:spPr>
      </p:pic>
      <p:sp>
        <p:nvSpPr>
          <p:cNvPr id="26" name="Vision caption">
            <a:extLst>
              <a:ext uri="{FF2B5EF4-FFF2-40B4-BE49-F238E27FC236}">
                <a16:creationId xmlns:a16="http://schemas.microsoft.com/office/drawing/2014/main" id="{A9C2DBD0-E7D2-46CF-97B8-501A16810750}"/>
              </a:ext>
            </a:extLst>
          </p:cNvPr>
          <p:cNvSpPr>
            <a:spLocks noGrp="1"/>
          </p:cNvSpPr>
          <p:nvPr/>
        </p:nvSpPr>
        <p:spPr>
          <a:xfrm>
            <a:off x="7334250" y="20145375"/>
            <a:ext cx="8039100" cy="323850"/>
          </a:xfrm>
          <a:prstGeom prst="rect">
            <a:avLst/>
          </a:prstGeom>
          <a:noFill/>
          <a:ln w="0">
            <a:noFill/>
            <a:prstDash val="solid"/>
          </a:ln>
        </p:spPr>
        <p:txBody>
          <a:bodyPr wrap="square" lIns="0" tIns="0" rIns="0" bIns="0" anchor="t">
            <a:normAutofit/>
          </a:bodyPr>
          <a:lstStyle/>
          <a:p>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2: Erkennung im ROI mit persistenten Objekt-IDs und Farbinformation</a:t>
            </a:r>
          </a:p>
        </p:txBody>
      </p:sp>
      <p:sp>
        <p:nvSpPr>
          <p:cNvPr id="27" name="Process heading">
            <a:extLst>
              <a:ext uri="{FF2B5EF4-FFF2-40B4-BE49-F238E27FC236}">
                <a16:creationId xmlns:a16="http://schemas.microsoft.com/office/drawing/2014/main" id="{FFA41B63-3DA3-4128-9A91-7AF32845EB29}"/>
              </a:ext>
            </a:extLst>
          </p:cNvPr>
          <p:cNvSpPr>
            <a:spLocks noGrp="1"/>
          </p:cNvSpPr>
          <p:nvPr/>
        </p:nvSpPr>
        <p:spPr>
          <a:xfrm>
            <a:off x="666750" y="18573750"/>
            <a:ext cx="6096000" cy="457200"/>
          </a:xfrm>
          <a:prstGeom prst="rect">
            <a:avLst/>
          </a:prstGeom>
          <a:noFill/>
          <a:ln w="0">
            <a:noFill/>
            <a:prstDash val="solid"/>
          </a:ln>
        </p:spPr>
        <p:txBody>
          <a:bodyPr wrap="square" lIns="0" tIns="0" rIns="0" bIns="0" anchor="t">
            <a:normAutofit/>
          </a:bodyPr>
          <a:lstStyle/>
          <a:p>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Bildbasierter Regelablauf</a:t>
            </a:r>
          </a:p>
        </p:txBody>
      </p:sp>
      <p:sp>
        <p:nvSpPr>
          <p:cNvPr id="28" name="Process introduction">
            <a:extLst>
              <a:ext uri="{FF2B5EF4-FFF2-40B4-BE49-F238E27FC236}">
                <a16:creationId xmlns:a16="http://schemas.microsoft.com/office/drawing/2014/main" id="{4D3AA15B-8CAA-40D3-92F8-5D487C474AC1}"/>
              </a:ext>
            </a:extLst>
          </p:cNvPr>
          <p:cNvSpPr>
            <a:spLocks noGrp="1"/>
          </p:cNvSpPr>
          <p:nvPr/>
        </p:nvSpPr>
        <p:spPr>
          <a:xfrm>
            <a:off x="666750" y="19078575"/>
            <a:ext cx="6096000" cy="619125"/>
          </a:xfrm>
          <a:prstGeom prst="rect">
            <a:avLst/>
          </a:prstGeom>
          <a:noFill/>
          <a:ln w="0">
            <a:noFill/>
            <a:prstDash val="solid"/>
          </a:ln>
        </p:spPr>
        <p:txBody>
          <a:bodyPr wrap="square" lIns="0" tIns="0" rIns="0" bIns="0" anchor="t">
            <a:normAutofit/>
          </a:bodyPr>
          <a:lstStyle/>
          <a:p>
            <a:pPr algn="l">
              <a:lnSpc>
                <a:spcPct val="103000"/>
              </a:lnSpc>
              <a:buNone/>
              <a:defRPr sz="1725" b="0" i="0">
                <a:solidFill>
                  <a:srgbClr val="202A34"/>
                </a:solidFill>
                <a:latin typeface="Arial"/>
                <a:ea typeface="Arial"/>
                <a:cs typeface="Arial"/>
              </a:defRPr>
            </a:pPr>
            <a:r>
              <a:rPr sz="1725" b="0" i="0" dirty="0">
                <a:solidFill>
                  <a:srgbClr val="202A34"/>
                </a:solidFill>
                <a:latin typeface="Arial"/>
                <a:ea typeface="Arial"/>
                <a:cs typeface="Arial"/>
              </a:rPr>
              <a:t>Die vier </a:t>
            </a:r>
            <a:r>
              <a:rPr sz="1725" b="0" i="0" dirty="0" err="1">
                <a:solidFill>
                  <a:srgbClr val="202A34"/>
                </a:solidFill>
                <a:latin typeface="Arial"/>
                <a:ea typeface="Arial"/>
                <a:cs typeface="Arial"/>
              </a:rPr>
              <a:t>Schritte</a:t>
            </a:r>
            <a:r>
              <a:rPr sz="1725" b="0" i="0" dirty="0">
                <a:solidFill>
                  <a:srgbClr val="202A34"/>
                </a:solidFill>
                <a:latin typeface="Arial"/>
                <a:ea typeface="Arial"/>
                <a:cs typeface="Arial"/>
              </a:rPr>
              <a:t> </a:t>
            </a:r>
            <a:r>
              <a:rPr sz="1725" b="0" i="0" dirty="0" err="1">
                <a:solidFill>
                  <a:srgbClr val="202A34"/>
                </a:solidFill>
                <a:latin typeface="Arial"/>
                <a:ea typeface="Arial"/>
                <a:cs typeface="Arial"/>
              </a:rPr>
              <a:t>erzeugen</a:t>
            </a:r>
            <a:r>
              <a:rPr sz="1725" b="0" i="0" dirty="0">
                <a:solidFill>
                  <a:srgbClr val="202A34"/>
                </a:solidFill>
                <a:latin typeface="Arial"/>
                <a:ea typeface="Arial"/>
                <a:cs typeface="Arial"/>
              </a:rPr>
              <a:t> die </a:t>
            </a:r>
            <a:r>
              <a:rPr sz="1725" b="0" i="0" dirty="0" err="1">
                <a:solidFill>
                  <a:srgbClr val="202A34"/>
                </a:solidFill>
                <a:latin typeface="Arial"/>
                <a:ea typeface="Arial"/>
                <a:cs typeface="Arial"/>
              </a:rPr>
              <a:t>Greifbewegung</a:t>
            </a:r>
            <a:r>
              <a:rPr sz="1725" b="0" i="0" dirty="0">
                <a:solidFill>
                  <a:srgbClr val="202A34"/>
                </a:solidFill>
                <a:latin typeface="Arial"/>
                <a:ea typeface="Arial"/>
                <a:cs typeface="Arial"/>
              </a:rPr>
              <a:t> </a:t>
            </a:r>
            <a:r>
              <a:rPr sz="1725" b="0" i="0" dirty="0" err="1">
                <a:solidFill>
                  <a:srgbClr val="202A34"/>
                </a:solidFill>
                <a:latin typeface="Arial"/>
                <a:ea typeface="Arial"/>
                <a:cs typeface="Arial"/>
              </a:rPr>
              <a:t>aus</a:t>
            </a:r>
            <a:r>
              <a:rPr sz="1725" b="0" i="0" dirty="0">
                <a:solidFill>
                  <a:srgbClr val="202A34"/>
                </a:solidFill>
                <a:latin typeface="Arial"/>
                <a:ea typeface="Arial"/>
                <a:cs typeface="Arial"/>
              </a:rPr>
              <a:t> den </a:t>
            </a:r>
            <a:r>
              <a:rPr sz="1725" b="0" i="0" dirty="0" err="1">
                <a:solidFill>
                  <a:srgbClr val="202A34"/>
                </a:solidFill>
                <a:latin typeface="Arial"/>
                <a:ea typeface="Arial"/>
                <a:cs typeface="Arial"/>
              </a:rPr>
              <a:t>laufenden</a:t>
            </a:r>
            <a:r>
              <a:rPr sz="1725" b="0" i="0" dirty="0">
                <a:solidFill>
                  <a:srgbClr val="202A34"/>
                </a:solidFill>
                <a:latin typeface="Arial"/>
                <a:ea typeface="Arial"/>
                <a:cs typeface="Arial"/>
              </a:rPr>
              <a:t> </a:t>
            </a:r>
            <a:r>
              <a:rPr sz="1725" b="0" i="0" dirty="0" err="1">
                <a:solidFill>
                  <a:srgbClr val="202A34"/>
                </a:solidFill>
                <a:latin typeface="Arial"/>
                <a:ea typeface="Arial"/>
                <a:cs typeface="Arial"/>
              </a:rPr>
              <a:t>Kamerabeobachtungen</a:t>
            </a:r>
            <a:r>
              <a:rPr sz="1725" b="0" i="0" dirty="0">
                <a:solidFill>
                  <a:srgbClr val="202A34"/>
                </a:solidFill>
                <a:latin typeface="Arial"/>
                <a:ea typeface="Arial"/>
                <a:cs typeface="Arial"/>
              </a:rPr>
              <a:t>.</a:t>
            </a:r>
          </a:p>
        </p:txBody>
      </p:sp>
      <p:sp>
        <p:nvSpPr>
          <p:cNvPr id="29" name="Flow step 1">
            <a:extLst>
              <a:ext uri="{FF2B5EF4-FFF2-40B4-BE49-F238E27FC236}">
                <a16:creationId xmlns:a16="http://schemas.microsoft.com/office/drawing/2014/main" id="{420ED601-C47C-46BC-AFF6-D0DD41D4959D}"/>
              </a:ext>
            </a:extLst>
          </p:cNvPr>
          <p:cNvSpPr>
            <a:spLocks noGrp="1"/>
          </p:cNvSpPr>
          <p:nvPr/>
        </p:nvSpPr>
        <p:spPr>
          <a:xfrm>
            <a:off x="666750" y="20593050"/>
            <a:ext cx="3219450" cy="1352550"/>
          </a:xfrm>
          <a:prstGeom prst="roundRect">
            <a:avLst>
              <a:gd name="adj" fmla="val 9859"/>
            </a:avLst>
          </a:prstGeom>
          <a:solidFill>
            <a:srgbClr val="EAF1F8"/>
          </a:solidFill>
          <a:ln w="9525">
            <a:solidFill>
              <a:srgbClr val="A5BEDA"/>
            </a:solidFill>
            <a:prstDash val="solid"/>
          </a:ln>
        </p:spPr>
      </p:sp>
      <p:sp>
        <p:nvSpPr>
          <p:cNvPr id="30" name="Flow number 1">
            <a:extLst>
              <a:ext uri="{FF2B5EF4-FFF2-40B4-BE49-F238E27FC236}">
                <a16:creationId xmlns:a16="http://schemas.microsoft.com/office/drawing/2014/main" id="{9099A33C-52E0-4480-823E-171E243D24B4}"/>
              </a:ext>
            </a:extLst>
          </p:cNvPr>
          <p:cNvSpPr>
            <a:spLocks noGrp="1"/>
          </p:cNvSpPr>
          <p:nvPr/>
        </p:nvSpPr>
        <p:spPr>
          <a:xfrm>
            <a:off x="838200" y="20764500"/>
            <a:ext cx="400050" cy="400050"/>
          </a:xfrm>
          <a:prstGeom prst="ellipse">
            <a:avLst/>
          </a:prstGeom>
          <a:solidFill>
            <a:srgbClr val="2865AF"/>
          </a:solidFill>
          <a:ln w="9525">
            <a:solidFill>
              <a:srgbClr val="2865AF"/>
            </a:solidFill>
            <a:prstDash val="solid"/>
          </a:ln>
        </p:spPr>
        <p:txBody>
          <a:bodyPr anchor="ctr">
            <a:normAutofit fontScale="76131"/>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31" name="Flow label 1">
            <a:extLst>
              <a:ext uri="{FF2B5EF4-FFF2-40B4-BE49-F238E27FC236}">
                <a16:creationId xmlns:a16="http://schemas.microsoft.com/office/drawing/2014/main" id="{8D29461C-5453-478B-BC6A-0F2B24DDB298}"/>
              </a:ext>
            </a:extLst>
          </p:cNvPr>
          <p:cNvSpPr>
            <a:spLocks noGrp="1"/>
          </p:cNvSpPr>
          <p:nvPr/>
        </p:nvSpPr>
        <p:spPr>
          <a:xfrm>
            <a:off x="1390650" y="20735925"/>
            <a:ext cx="2286000" cy="36195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Erkennen</a:t>
            </a:r>
          </a:p>
        </p:txBody>
      </p:sp>
      <p:sp>
        <p:nvSpPr>
          <p:cNvPr id="32" name="Flow description 1">
            <a:extLst>
              <a:ext uri="{FF2B5EF4-FFF2-40B4-BE49-F238E27FC236}">
                <a16:creationId xmlns:a16="http://schemas.microsoft.com/office/drawing/2014/main" id="{12205074-74B1-410B-8F7E-0E886C5E8E2A}"/>
              </a:ext>
            </a:extLst>
          </p:cNvPr>
          <p:cNvSpPr>
            <a:spLocks noGrp="1"/>
          </p:cNvSpPr>
          <p:nvPr/>
        </p:nvSpPr>
        <p:spPr>
          <a:xfrm>
            <a:off x="857250" y="21231225"/>
            <a:ext cx="2838450" cy="504825"/>
          </a:xfrm>
          <a:prstGeom prst="rect">
            <a:avLst/>
          </a:prstGeom>
          <a:noFill/>
          <a:ln w="0">
            <a:noFill/>
            <a:prstDash val="solid"/>
          </a:ln>
        </p:spPr>
        <p:txBody>
          <a:bodyPr wrap="square" lIns="0" tIns="0" rIns="0" bIns="0" anchor="ctr">
            <a:normAutofit/>
          </a:bodyPr>
          <a:lstStyle/>
          <a:p>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ID, Farbe, Lage und Orientierung</a:t>
            </a:r>
          </a:p>
        </p:txBody>
      </p:sp>
      <p:sp>
        <p:nvSpPr>
          <p:cNvPr id="33" name="Flow arrow 1">
            <a:extLst>
              <a:ext uri="{FF2B5EF4-FFF2-40B4-BE49-F238E27FC236}">
                <a16:creationId xmlns:a16="http://schemas.microsoft.com/office/drawing/2014/main" id="{13470FAC-2019-45BB-A1F2-B3730B7DBF56}"/>
              </a:ext>
            </a:extLst>
          </p:cNvPr>
          <p:cNvSpPr>
            <a:spLocks noGrp="1"/>
          </p:cNvSpPr>
          <p:nvPr/>
        </p:nvSpPr>
        <p:spPr>
          <a:xfrm>
            <a:off x="4000500" y="21097875"/>
            <a:ext cx="371475" cy="333375"/>
          </a:xfrm>
          <a:prstGeom prst="rightArrow">
            <a:avLst/>
          </a:prstGeom>
          <a:solidFill>
            <a:srgbClr val="2865AF"/>
          </a:solidFill>
          <a:ln w="9525">
            <a:solidFill>
              <a:srgbClr val="2865AF"/>
            </a:solidFill>
            <a:prstDash val="solid"/>
          </a:ln>
        </p:spPr>
        <p:txBody>
          <a:bodyPr/>
          <a:lstStyle/>
          <a:p>
            <a:endParaRPr/>
          </a:p>
        </p:txBody>
      </p:sp>
      <p:sp>
        <p:nvSpPr>
          <p:cNvPr id="34" name="Flow step 2">
            <a:extLst>
              <a:ext uri="{FF2B5EF4-FFF2-40B4-BE49-F238E27FC236}">
                <a16:creationId xmlns:a16="http://schemas.microsoft.com/office/drawing/2014/main" id="{FB0DC1FF-741F-4480-A92B-38FCC9D968ED}"/>
              </a:ext>
            </a:extLst>
          </p:cNvPr>
          <p:cNvSpPr>
            <a:spLocks noGrp="1"/>
          </p:cNvSpPr>
          <p:nvPr/>
        </p:nvSpPr>
        <p:spPr>
          <a:xfrm>
            <a:off x="4495800" y="20593050"/>
            <a:ext cx="3219450" cy="1352550"/>
          </a:xfrm>
          <a:prstGeom prst="roundRect">
            <a:avLst>
              <a:gd name="adj" fmla="val 9859"/>
            </a:avLst>
          </a:prstGeom>
          <a:solidFill>
            <a:srgbClr val="EAF1F8"/>
          </a:solidFill>
          <a:ln w="9525">
            <a:solidFill>
              <a:srgbClr val="A5BEDA"/>
            </a:solidFill>
            <a:prstDash val="solid"/>
          </a:ln>
        </p:spPr>
      </p:sp>
      <p:sp>
        <p:nvSpPr>
          <p:cNvPr id="35" name="Flow number 2">
            <a:extLst>
              <a:ext uri="{FF2B5EF4-FFF2-40B4-BE49-F238E27FC236}">
                <a16:creationId xmlns:a16="http://schemas.microsoft.com/office/drawing/2014/main" id="{52A40B47-1B96-445C-8B8D-6A45D1E773D6}"/>
              </a:ext>
            </a:extLst>
          </p:cNvPr>
          <p:cNvSpPr>
            <a:spLocks noGrp="1"/>
          </p:cNvSpPr>
          <p:nvPr/>
        </p:nvSpPr>
        <p:spPr>
          <a:xfrm>
            <a:off x="4667250" y="20764500"/>
            <a:ext cx="400050" cy="400050"/>
          </a:xfrm>
          <a:prstGeom prst="ellipse">
            <a:avLst/>
          </a:prstGeom>
          <a:solidFill>
            <a:srgbClr val="2865AF"/>
          </a:solidFill>
          <a:ln w="9525">
            <a:solidFill>
              <a:srgbClr val="2865AF"/>
            </a:solidFill>
            <a:prstDash val="solid"/>
          </a:ln>
        </p:spPr>
        <p:txBody>
          <a:bodyPr anchor="ctr">
            <a:normAutofit fontScale="76131"/>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36" name="Flow label 2">
            <a:extLst>
              <a:ext uri="{FF2B5EF4-FFF2-40B4-BE49-F238E27FC236}">
                <a16:creationId xmlns:a16="http://schemas.microsoft.com/office/drawing/2014/main" id="{7E104ADA-A9C1-4EB1-9D2E-1F1CCEC3936B}"/>
              </a:ext>
            </a:extLst>
          </p:cNvPr>
          <p:cNvSpPr>
            <a:spLocks noGrp="1"/>
          </p:cNvSpPr>
          <p:nvPr/>
        </p:nvSpPr>
        <p:spPr>
          <a:xfrm>
            <a:off x="5219700" y="20735925"/>
            <a:ext cx="2286000" cy="36195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Schätzen</a:t>
            </a:r>
          </a:p>
        </p:txBody>
      </p:sp>
      <p:sp>
        <p:nvSpPr>
          <p:cNvPr id="37" name="Flow description 2">
            <a:extLst>
              <a:ext uri="{FF2B5EF4-FFF2-40B4-BE49-F238E27FC236}">
                <a16:creationId xmlns:a16="http://schemas.microsoft.com/office/drawing/2014/main" id="{ED3A6BD3-FCB8-4D9B-9EA2-04E4BE150DDB}"/>
              </a:ext>
            </a:extLst>
          </p:cNvPr>
          <p:cNvSpPr>
            <a:spLocks noGrp="1"/>
          </p:cNvSpPr>
          <p:nvPr/>
        </p:nvSpPr>
        <p:spPr>
          <a:xfrm>
            <a:off x="4686300" y="21231225"/>
            <a:ext cx="2838450" cy="504825"/>
          </a:xfrm>
          <a:prstGeom prst="rect">
            <a:avLst/>
          </a:prstGeom>
          <a:noFill/>
          <a:ln w="0">
            <a:noFill/>
            <a:prstDash val="solid"/>
          </a:ln>
        </p:spPr>
        <p:txBody>
          <a:bodyPr wrap="square" lIns="0" tIns="0" rIns="0" bIns="0" anchor="ctr">
            <a:normAutofit/>
          </a:bodyPr>
          <a:lstStyle/>
          <a:p>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Richtung und Geschwindigkeit aus Bildfolgen</a:t>
            </a:r>
          </a:p>
        </p:txBody>
      </p:sp>
      <p:sp>
        <p:nvSpPr>
          <p:cNvPr id="38" name="Flow arrow 2">
            <a:extLst>
              <a:ext uri="{FF2B5EF4-FFF2-40B4-BE49-F238E27FC236}">
                <a16:creationId xmlns:a16="http://schemas.microsoft.com/office/drawing/2014/main" id="{4648AB50-A7E0-465F-B7AC-45B131150B1C}"/>
              </a:ext>
            </a:extLst>
          </p:cNvPr>
          <p:cNvSpPr>
            <a:spLocks noGrp="1"/>
          </p:cNvSpPr>
          <p:nvPr/>
        </p:nvSpPr>
        <p:spPr>
          <a:xfrm>
            <a:off x="7829550" y="21097875"/>
            <a:ext cx="371475" cy="333375"/>
          </a:xfrm>
          <a:prstGeom prst="rightArrow">
            <a:avLst/>
          </a:prstGeom>
          <a:solidFill>
            <a:srgbClr val="2865AF"/>
          </a:solidFill>
          <a:ln w="9525">
            <a:solidFill>
              <a:srgbClr val="2865AF"/>
            </a:solidFill>
            <a:prstDash val="solid"/>
          </a:ln>
        </p:spPr>
        <p:txBody>
          <a:bodyPr/>
          <a:lstStyle/>
          <a:p>
            <a:endParaRPr/>
          </a:p>
        </p:txBody>
      </p:sp>
      <p:sp>
        <p:nvSpPr>
          <p:cNvPr id="39" name="Flow step 3">
            <a:extLst>
              <a:ext uri="{FF2B5EF4-FFF2-40B4-BE49-F238E27FC236}">
                <a16:creationId xmlns:a16="http://schemas.microsoft.com/office/drawing/2014/main" id="{856187C6-C7BE-4285-BE63-A05532540E60}"/>
              </a:ext>
            </a:extLst>
          </p:cNvPr>
          <p:cNvSpPr>
            <a:spLocks noGrp="1"/>
          </p:cNvSpPr>
          <p:nvPr/>
        </p:nvSpPr>
        <p:spPr>
          <a:xfrm>
            <a:off x="8324850" y="20593050"/>
            <a:ext cx="3219450" cy="1352550"/>
          </a:xfrm>
          <a:prstGeom prst="roundRect">
            <a:avLst>
              <a:gd name="adj" fmla="val 9859"/>
            </a:avLst>
          </a:prstGeom>
          <a:solidFill>
            <a:srgbClr val="EAF1F8"/>
          </a:solidFill>
          <a:ln w="9525">
            <a:solidFill>
              <a:srgbClr val="A5BEDA"/>
            </a:solidFill>
            <a:prstDash val="solid"/>
          </a:ln>
        </p:spPr>
      </p:sp>
      <p:sp>
        <p:nvSpPr>
          <p:cNvPr id="40" name="Flow number 3">
            <a:extLst>
              <a:ext uri="{FF2B5EF4-FFF2-40B4-BE49-F238E27FC236}">
                <a16:creationId xmlns:a16="http://schemas.microsoft.com/office/drawing/2014/main" id="{B06CBDDE-B486-40AC-83BC-7A90FD71AD84}"/>
              </a:ext>
            </a:extLst>
          </p:cNvPr>
          <p:cNvSpPr>
            <a:spLocks noGrp="1"/>
          </p:cNvSpPr>
          <p:nvPr/>
        </p:nvSpPr>
        <p:spPr>
          <a:xfrm>
            <a:off x="8496300" y="20764500"/>
            <a:ext cx="400050" cy="400050"/>
          </a:xfrm>
          <a:prstGeom prst="ellipse">
            <a:avLst/>
          </a:prstGeom>
          <a:solidFill>
            <a:srgbClr val="2865AF"/>
          </a:solidFill>
          <a:ln w="9525">
            <a:solidFill>
              <a:srgbClr val="2865AF"/>
            </a:solidFill>
            <a:prstDash val="solid"/>
          </a:ln>
        </p:spPr>
        <p:txBody>
          <a:bodyPr anchor="ctr">
            <a:normAutofit fontScale="76131"/>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41" name="Flow label 3">
            <a:extLst>
              <a:ext uri="{FF2B5EF4-FFF2-40B4-BE49-F238E27FC236}">
                <a16:creationId xmlns:a16="http://schemas.microsoft.com/office/drawing/2014/main" id="{EBB0F6EE-EEA2-4762-B6A5-681007C29708}"/>
              </a:ext>
            </a:extLst>
          </p:cNvPr>
          <p:cNvSpPr>
            <a:spLocks noGrp="1"/>
          </p:cNvSpPr>
          <p:nvPr/>
        </p:nvSpPr>
        <p:spPr>
          <a:xfrm>
            <a:off x="9048750" y="20735925"/>
            <a:ext cx="2286000" cy="36195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Auswählen</a:t>
            </a:r>
          </a:p>
        </p:txBody>
      </p:sp>
      <p:sp>
        <p:nvSpPr>
          <p:cNvPr id="42" name="Flow description 3">
            <a:extLst>
              <a:ext uri="{FF2B5EF4-FFF2-40B4-BE49-F238E27FC236}">
                <a16:creationId xmlns:a16="http://schemas.microsoft.com/office/drawing/2014/main" id="{1A74A479-992C-4CBB-B552-3038CA237FCC}"/>
              </a:ext>
            </a:extLst>
          </p:cNvPr>
          <p:cNvSpPr>
            <a:spLocks noGrp="1"/>
          </p:cNvSpPr>
          <p:nvPr/>
        </p:nvSpPr>
        <p:spPr>
          <a:xfrm>
            <a:off x="8515350" y="21231225"/>
            <a:ext cx="2838450" cy="504825"/>
          </a:xfrm>
          <a:prstGeom prst="rect">
            <a:avLst/>
          </a:prstGeom>
          <a:noFill/>
          <a:ln w="0">
            <a:noFill/>
            <a:prstDash val="solid"/>
          </a:ln>
        </p:spPr>
        <p:txBody>
          <a:bodyPr wrap="square" lIns="0" tIns="0" rIns="0" bIns="0" anchor="ctr">
            <a:normAutofit/>
          </a:bodyPr>
          <a:lstStyle/>
          <a:p>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Nur noch erreichbare Ziele zulassen</a:t>
            </a:r>
          </a:p>
        </p:txBody>
      </p:sp>
      <p:sp>
        <p:nvSpPr>
          <p:cNvPr id="43" name="Flow arrow 3">
            <a:extLst>
              <a:ext uri="{FF2B5EF4-FFF2-40B4-BE49-F238E27FC236}">
                <a16:creationId xmlns:a16="http://schemas.microsoft.com/office/drawing/2014/main" id="{199D03FF-EBCC-46F6-A0BC-01DA56A7C60D}"/>
              </a:ext>
            </a:extLst>
          </p:cNvPr>
          <p:cNvSpPr>
            <a:spLocks noGrp="1"/>
          </p:cNvSpPr>
          <p:nvPr/>
        </p:nvSpPr>
        <p:spPr>
          <a:xfrm>
            <a:off x="11658600" y="21097875"/>
            <a:ext cx="371475" cy="333375"/>
          </a:xfrm>
          <a:prstGeom prst="rightArrow">
            <a:avLst/>
          </a:prstGeom>
          <a:solidFill>
            <a:srgbClr val="2865AF"/>
          </a:solidFill>
          <a:ln w="9525">
            <a:solidFill>
              <a:srgbClr val="2865AF"/>
            </a:solidFill>
            <a:prstDash val="solid"/>
          </a:ln>
        </p:spPr>
        <p:txBody>
          <a:bodyPr/>
          <a:lstStyle/>
          <a:p>
            <a:endParaRPr/>
          </a:p>
        </p:txBody>
      </p:sp>
      <p:sp>
        <p:nvSpPr>
          <p:cNvPr id="44" name="Flow step 4">
            <a:extLst>
              <a:ext uri="{FF2B5EF4-FFF2-40B4-BE49-F238E27FC236}">
                <a16:creationId xmlns:a16="http://schemas.microsoft.com/office/drawing/2014/main" id="{34CD39A8-21E0-4142-9F41-8533BB0ADBCA}"/>
              </a:ext>
            </a:extLst>
          </p:cNvPr>
          <p:cNvSpPr>
            <a:spLocks noGrp="1"/>
          </p:cNvSpPr>
          <p:nvPr/>
        </p:nvSpPr>
        <p:spPr>
          <a:xfrm>
            <a:off x="12153900" y="20593050"/>
            <a:ext cx="3219450" cy="1352550"/>
          </a:xfrm>
          <a:prstGeom prst="roundRect">
            <a:avLst>
              <a:gd name="adj" fmla="val 9859"/>
            </a:avLst>
          </a:prstGeom>
          <a:solidFill>
            <a:srgbClr val="EAF1F8"/>
          </a:solidFill>
          <a:ln w="9525">
            <a:solidFill>
              <a:srgbClr val="A5BEDA"/>
            </a:solidFill>
            <a:prstDash val="solid"/>
          </a:ln>
        </p:spPr>
      </p:sp>
      <p:sp>
        <p:nvSpPr>
          <p:cNvPr id="45" name="Flow number 4">
            <a:extLst>
              <a:ext uri="{FF2B5EF4-FFF2-40B4-BE49-F238E27FC236}">
                <a16:creationId xmlns:a16="http://schemas.microsoft.com/office/drawing/2014/main" id="{5B47788E-5A0C-4FD9-ADA5-3224914D8855}"/>
              </a:ext>
            </a:extLst>
          </p:cNvPr>
          <p:cNvSpPr>
            <a:spLocks noGrp="1"/>
          </p:cNvSpPr>
          <p:nvPr/>
        </p:nvSpPr>
        <p:spPr>
          <a:xfrm>
            <a:off x="12325350" y="20764500"/>
            <a:ext cx="400050" cy="400050"/>
          </a:xfrm>
          <a:prstGeom prst="ellipse">
            <a:avLst/>
          </a:prstGeom>
          <a:solidFill>
            <a:srgbClr val="2865AF"/>
          </a:solidFill>
          <a:ln w="9525">
            <a:solidFill>
              <a:srgbClr val="2865AF"/>
            </a:solidFill>
            <a:prstDash val="solid"/>
          </a:ln>
        </p:spPr>
        <p:txBody>
          <a:bodyPr anchor="ctr">
            <a:normAutofit fontScale="76131"/>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46" name="Flow label 4">
            <a:extLst>
              <a:ext uri="{FF2B5EF4-FFF2-40B4-BE49-F238E27FC236}">
                <a16:creationId xmlns:a16="http://schemas.microsoft.com/office/drawing/2014/main" id="{6D3C5B2D-704C-4BDB-BC95-42914A4F2FE7}"/>
              </a:ext>
            </a:extLst>
          </p:cNvPr>
          <p:cNvSpPr>
            <a:spLocks noGrp="1"/>
          </p:cNvSpPr>
          <p:nvPr/>
        </p:nvSpPr>
        <p:spPr>
          <a:xfrm>
            <a:off x="12877800" y="20735925"/>
            <a:ext cx="2286000" cy="36195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Greifen</a:t>
            </a:r>
          </a:p>
        </p:txBody>
      </p:sp>
      <p:sp>
        <p:nvSpPr>
          <p:cNvPr id="47" name="Flow description 4">
            <a:extLst>
              <a:ext uri="{FF2B5EF4-FFF2-40B4-BE49-F238E27FC236}">
                <a16:creationId xmlns:a16="http://schemas.microsoft.com/office/drawing/2014/main" id="{2A8C75E9-1894-4D79-856F-7BCB6968C5DC}"/>
              </a:ext>
            </a:extLst>
          </p:cNvPr>
          <p:cNvSpPr>
            <a:spLocks noGrp="1"/>
          </p:cNvSpPr>
          <p:nvPr/>
        </p:nvSpPr>
        <p:spPr>
          <a:xfrm>
            <a:off x="12344400" y="21231225"/>
            <a:ext cx="2838450" cy="504825"/>
          </a:xfrm>
          <a:prstGeom prst="rect">
            <a:avLst/>
          </a:prstGeom>
          <a:noFill/>
          <a:ln w="0">
            <a:noFill/>
            <a:prstDash val="solid"/>
          </a:ln>
        </p:spPr>
        <p:txBody>
          <a:bodyPr wrap="square" lIns="0" tIns="0" rIns="0" bIns="0" anchor="ctr">
            <a:normAutofit/>
          </a:bodyPr>
          <a:lstStyle/>
          <a:p>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Folgen, schließen, anheben und ablegen</a:t>
            </a:r>
          </a:p>
        </p:txBody>
      </p:sp>
      <p:sp>
        <p:nvSpPr>
          <p:cNvPr id="48" name="Footer divider">
            <a:extLst>
              <a:ext uri="{FF2B5EF4-FFF2-40B4-BE49-F238E27FC236}">
                <a16:creationId xmlns:a16="http://schemas.microsoft.com/office/drawing/2014/main" id="{D6F3E71C-0068-4CA4-AD0A-7022541BCD6E}"/>
              </a:ext>
            </a:extLst>
          </p:cNvPr>
          <p:cNvSpPr>
            <a:spLocks noGrp="1"/>
          </p:cNvSpPr>
          <p:nvPr/>
        </p:nvSpPr>
        <p:spPr>
          <a:xfrm>
            <a:off x="666750" y="22250400"/>
            <a:ext cx="14706600" cy="0"/>
          </a:xfrm>
          <a:prstGeom prst="line">
            <a:avLst/>
          </a:prstGeom>
          <a:noFill/>
          <a:ln w="19050">
            <a:solidFill>
              <a:srgbClr val="2865AF"/>
            </a:solidFill>
            <a:prstDash val="solid"/>
          </a:ln>
        </p:spPr>
      </p:sp>
      <p:sp>
        <p:nvSpPr>
          <p:cNvPr id="49" name="Footer">
            <a:extLst>
              <a:ext uri="{FF2B5EF4-FFF2-40B4-BE49-F238E27FC236}">
                <a16:creationId xmlns:a16="http://schemas.microsoft.com/office/drawing/2014/main" id="{20639A69-F4F7-4FFD-A790-D486CF263006}"/>
              </a:ext>
            </a:extLst>
          </p:cNvPr>
          <p:cNvSpPr>
            <a:spLocks noGrp="1"/>
          </p:cNvSpPr>
          <p:nvPr/>
        </p:nvSpPr>
        <p:spPr>
          <a:xfrm>
            <a:off x="666750" y="22374225"/>
            <a:ext cx="14706600" cy="247650"/>
          </a:xfrm>
          <a:prstGeom prst="rect">
            <a:avLst/>
          </a:prstGeom>
          <a:noFill/>
          <a:ln w="0">
            <a:noFill/>
            <a:prstDash val="solid"/>
          </a:ln>
        </p:spPr>
        <p:txBody>
          <a:bodyPr wrap="square" lIns="0" tIns="0" rIns="0" bIns="0" anchor="t">
            <a:normAutofit/>
          </a:bodyPr>
          <a:lstStyle/>
          <a:p>
            <a:pPr algn="ctr">
              <a:lnSpc>
                <a:spcPct val="105000"/>
              </a:lnSpc>
              <a:buNone/>
              <a:defRPr sz="1275" b="0" i="0">
                <a:solidFill>
                  <a:srgbClr val="55616D"/>
                </a:solidFill>
                <a:latin typeface="Arial"/>
                <a:ea typeface="Arial"/>
                <a:cs typeface="Arial"/>
              </a:defRPr>
            </a:pPr>
            <a:r>
              <a:rPr sz="1275" b="0" i="0">
                <a:solidFill>
                  <a:srgbClr val="55616D"/>
                </a:solidFill>
                <a:latin typeface="Arial"/>
                <a:ea typeface="Arial"/>
                <a:cs typeface="Arial"/>
              </a:rPr>
              <a:t>Forschungs- und Entwicklungsprojekt  |  Sommer-Semester 2026</a:t>
            </a:r>
          </a:p>
        </p:txBody>
      </p:sp>
    </p:spTree>
    <p:extLst>
      <p:ext uri="{BB962C8B-B14F-4D97-AF65-F5344CB8AC3E}">
        <p14:creationId xmlns:p14="http://schemas.microsoft.com/office/powerpoint/2010/main" val="20394148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435</Words>
  <Application>Microsoft Office PowerPoint</Application>
  <DocSecurity>0</DocSecurity>
  <PresentationFormat>Benutzerdefiniert</PresentationFormat>
  <Paragraphs>54</Paragraphs>
  <Slides>1</Slides>
  <Notes>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vt:i4>
      </vt:variant>
    </vt:vector>
  </HeadingPairs>
  <TitlesOfParts>
    <vt:vector size="4" baseType="lpstr">
      <vt:lpstr>Aptos</vt:lpstr>
      <vt:lpstr>Arial</vt:lpstr>
      <vt:lpstr>ChatGPT</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Tobias Unger</cp:lastModifiedBy>
  <cp:revision>1</cp:revision>
  <dcterms:created xsi:type="dcterms:W3CDTF">2026-10-01T17:56:29Z</dcterms:created>
  <dcterms:modified xsi:type="dcterms:W3CDTF">2026-10-01T20:47:23Z</dcterms:modified>
</cp:coreProperties>
</file>