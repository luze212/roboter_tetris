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90" r:id="rId1"/>
  </p:sldMasterIdLst>
  <p:notesMasterIdLst>
    <p:notesMasterId r:id="rId3"/>
  </p:notesMasterIdLst>
  <p:sldIdLst>
    <p:sldId id="291" r:id="rId2"/>
  </p:sldIdLst>
  <p:sldSz cx="21383625" cy="30275213"/>
  <p:notesSz cx="6858000" cy="9144000"/>
  <p:embeddedFontLst>
    <p:embeddedFont>
      <p:font typeface="GT Pressura" panose="020B0604020202020204" charset="0"/>
      <p:regular r:id="rId4"/>
    </p:embeddedFont>
    <p:embeddedFont>
      <p:font typeface="GT Pressura Light" panose="020B0604020202020204" charset="0"/>
      <p:regular r:id="rId5"/>
    </p:embeddedFont>
  </p:embeddedFontLst>
  <p:defaultTextStyle>
    <a:defPPr>
      <a:defRPr lang="en-US"/>
    </a:defPPr>
    <a:lvl1pPr marL="0" algn="l" defTabSz="915040" rtl="0" eaLnBrk="1" latinLnBrk="0" hangingPunct="1">
      <a:defRPr sz="3603" kern="1200">
        <a:solidFill>
          <a:schemeClr val="tx1"/>
        </a:solidFill>
        <a:latin typeface="+mn-lt"/>
        <a:ea typeface="+mn-ea"/>
        <a:cs typeface="+mn-cs"/>
      </a:defRPr>
    </a:lvl1pPr>
    <a:lvl2pPr marL="915040" algn="l" defTabSz="915040" rtl="0" eaLnBrk="1" latinLnBrk="0" hangingPunct="1">
      <a:defRPr sz="3603" kern="1200">
        <a:solidFill>
          <a:schemeClr val="tx1"/>
        </a:solidFill>
        <a:latin typeface="+mn-lt"/>
        <a:ea typeface="+mn-ea"/>
        <a:cs typeface="+mn-cs"/>
      </a:defRPr>
    </a:lvl2pPr>
    <a:lvl3pPr marL="1830080" algn="l" defTabSz="915040" rtl="0" eaLnBrk="1" latinLnBrk="0" hangingPunct="1">
      <a:defRPr sz="3603" kern="1200">
        <a:solidFill>
          <a:schemeClr val="tx1"/>
        </a:solidFill>
        <a:latin typeface="+mn-lt"/>
        <a:ea typeface="+mn-ea"/>
        <a:cs typeface="+mn-cs"/>
      </a:defRPr>
    </a:lvl3pPr>
    <a:lvl4pPr marL="2745120" algn="l" defTabSz="915040" rtl="0" eaLnBrk="1" latinLnBrk="0" hangingPunct="1">
      <a:defRPr sz="3603" kern="1200">
        <a:solidFill>
          <a:schemeClr val="tx1"/>
        </a:solidFill>
        <a:latin typeface="+mn-lt"/>
        <a:ea typeface="+mn-ea"/>
        <a:cs typeface="+mn-cs"/>
      </a:defRPr>
    </a:lvl4pPr>
    <a:lvl5pPr marL="3660160" algn="l" defTabSz="915040" rtl="0" eaLnBrk="1" latinLnBrk="0" hangingPunct="1">
      <a:defRPr sz="3603" kern="1200">
        <a:solidFill>
          <a:schemeClr val="tx1"/>
        </a:solidFill>
        <a:latin typeface="+mn-lt"/>
        <a:ea typeface="+mn-ea"/>
        <a:cs typeface="+mn-cs"/>
      </a:defRPr>
    </a:lvl5pPr>
    <a:lvl6pPr marL="4575200" algn="l" defTabSz="915040" rtl="0" eaLnBrk="1" latinLnBrk="0" hangingPunct="1">
      <a:defRPr sz="3603" kern="1200">
        <a:solidFill>
          <a:schemeClr val="tx1"/>
        </a:solidFill>
        <a:latin typeface="+mn-lt"/>
        <a:ea typeface="+mn-ea"/>
        <a:cs typeface="+mn-cs"/>
      </a:defRPr>
    </a:lvl6pPr>
    <a:lvl7pPr marL="5490240" algn="l" defTabSz="915040" rtl="0" eaLnBrk="1" latinLnBrk="0" hangingPunct="1">
      <a:defRPr sz="3603" kern="1200">
        <a:solidFill>
          <a:schemeClr val="tx1"/>
        </a:solidFill>
        <a:latin typeface="+mn-lt"/>
        <a:ea typeface="+mn-ea"/>
        <a:cs typeface="+mn-cs"/>
      </a:defRPr>
    </a:lvl7pPr>
    <a:lvl8pPr marL="6405281" algn="l" defTabSz="915040" rtl="0" eaLnBrk="1" latinLnBrk="0" hangingPunct="1">
      <a:defRPr sz="3603" kern="1200">
        <a:solidFill>
          <a:schemeClr val="tx1"/>
        </a:solidFill>
        <a:latin typeface="+mn-lt"/>
        <a:ea typeface="+mn-ea"/>
        <a:cs typeface="+mn-cs"/>
      </a:defRPr>
    </a:lvl8pPr>
    <a:lvl9pPr marL="7320321" algn="l" defTabSz="915040" rtl="0" eaLnBrk="1" latinLnBrk="0" hangingPunct="1">
      <a:defRPr sz="3603"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69AF"/>
    <a:srgbClr val="1E4696"/>
    <a:srgbClr val="198282"/>
    <a:srgbClr val="288732"/>
    <a:srgbClr val="D72305"/>
    <a:srgbClr val="64378C"/>
    <a:srgbClr val="8C2382"/>
    <a:srgbClr val="D72300"/>
    <a:srgbClr val="EA0000"/>
    <a:srgbClr val="006B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06" autoAdjust="0"/>
    <p:restoredTop sz="96335" autoAdjust="0"/>
  </p:normalViewPr>
  <p:slideViewPr>
    <p:cSldViewPr snapToGrid="0" snapToObjects="1">
      <p:cViewPr>
        <p:scale>
          <a:sx n="35" d="100"/>
          <a:sy n="35" d="100"/>
        </p:scale>
        <p:origin x="2316" y="-19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showGuides="1">
      <p:cViewPr varScale="1">
        <p:scale>
          <a:sx n="157" d="100"/>
          <a:sy n="157" d="100"/>
        </p:scale>
        <p:origin x="3592" y="17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font" Target="fonts/font2.fntdata"/><Relationship Id="rId10" Type="http://schemas.microsoft.com/office/2016/11/relationships/changesInfo" Target="changesInfos/changesInfo1.xml"/><Relationship Id="rId4" Type="http://schemas.openxmlformats.org/officeDocument/2006/relationships/font" Target="fonts/font1.fntdata"/><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delSld">
      <pc:chgData name="Tobias Unger" userId="0a5458e38b5f4a0f" providerId="LiveId" clId="{5C6CAE59-BAC7-4E9C-B1A6-AA8C1CFC41BD}" dt="2026-10-01T20:42:29.781" v="1" actId="47"/>
      <pc:docMkLst>
        <pc:docMk/>
      </pc:docMkLst>
      <pc:sldChg chg="del">
        <pc:chgData name="Tobias Unger" userId="0a5458e38b5f4a0f" providerId="LiveId" clId="{5C6CAE59-BAC7-4E9C-B1A6-AA8C1CFC41BD}" dt="2026-10-01T20:42:29.781" v="1" actId="47"/>
        <pc:sldMkLst>
          <pc:docMk/>
          <pc:sldMk cId="4236382723" sldId="289"/>
        </pc:sldMkLst>
      </pc:sldChg>
      <pc:sldChg chg="del">
        <pc:chgData name="Tobias Unger" userId="0a5458e38b5f4a0f" providerId="LiveId" clId="{5C6CAE59-BAC7-4E9C-B1A6-AA8C1CFC41BD}" dt="2026-10-01T20:42:29.228" v="0" actId="47"/>
        <pc:sldMkLst>
          <pc:docMk/>
          <pc:sldMk cId="3100510577"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1F608-7D39-B243-AD60-D0569B8B85AE}" type="datetimeFigureOut">
              <a:rPr lang="de-DE" smtClean="0"/>
              <a:t>01.10.2026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230B4A-5605-8D48-951F-7CFBFA061AAA}" type="slidenum">
              <a:rPr lang="de-DE" smtClean="0"/>
              <a:t>‹Nr.›</a:t>
            </a:fld>
            <a:endParaRPr lang="de-DE"/>
          </a:p>
        </p:txBody>
      </p:sp>
    </p:spTree>
    <p:extLst>
      <p:ext uri="{BB962C8B-B14F-4D97-AF65-F5344CB8AC3E}">
        <p14:creationId xmlns:p14="http://schemas.microsoft.com/office/powerpoint/2010/main" val="631772626"/>
      </p:ext>
    </p:extLst>
  </p:cSld>
  <p:clrMap bg1="lt1" tx1="dk1" bg2="lt2" tx2="dk2" accent1="accent1" accent2="accent2" accent3="accent3" accent4="accent4" accent5="accent5" accent6="accent6" hlink="hlink" folHlink="folHlink"/>
  <p:notesStyle>
    <a:lvl1pPr marL="0" algn="l" defTabSz="1830080" rtl="0" eaLnBrk="1" latinLnBrk="0" hangingPunct="1">
      <a:defRPr sz="2402" kern="1200">
        <a:solidFill>
          <a:schemeClr val="tx1"/>
        </a:solidFill>
        <a:latin typeface="+mn-lt"/>
        <a:ea typeface="+mn-ea"/>
        <a:cs typeface="+mn-cs"/>
      </a:defRPr>
    </a:lvl1pPr>
    <a:lvl2pPr marL="915040" algn="l" defTabSz="1830080" rtl="0" eaLnBrk="1" latinLnBrk="0" hangingPunct="1">
      <a:defRPr sz="2402" kern="1200">
        <a:solidFill>
          <a:schemeClr val="tx1"/>
        </a:solidFill>
        <a:latin typeface="+mn-lt"/>
        <a:ea typeface="+mn-ea"/>
        <a:cs typeface="+mn-cs"/>
      </a:defRPr>
    </a:lvl2pPr>
    <a:lvl3pPr marL="1830080" algn="l" defTabSz="1830080" rtl="0" eaLnBrk="1" latinLnBrk="0" hangingPunct="1">
      <a:defRPr sz="2402" kern="1200">
        <a:solidFill>
          <a:schemeClr val="tx1"/>
        </a:solidFill>
        <a:latin typeface="+mn-lt"/>
        <a:ea typeface="+mn-ea"/>
        <a:cs typeface="+mn-cs"/>
      </a:defRPr>
    </a:lvl3pPr>
    <a:lvl4pPr marL="2745120" algn="l" defTabSz="1830080" rtl="0" eaLnBrk="1" latinLnBrk="0" hangingPunct="1">
      <a:defRPr sz="2402" kern="1200">
        <a:solidFill>
          <a:schemeClr val="tx1"/>
        </a:solidFill>
        <a:latin typeface="+mn-lt"/>
        <a:ea typeface="+mn-ea"/>
        <a:cs typeface="+mn-cs"/>
      </a:defRPr>
    </a:lvl4pPr>
    <a:lvl5pPr marL="3660160" algn="l" defTabSz="1830080" rtl="0" eaLnBrk="1" latinLnBrk="0" hangingPunct="1">
      <a:defRPr sz="2402" kern="1200">
        <a:solidFill>
          <a:schemeClr val="tx1"/>
        </a:solidFill>
        <a:latin typeface="+mn-lt"/>
        <a:ea typeface="+mn-ea"/>
        <a:cs typeface="+mn-cs"/>
      </a:defRPr>
    </a:lvl5pPr>
    <a:lvl6pPr marL="4575200" algn="l" defTabSz="1830080" rtl="0" eaLnBrk="1" latinLnBrk="0" hangingPunct="1">
      <a:defRPr sz="2402" kern="1200">
        <a:solidFill>
          <a:schemeClr val="tx1"/>
        </a:solidFill>
        <a:latin typeface="+mn-lt"/>
        <a:ea typeface="+mn-ea"/>
        <a:cs typeface="+mn-cs"/>
      </a:defRPr>
    </a:lvl6pPr>
    <a:lvl7pPr marL="5490240" algn="l" defTabSz="1830080" rtl="0" eaLnBrk="1" latinLnBrk="0" hangingPunct="1">
      <a:defRPr sz="2402" kern="1200">
        <a:solidFill>
          <a:schemeClr val="tx1"/>
        </a:solidFill>
        <a:latin typeface="+mn-lt"/>
        <a:ea typeface="+mn-ea"/>
        <a:cs typeface="+mn-cs"/>
      </a:defRPr>
    </a:lvl7pPr>
    <a:lvl8pPr marL="6405281" algn="l" defTabSz="1830080" rtl="0" eaLnBrk="1" latinLnBrk="0" hangingPunct="1">
      <a:defRPr sz="2402" kern="1200">
        <a:solidFill>
          <a:schemeClr val="tx1"/>
        </a:solidFill>
        <a:latin typeface="+mn-lt"/>
        <a:ea typeface="+mn-ea"/>
        <a:cs typeface="+mn-cs"/>
      </a:defRPr>
    </a:lvl8pPr>
    <a:lvl9pPr marL="7320321" algn="l" defTabSz="1830080" rtl="0" eaLnBrk="1" latinLnBrk="0" hangingPunct="1">
      <a:defRPr sz="240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E80BB-EF03-1EB8-9C8F-8940FC5EF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3D20F-FAA0-EE26-8338-F3AC6BE57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FA3B1-7EE7-C12A-E6EE-63EAEA92A57B}"/>
              </a:ext>
            </a:extLst>
          </p:cNvPr>
          <p:cNvSpPr>
            <a:spLocks noGrp="1"/>
          </p:cNvSpPr>
          <p:nvPr>
            <p:ph type="body" idx="1"/>
          </p:nvPr>
        </p:nvSpPr>
        <p:spPr/>
        <p:txBody>
          <a:bodyPr/>
          <a:lstStyle/>
          <a:p>
            <a:r>
              <a:rPr dirty="0" err="1"/>
              <a:t>Textbasis</a:t>
            </a:r>
            <a:r>
              <a:rPr dirty="0"/>
              <a:t>: </a:t>
            </a:r>
            <a:r>
              <a:rPr dirty="0" err="1"/>
              <a:t>Projektbericht</a:t>
            </a:r>
            <a:r>
              <a:rPr dirty="0"/>
              <a:t>/</a:t>
            </a:r>
            <a:r>
              <a:rPr dirty="0" err="1"/>
              <a:t>entwuerfe</a:t>
            </a:r>
            <a:r>
              <a:rPr dirty="0"/>
              <a:t>/berichtstext.md, </a:t>
            </a:r>
            <a:r>
              <a:rPr dirty="0" err="1"/>
              <a:t>Kapitel</a:t>
            </a:r>
            <a:r>
              <a:rPr dirty="0"/>
              <a:t> 1, 2 und 3, Stand 01.10.2026. Vorlage: 26ss_NN_Poster_Projekt_Vorlage.pptx. </a:t>
            </a:r>
            <a:r>
              <a:rPr dirty="0" err="1"/>
              <a:t>Layoutreferenz</a:t>
            </a:r>
            <a:r>
              <a:rPr dirty="0"/>
              <a:t>: 26ss_NN_Poster_Projekt_Muster.pdf. </a:t>
            </a:r>
            <a:r>
              <a:rPr dirty="0" err="1"/>
              <a:t>Abbildungen</a:t>
            </a:r>
            <a:r>
              <a:rPr dirty="0"/>
              <a:t>: </a:t>
            </a:r>
            <a:r>
              <a:rPr dirty="0" err="1"/>
              <a:t>Projektbericht</a:t>
            </a:r>
            <a:r>
              <a:rPr dirty="0"/>
              <a:t>/</a:t>
            </a:r>
            <a:r>
              <a:rPr dirty="0" err="1"/>
              <a:t>abbildungen</a:t>
            </a:r>
            <a:r>
              <a:rPr dirty="0"/>
              <a:t>/systemaufbau_draufsicht.png und fig-basecam-erkennung-roi.png. Die 50 Hz </a:t>
            </a:r>
            <a:r>
              <a:rPr dirty="0" err="1"/>
              <a:t>bezeichnen</a:t>
            </a:r>
            <a:r>
              <a:rPr dirty="0"/>
              <a:t> die </a:t>
            </a:r>
            <a:r>
              <a:rPr dirty="0" err="1"/>
              <a:t>Aktualisierung</a:t>
            </a:r>
            <a:r>
              <a:rPr dirty="0"/>
              <a:t> der </a:t>
            </a:r>
            <a:r>
              <a:rPr dirty="0" err="1"/>
              <a:t>Flansch-Zielpose</a:t>
            </a:r>
            <a:r>
              <a:rPr dirty="0"/>
              <a:t>, die 500 Hz die </a:t>
            </a:r>
            <a:r>
              <a:rPr dirty="0" err="1"/>
              <a:t>Roboterregelung</a:t>
            </a:r>
            <a:r>
              <a:rPr dirty="0"/>
              <a:t>. Die </a:t>
            </a:r>
            <a:r>
              <a:rPr dirty="0" err="1"/>
              <a:t>Prozessgrafik</a:t>
            </a:r>
            <a:r>
              <a:rPr dirty="0"/>
              <a:t> </a:t>
            </a:r>
            <a:r>
              <a:rPr dirty="0" err="1"/>
              <a:t>besteht</a:t>
            </a:r>
            <a:r>
              <a:rPr dirty="0"/>
              <a:t> </a:t>
            </a:r>
            <a:r>
              <a:rPr dirty="0" err="1"/>
              <a:t>aus</a:t>
            </a:r>
            <a:r>
              <a:rPr dirty="0"/>
              <a:t> </a:t>
            </a:r>
            <a:r>
              <a:rPr dirty="0" err="1"/>
              <a:t>nativen</a:t>
            </a:r>
            <a:r>
              <a:rPr dirty="0"/>
              <a:t> </a:t>
            </a:r>
            <a:r>
              <a:rPr dirty="0" err="1"/>
              <a:t>editierbaren</a:t>
            </a:r>
            <a:r>
              <a:rPr dirty="0"/>
              <a:t> PowerPoint-</a:t>
            </a:r>
            <a:r>
              <a:rPr dirty="0" err="1"/>
              <a:t>Elementen</a:t>
            </a:r>
            <a:r>
              <a:rPr dirty="0"/>
              <a:t>.</a:t>
            </a:r>
          </a:p>
        </p:txBody>
      </p:sp>
      <p:sp>
        <p:nvSpPr>
          <p:cNvPr id="4" name="Slide Number Placeholder 3">
            <a:extLst>
              <a:ext uri="{FF2B5EF4-FFF2-40B4-BE49-F238E27FC236}">
                <a16:creationId xmlns:a16="http://schemas.microsoft.com/office/drawing/2014/main" id="{031DB864-E595-91F0-7F08-F0CD7CDD44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1339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MT_Plakat_A3 // nurText 2">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23323825" y="16691364"/>
            <a:ext cx="0" cy="0"/>
          </a:xfrm>
          <a:prstGeom prst="rect">
            <a:avLst/>
          </a:prstGeom>
          <a:ln>
            <a:solidFill>
              <a:schemeClr val="accent1"/>
            </a:solidFill>
          </a:ln>
        </p:spPr>
        <p:txBody>
          <a:bodyPr wrap="none" rtlCol="0" anchor="b">
            <a:noAutofit/>
          </a:bodyPr>
          <a:lstStyle/>
          <a:p>
            <a:pPr algn="l"/>
            <a:endParaRPr lang="de-DE" sz="7206" dirty="0" err="1"/>
          </a:p>
        </p:txBody>
      </p:sp>
      <p:sp>
        <p:nvSpPr>
          <p:cNvPr id="15" name="Textplatzhalter 4">
            <a:extLst>
              <a:ext uri="{FF2B5EF4-FFF2-40B4-BE49-F238E27FC236}">
                <a16:creationId xmlns:a16="http://schemas.microsoft.com/office/drawing/2014/main" id="{D515786F-E9AF-8C4D-8EC2-253864FCC151}"/>
              </a:ext>
            </a:extLst>
          </p:cNvPr>
          <p:cNvSpPr>
            <a:spLocks noGrp="1"/>
          </p:cNvSpPr>
          <p:nvPr>
            <p:ph type="body" sz="quarter" idx="19" hasCustomPrompt="1"/>
          </p:nvPr>
        </p:nvSpPr>
        <p:spPr>
          <a:xfrm>
            <a:off x="720725" y="4587250"/>
            <a:ext cx="14468473" cy="5195174"/>
          </a:xfrm>
          <a:prstGeom prst="rect">
            <a:avLst/>
          </a:prstGeom>
        </p:spPr>
        <p:txBody>
          <a:bodyPr lIns="0" tIns="0" rIns="0" bIns="0" anchor="b"/>
          <a:lstStyle>
            <a:lvl1pPr marL="0" indent="0">
              <a:lnSpc>
                <a:spcPct val="100000"/>
              </a:lnSpc>
              <a:spcBef>
                <a:spcPts val="0"/>
              </a:spcBef>
              <a:buNone/>
              <a:defRPr sz="8800" b="0" i="0" baseline="0">
                <a:solidFill>
                  <a:schemeClr val="accent1"/>
                </a:solidFill>
                <a:latin typeface="GT Pressura" pitchFamily="2" charset="77"/>
              </a:defRPr>
            </a:lvl1pPr>
            <a:lvl2pPr marL="0" indent="0">
              <a:spcBef>
                <a:spcPts val="0"/>
              </a:spcBef>
              <a:buNone/>
              <a:defRPr sz="6000" b="0" i="0">
                <a:latin typeface="GT Pressura Light" pitchFamily="2" charset="77"/>
              </a:defRPr>
            </a:lvl2pPr>
          </a:lstStyle>
          <a:p>
            <a:pPr lvl="0"/>
            <a:r>
              <a:rPr lang="de-DE" dirty="0"/>
              <a:t>Projekttitel</a:t>
            </a:r>
          </a:p>
          <a:p>
            <a:pPr lvl="0"/>
            <a:r>
              <a:rPr lang="de-DE" dirty="0"/>
              <a:t>hier</a:t>
            </a:r>
          </a:p>
          <a:p>
            <a:pPr lvl="0"/>
            <a:r>
              <a:rPr lang="de-DE" dirty="0"/>
              <a:t>maximal</a:t>
            </a:r>
          </a:p>
          <a:p>
            <a:pPr lvl="0"/>
            <a:r>
              <a:rPr lang="de-DE" dirty="0"/>
              <a:t>4-zeilig</a:t>
            </a:r>
          </a:p>
        </p:txBody>
      </p:sp>
      <p:sp>
        <p:nvSpPr>
          <p:cNvPr id="2" name="Rechteck 1">
            <a:extLst>
              <a:ext uri="{FF2B5EF4-FFF2-40B4-BE49-F238E27FC236}">
                <a16:creationId xmlns:a16="http://schemas.microsoft.com/office/drawing/2014/main" id="{2F38788E-8443-4497-8D51-CC1B3085F8DF}"/>
              </a:ext>
            </a:extLst>
          </p:cNvPr>
          <p:cNvSpPr/>
          <p:nvPr userDrawn="1"/>
        </p:nvSpPr>
        <p:spPr>
          <a:xfrm>
            <a:off x="887030" y="29444110"/>
            <a:ext cx="20318399" cy="523220"/>
          </a:xfrm>
          <a:prstGeom prst="rect">
            <a:avLst/>
          </a:prstGeom>
        </p:spPr>
        <p:txBody>
          <a:bodyPr wrap="square">
            <a:spAutoFit/>
          </a:bodyPr>
          <a:lstStyle/>
          <a:p>
            <a:r>
              <a:rPr lang="de-DE" sz="2800" dirty="0">
                <a:cs typeface="Arial" charset="0"/>
              </a:rPr>
              <a:t>Hochschule Karlsruhe | Fakultät für Maschinenbau und Mechatronik | Moltkestraße 30, 76133 Karlsruhe | Tel.: 0721 925-1914/-1708</a:t>
            </a:r>
            <a:endParaRPr lang="de-DE" sz="2800" dirty="0"/>
          </a:p>
        </p:txBody>
      </p:sp>
      <p:sp>
        <p:nvSpPr>
          <p:cNvPr id="4" name="Bildplatzhalter 3">
            <a:extLst>
              <a:ext uri="{FF2B5EF4-FFF2-40B4-BE49-F238E27FC236}">
                <a16:creationId xmlns:a16="http://schemas.microsoft.com/office/drawing/2014/main" id="{D3FAB531-D6AC-4642-9BB4-70F3B417728C}"/>
              </a:ext>
            </a:extLst>
          </p:cNvPr>
          <p:cNvSpPr>
            <a:spLocks noGrp="1"/>
          </p:cNvSpPr>
          <p:nvPr>
            <p:ph type="pic" sz="quarter" idx="20"/>
          </p:nvPr>
        </p:nvSpPr>
        <p:spPr>
          <a:xfrm>
            <a:off x="11052175" y="23022203"/>
            <a:ext cx="9610724" cy="6213744"/>
          </a:xfrm>
          <a:prstGeom prst="rect">
            <a:avLst/>
          </a:prstGeom>
        </p:spPr>
        <p:txBody>
          <a:bodyPr/>
          <a:lstStyle/>
          <a:p>
            <a:endParaRPr lang="de-DE"/>
          </a:p>
        </p:txBody>
      </p:sp>
      <p:sp>
        <p:nvSpPr>
          <p:cNvPr id="6" name="Textplatzhalter 5">
            <a:extLst>
              <a:ext uri="{FF2B5EF4-FFF2-40B4-BE49-F238E27FC236}">
                <a16:creationId xmlns:a16="http://schemas.microsoft.com/office/drawing/2014/main" id="{E2114DE6-6554-445E-A657-1508121AAF3D}"/>
              </a:ext>
            </a:extLst>
          </p:cNvPr>
          <p:cNvSpPr>
            <a:spLocks noGrp="1"/>
          </p:cNvSpPr>
          <p:nvPr>
            <p:ph type="body" sz="quarter" idx="21" hasCustomPrompt="1"/>
          </p:nvPr>
        </p:nvSpPr>
        <p:spPr>
          <a:xfrm>
            <a:off x="720726" y="10356409"/>
            <a:ext cx="9610724" cy="1111907"/>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0" indent="0">
              <a:buNone/>
              <a:defRPr sz="6400" b="1">
                <a:solidFill>
                  <a:srgbClr val="2869AF"/>
                </a:solidFill>
              </a:defRPr>
            </a:lvl1pPr>
          </a:lstStyle>
          <a:p>
            <a:pPr lvl="0"/>
            <a:r>
              <a:rPr lang="de-DE" dirty="0"/>
              <a:t>Ziel des Projekts</a:t>
            </a:r>
          </a:p>
        </p:txBody>
      </p:sp>
      <p:sp>
        <p:nvSpPr>
          <p:cNvPr id="8" name="Textplatzhalter 7">
            <a:extLst>
              <a:ext uri="{FF2B5EF4-FFF2-40B4-BE49-F238E27FC236}">
                <a16:creationId xmlns:a16="http://schemas.microsoft.com/office/drawing/2014/main" id="{3115A882-9C15-4E15-96E5-42897AAB1884}"/>
              </a:ext>
            </a:extLst>
          </p:cNvPr>
          <p:cNvSpPr>
            <a:spLocks noGrp="1"/>
          </p:cNvSpPr>
          <p:nvPr>
            <p:ph type="body" sz="quarter" idx="22"/>
          </p:nvPr>
        </p:nvSpPr>
        <p:spPr>
          <a:xfrm>
            <a:off x="695324" y="11468316"/>
            <a:ext cx="9661524" cy="4355883"/>
          </a:xfrm>
          <a:prstGeom prst="rect">
            <a:avLst/>
          </a:prstGeom>
        </p:spPr>
        <p:txBody>
          <a:bodyPr/>
          <a:lstStyle>
            <a:lvl1pPr marL="0" indent="0">
              <a:buNone/>
              <a:defRPr sz="3200"/>
            </a:lvl1pPr>
            <a:lvl2pPr>
              <a:defRPr sz="3200"/>
            </a:lvl2pPr>
            <a:lvl3pPr>
              <a:defRPr sz="3200"/>
            </a:lvl3pPr>
            <a:lvl4pPr>
              <a:defRPr sz="3200"/>
            </a:lvl4pPr>
            <a:lvl5pPr>
              <a:defRPr sz="32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extplatzhalter 9">
            <a:extLst>
              <a:ext uri="{FF2B5EF4-FFF2-40B4-BE49-F238E27FC236}">
                <a16:creationId xmlns:a16="http://schemas.microsoft.com/office/drawing/2014/main" id="{F714E098-9AD3-4FB4-96C7-704DAACC0E18}"/>
              </a:ext>
            </a:extLst>
          </p:cNvPr>
          <p:cNvSpPr>
            <a:spLocks noGrp="1"/>
          </p:cNvSpPr>
          <p:nvPr>
            <p:ph type="body" sz="quarter" idx="23" hasCustomPrompt="1"/>
          </p:nvPr>
        </p:nvSpPr>
        <p:spPr>
          <a:xfrm>
            <a:off x="669923" y="16155716"/>
            <a:ext cx="9661526" cy="1154566"/>
          </a:xfrm>
          <a:prstGeom prst="rect">
            <a:avLst/>
          </a:prstGeom>
        </p:spPr>
        <p:txBody>
          <a:bodyPr/>
          <a:lstStyle>
            <a:lvl1pPr marL="0" indent="0">
              <a:buNone/>
              <a:defRPr sz="6400" b="1">
                <a:solidFill>
                  <a:srgbClr val="2869AF"/>
                </a:solidFill>
              </a:defRPr>
            </a:lvl1pPr>
          </a:lstStyle>
          <a:p>
            <a:pPr lvl="0"/>
            <a:r>
              <a:rPr lang="de-DE" dirty="0"/>
              <a:t>Vorgehensweise</a:t>
            </a:r>
          </a:p>
        </p:txBody>
      </p:sp>
      <p:sp>
        <p:nvSpPr>
          <p:cNvPr id="12" name="Textplatzhalter 11">
            <a:extLst>
              <a:ext uri="{FF2B5EF4-FFF2-40B4-BE49-F238E27FC236}">
                <a16:creationId xmlns:a16="http://schemas.microsoft.com/office/drawing/2014/main" id="{203797CD-4A12-46A8-ACFA-0619E93FD4AA}"/>
              </a:ext>
            </a:extLst>
          </p:cNvPr>
          <p:cNvSpPr>
            <a:spLocks noGrp="1"/>
          </p:cNvSpPr>
          <p:nvPr>
            <p:ph type="body" sz="quarter" idx="24"/>
          </p:nvPr>
        </p:nvSpPr>
        <p:spPr>
          <a:xfrm>
            <a:off x="717550" y="17316032"/>
            <a:ext cx="9661524" cy="5195174"/>
          </a:xfrm>
          <a:prstGeom prst="rect">
            <a:avLst/>
          </a:prstGeom>
        </p:spPr>
        <p:txBody>
          <a:bodyPr/>
          <a:lstStyle>
            <a:lvl1pPr marL="0" indent="0">
              <a:buNone/>
              <a:defRPr sz="3200"/>
            </a:lvl1pPr>
            <a:lvl2pPr>
              <a:defRPr sz="3200"/>
            </a:lvl2pPr>
            <a:lvl3pPr>
              <a:defRPr sz="3200"/>
            </a:lvl3pPr>
            <a:lvl4pPr>
              <a:defRPr sz="3200"/>
            </a:lvl4pPr>
            <a:lvl5pPr>
              <a:defRPr sz="32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6" name="Textplatzhalter 15">
            <a:extLst>
              <a:ext uri="{FF2B5EF4-FFF2-40B4-BE49-F238E27FC236}">
                <a16:creationId xmlns:a16="http://schemas.microsoft.com/office/drawing/2014/main" id="{2056D627-49CE-49D1-8DC8-827CAC547A71}"/>
              </a:ext>
            </a:extLst>
          </p:cNvPr>
          <p:cNvSpPr>
            <a:spLocks noGrp="1"/>
          </p:cNvSpPr>
          <p:nvPr>
            <p:ph type="body" sz="quarter" idx="25" hasCustomPrompt="1"/>
          </p:nvPr>
        </p:nvSpPr>
        <p:spPr>
          <a:xfrm>
            <a:off x="11046229" y="10356409"/>
            <a:ext cx="9610724" cy="1111907"/>
          </a:xfrm>
          <a:prstGeom prst="rect">
            <a:avLst/>
          </a:prstGeom>
        </p:spPr>
        <p:txBody>
          <a:bodyPr/>
          <a:lstStyle>
            <a:lvl1pPr marL="0" indent="0">
              <a:buNone/>
              <a:defRPr sz="6400" b="1">
                <a:solidFill>
                  <a:srgbClr val="2869AF"/>
                </a:solidFill>
              </a:defRPr>
            </a:lvl1pPr>
            <a:lvl2pPr marL="914400" indent="0">
              <a:buNone/>
              <a:defRPr/>
            </a:lvl2pPr>
          </a:lstStyle>
          <a:p>
            <a:pPr lvl="0"/>
            <a:r>
              <a:rPr lang="de-DE" dirty="0"/>
              <a:t>Beschreibung</a:t>
            </a:r>
          </a:p>
        </p:txBody>
      </p:sp>
      <p:sp>
        <p:nvSpPr>
          <p:cNvPr id="20" name="Textplatzhalter 19">
            <a:extLst>
              <a:ext uri="{FF2B5EF4-FFF2-40B4-BE49-F238E27FC236}">
                <a16:creationId xmlns:a16="http://schemas.microsoft.com/office/drawing/2014/main" id="{7E97168C-1454-42B3-A687-87B219414C60}"/>
              </a:ext>
            </a:extLst>
          </p:cNvPr>
          <p:cNvSpPr>
            <a:spLocks noGrp="1"/>
          </p:cNvSpPr>
          <p:nvPr>
            <p:ph type="body" sz="quarter" idx="26" hasCustomPrompt="1"/>
          </p:nvPr>
        </p:nvSpPr>
        <p:spPr>
          <a:xfrm>
            <a:off x="669926" y="23081700"/>
            <a:ext cx="9661524" cy="1278966"/>
          </a:xfrm>
          <a:prstGeom prst="rect">
            <a:avLst/>
          </a:prstGeom>
        </p:spPr>
        <p:txBody>
          <a:bodyPr/>
          <a:lstStyle>
            <a:lvl1pPr marL="0" indent="0">
              <a:buNone/>
              <a:defRPr sz="6400" b="1">
                <a:solidFill>
                  <a:srgbClr val="2869AF"/>
                </a:solidFill>
              </a:defRPr>
            </a:lvl1pPr>
          </a:lstStyle>
          <a:p>
            <a:pPr lvl="0"/>
            <a:r>
              <a:rPr lang="de-DE" dirty="0"/>
              <a:t>Projektinformation</a:t>
            </a:r>
          </a:p>
        </p:txBody>
      </p:sp>
      <p:sp>
        <p:nvSpPr>
          <p:cNvPr id="24" name="Bildplatzhalter 23">
            <a:extLst>
              <a:ext uri="{FF2B5EF4-FFF2-40B4-BE49-F238E27FC236}">
                <a16:creationId xmlns:a16="http://schemas.microsoft.com/office/drawing/2014/main" id="{E8986ABE-93C1-4A34-9B4C-EC19982C1B96}"/>
              </a:ext>
            </a:extLst>
          </p:cNvPr>
          <p:cNvSpPr>
            <a:spLocks noGrp="1"/>
          </p:cNvSpPr>
          <p:nvPr>
            <p:ph type="pic" sz="quarter" idx="28"/>
          </p:nvPr>
        </p:nvSpPr>
        <p:spPr>
          <a:xfrm>
            <a:off x="11052175" y="16155713"/>
            <a:ext cx="9610724" cy="6355491"/>
          </a:xfrm>
          <a:prstGeom prst="rect">
            <a:avLst/>
          </a:prstGeom>
        </p:spPr>
        <p:txBody>
          <a:bodyPr/>
          <a:lstStyle/>
          <a:p>
            <a:endParaRPr lang="de-DE"/>
          </a:p>
        </p:txBody>
      </p:sp>
      <p:sp>
        <p:nvSpPr>
          <p:cNvPr id="26" name="Textplatzhalter 25">
            <a:extLst>
              <a:ext uri="{FF2B5EF4-FFF2-40B4-BE49-F238E27FC236}">
                <a16:creationId xmlns:a16="http://schemas.microsoft.com/office/drawing/2014/main" id="{DB546EA5-57D0-45E8-882B-7986913379F5}"/>
              </a:ext>
            </a:extLst>
          </p:cNvPr>
          <p:cNvSpPr>
            <a:spLocks noGrp="1"/>
          </p:cNvSpPr>
          <p:nvPr>
            <p:ph type="body" sz="quarter" idx="29" hasCustomPrompt="1"/>
          </p:nvPr>
        </p:nvSpPr>
        <p:spPr>
          <a:xfrm>
            <a:off x="11074401" y="11468316"/>
            <a:ext cx="9613900" cy="4355883"/>
          </a:xfrm>
          <a:prstGeom prst="rect">
            <a:avLst/>
          </a:prstGeom>
        </p:spPr>
        <p:txBody>
          <a:bodyPr/>
          <a:lstStyle>
            <a:lvl1pPr marL="0" indent="0">
              <a:buNone/>
              <a:defRPr sz="3200"/>
            </a:lvl1pPr>
          </a:lstStyle>
          <a:p>
            <a:pPr lvl="0"/>
            <a:r>
              <a:rPr lang="de-DE" dirty="0"/>
              <a:t>Beschreibung Fotos/Grafiken/Tabellen; ggf. Bildquelle</a:t>
            </a:r>
          </a:p>
        </p:txBody>
      </p:sp>
    </p:spTree>
    <p:extLst>
      <p:ext uri="{BB962C8B-B14F-4D97-AF65-F5344CB8AC3E}">
        <p14:creationId xmlns:p14="http://schemas.microsoft.com/office/powerpoint/2010/main" val="85928894"/>
      </p:ext>
    </p:extLst>
  </p:cSld>
  <p:clrMapOvr>
    <a:masterClrMapping/>
  </p:clrMapOvr>
  <p:extLst>
    <p:ext uri="{DCECCB84-F9BA-43D5-87BE-67443E8EF086}">
      <p15:sldGuideLst xmlns:p15="http://schemas.microsoft.com/office/powerpoint/2012/main">
        <p15:guide id="1" orient="horz" pos="771" userDrawn="1">
          <p15:clr>
            <a:srgbClr val="FBAE40"/>
          </p15:clr>
        </p15:guide>
        <p15:guide id="2" pos="452" userDrawn="1">
          <p15:clr>
            <a:srgbClr val="FBAE40"/>
          </p15:clr>
        </p15:guide>
        <p15:guide id="3" pos="13018" userDrawn="1">
          <p15:clr>
            <a:srgbClr val="FBAE40"/>
          </p15:clr>
        </p15:guide>
        <p15:guide id="4" orient="horz" pos="18618" userDrawn="1">
          <p15:clr>
            <a:srgbClr val="FBAE40"/>
          </p15:clr>
        </p15:guide>
        <p15:guide id="5" orient="horz" pos="17709" userDrawn="1">
          <p15:clr>
            <a:srgbClr val="FBAE40"/>
          </p15:clr>
        </p15:guide>
        <p15:guide id="6" orient="horz" pos="3632" userDrawn="1">
          <p15:clr>
            <a:srgbClr val="FBAE40"/>
          </p15:clr>
        </p15:guide>
        <p15:guide id="7" orient="horz" pos="17029" userDrawn="1">
          <p15:clr>
            <a:srgbClr val="FBAE40"/>
          </p15:clr>
        </p15:guide>
        <p15:guide id="8" orient="horz" pos="14532" userDrawn="1">
          <p15:clr>
            <a:srgbClr val="FBAE40"/>
          </p15:clr>
        </p15:guide>
        <p15:guide id="9" orient="horz" pos="15076" userDrawn="1">
          <p15:clr>
            <a:srgbClr val="FBAE40"/>
          </p15:clr>
        </p15:guide>
        <p15:guide id="10" orient="horz" pos="12443" userDrawn="1">
          <p15:clr>
            <a:srgbClr val="FBAE40"/>
          </p15:clr>
        </p15:guide>
        <p15:guide id="11" orient="horz" pos="11988" userDrawn="1">
          <p15:clr>
            <a:srgbClr val="FBAE40"/>
          </p15:clr>
        </p15:guide>
        <p15:guide id="12" pos="6962" userDrawn="1">
          <p15:clr>
            <a:srgbClr val="FBAE40"/>
          </p15:clr>
        </p15:guide>
        <p15:guide id="13" pos="6508" userDrawn="1">
          <p15:clr>
            <a:srgbClr val="FBAE40"/>
          </p15:clr>
        </p15:guide>
        <p15:guide id="14" orient="horz" pos="2405"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sv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file:////Users/dp82/Dropbox/KUNDE_HKA%20&#8211;%20Hochschule%20Karlsruhe/04_Gestaltung/Logos%20Intern/RGB/HKA_MMT_H_RGB.svg" TargetMode="External"/><Relationship Id="rId5" Type="http://schemas.openxmlformats.org/officeDocument/2006/relationships/image" Target="../media/image2.svg"/><Relationship Id="rId4" Type="http://schemas.openxmlformats.org/officeDocument/2006/relationships/image" Target="file:////Users/dp82/Dropbox/KUNDE_HKA%20&#8211;%20Hochschule%20Karlsruhe/04_Gestaltung/Logos/Fakulta&#776;ten/MMT/RGB/HKA_MMT_Wortmarke_RGB.jp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8435BA49-37BB-F34C-A71D-7379707485B1}"/>
              </a:ext>
            </a:extLst>
          </p:cNvPr>
          <p:cNvPicPr>
            <a:picLocks noChangeAspect="1"/>
          </p:cNvPicPr>
          <p:nvPr userDrawn="1"/>
        </p:nvPicPr>
        <p:blipFill>
          <a:blip r:embed="rId3" r:link="rId4"/>
          <a:stretch>
            <a:fillRect/>
          </a:stretch>
        </p:blipFill>
        <p:spPr>
          <a:xfrm>
            <a:off x="754284" y="1309476"/>
            <a:ext cx="4330964" cy="2416893"/>
          </a:xfrm>
          <a:prstGeom prst="rect">
            <a:avLst/>
          </a:prstGeom>
        </p:spPr>
      </p:pic>
      <p:pic>
        <p:nvPicPr>
          <p:cNvPr id="16" name="Grafik 15">
            <a:extLst>
              <a:ext uri="{FF2B5EF4-FFF2-40B4-BE49-F238E27FC236}">
                <a16:creationId xmlns:a16="http://schemas.microsoft.com/office/drawing/2014/main" id="{0E6A0539-61AA-064F-930E-8707F98F03F9}"/>
              </a:ext>
            </a:extLst>
          </p:cNvPr>
          <p:cNvPicPr>
            <a:picLocks noChangeAspect="1"/>
          </p:cNvPicPr>
          <p:nvPr userDrawn="1"/>
        </p:nvPicPr>
        <p:blipFill>
          <a:blip>
            <a:extLst>
              <a:ext uri="{96DAC541-7B7A-43D3-8B79-37D633B846F1}">
                <asvg:svgBlip xmlns:asvg="http://schemas.microsoft.com/office/drawing/2016/SVG/main" r:embed="rId5" r:link="rId6"/>
              </a:ext>
            </a:extLst>
          </a:blip>
          <a:stretch>
            <a:fillRect/>
          </a:stretch>
        </p:blipFill>
        <p:spPr>
          <a:xfrm>
            <a:off x="16417919" y="1265935"/>
            <a:ext cx="3574192" cy="2412478"/>
          </a:xfrm>
          <a:prstGeom prst="rect">
            <a:avLst/>
          </a:prstGeom>
        </p:spPr>
      </p:pic>
      <p:pic>
        <p:nvPicPr>
          <p:cNvPr id="4" name="Grafik 3">
            <a:extLst>
              <a:ext uri="{FF2B5EF4-FFF2-40B4-BE49-F238E27FC236}">
                <a16:creationId xmlns:a16="http://schemas.microsoft.com/office/drawing/2014/main" id="{EE4EB7A6-250C-45B0-8DAF-3AAA7D1BC076}"/>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6394165" y="3654696"/>
            <a:ext cx="3574192" cy="5950777"/>
          </a:xfrm>
          <a:prstGeom prst="rect">
            <a:avLst/>
          </a:prstGeom>
        </p:spPr>
      </p:pic>
    </p:spTree>
    <p:extLst>
      <p:ext uri="{BB962C8B-B14F-4D97-AF65-F5344CB8AC3E}">
        <p14:creationId xmlns:p14="http://schemas.microsoft.com/office/powerpoint/2010/main" val="3417038807"/>
      </p:ext>
    </p:extLst>
  </p:cSld>
  <p:clrMap bg1="lt1" tx1="dk1" bg2="lt2" tx2="dk2" accent1="accent1" accent2="accent2" accent3="accent3" accent4="accent4" accent5="accent5" accent6="accent6" hlink="hlink" folHlink="folHlink"/>
  <p:sldLayoutIdLst>
    <p:sldLayoutId id="2147483713" r:id="rId1"/>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de-DE"/>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85CD-484E-DF72-F681-ACA99ADD58D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83DA2DA7-24EE-C196-E3F2-E1D425F214E7}"/>
              </a:ext>
            </a:extLst>
          </p:cNvPr>
          <p:cNvSpPr>
            <a:spLocks noGrp="1"/>
          </p:cNvSpPr>
          <p:nvPr>
            <p:ph type="body" sz="quarter" idx="19"/>
          </p:nvPr>
        </p:nvSpPr>
        <p:spPr>
          <a:xfrm>
            <a:off x="723900" y="4114800"/>
            <a:ext cx="14468475" cy="279082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8800" b="0">
                <a:solidFill>
                  <a:srgbClr val="2869AF"/>
                </a:solidFill>
                <a:latin typeface="GT Pressura"/>
                <a:ea typeface="GT Pressura"/>
                <a:cs typeface="GT Pressura"/>
              </a:defRPr>
            </a:pPr>
            <a:r>
              <a:rPr sz="8800" b="0" dirty="0">
                <a:solidFill>
                  <a:srgbClr val="2869AF"/>
                </a:solidFill>
                <a:latin typeface="GT Pressura"/>
                <a:ea typeface="GT Pressura"/>
                <a:cs typeface="GT Pressura"/>
              </a:rPr>
              <a:t>Inverses „Tetris“</a:t>
            </a:r>
            <a:r>
              <a:rPr lang="de-DE" sz="8800" b="0" dirty="0">
                <a:solidFill>
                  <a:srgbClr val="2869AF"/>
                </a:solidFill>
                <a:latin typeface="GT Pressura"/>
                <a:ea typeface="GT Pressura"/>
                <a:cs typeface="GT Pressura"/>
              </a:rPr>
              <a:t> </a:t>
            </a:r>
            <a:r>
              <a:rPr sz="8800" b="0" dirty="0">
                <a:solidFill>
                  <a:srgbClr val="2869AF"/>
                </a:solidFill>
                <a:latin typeface="GT Pressura"/>
                <a:ea typeface="GT Pressura"/>
                <a:cs typeface="GT Pressura"/>
              </a:rPr>
              <a:t>für </a:t>
            </a:r>
            <a:r>
              <a:rPr sz="8800" b="0" dirty="0" err="1">
                <a:solidFill>
                  <a:srgbClr val="2869AF"/>
                </a:solidFill>
                <a:latin typeface="GT Pressura"/>
                <a:ea typeface="GT Pressura"/>
                <a:cs typeface="GT Pressura"/>
              </a:rPr>
              <a:t>Roboter</a:t>
            </a:r>
            <a:endParaRPr sz="8800" b="0" dirty="0">
              <a:solidFill>
                <a:srgbClr val="2869AF"/>
              </a:solidFill>
              <a:latin typeface="GT Pressura"/>
              <a:ea typeface="GT Pressura"/>
              <a:cs typeface="GT Pressura"/>
            </a:endParaRPr>
          </a:p>
        </p:txBody>
      </p:sp>
      <p:sp>
        <p:nvSpPr>
          <p:cNvPr id="1001" name="poster-subtitle">
            <a:extLst>
              <a:ext uri="{FF2B5EF4-FFF2-40B4-BE49-F238E27FC236}">
                <a16:creationId xmlns:a16="http://schemas.microsoft.com/office/drawing/2014/main" id="{595B2E16-BEBE-EB99-F3C5-10BAFF89EDA4}"/>
              </a:ext>
            </a:extLst>
          </p:cNvPr>
          <p:cNvSpPr>
            <a:spLocks noGrp="1"/>
          </p:cNvSpPr>
          <p:nvPr/>
        </p:nvSpPr>
        <p:spPr>
          <a:xfrm>
            <a:off x="723900" y="5622798"/>
            <a:ext cx="14468475" cy="15430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4800" b="0">
                <a:solidFill>
                  <a:srgbClr val="2869AF"/>
                </a:solidFill>
                <a:latin typeface="GT Pressura"/>
                <a:ea typeface="GT Pressura"/>
                <a:cs typeface="GT Pressura"/>
              </a:defRPr>
            </a:pPr>
            <a:r>
              <a:rPr sz="4800" b="0" dirty="0">
                <a:solidFill>
                  <a:srgbClr val="2869AF"/>
                </a:solidFill>
                <a:latin typeface="GT Pressura"/>
                <a:ea typeface="GT Pressura"/>
                <a:cs typeface="GT Pressura"/>
              </a:rPr>
              <a:t>„On the Fly“-Picking </a:t>
            </a:r>
            <a:r>
              <a:rPr sz="4800" b="0" dirty="0" err="1">
                <a:solidFill>
                  <a:srgbClr val="2869AF"/>
                </a:solidFill>
                <a:latin typeface="GT Pressura"/>
                <a:ea typeface="GT Pressura"/>
                <a:cs typeface="GT Pressura"/>
              </a:rPr>
              <a:t>bei</a:t>
            </a:r>
            <a:r>
              <a:rPr sz="4800" b="0" dirty="0">
                <a:solidFill>
                  <a:srgbClr val="2869AF"/>
                </a:solidFill>
                <a:latin typeface="GT Pressura"/>
                <a:ea typeface="GT Pressura"/>
                <a:cs typeface="GT Pressura"/>
              </a:rPr>
              <a:t> </a:t>
            </a:r>
            <a:r>
              <a:rPr sz="4800" b="0" dirty="0" err="1">
                <a:solidFill>
                  <a:srgbClr val="2869AF"/>
                </a:solidFill>
                <a:latin typeface="GT Pressura"/>
                <a:ea typeface="GT Pressura"/>
                <a:cs typeface="GT Pressura"/>
              </a:rPr>
              <a:t>verschiedenen</a:t>
            </a:r>
            <a:endParaRPr sz="4800" b="0" dirty="0">
              <a:solidFill>
                <a:srgbClr val="2869AF"/>
              </a:solidFill>
              <a:latin typeface="GT Pressura"/>
              <a:ea typeface="GT Pressura"/>
              <a:cs typeface="GT Pressura"/>
            </a:endParaRPr>
          </a:p>
          <a:p>
            <a:pPr algn="l">
              <a:lnSpc>
                <a:spcPct val="106000"/>
              </a:lnSpc>
              <a:spcBef>
                <a:spcPts val="0"/>
              </a:spcBef>
              <a:spcAft>
                <a:spcPts val="0"/>
              </a:spcAft>
              <a:buNone/>
              <a:defRPr sz="4800" b="0">
                <a:solidFill>
                  <a:srgbClr val="2869AF"/>
                </a:solidFill>
                <a:latin typeface="GT Pressura"/>
                <a:ea typeface="GT Pressura"/>
                <a:cs typeface="GT Pressura"/>
              </a:defRPr>
            </a:pPr>
            <a:r>
              <a:rPr sz="4800" b="0" dirty="0" err="1">
                <a:solidFill>
                  <a:srgbClr val="2869AF"/>
                </a:solidFill>
                <a:latin typeface="GT Pressura"/>
                <a:ea typeface="GT Pressura"/>
                <a:cs typeface="GT Pressura"/>
              </a:rPr>
              <a:t>Geschwindigkeiten</a:t>
            </a:r>
            <a:r>
              <a:rPr sz="4800" b="0" dirty="0">
                <a:solidFill>
                  <a:srgbClr val="2869AF"/>
                </a:solidFill>
                <a:latin typeface="GT Pressura"/>
                <a:ea typeface="GT Pressura"/>
                <a:cs typeface="GT Pressura"/>
              </a:rPr>
              <a:t> des </a:t>
            </a:r>
            <a:r>
              <a:rPr sz="4800" b="0" dirty="0" err="1">
                <a:solidFill>
                  <a:srgbClr val="2869AF"/>
                </a:solidFill>
                <a:latin typeface="GT Pressura"/>
                <a:ea typeface="GT Pressura"/>
                <a:cs typeface="GT Pressura"/>
              </a:rPr>
              <a:t>Förderbands</a:t>
            </a:r>
            <a:endParaRPr sz="4800" b="0" dirty="0">
              <a:solidFill>
                <a:srgbClr val="2869AF"/>
              </a:solidFill>
              <a:latin typeface="GT Pressura"/>
              <a:ea typeface="GT Pressura"/>
              <a:cs typeface="GT Pressura"/>
            </a:endParaRPr>
          </a:p>
        </p:txBody>
      </p:sp>
      <p:sp>
        <p:nvSpPr>
          <p:cNvPr id="1002" name="poster-descriptor">
            <a:extLst>
              <a:ext uri="{FF2B5EF4-FFF2-40B4-BE49-F238E27FC236}">
                <a16:creationId xmlns:a16="http://schemas.microsoft.com/office/drawing/2014/main" id="{BB74ACB0-F9D1-4B78-C994-BA95D3DC6389}"/>
              </a:ext>
            </a:extLst>
          </p:cNvPr>
          <p:cNvSpPr>
            <a:spLocks noGrp="1"/>
          </p:cNvSpPr>
          <p:nvPr/>
        </p:nvSpPr>
        <p:spPr>
          <a:xfrm>
            <a:off x="723900" y="7399401"/>
            <a:ext cx="14468475" cy="10668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1" dirty="0" err="1">
                <a:solidFill>
                  <a:srgbClr val="141414"/>
                </a:solidFill>
                <a:latin typeface="Calibri"/>
                <a:ea typeface="Calibri"/>
                <a:cs typeface="Calibri"/>
              </a:rPr>
              <a:t>Greifen</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unterschiedlich</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großer</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farbiger</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Klötze</a:t>
            </a:r>
            <a:r>
              <a:rPr sz="3200" b="1" dirty="0">
                <a:solidFill>
                  <a:srgbClr val="141414"/>
                </a:solidFill>
                <a:latin typeface="Calibri"/>
                <a:ea typeface="Calibri"/>
                <a:cs typeface="Calibri"/>
              </a:rPr>
              <a:t> von </a:t>
            </a:r>
            <a:r>
              <a:rPr sz="3200" b="1" dirty="0" err="1">
                <a:solidFill>
                  <a:srgbClr val="141414"/>
                </a:solidFill>
                <a:latin typeface="Calibri"/>
                <a:ea typeface="Calibri"/>
                <a:cs typeface="Calibri"/>
              </a:rPr>
              <a:t>einem</a:t>
            </a:r>
            <a:endParaRPr sz="3200" b="1" dirty="0">
              <a:solidFill>
                <a:srgbClr val="141414"/>
              </a:solidFill>
              <a:latin typeface="Calibri"/>
              <a:ea typeface="Calibri"/>
              <a:cs typeface="Calibri"/>
            </a:endParaRPr>
          </a:p>
          <a:p>
            <a:pPr algn="l">
              <a:lnSpc>
                <a:spcPct val="106000"/>
              </a:lnSpc>
              <a:spcBef>
                <a:spcPts val="0"/>
              </a:spcBef>
              <a:spcAft>
                <a:spcPts val="0"/>
              </a:spcAft>
              <a:buNone/>
              <a:defRPr sz="3200" b="0">
                <a:solidFill>
                  <a:srgbClr val="141414"/>
                </a:solidFill>
                <a:latin typeface="Calibri"/>
                <a:ea typeface="Calibri"/>
                <a:cs typeface="Calibri"/>
              </a:defRPr>
            </a:pPr>
            <a:r>
              <a:rPr sz="3200" b="1" dirty="0" err="1">
                <a:solidFill>
                  <a:srgbClr val="141414"/>
                </a:solidFill>
                <a:latin typeface="Calibri"/>
                <a:ea typeface="Calibri"/>
                <a:cs typeface="Calibri"/>
              </a:rPr>
              <a:t>laufenden</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Förderband</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mit</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einem</a:t>
            </a:r>
            <a:r>
              <a:rPr sz="3200" b="1" dirty="0">
                <a:solidFill>
                  <a:srgbClr val="141414"/>
                </a:solidFill>
                <a:latin typeface="Calibri"/>
                <a:ea typeface="Calibri"/>
                <a:cs typeface="Calibri"/>
              </a:rPr>
              <a:t> UR10e</a:t>
            </a:r>
          </a:p>
        </p:txBody>
      </p:sp>
      <p:sp>
        <p:nvSpPr>
          <p:cNvPr id="4" name="Textplatzhalter 3">
            <a:extLst>
              <a:ext uri="{FF2B5EF4-FFF2-40B4-BE49-F238E27FC236}">
                <a16:creationId xmlns:a16="http://schemas.microsoft.com/office/drawing/2014/main" id="{156F77B4-746F-98B1-BFED-57EC21D94D1B}"/>
              </a:ext>
            </a:extLst>
          </p:cNvPr>
          <p:cNvSpPr>
            <a:spLocks noGrp="1"/>
          </p:cNvSpPr>
          <p:nvPr>
            <p:ph type="body" sz="quarter" idx="21"/>
          </p:nvPr>
        </p:nvSpPr>
        <p:spPr>
          <a:xfrm>
            <a:off x="723900" y="9457563"/>
            <a:ext cx="9658350" cy="10953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a:solidFill>
                  <a:srgbClr val="2869AF"/>
                </a:solidFill>
                <a:latin typeface="Calibri"/>
                <a:ea typeface="Calibri"/>
                <a:cs typeface="Calibri"/>
              </a:rPr>
              <a:t>Ziel des </a:t>
            </a:r>
            <a:r>
              <a:rPr sz="6400" b="1" dirty="0" err="1">
                <a:solidFill>
                  <a:srgbClr val="2869AF"/>
                </a:solidFill>
                <a:latin typeface="Calibri"/>
                <a:ea typeface="Calibri"/>
                <a:cs typeface="Calibri"/>
              </a:rPr>
              <a:t>Projekts</a:t>
            </a:r>
            <a:r>
              <a:rPr lang="de-DE" sz="6400" b="1" dirty="0">
                <a:solidFill>
                  <a:srgbClr val="2869AF"/>
                </a:solidFill>
                <a:latin typeface="Calibri"/>
                <a:ea typeface="Calibri"/>
                <a:cs typeface="Calibri"/>
              </a:rPr>
              <a:t> </a:t>
            </a:r>
            <a:endParaRPr sz="6400" b="1" dirty="0">
              <a:solidFill>
                <a:srgbClr val="2869AF"/>
              </a:solidFill>
              <a:latin typeface="Calibri"/>
              <a:ea typeface="Calibri"/>
              <a:cs typeface="Calibri"/>
            </a:endParaRPr>
          </a:p>
        </p:txBody>
      </p:sp>
      <p:sp>
        <p:nvSpPr>
          <p:cNvPr id="5" name="Textplatzhalter 4">
            <a:extLst>
              <a:ext uri="{FF2B5EF4-FFF2-40B4-BE49-F238E27FC236}">
                <a16:creationId xmlns:a16="http://schemas.microsoft.com/office/drawing/2014/main" id="{7A76F431-04E3-51A3-2696-2F0D13D572A3}"/>
              </a:ext>
            </a:extLst>
          </p:cNvPr>
          <p:cNvSpPr>
            <a:spLocks noGrp="1"/>
          </p:cNvSpPr>
          <p:nvPr>
            <p:ph type="body" sz="quarter" idx="22"/>
          </p:nvPr>
        </p:nvSpPr>
        <p:spPr>
          <a:xfrm>
            <a:off x="723900" y="10429494"/>
            <a:ext cx="9658350" cy="4722114"/>
          </a:xfrm>
          <a:prstGeom prst="rect">
            <a:avLst/>
          </a:prstGeom>
          <a:noFill/>
          <a:ln w="0">
            <a:noFill/>
          </a:ln>
        </p:spPr>
        <p:txBody>
          <a:bodyPr wrap="square" lIns="0" tIns="0" rIns="0" bIns="0" anchor="t">
            <a:noAutofit/>
          </a:bodyPr>
          <a:lstStyle/>
          <a:p>
            <a:pPr algn="just">
              <a:lnSpc>
                <a:spcPct val="106000"/>
              </a:lnSpc>
              <a:spcBef>
                <a:spcPts val="0"/>
              </a:spcBef>
              <a:spcAft>
                <a:spcPts val="800"/>
              </a:spcAft>
              <a:buNone/>
              <a:defRPr sz="3200" b="0">
                <a:solidFill>
                  <a:srgbClr val="141414"/>
                </a:solidFill>
                <a:latin typeface="Calibri"/>
                <a:ea typeface="Calibri"/>
                <a:cs typeface="Calibri"/>
              </a:defRPr>
            </a:pPr>
            <a:r>
              <a:rPr lang="de-DE" sz="3200" b="0" dirty="0">
                <a:solidFill>
                  <a:srgbClr val="141414"/>
                </a:solidFill>
                <a:latin typeface="Calibri"/>
                <a:ea typeface="Calibri"/>
                <a:cs typeface="Calibri"/>
              </a:rPr>
              <a:t>Ein UR10e soll unterschiedlich große, farbige quaderförmige Klötze in beliebiger Orientierung vom laufenden Förderband greifen, anheben und in einer Box ablegen. Das System (Abb. 1) bestimmt Position, Bewegungsrichtung und Geschwindigkeit ausschließlich aus Bilddaten und entscheidet bei mehreren Klötzen auf dem Band selbstständig, welche sicher gepickt werden können. </a:t>
            </a:r>
            <a:r>
              <a:rPr lang="de-DE" dirty="0">
                <a:solidFill>
                  <a:srgbClr val="141414"/>
                </a:solidFill>
                <a:latin typeface="Calibri"/>
                <a:ea typeface="Calibri"/>
                <a:cs typeface="Calibri"/>
              </a:rPr>
              <a:t>Die Software AICA ermöglicht die Steuerung des Systems in Echtzeit.</a:t>
            </a:r>
            <a:endParaRPr sz="3200" b="0" dirty="0">
              <a:solidFill>
                <a:srgbClr val="141414"/>
              </a:solidFill>
              <a:latin typeface="Calibri"/>
              <a:ea typeface="Calibri"/>
              <a:cs typeface="Calibri"/>
            </a:endParaRPr>
          </a:p>
        </p:txBody>
      </p:sp>
      <p:sp>
        <p:nvSpPr>
          <p:cNvPr id="6" name="Textplatzhalter 5">
            <a:extLst>
              <a:ext uri="{FF2B5EF4-FFF2-40B4-BE49-F238E27FC236}">
                <a16:creationId xmlns:a16="http://schemas.microsoft.com/office/drawing/2014/main" id="{834437DE-1CAD-F176-5FA7-B406AB61F099}"/>
              </a:ext>
            </a:extLst>
          </p:cNvPr>
          <p:cNvSpPr>
            <a:spLocks noGrp="1"/>
          </p:cNvSpPr>
          <p:nvPr>
            <p:ph type="body" sz="quarter" idx="23"/>
          </p:nvPr>
        </p:nvSpPr>
        <p:spPr>
          <a:xfrm>
            <a:off x="723900" y="15429738"/>
            <a:ext cx="9658350" cy="10858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err="1">
                <a:solidFill>
                  <a:srgbClr val="2869AF"/>
                </a:solidFill>
                <a:latin typeface="Calibri"/>
                <a:ea typeface="Calibri"/>
                <a:cs typeface="Calibri"/>
              </a:rPr>
              <a:t>Funktionsprinzip</a:t>
            </a:r>
            <a:r>
              <a:rPr lang="de-DE" sz="6400" b="1" dirty="0">
                <a:solidFill>
                  <a:srgbClr val="2869AF"/>
                </a:solidFill>
                <a:latin typeface="Calibri"/>
                <a:ea typeface="Calibri"/>
                <a:cs typeface="Calibri"/>
              </a:rPr>
              <a:t> </a:t>
            </a:r>
            <a:endParaRPr sz="6400" b="1" dirty="0">
              <a:solidFill>
                <a:srgbClr val="2869AF"/>
              </a:solidFill>
              <a:latin typeface="Calibri"/>
              <a:ea typeface="Calibri"/>
              <a:cs typeface="Calibri"/>
            </a:endParaRPr>
          </a:p>
        </p:txBody>
      </p:sp>
      <p:sp>
        <p:nvSpPr>
          <p:cNvPr id="1003" name="process-number-1">
            <a:extLst>
              <a:ext uri="{FF2B5EF4-FFF2-40B4-BE49-F238E27FC236}">
                <a16:creationId xmlns:a16="http://schemas.microsoft.com/office/drawing/2014/main" id="{9F47EC38-EF26-C3BD-BEF2-F90332D291AF}"/>
              </a:ext>
            </a:extLst>
          </p:cNvPr>
          <p:cNvSpPr>
            <a:spLocks noGrp="1"/>
          </p:cNvSpPr>
          <p:nvPr/>
        </p:nvSpPr>
        <p:spPr>
          <a:xfrm>
            <a:off x="781050" y="1658112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1</a:t>
            </a:r>
          </a:p>
        </p:txBody>
      </p:sp>
      <p:sp>
        <p:nvSpPr>
          <p:cNvPr id="7" name="Textplatzhalter 6">
            <a:extLst>
              <a:ext uri="{FF2B5EF4-FFF2-40B4-BE49-F238E27FC236}">
                <a16:creationId xmlns:a16="http://schemas.microsoft.com/office/drawing/2014/main" id="{50793813-E0F9-E92A-BDC5-F90062F202B5}"/>
              </a:ext>
            </a:extLst>
          </p:cNvPr>
          <p:cNvSpPr>
            <a:spLocks noGrp="1"/>
          </p:cNvSpPr>
          <p:nvPr>
            <p:ph type="body" sz="quarter" idx="24"/>
          </p:nvPr>
        </p:nvSpPr>
        <p:spPr>
          <a:xfrm>
            <a:off x="1685925" y="1650492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dirty="0" err="1">
                <a:solidFill>
                  <a:srgbClr val="2869AF"/>
                </a:solidFill>
                <a:latin typeface="Calibri"/>
                <a:ea typeface="Calibri"/>
                <a:cs typeface="Calibri"/>
              </a:rPr>
              <a:t>Erkennen</a:t>
            </a:r>
            <a:endParaRPr sz="3600" b="1" dirty="0">
              <a:solidFill>
                <a:srgbClr val="2869AF"/>
              </a:solidFill>
              <a:latin typeface="Calibri"/>
              <a:ea typeface="Calibri"/>
              <a:cs typeface="Calibri"/>
            </a:endParaRPr>
          </a:p>
        </p:txBody>
      </p:sp>
      <p:sp>
        <p:nvSpPr>
          <p:cNvPr id="1004" name="process-description-1">
            <a:extLst>
              <a:ext uri="{FF2B5EF4-FFF2-40B4-BE49-F238E27FC236}">
                <a16:creationId xmlns:a16="http://schemas.microsoft.com/office/drawing/2014/main" id="{FCC18589-030B-4E5C-0B3E-ADE6660BF89E}"/>
              </a:ext>
            </a:extLst>
          </p:cNvPr>
          <p:cNvSpPr>
            <a:spLocks noGrp="1"/>
          </p:cNvSpPr>
          <p:nvPr/>
        </p:nvSpPr>
        <p:spPr>
          <a:xfrm>
            <a:off x="1685925" y="17057370"/>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a:solidFill>
                  <a:srgbClr val="141414"/>
                </a:solidFill>
                <a:latin typeface="Calibri"/>
                <a:ea typeface="Calibri"/>
                <a:cs typeface="Calibri"/>
              </a:rPr>
              <a:t>ID, Farbe, Lage und Abmessungen</a:t>
            </a:r>
          </a:p>
        </p:txBody>
      </p:sp>
      <p:sp>
        <p:nvSpPr>
          <p:cNvPr id="1005" name="process-connector-1">
            <a:extLst>
              <a:ext uri="{FF2B5EF4-FFF2-40B4-BE49-F238E27FC236}">
                <a16:creationId xmlns:a16="http://schemas.microsoft.com/office/drawing/2014/main" id="{8B68F93A-89B8-6A5A-7F7A-601F609E11E5}"/>
              </a:ext>
            </a:extLst>
          </p:cNvPr>
          <p:cNvSpPr>
            <a:spLocks noGrp="1"/>
          </p:cNvSpPr>
          <p:nvPr/>
        </p:nvSpPr>
        <p:spPr>
          <a:xfrm>
            <a:off x="962025" y="17238345"/>
            <a:ext cx="219075" cy="266700"/>
          </a:xfrm>
          <a:prstGeom prst="downArrow">
            <a:avLst/>
          </a:prstGeom>
          <a:solidFill>
            <a:srgbClr val="2869AF"/>
          </a:solidFill>
          <a:ln w="0">
            <a:noFill/>
          </a:ln>
        </p:spPr>
      </p:sp>
      <p:sp>
        <p:nvSpPr>
          <p:cNvPr id="1006" name="process-number-2">
            <a:extLst>
              <a:ext uri="{FF2B5EF4-FFF2-40B4-BE49-F238E27FC236}">
                <a16:creationId xmlns:a16="http://schemas.microsoft.com/office/drawing/2014/main" id="{D3100817-7D6A-22DB-F566-4C460C0758B1}"/>
              </a:ext>
            </a:extLst>
          </p:cNvPr>
          <p:cNvSpPr>
            <a:spLocks noGrp="1"/>
          </p:cNvSpPr>
          <p:nvPr/>
        </p:nvSpPr>
        <p:spPr>
          <a:xfrm>
            <a:off x="781050" y="1766697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2</a:t>
            </a:r>
          </a:p>
        </p:txBody>
      </p:sp>
      <p:sp>
        <p:nvSpPr>
          <p:cNvPr id="1007" name="process-title-2">
            <a:extLst>
              <a:ext uri="{FF2B5EF4-FFF2-40B4-BE49-F238E27FC236}">
                <a16:creationId xmlns:a16="http://schemas.microsoft.com/office/drawing/2014/main" id="{046FD701-8DB1-4472-303D-288D7FBA9488}"/>
              </a:ext>
            </a:extLst>
          </p:cNvPr>
          <p:cNvSpPr>
            <a:spLocks noGrp="1"/>
          </p:cNvSpPr>
          <p:nvPr/>
        </p:nvSpPr>
        <p:spPr>
          <a:xfrm>
            <a:off x="1685925" y="1759077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a:solidFill>
                  <a:srgbClr val="2869AF"/>
                </a:solidFill>
                <a:latin typeface="Calibri"/>
                <a:ea typeface="Calibri"/>
                <a:cs typeface="Calibri"/>
              </a:rPr>
              <a:t>Schätzen</a:t>
            </a:r>
          </a:p>
        </p:txBody>
      </p:sp>
      <p:sp>
        <p:nvSpPr>
          <p:cNvPr id="1008" name="process-description-2">
            <a:extLst>
              <a:ext uri="{FF2B5EF4-FFF2-40B4-BE49-F238E27FC236}">
                <a16:creationId xmlns:a16="http://schemas.microsoft.com/office/drawing/2014/main" id="{3A8F67E5-6F6E-DF74-1AF4-4E77EBC93E06}"/>
              </a:ext>
            </a:extLst>
          </p:cNvPr>
          <p:cNvSpPr>
            <a:spLocks noGrp="1"/>
          </p:cNvSpPr>
          <p:nvPr/>
        </p:nvSpPr>
        <p:spPr>
          <a:xfrm>
            <a:off x="1685925" y="18143220"/>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a:solidFill>
                  <a:srgbClr val="141414"/>
                </a:solidFill>
                <a:latin typeface="Calibri"/>
                <a:ea typeface="Calibri"/>
                <a:cs typeface="Calibri"/>
              </a:rPr>
              <a:t>Richtung und Geschwindigkeit aus Bildfolgen</a:t>
            </a:r>
          </a:p>
        </p:txBody>
      </p:sp>
      <p:sp>
        <p:nvSpPr>
          <p:cNvPr id="1009" name="process-connector-2">
            <a:extLst>
              <a:ext uri="{FF2B5EF4-FFF2-40B4-BE49-F238E27FC236}">
                <a16:creationId xmlns:a16="http://schemas.microsoft.com/office/drawing/2014/main" id="{36FE309B-6AD4-318B-B293-2F98A089745F}"/>
              </a:ext>
            </a:extLst>
          </p:cNvPr>
          <p:cNvSpPr>
            <a:spLocks noGrp="1"/>
          </p:cNvSpPr>
          <p:nvPr/>
        </p:nvSpPr>
        <p:spPr>
          <a:xfrm>
            <a:off x="962025" y="18324195"/>
            <a:ext cx="219075" cy="266700"/>
          </a:xfrm>
          <a:prstGeom prst="downArrow">
            <a:avLst/>
          </a:prstGeom>
          <a:solidFill>
            <a:srgbClr val="2869AF"/>
          </a:solidFill>
          <a:ln w="0">
            <a:noFill/>
          </a:ln>
        </p:spPr>
      </p:sp>
      <p:sp>
        <p:nvSpPr>
          <p:cNvPr id="1010" name="process-number-3">
            <a:extLst>
              <a:ext uri="{FF2B5EF4-FFF2-40B4-BE49-F238E27FC236}">
                <a16:creationId xmlns:a16="http://schemas.microsoft.com/office/drawing/2014/main" id="{A7D5B1B0-0C1D-E3A0-017A-FB223E016189}"/>
              </a:ext>
            </a:extLst>
          </p:cNvPr>
          <p:cNvSpPr>
            <a:spLocks noGrp="1"/>
          </p:cNvSpPr>
          <p:nvPr/>
        </p:nvSpPr>
        <p:spPr>
          <a:xfrm>
            <a:off x="781050" y="1875282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3</a:t>
            </a:r>
          </a:p>
        </p:txBody>
      </p:sp>
      <p:sp>
        <p:nvSpPr>
          <p:cNvPr id="1011" name="process-title-3">
            <a:extLst>
              <a:ext uri="{FF2B5EF4-FFF2-40B4-BE49-F238E27FC236}">
                <a16:creationId xmlns:a16="http://schemas.microsoft.com/office/drawing/2014/main" id="{0CE7B7D4-968C-05F1-29E2-9CD8E92F9FB2}"/>
              </a:ext>
            </a:extLst>
          </p:cNvPr>
          <p:cNvSpPr>
            <a:spLocks noGrp="1"/>
          </p:cNvSpPr>
          <p:nvPr/>
        </p:nvSpPr>
        <p:spPr>
          <a:xfrm>
            <a:off x="1685925" y="1867662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a:solidFill>
                  <a:srgbClr val="2869AF"/>
                </a:solidFill>
                <a:latin typeface="Calibri"/>
                <a:ea typeface="Calibri"/>
                <a:cs typeface="Calibri"/>
              </a:rPr>
              <a:t>Auswählen</a:t>
            </a:r>
          </a:p>
        </p:txBody>
      </p:sp>
      <p:sp>
        <p:nvSpPr>
          <p:cNvPr id="1012" name="process-description-3">
            <a:extLst>
              <a:ext uri="{FF2B5EF4-FFF2-40B4-BE49-F238E27FC236}">
                <a16:creationId xmlns:a16="http://schemas.microsoft.com/office/drawing/2014/main" id="{5A1F9004-EE58-999E-868C-25E0F15A6C23}"/>
              </a:ext>
            </a:extLst>
          </p:cNvPr>
          <p:cNvSpPr>
            <a:spLocks noGrp="1"/>
          </p:cNvSpPr>
          <p:nvPr/>
        </p:nvSpPr>
        <p:spPr>
          <a:xfrm>
            <a:off x="1685925" y="19229070"/>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dirty="0">
                <a:solidFill>
                  <a:srgbClr val="141414"/>
                </a:solidFill>
                <a:latin typeface="Calibri"/>
                <a:ea typeface="Calibri"/>
                <a:cs typeface="Calibri"/>
              </a:rPr>
              <a:t>Nur </a:t>
            </a:r>
            <a:r>
              <a:rPr sz="3200" b="0" dirty="0" err="1">
                <a:solidFill>
                  <a:srgbClr val="141414"/>
                </a:solidFill>
                <a:latin typeface="Calibri"/>
                <a:ea typeface="Calibri"/>
                <a:cs typeface="Calibri"/>
              </a:rPr>
              <a:t>noch</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sicher</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erreichbare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Ziele</a:t>
            </a:r>
            <a:endParaRPr sz="3200" b="0" dirty="0">
              <a:solidFill>
                <a:srgbClr val="141414"/>
              </a:solidFill>
              <a:latin typeface="Calibri"/>
              <a:ea typeface="Calibri"/>
              <a:cs typeface="Calibri"/>
            </a:endParaRPr>
          </a:p>
        </p:txBody>
      </p:sp>
      <p:sp>
        <p:nvSpPr>
          <p:cNvPr id="1013" name="process-connector-3">
            <a:extLst>
              <a:ext uri="{FF2B5EF4-FFF2-40B4-BE49-F238E27FC236}">
                <a16:creationId xmlns:a16="http://schemas.microsoft.com/office/drawing/2014/main" id="{9783A2C2-D86D-86AF-14AA-A4BB149B0028}"/>
              </a:ext>
            </a:extLst>
          </p:cNvPr>
          <p:cNvSpPr>
            <a:spLocks noGrp="1"/>
          </p:cNvSpPr>
          <p:nvPr/>
        </p:nvSpPr>
        <p:spPr>
          <a:xfrm>
            <a:off x="962025" y="19410045"/>
            <a:ext cx="219075" cy="266700"/>
          </a:xfrm>
          <a:prstGeom prst="downArrow">
            <a:avLst/>
          </a:prstGeom>
          <a:solidFill>
            <a:srgbClr val="2869AF"/>
          </a:solidFill>
          <a:ln w="0">
            <a:noFill/>
          </a:ln>
        </p:spPr>
      </p:sp>
      <p:sp>
        <p:nvSpPr>
          <p:cNvPr id="1014" name="process-number-4">
            <a:extLst>
              <a:ext uri="{FF2B5EF4-FFF2-40B4-BE49-F238E27FC236}">
                <a16:creationId xmlns:a16="http://schemas.microsoft.com/office/drawing/2014/main" id="{C3589BCD-2685-C439-BCF5-633AF8B603F7}"/>
              </a:ext>
            </a:extLst>
          </p:cNvPr>
          <p:cNvSpPr>
            <a:spLocks noGrp="1"/>
          </p:cNvSpPr>
          <p:nvPr/>
        </p:nvSpPr>
        <p:spPr>
          <a:xfrm>
            <a:off x="781050" y="1983867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4</a:t>
            </a:r>
          </a:p>
        </p:txBody>
      </p:sp>
      <p:sp>
        <p:nvSpPr>
          <p:cNvPr id="1015" name="process-title-4">
            <a:extLst>
              <a:ext uri="{FF2B5EF4-FFF2-40B4-BE49-F238E27FC236}">
                <a16:creationId xmlns:a16="http://schemas.microsoft.com/office/drawing/2014/main" id="{EF2765BD-EF31-B266-A23E-AAFFD078AD55}"/>
              </a:ext>
            </a:extLst>
          </p:cNvPr>
          <p:cNvSpPr>
            <a:spLocks noGrp="1"/>
          </p:cNvSpPr>
          <p:nvPr/>
        </p:nvSpPr>
        <p:spPr>
          <a:xfrm>
            <a:off x="1685925" y="1976247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a:solidFill>
                  <a:srgbClr val="2869AF"/>
                </a:solidFill>
                <a:latin typeface="Calibri"/>
                <a:ea typeface="Calibri"/>
                <a:cs typeface="Calibri"/>
              </a:rPr>
              <a:t>Greifen</a:t>
            </a:r>
          </a:p>
        </p:txBody>
      </p:sp>
      <p:sp>
        <p:nvSpPr>
          <p:cNvPr id="1016" name="process-description-4">
            <a:extLst>
              <a:ext uri="{FF2B5EF4-FFF2-40B4-BE49-F238E27FC236}">
                <a16:creationId xmlns:a16="http://schemas.microsoft.com/office/drawing/2014/main" id="{350FC324-257F-E148-0DE3-FCAA843816F9}"/>
              </a:ext>
            </a:extLst>
          </p:cNvPr>
          <p:cNvSpPr>
            <a:spLocks noGrp="1"/>
          </p:cNvSpPr>
          <p:nvPr/>
        </p:nvSpPr>
        <p:spPr>
          <a:xfrm>
            <a:off x="1685925" y="20314920"/>
            <a:ext cx="9005887"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dirty="0" err="1">
                <a:solidFill>
                  <a:srgbClr val="141414"/>
                </a:solidFill>
                <a:latin typeface="Calibri"/>
                <a:ea typeface="Calibri"/>
                <a:cs typeface="Calibri"/>
              </a:rPr>
              <a:t>Mitfahren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schließen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anheben</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ablegen</a:t>
            </a:r>
            <a:r>
              <a:rPr lang="de-DE" sz="3200" b="0" dirty="0">
                <a:solidFill>
                  <a:srgbClr val="141414"/>
                </a:solidFill>
                <a:latin typeface="Calibri"/>
                <a:ea typeface="Calibri"/>
                <a:cs typeface="Calibri"/>
              </a:rPr>
              <a:t> (Abb. 3)</a:t>
            </a:r>
            <a:endParaRPr sz="3200" b="0" dirty="0">
              <a:solidFill>
                <a:srgbClr val="141414"/>
              </a:solidFill>
              <a:latin typeface="Calibri"/>
              <a:ea typeface="Calibri"/>
              <a:cs typeface="Calibri"/>
            </a:endParaRPr>
          </a:p>
        </p:txBody>
      </p:sp>
      <p:sp>
        <p:nvSpPr>
          <p:cNvPr id="9" name="Textplatzhalter 8">
            <a:extLst>
              <a:ext uri="{FF2B5EF4-FFF2-40B4-BE49-F238E27FC236}">
                <a16:creationId xmlns:a16="http://schemas.microsoft.com/office/drawing/2014/main" id="{0E86F989-0A5F-1A17-5AA3-1B34F92DB5F6}"/>
              </a:ext>
            </a:extLst>
          </p:cNvPr>
          <p:cNvSpPr>
            <a:spLocks noGrp="1"/>
          </p:cNvSpPr>
          <p:nvPr>
            <p:ph type="body" sz="quarter" idx="26"/>
          </p:nvPr>
        </p:nvSpPr>
        <p:spPr>
          <a:xfrm>
            <a:off x="11074908" y="24859107"/>
            <a:ext cx="9658350" cy="10858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err="1">
                <a:solidFill>
                  <a:srgbClr val="2869AF"/>
                </a:solidFill>
                <a:latin typeface="Calibri"/>
                <a:ea typeface="Calibri"/>
                <a:cs typeface="Calibri"/>
              </a:rPr>
              <a:t>Projektinformation</a:t>
            </a:r>
            <a:endParaRPr sz="6400" b="1" dirty="0">
              <a:solidFill>
                <a:srgbClr val="2869AF"/>
              </a:solidFill>
              <a:latin typeface="Calibri"/>
              <a:ea typeface="Calibri"/>
              <a:cs typeface="Calibri"/>
            </a:endParaRPr>
          </a:p>
        </p:txBody>
      </p:sp>
      <p:sp>
        <p:nvSpPr>
          <p:cNvPr id="12" name="Rechteck 11">
            <a:extLst>
              <a:ext uri="{FF2B5EF4-FFF2-40B4-BE49-F238E27FC236}">
                <a16:creationId xmlns:a16="http://schemas.microsoft.com/office/drawing/2014/main" id="{F9BE549E-875F-C150-F515-276E22746971}"/>
              </a:ext>
            </a:extLst>
          </p:cNvPr>
          <p:cNvSpPr/>
          <p:nvPr/>
        </p:nvSpPr>
        <p:spPr>
          <a:xfrm>
            <a:off x="11074908" y="25858090"/>
            <a:ext cx="9658350" cy="3366134"/>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Art der Arbeit: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Forschungs</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Entwicklungsprojekt</a:t>
            </a:r>
            <a:endParaRPr sz="3200" b="0" dirty="0">
              <a:solidFill>
                <a:srgbClr val="141414"/>
              </a:solidFill>
              <a:latin typeface="Calibri"/>
              <a:ea typeface="Calibri"/>
              <a:cs typeface="Calibri"/>
            </a:endParaRPr>
          </a:p>
          <a:p>
            <a:pPr algn="l">
              <a:lnSpc>
                <a:spcPct val="106000"/>
              </a:lnSpc>
              <a:spcBef>
                <a:spcPts val="0"/>
              </a:spcBef>
              <a:spcAft>
                <a:spcPts val="800"/>
              </a:spcAft>
              <a:buNone/>
              <a:defRPr sz="3200" b="0">
                <a:solidFill>
                  <a:srgbClr val="141414"/>
                </a:solidFill>
                <a:latin typeface="Calibri"/>
                <a:ea typeface="Calibri"/>
                <a:cs typeface="Calibri"/>
              </a:defRPr>
            </a:pPr>
            <a:r>
              <a:rPr lang="de-DE" sz="3200" b="1" dirty="0">
                <a:solidFill>
                  <a:srgbClr val="141414"/>
                </a:solidFill>
                <a:latin typeface="Calibri"/>
                <a:ea typeface="Calibri"/>
                <a:cs typeface="Calibri"/>
              </a:rPr>
              <a:t>Dauer der Arbeit</a:t>
            </a:r>
            <a:r>
              <a:rPr sz="3200" b="1" dirty="0">
                <a:solidFill>
                  <a:srgbClr val="141414"/>
                </a:solidFill>
                <a:latin typeface="Calibri"/>
                <a:ea typeface="Calibri"/>
                <a:cs typeface="Calibri"/>
              </a:rPr>
              <a:t>:</a:t>
            </a:r>
            <a:r>
              <a:rPr sz="3200" b="0" dirty="0">
                <a:solidFill>
                  <a:srgbClr val="141414"/>
                </a:solidFill>
                <a:latin typeface="Calibri"/>
                <a:ea typeface="Calibri"/>
                <a:cs typeface="Calibri"/>
              </a:rPr>
              <a:t> </a:t>
            </a:r>
            <a:r>
              <a:rPr lang="de-DE" sz="3200" b="0" dirty="0">
                <a:solidFill>
                  <a:srgbClr val="141414"/>
                </a:solidFill>
                <a:latin typeface="Calibri"/>
                <a:ea typeface="Calibri"/>
                <a:cs typeface="Calibri"/>
              </a:rPr>
              <a:t>6 Monate (SoSe 2026)</a:t>
            </a:r>
            <a:br>
              <a:rPr lang="de-DE" sz="3200" b="0" dirty="0">
                <a:solidFill>
                  <a:srgbClr val="141414"/>
                </a:solidFill>
                <a:latin typeface="Calibri"/>
                <a:ea typeface="Calibri"/>
                <a:cs typeface="Calibri"/>
              </a:rPr>
            </a:br>
            <a:r>
              <a:rPr lang="de-DE" sz="3200" b="1" dirty="0">
                <a:solidFill>
                  <a:srgbClr val="141414"/>
                </a:solidFill>
                <a:latin typeface="Calibri"/>
                <a:ea typeface="Calibri"/>
                <a:cs typeface="Calibri"/>
              </a:rPr>
              <a:t>Betreuer:</a:t>
            </a:r>
            <a:r>
              <a:rPr lang="de-DE" sz="3200" b="0" dirty="0">
                <a:solidFill>
                  <a:srgbClr val="141414"/>
                </a:solidFill>
                <a:latin typeface="Calibri"/>
                <a:ea typeface="Calibri"/>
                <a:cs typeface="Calibri"/>
              </a:rPr>
              <a:t> Prof. Björn Hein, bjoern.hein@h-ka.de</a:t>
            </a:r>
          </a:p>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Tobias Unger (RKIM)</a:t>
            </a:r>
            <a:r>
              <a:rPr sz="3200" b="0" dirty="0">
                <a:solidFill>
                  <a:srgbClr val="141414"/>
                </a:solidFill>
                <a:latin typeface="Calibri"/>
                <a:ea typeface="Calibri"/>
                <a:cs typeface="Calibri"/>
              </a:rPr>
              <a:t>, unto1011@h-ka.de</a:t>
            </a:r>
          </a:p>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Lukas </a:t>
            </a:r>
            <a:r>
              <a:rPr sz="3200" b="1" dirty="0" err="1">
                <a:solidFill>
                  <a:srgbClr val="141414"/>
                </a:solidFill>
                <a:latin typeface="Calibri"/>
                <a:ea typeface="Calibri"/>
                <a:cs typeface="Calibri"/>
              </a:rPr>
              <a:t>Norz</a:t>
            </a:r>
            <a:r>
              <a:rPr sz="3200" b="1" dirty="0">
                <a:solidFill>
                  <a:srgbClr val="141414"/>
                </a:solidFill>
                <a:latin typeface="Calibri"/>
                <a:ea typeface="Calibri"/>
                <a:cs typeface="Calibri"/>
              </a:rPr>
              <a:t> (RKIM)</a:t>
            </a:r>
            <a:r>
              <a:rPr sz="3200" b="0" dirty="0">
                <a:solidFill>
                  <a:srgbClr val="141414"/>
                </a:solidFill>
                <a:latin typeface="Calibri"/>
                <a:ea typeface="Calibri"/>
                <a:cs typeface="Calibri"/>
              </a:rPr>
              <a:t>, nolu1012@h-ka.de</a:t>
            </a:r>
          </a:p>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Simon Hoess (RKIM)</a:t>
            </a:r>
            <a:r>
              <a:rPr sz="3200" b="0" dirty="0">
                <a:solidFill>
                  <a:srgbClr val="141414"/>
                </a:solidFill>
                <a:latin typeface="Calibri"/>
                <a:ea typeface="Calibri"/>
                <a:cs typeface="Calibri"/>
              </a:rPr>
              <a:t>, hosi1025@h-ka.de</a:t>
            </a:r>
          </a:p>
        </p:txBody>
      </p:sp>
      <p:sp>
        <p:nvSpPr>
          <p:cNvPr id="8" name="Textplatzhalter 7">
            <a:extLst>
              <a:ext uri="{FF2B5EF4-FFF2-40B4-BE49-F238E27FC236}">
                <a16:creationId xmlns:a16="http://schemas.microsoft.com/office/drawing/2014/main" id="{EB1A4739-2BF1-7E43-0A59-1A524D8EE793}"/>
              </a:ext>
            </a:extLst>
          </p:cNvPr>
          <p:cNvSpPr>
            <a:spLocks noGrp="1"/>
          </p:cNvSpPr>
          <p:nvPr>
            <p:ph type="body" sz="quarter" idx="25"/>
          </p:nvPr>
        </p:nvSpPr>
        <p:spPr>
          <a:xfrm>
            <a:off x="11049000" y="9457563"/>
            <a:ext cx="9610725" cy="10953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a:solidFill>
                  <a:srgbClr val="2869AF"/>
                </a:solidFill>
                <a:latin typeface="Calibri"/>
                <a:ea typeface="Calibri"/>
                <a:cs typeface="Calibri"/>
              </a:rPr>
              <a:t>Systemaufbau</a:t>
            </a:r>
          </a:p>
        </p:txBody>
      </p:sp>
      <p:sp>
        <p:nvSpPr>
          <p:cNvPr id="11" name="Textplatzhalter 10">
            <a:extLst>
              <a:ext uri="{FF2B5EF4-FFF2-40B4-BE49-F238E27FC236}">
                <a16:creationId xmlns:a16="http://schemas.microsoft.com/office/drawing/2014/main" id="{D785480E-27A4-4B07-9AC1-35A113D0AD92}"/>
              </a:ext>
            </a:extLst>
          </p:cNvPr>
          <p:cNvSpPr>
            <a:spLocks noGrp="1"/>
          </p:cNvSpPr>
          <p:nvPr>
            <p:ph type="body" sz="quarter" idx="29"/>
          </p:nvPr>
        </p:nvSpPr>
        <p:spPr>
          <a:xfrm>
            <a:off x="11049000" y="10429494"/>
            <a:ext cx="9610725" cy="2762631"/>
          </a:xfrm>
          <a:prstGeom prst="rect">
            <a:avLst/>
          </a:prstGeom>
          <a:noFill/>
          <a:ln w="0">
            <a:noFill/>
          </a:ln>
        </p:spPr>
        <p:txBody>
          <a:bodyPr wrap="square" lIns="0" tIns="0" rIns="0" bIns="0" anchor="t">
            <a:noAutofit/>
          </a:bodyPr>
          <a:lstStyle/>
          <a:p>
            <a:pPr algn="just">
              <a:lnSpc>
                <a:spcPct val="106000"/>
              </a:lnSpc>
              <a:spcBef>
                <a:spcPts val="0"/>
              </a:spcBef>
              <a:spcAft>
                <a:spcPts val="800"/>
              </a:spcAft>
              <a:buNone/>
              <a:defRPr sz="3200" b="0">
                <a:solidFill>
                  <a:srgbClr val="141414"/>
                </a:solidFill>
                <a:latin typeface="Calibri"/>
                <a:ea typeface="Calibri"/>
                <a:cs typeface="Calibri"/>
              </a:defRPr>
            </a:pPr>
            <a:r>
              <a:rPr sz="3200" b="0" dirty="0">
                <a:solidFill>
                  <a:srgbClr val="141414"/>
                </a:solidFill>
                <a:latin typeface="Calibri"/>
                <a:ea typeface="Calibri"/>
                <a:cs typeface="Calibri"/>
              </a:rPr>
              <a:t>Die Base-Kamera </a:t>
            </a:r>
            <a:r>
              <a:rPr sz="3200" b="0" dirty="0" err="1">
                <a:solidFill>
                  <a:srgbClr val="141414"/>
                </a:solidFill>
                <a:latin typeface="Calibri"/>
                <a:ea typeface="Calibri"/>
                <a:cs typeface="Calibri"/>
              </a:rPr>
              <a:t>erfasst</a:t>
            </a:r>
            <a:r>
              <a:rPr sz="3200" b="0" dirty="0">
                <a:solidFill>
                  <a:srgbClr val="141414"/>
                </a:solidFill>
                <a:latin typeface="Calibri"/>
                <a:ea typeface="Calibri"/>
                <a:cs typeface="Calibri"/>
              </a:rPr>
              <a:t> den </a:t>
            </a:r>
            <a:r>
              <a:rPr sz="3200" b="0" dirty="0" err="1">
                <a:solidFill>
                  <a:srgbClr val="141414"/>
                </a:solidFill>
                <a:latin typeface="Calibri"/>
                <a:ea typeface="Calibri"/>
                <a:cs typeface="Calibri"/>
              </a:rPr>
              <a:t>Bandanfang</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mit</a:t>
            </a:r>
            <a:r>
              <a:rPr sz="3200" b="0" dirty="0">
                <a:solidFill>
                  <a:srgbClr val="141414"/>
                </a:solidFill>
                <a:latin typeface="Calibri"/>
                <a:ea typeface="Calibri"/>
                <a:cs typeface="Calibri"/>
              </a:rPr>
              <a:t> Farb- und </a:t>
            </a:r>
            <a:r>
              <a:rPr sz="3200" b="0" dirty="0" err="1">
                <a:solidFill>
                  <a:srgbClr val="141414"/>
                </a:solidFill>
                <a:latin typeface="Calibri"/>
                <a:ea typeface="Calibri"/>
                <a:cs typeface="Calibri"/>
              </a:rPr>
              <a:t>Tiefenbildern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Jeder</a:t>
            </a:r>
            <a:r>
              <a:rPr sz="3200" b="0" dirty="0">
                <a:solidFill>
                  <a:srgbClr val="141414"/>
                </a:solidFill>
                <a:latin typeface="Calibri"/>
                <a:ea typeface="Calibri"/>
                <a:cs typeface="Calibri"/>
              </a:rPr>
              <a:t> Klotz </a:t>
            </a:r>
            <a:r>
              <a:rPr sz="3200" b="0" dirty="0" err="1">
                <a:solidFill>
                  <a:srgbClr val="141414"/>
                </a:solidFill>
                <a:latin typeface="Calibri"/>
                <a:ea typeface="Calibri"/>
                <a:cs typeface="Calibri"/>
              </a:rPr>
              <a:t>erhält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eine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dauerhafte</a:t>
            </a:r>
            <a:r>
              <a:rPr sz="3200" b="0" dirty="0">
                <a:solidFill>
                  <a:srgbClr val="141414"/>
                </a:solidFill>
                <a:latin typeface="Calibri"/>
                <a:ea typeface="Calibri"/>
                <a:cs typeface="Calibri"/>
              </a:rPr>
              <a:t> ID. Die Software </a:t>
            </a:r>
            <a:r>
              <a:rPr sz="3200" b="0" dirty="0" err="1">
                <a:solidFill>
                  <a:srgbClr val="141414"/>
                </a:solidFill>
                <a:latin typeface="Calibri"/>
                <a:ea typeface="Calibri"/>
                <a:cs typeface="Calibri"/>
              </a:rPr>
              <a:t>bestimmt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Farbe</a:t>
            </a:r>
            <a:r>
              <a:rPr sz="3200" b="0" dirty="0">
                <a:solidFill>
                  <a:srgbClr val="141414"/>
                </a:solidFill>
                <a:latin typeface="Calibri"/>
                <a:ea typeface="Calibri"/>
                <a:cs typeface="Calibri"/>
              </a:rPr>
              <a:t>, Position, </a:t>
            </a:r>
            <a:r>
              <a:rPr sz="3200" b="0" dirty="0" err="1">
                <a:solidFill>
                  <a:srgbClr val="141414"/>
                </a:solidFill>
                <a:latin typeface="Calibri"/>
                <a:ea typeface="Calibri"/>
                <a:cs typeface="Calibri"/>
              </a:rPr>
              <a:t>Abmessungen</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Orientierung</a:t>
            </a:r>
            <a:r>
              <a:rPr lang="de-DE" sz="3200" b="0" dirty="0">
                <a:solidFill>
                  <a:srgbClr val="141414"/>
                </a:solidFill>
                <a:latin typeface="Calibri"/>
                <a:ea typeface="Calibri"/>
                <a:cs typeface="Calibri"/>
              </a:rPr>
              <a:t> (Abb. 2)</a:t>
            </a:r>
            <a:r>
              <a:rPr sz="3200" b="0" dirty="0">
                <a:solidFill>
                  <a:srgbClr val="141414"/>
                </a:solidFill>
                <a:latin typeface="Calibri"/>
                <a:ea typeface="Calibri"/>
                <a:cs typeface="Calibri"/>
              </a:rPr>
              <a:t>. Aus den </a:t>
            </a:r>
            <a:r>
              <a:rPr sz="3200" b="0" dirty="0" err="1">
                <a:solidFill>
                  <a:srgbClr val="141414"/>
                </a:solidFill>
                <a:latin typeface="Calibri"/>
                <a:ea typeface="Calibri"/>
                <a:cs typeface="Calibri"/>
              </a:rPr>
              <a:t>Positionsverläufen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schätzt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sie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Richtung</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Geschwindigkeit</a:t>
            </a:r>
            <a:r>
              <a:rPr lang="de-DE" sz="3200" b="0" dirty="0">
                <a:solidFill>
                  <a:srgbClr val="141414"/>
                </a:solidFill>
                <a:latin typeface="Calibri"/>
                <a:ea typeface="Calibri"/>
                <a:cs typeface="Calibri"/>
              </a:rPr>
              <a:t> der Greifobjekte</a:t>
            </a:r>
            <a:r>
              <a:rPr sz="3200" b="0" dirty="0">
                <a:solidFill>
                  <a:srgbClr val="141414"/>
                </a:solidFill>
                <a:latin typeface="Calibri"/>
                <a:ea typeface="Calibri"/>
                <a:cs typeface="Calibri"/>
              </a:rPr>
              <a:t>.</a:t>
            </a:r>
            <a:r>
              <a:rPr lang="de-DE" sz="3200" b="0" dirty="0">
                <a:solidFill>
                  <a:srgbClr val="141414"/>
                </a:solidFill>
                <a:latin typeface="Calibri"/>
                <a:ea typeface="Calibri"/>
                <a:cs typeface="Calibri"/>
              </a:rPr>
              <a:t> </a:t>
            </a:r>
            <a:endParaRPr sz="3200" b="0" dirty="0">
              <a:solidFill>
                <a:srgbClr val="141414"/>
              </a:solidFill>
              <a:latin typeface="Calibri"/>
              <a:ea typeface="Calibri"/>
              <a:cs typeface="Calibri"/>
            </a:endParaRPr>
          </a:p>
        </p:txBody>
      </p:sp>
      <p:sp>
        <p:nvSpPr>
          <p:cNvPr id="1017" name="topview-caption">
            <a:extLst>
              <a:ext uri="{FF2B5EF4-FFF2-40B4-BE49-F238E27FC236}">
                <a16:creationId xmlns:a16="http://schemas.microsoft.com/office/drawing/2014/main" id="{169FD67C-F196-5180-2FD1-1B22F12131B3}"/>
              </a:ext>
            </a:extLst>
          </p:cNvPr>
          <p:cNvSpPr>
            <a:spLocks noGrp="1"/>
          </p:cNvSpPr>
          <p:nvPr/>
        </p:nvSpPr>
        <p:spPr>
          <a:xfrm>
            <a:off x="11049000" y="18566130"/>
            <a:ext cx="9610725" cy="4762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sz="2800" b="0" dirty="0">
                <a:solidFill>
                  <a:srgbClr val="5C6670"/>
                </a:solidFill>
                <a:latin typeface="Calibri"/>
                <a:ea typeface="Calibri"/>
                <a:cs typeface="Calibri"/>
              </a:rPr>
              <a:t>Abb. 1: </a:t>
            </a:r>
            <a:r>
              <a:rPr sz="2800" b="0" dirty="0" err="1">
                <a:solidFill>
                  <a:srgbClr val="5C6670"/>
                </a:solidFill>
                <a:latin typeface="Calibri"/>
                <a:ea typeface="Calibri"/>
                <a:cs typeface="Calibri"/>
              </a:rPr>
              <a:t>Versuchsaufbau</a:t>
            </a:r>
            <a:r>
              <a:rPr lang="de-DE" sz="2800" dirty="0">
                <a:solidFill>
                  <a:srgbClr val="5C6670"/>
                </a:solidFill>
                <a:latin typeface="Calibri"/>
                <a:ea typeface="Calibri"/>
                <a:cs typeface="Calibri"/>
              </a:rPr>
              <a:t> mit UR10e, Förderband, Basiskamera</a:t>
            </a:r>
            <a:endParaRPr sz="2800" b="0" dirty="0">
              <a:solidFill>
                <a:srgbClr val="5C6670"/>
              </a:solidFill>
              <a:latin typeface="Calibri"/>
              <a:ea typeface="Calibri"/>
              <a:cs typeface="Calibri"/>
            </a:endParaRPr>
          </a:p>
        </p:txBody>
      </p:sp>
      <p:pic>
        <p:nvPicPr>
          <p:cNvPr id="13" name="Picture 755115071">
            <a:extLst>
              <a:ext uri="{FF2B5EF4-FFF2-40B4-BE49-F238E27FC236}">
                <a16:creationId xmlns:a16="http://schemas.microsoft.com/office/drawing/2014/main" id="{AEAFB08D-9E90-DC60-604F-59A5115C4576}"/>
              </a:ext>
            </a:extLst>
          </p:cNvPr>
          <p:cNvPicPr>
            <a:picLocks noChangeAspect="1"/>
          </p:cNvPicPr>
          <p:nvPr/>
        </p:nvPicPr>
        <p:blipFill>
          <a:blip r:embed="rId3"/>
          <a:srcRect b="23729"/>
          <a:stretch>
            <a:fillRect/>
          </a:stretch>
        </p:blipFill>
        <p:spPr>
          <a:xfrm>
            <a:off x="11049000" y="13104701"/>
            <a:ext cx="9553575" cy="5465240"/>
          </a:xfrm>
          <a:prstGeom prst="rect">
            <a:avLst/>
          </a:prstGeom>
        </p:spPr>
      </p:pic>
      <p:pic>
        <p:nvPicPr>
          <p:cNvPr id="17" name="Picture 755115077">
            <a:extLst>
              <a:ext uri="{FF2B5EF4-FFF2-40B4-BE49-F238E27FC236}">
                <a16:creationId xmlns:a16="http://schemas.microsoft.com/office/drawing/2014/main" id="{BAE7313F-A739-5497-D856-500F4E080A9A}"/>
              </a:ext>
            </a:extLst>
          </p:cNvPr>
          <p:cNvPicPr>
            <a:picLocks noChangeAspect="1"/>
          </p:cNvPicPr>
          <p:nvPr/>
        </p:nvPicPr>
        <p:blipFill>
          <a:blip r:embed="rId4"/>
          <a:stretch>
            <a:fillRect/>
          </a:stretch>
        </p:blipFill>
        <p:spPr>
          <a:xfrm>
            <a:off x="10774645" y="18938093"/>
            <a:ext cx="9885079" cy="5171470"/>
          </a:xfrm>
          <a:prstGeom prst="rect">
            <a:avLst/>
          </a:prstGeom>
        </p:spPr>
      </p:pic>
      <p:pic>
        <p:nvPicPr>
          <p:cNvPr id="20" name="Bildplatzhalter 9">
            <a:extLst>
              <a:ext uri="{FF2B5EF4-FFF2-40B4-BE49-F238E27FC236}">
                <a16:creationId xmlns:a16="http://schemas.microsoft.com/office/drawing/2014/main" id="{7770910A-0A2E-0830-3A55-4F14264D1A98}"/>
              </a:ext>
            </a:extLst>
          </p:cNvPr>
          <p:cNvPicPr>
            <a:picLocks noChangeAspect="1"/>
          </p:cNvPicPr>
          <p:nvPr/>
        </p:nvPicPr>
        <p:blipFill>
          <a:blip r:embed="rId5"/>
          <a:srcRect l="21474"/>
          <a:stretch>
            <a:fillRect/>
          </a:stretch>
        </p:blipFill>
        <p:spPr>
          <a:xfrm>
            <a:off x="837057" y="21198483"/>
            <a:ext cx="9563099" cy="6853403"/>
          </a:xfrm>
          <a:prstGeom prst="rect">
            <a:avLst/>
          </a:prstGeom>
        </p:spPr>
      </p:pic>
      <p:sp>
        <p:nvSpPr>
          <p:cNvPr id="22" name="vision-caption">
            <a:extLst>
              <a:ext uri="{FF2B5EF4-FFF2-40B4-BE49-F238E27FC236}">
                <a16:creationId xmlns:a16="http://schemas.microsoft.com/office/drawing/2014/main" id="{9D5973D7-EBD3-BEE5-6AC2-0A93D20D81F7}"/>
              </a:ext>
            </a:extLst>
          </p:cNvPr>
          <p:cNvSpPr>
            <a:spLocks noGrp="1"/>
          </p:cNvSpPr>
          <p:nvPr/>
        </p:nvSpPr>
        <p:spPr>
          <a:xfrm>
            <a:off x="789432" y="28051886"/>
            <a:ext cx="9610725" cy="1080897"/>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sz="2800" b="0" dirty="0">
                <a:solidFill>
                  <a:srgbClr val="5C6670"/>
                </a:solidFill>
                <a:latin typeface="Calibri"/>
                <a:ea typeface="Calibri"/>
                <a:cs typeface="Calibri"/>
              </a:rPr>
              <a:t>Abb. 2: </a:t>
            </a:r>
            <a:r>
              <a:rPr lang="de-DE" sz="2800" b="0" dirty="0">
                <a:solidFill>
                  <a:srgbClr val="5C6670"/>
                </a:solidFill>
                <a:latin typeface="Calibri"/>
                <a:ea typeface="Calibri"/>
                <a:cs typeface="Calibri"/>
              </a:rPr>
              <a:t>Kontrollausgabe der erkannten Klötze mit IDs 10 und 11 sowie ihre Farben</a:t>
            </a:r>
            <a:r>
              <a:rPr sz="2800" b="0" dirty="0">
                <a:solidFill>
                  <a:srgbClr val="5C6670"/>
                </a:solidFill>
                <a:latin typeface="Calibri"/>
                <a:ea typeface="Calibri"/>
                <a:cs typeface="Calibri"/>
              </a:rPr>
              <a:t> </a:t>
            </a:r>
            <a:r>
              <a:rPr sz="2800" b="0" dirty="0" err="1">
                <a:solidFill>
                  <a:srgbClr val="5C6670"/>
                </a:solidFill>
                <a:latin typeface="Calibri"/>
                <a:ea typeface="Calibri"/>
                <a:cs typeface="Calibri"/>
              </a:rPr>
              <a:t>innerhalb</a:t>
            </a:r>
            <a:r>
              <a:rPr sz="2800" b="0" dirty="0">
                <a:solidFill>
                  <a:srgbClr val="5C6670"/>
                </a:solidFill>
                <a:latin typeface="Calibri"/>
                <a:ea typeface="Calibri"/>
                <a:cs typeface="Calibri"/>
              </a:rPr>
              <a:t> des ROI</a:t>
            </a:r>
            <a:r>
              <a:rPr lang="de-DE" sz="2800" b="0" dirty="0">
                <a:solidFill>
                  <a:srgbClr val="5C6670"/>
                </a:solidFill>
                <a:latin typeface="Calibri"/>
                <a:ea typeface="Calibri"/>
                <a:cs typeface="Calibri"/>
              </a:rPr>
              <a:t> (blauer Rahmen)</a:t>
            </a:r>
            <a:endParaRPr sz="2800" b="0" dirty="0">
              <a:solidFill>
                <a:srgbClr val="5C6670"/>
              </a:solidFill>
              <a:latin typeface="Calibri"/>
              <a:ea typeface="Calibri"/>
              <a:cs typeface="Calibri"/>
            </a:endParaRPr>
          </a:p>
        </p:txBody>
      </p:sp>
      <p:sp>
        <p:nvSpPr>
          <p:cNvPr id="24" name="topview-caption">
            <a:extLst>
              <a:ext uri="{FF2B5EF4-FFF2-40B4-BE49-F238E27FC236}">
                <a16:creationId xmlns:a16="http://schemas.microsoft.com/office/drawing/2014/main" id="{79229976-18A4-6B47-53C0-B7E8C3510883}"/>
              </a:ext>
            </a:extLst>
          </p:cNvPr>
          <p:cNvSpPr>
            <a:spLocks noGrp="1"/>
          </p:cNvSpPr>
          <p:nvPr/>
        </p:nvSpPr>
        <p:spPr>
          <a:xfrm>
            <a:off x="11049000" y="23981664"/>
            <a:ext cx="9610725" cy="4762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sz="2800" b="0" dirty="0">
                <a:solidFill>
                  <a:srgbClr val="5C6670"/>
                </a:solidFill>
                <a:latin typeface="Calibri"/>
                <a:ea typeface="Calibri"/>
                <a:cs typeface="Calibri"/>
              </a:rPr>
              <a:t>Abb. </a:t>
            </a:r>
            <a:r>
              <a:rPr lang="de-DE" sz="2800" b="0" dirty="0">
                <a:solidFill>
                  <a:srgbClr val="5C6670"/>
                </a:solidFill>
                <a:latin typeface="Calibri"/>
                <a:ea typeface="Calibri"/>
                <a:cs typeface="Calibri"/>
              </a:rPr>
              <a:t>3</a:t>
            </a:r>
            <a:r>
              <a:rPr sz="2800" b="0" dirty="0">
                <a:solidFill>
                  <a:srgbClr val="5C6670"/>
                </a:solidFill>
                <a:latin typeface="Calibri"/>
                <a:ea typeface="Calibri"/>
                <a:cs typeface="Calibri"/>
              </a:rPr>
              <a:t>: </a:t>
            </a:r>
            <a:r>
              <a:rPr lang="de-DE" sz="2800" b="0" dirty="0">
                <a:solidFill>
                  <a:srgbClr val="5C6670"/>
                </a:solidFill>
                <a:latin typeface="Calibri"/>
                <a:ea typeface="Calibri"/>
                <a:cs typeface="Calibri"/>
              </a:rPr>
              <a:t>Systemablauf für das Greifen der Klötze</a:t>
            </a:r>
            <a:endParaRPr sz="2800" b="0" dirty="0">
              <a:solidFill>
                <a:srgbClr val="5C6670"/>
              </a:solidFill>
              <a:latin typeface="Calibri"/>
              <a:ea typeface="Calibri"/>
              <a:cs typeface="Calibri"/>
            </a:endParaRPr>
          </a:p>
        </p:txBody>
      </p:sp>
    </p:spTree>
    <p:extLst>
      <p:ext uri="{BB962C8B-B14F-4D97-AF65-F5344CB8AC3E}">
        <p14:creationId xmlns:p14="http://schemas.microsoft.com/office/powerpoint/2010/main" val="293167634"/>
      </p:ext>
    </p:extLst>
  </p:cSld>
  <p:clrMapOvr>
    <a:masterClrMapping/>
  </p:clrMapOvr>
</p:sld>
</file>

<file path=ppt/theme/theme1.xml><?xml version="1.0" encoding="utf-8"?>
<a:theme xmlns:a="http://schemas.openxmlformats.org/drawingml/2006/main" name="MMT_Plakat_A3">
  <a:themeElements>
    <a:clrScheme name="HKA MMT">
      <a:dk1>
        <a:srgbClr val="000000"/>
      </a:dk1>
      <a:lt1>
        <a:srgbClr val="FFFFFF"/>
      </a:lt1>
      <a:dk2>
        <a:srgbClr val="FFFFFF"/>
      </a:dk2>
      <a:lt2>
        <a:srgbClr val="E7E6E6"/>
      </a:lt2>
      <a:accent1>
        <a:srgbClr val="2869AE"/>
      </a:accent1>
      <a:accent2>
        <a:srgbClr val="D62305"/>
      </a:accent2>
      <a:accent3>
        <a:srgbClr val="8B2C82"/>
      </a:accent3>
      <a:accent4>
        <a:srgbClr val="63368B"/>
      </a:accent4>
      <a:accent5>
        <a:srgbClr val="1D4595"/>
      </a:accent5>
      <a:accent6>
        <a:srgbClr val="198282"/>
      </a:accent6>
      <a:hlink>
        <a:srgbClr val="D62305"/>
      </a:hlink>
      <a:folHlink>
        <a:srgbClr val="2869A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00218_CAP_HKA_1.2_Plakat_DIN A3" id="{EE17AB03-823D-1D43-A29F-82AD2ABAFB94}" vid="{62F88BFE-A853-AA4F-8D70-B248F8B742A5}"/>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kein FT</Template>
  <TotalTime>0</TotalTime>
  <Words>376</Words>
  <Application>Microsoft Office PowerPoint</Application>
  <PresentationFormat>Benutzerdefiniert</PresentationFormat>
  <Paragraphs>32</Paragraphs>
  <Slides>1</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GT Pressura</vt:lpstr>
      <vt:lpstr>Arial</vt:lpstr>
      <vt:lpstr>Calibri</vt:lpstr>
      <vt:lpstr>GT Pressura Light</vt:lpstr>
      <vt:lpstr>MMT_Plakat_A3</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Valerie Thaller</dc:creator>
  <cp:lastModifiedBy>Tobias Unger</cp:lastModifiedBy>
  <cp:revision>134</cp:revision>
  <cp:lastPrinted>2020-09-16T08:27:55Z</cp:lastPrinted>
  <dcterms:created xsi:type="dcterms:W3CDTF">2020-05-13T09:52:37Z</dcterms:created>
  <dcterms:modified xsi:type="dcterms:W3CDTF">2026-10-01T20:42:31Z</dcterms:modified>
</cp:coreProperties>
</file>