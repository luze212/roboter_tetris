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b7b1dbcc054e69" /><Relationship Type="http://schemas.openxmlformats.org/officeDocument/2006/relationships/extended-properties" Target="/docProps/app.xml" Id="Rb77e9ce869104e67" /><Relationship Type="http://schemas.openxmlformats.org/officeDocument/2006/relationships/officeDocument" Target="/ppt/presentation.xml" Id="Rdf681f93b23a4b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a1a0f25e2145ea"/>
  </p:sldMasterIdLst>
  <p:notesMasterIdLst>
    <p:notesMasterId xmlns:r="http://schemas.openxmlformats.org/officeDocument/2006/relationships" r:id="R2549f483e4914f5d"/>
  </p:notesMasterIdLst>
  <p:sldIdLst>
    <p:sldId xmlns:r="http://schemas.openxmlformats.org/officeDocument/2006/relationships" id="256" r:id="R05a6d9a9f800489f"/>
    <p:sldId xmlns:r="http://schemas.openxmlformats.org/officeDocument/2006/relationships" id="257" r:id="R47bdbfd3afb44e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61c210c3474ceb" /><Relationship Type="http://schemas.openxmlformats.org/officeDocument/2006/relationships/slideMaster" Target="/ppt/slideMasters/slideMaster1.xml" Id="R60a1a0f25e2145ea" /><Relationship Type="http://schemas.openxmlformats.org/officeDocument/2006/relationships/notesMaster" Target="/ppt/notesMasters/notesMaster1.xml" Id="R2549f483e4914f5d" /><Relationship Type="http://schemas.openxmlformats.org/officeDocument/2006/relationships/presProps" Target="/ppt/presProps.xml" Id="R2e477945b6ee44ea" /><Relationship Type="http://schemas.openxmlformats.org/officeDocument/2006/relationships/tableStyles" Target="/ppt/tableStyles.xml" Id="R118c6dc8f5164d8c" /><Relationship Type="http://schemas.openxmlformats.org/officeDocument/2006/relationships/slide" Target="/ppt/slides/slide1.xml" Id="R05a6d9a9f800489f" /><Relationship Type="http://schemas.openxmlformats.org/officeDocument/2006/relationships/slide" Target="/ppt/slides/slide2.xml" Id="R47bdbfd3afb44e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7202d31f814b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23ad61d87b4075" /><Relationship Type="http://schemas.openxmlformats.org/officeDocument/2006/relationships/notesMaster" Target="/ppt/notesMasters/notesMaster1.xml" Id="R2f379c588fbf4e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3ab5eb04d44084" /><Relationship Type="http://schemas.openxmlformats.org/officeDocument/2006/relationships/notesMaster" Target="/ppt/notesMasters/notesMaster1.xml" Id="R4a4d315959e44d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Eigene Vermessungen und Projektkonfiguration, Stand 24.09.2026.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Eigene Vermessungen und Projektkonfiguration, Stand 24.09.2026.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481e5033945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60a3ba40a84550" /><Relationship Type="http://schemas.openxmlformats.org/officeDocument/2006/relationships/slideLayout" Target="/ppt/slideLayouts/slideLayout1.xml" Id="Rf75c2743746343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5c2743746343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5b4922aa3497b" /><Relationship Type="http://schemas.openxmlformats.org/officeDocument/2006/relationships/notesSlide" Target="/ppt/notesSlides/notesSlide1.xml" Id="R94cc7113145747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17abb06e34a6a" /><Relationship Type="http://schemas.openxmlformats.org/officeDocument/2006/relationships/notesSlide" Target="/ppt/notesSlides/notesSlide2.xml" Id="R838617b63cdf4e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/>
          <p:cNvCxnSpPr>
            <a:stCxn xmlns:a="http://schemas.openxmlformats.org/drawingml/2006/main" id="21" idx="3"/>
            <a:endCxn xmlns:a="http://schemas.openxmlformats.org/drawingml/2006/main" id="37" idx="2"/>
          </p:cNvCxnSpPr>
          <p:nvPr/>
        </p:nvCxnSpPr>
        <p:spPr>
          <a:xfrm xmlns:a="http://schemas.openxmlformats.org/drawingml/2006/main">
            <a:off x="7105650" y="3057525"/>
            <a:ext cx="1895475" cy="6238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6622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1"/>
            <a:endCxn xmlns:a="http://schemas.openxmlformats.org/drawingml/2006/main" id="12" idx="6"/>
          </p:cNvCxnSpPr>
          <p:nvPr/>
        </p:nvCxnSpPr>
        <p:spPr>
          <a:xfrm xmlns:a="http://schemas.openxmlformats.org/drawingml/2006/main" flipH="1">
            <a:off x="2343150" y="1266825"/>
            <a:ext cx="800100" cy="3190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B5563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2699FE-7C08-431C-BA05-E5B6ED61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Draufsicht des Versuchsaufbaus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17DB8-158A-4255-9838-EF4BAB38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Globale Koordinaten im Bezugssystem world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CC2EB-92FE-41C8-B414-E7153AC1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4000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7EEF4"/>
          </a:solidFill>
          <a:ln xmlns:a="http://schemas.openxmlformats.org/drawingml/2006/main" w="28575">
            <a:solidFill>
              <a:srgbClr val="305B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80CD7-167B-4282-9295-AEAC35D4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19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Förderband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2FD54-4898-4316-BB5A-677429ED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14700"/>
            <a:ext cx="337185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70B8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20856-E441-49A1-9E69-F893051B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9525" cy="223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875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CAD0E-3824-4D19-8D3E-7E2121D2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409950" y="4572000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7520"/>
          </a:solidFill>
          <a:ln xmlns:a="http://schemas.openxmlformats.org/drawingml/2006/main" w="0">
            <a:solidFill>
              <a:srgbClr val="E8752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B709A-6BD4-4F7A-AD49-AEA5FF4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62050"/>
            <a:ext cx="7620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6DCE1"/>
          </a:solidFill>
          <a:ln xmlns:a="http://schemas.openxmlformats.org/drawingml/2006/main" w="19050">
            <a:solidFill>
              <a:srgbClr val="4B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44A01-C093-4104-BE16-AD5952B7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71600"/>
            <a:ext cx="9525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64787-E29E-4AC7-9857-DFB78BB1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Base-Kamera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39E6E-B33F-40F6-83C3-6533AF22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mittig am Bandanfang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ca. 0,850 m über Band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E434D-EE8E-4081-B942-8E43934E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81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048F2-2050-4EDB-A731-91E53957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70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3DA6E-04D8-48B5-BDCA-3C1A6D3F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724150" y="13620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0B8"/>
          </a:solidFill>
          <a:ln xmlns:a="http://schemas.openxmlformats.org/drawingml/2006/main" w="0">
            <a:solidFill>
              <a:srgbClr val="1D70B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F08F1-51B8-4C4D-A70A-173A6ED2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28750"/>
            <a:ext cx="95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70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ADDAD-767E-43AC-811C-82BCF169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457575" y="197167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0B8"/>
          </a:solidFill>
          <a:ln xmlns:a="http://schemas.openxmlformats.org/drawingml/2006/main" w="0">
            <a:solidFill>
              <a:srgbClr val="1D70B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267B8-77E2-4D03-BEC8-0E070C06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1811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X+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663D4-5592-45BD-BF5F-E0D2E2AC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812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Y+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755A83-A8E0-4345-BCB1-BA1B52FE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431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conveyor_frame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30A3E-A0A2-41B9-BFED-0E40A820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14625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DFBD"/>
          </a:solidFill>
          <a:ln xmlns:a="http://schemas.openxmlformats.org/drawingml/2006/main" w="19050">
            <a:solidFill>
              <a:srgbClr val="9B66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82105-B85B-444C-86C7-F31994F4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43225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Ablagekiste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97A072-70C7-456D-AD6D-43128054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95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8D6"/>
          </a:solidFill>
          <a:ln xmlns:a="http://schemas.openxmlformats.org/drawingml/2006/main" w="28575">
            <a:solidFill>
              <a:srgbClr val="467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EF411-B6B9-46D3-8017-7FA19169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053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UR10e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897F1-40A7-4646-97F8-54B3FF03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742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70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AEAC3B-DE24-46C8-817A-E89BFA52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01100" y="4562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0B8"/>
          </a:solidFill>
          <a:ln xmlns:a="http://schemas.openxmlformats.org/drawingml/2006/main" w="0">
            <a:solidFill>
              <a:srgbClr val="1D70B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A098D-D702-48A5-A3B2-B658ADBC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95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70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FC693F-EC63-4A99-B5E3-53AD2DEF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943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0B8"/>
          </a:solidFill>
          <a:ln xmlns:a="http://schemas.openxmlformats.org/drawingml/2006/main" w="0">
            <a:solidFill>
              <a:srgbClr val="1D70B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939C06-76AD-4528-B414-BE5FAEC9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624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X+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D5600-CD27-414E-BE94-AD45AF52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10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Y+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E8C729-166A-4ECE-8810-576F270A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9C241-93E3-4A83-936F-81D64FC5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70B8"/>
                </a:solidFill>
                <a:latin typeface="Arial"/>
                <a:ea typeface="Arial"/>
                <a:cs typeface="Arial"/>
              </a:rPr>
              <a:t>Greifbarer Arbeitsbereich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8E1BE-7E14-49D4-9349-783BC9FE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x = -1,200 bis -0,530 m</a:t>
            </a:r>
          </a:p>
          <a:p xmlns:a="http://schemas.openxmlformats.org/drawingml/2006/main">
            <a:pPr algn="l">
              <a:defRPr sz="13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y = -0,320 bis 0,430 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DF90B5-0DE5-46F1-A89F-3DC76EA7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38400"/>
            <a:ext cx="314325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70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BB728D-550C-40C2-8DE0-E0AF98A7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Ablagepose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8E258B-17DB-427B-9A53-3C6BACF4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95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 = -0,316 m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y = 0,476 m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z = 0,420 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272C33-DFB4-4EC2-AAF7-C1F64A6C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76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4DA7FE-297B-42A1-866A-C56C4B13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Bandkanten: x = -1,275 bis -0,480 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086D65-8314-4124-A893-D1E85340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Nutzbare gerade Förderstrecke: ca. 1,507 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4979B0-AF20-48B0-8797-5296F76E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Z+ zeigt von der Bandebene nach oben und ist in der Draufsicht nicht dargestellt.</a:t>
            </a:r>
          </a:p>
        </p:txBody>
      </p:sp>
    </p:spTree>
    <p:extLst>
      <p:ext uri="{BB962C8B-B14F-4D97-AF65-F5344CB8AC3E}">
        <p14:creationId xmlns:p14="http://schemas.microsoft.com/office/powerpoint/2010/main" val="1568395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C0F9E-DA12-4BA4-8AF2-99E1426A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Seitenansicht der relevanten Höhen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9E14B-A334-4B54-AB16-96F22269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Flanschhöhen im globalen Bezugssystem world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E0077-C42F-423D-B731-2B6CD91D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28750"/>
            <a:ext cx="9525" cy="3571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4B55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B9B33-2713-4FFD-9D48-17529AC7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9525" cy="3571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4B556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755C6-0A52-4D58-B8DD-508F6057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287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4B55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1A7D8-0BA4-45F2-962A-EB7C6236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54305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DCE1"/>
          </a:solidFill>
          <a:ln xmlns:a="http://schemas.openxmlformats.org/drawingml/2006/main" w="19050">
            <a:solidFill>
              <a:srgbClr val="4B556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68E1D-30D2-4449-929A-DBEF34A5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Base-Kamera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0959D-EB34-4841-8D2F-BC4D6C7F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ca. 0,850 m über Band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55E73-1A66-4C77-BCFC-0934202B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590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EEF4"/>
          </a:solidFill>
          <a:ln xmlns:a="http://schemas.openxmlformats.org/drawingml/2006/main" w="28575">
            <a:solidFill>
              <a:srgbClr val="305B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CE2B2-D604-4F44-8632-6CDEBF62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76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Förderband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EACCA-38DB-4B6D-A036-32857B3A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47950"/>
            <a:ext cx="514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70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0A562-BB63-4FD1-AC52-5123847E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095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70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0DA40-9EF0-43F3-B1A9-92A277BD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obere Arbeitsraumgrenze: z = 0,600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A13E5-451C-42D1-9F64-B62B3782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514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91C0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E1D61-FA75-4F5A-BC19-0ECDD2CB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2095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91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D2E64-8B4D-4107-81BB-09FA7C98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91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91C0"/>
                </a:solidFill>
                <a:latin typeface="Arial"/>
                <a:ea typeface="Arial"/>
                <a:cs typeface="Arial"/>
              </a:rPr>
              <a:t>Transferhöhe: z = 0,490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EDA7D-B408-41A7-9E2D-CAB9457A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514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91C0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AFEA7-AF29-428E-A7ED-C50541E3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2095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91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C9251-AD35-4179-A9E7-6F5D2A1B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91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91C0"/>
                </a:solidFill>
                <a:latin typeface="Arial"/>
                <a:ea typeface="Arial"/>
                <a:cs typeface="Arial"/>
              </a:rPr>
              <a:t>Folge- und Beobachtungshöhe: z = 0,450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90B09-AA13-4A11-9DDF-FAEDCA40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24375"/>
            <a:ext cx="514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70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D3CA6-5C23-4A12-9F4B-86DA57CE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2095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70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DA7D6-6382-4AB6-8E3A-1B710BEF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434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untere Arbeitsraumgrenze: z = 0,309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B0221-F465-4377-8824-CA8C872A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9525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75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A2338-A08E-4904-A23A-FFF5283B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1952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7520"/>
          </a:solidFill>
          <a:ln xmlns:a="http://schemas.openxmlformats.org/drawingml/2006/main" w="0">
            <a:solidFill>
              <a:srgbClr val="E8752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2B0B9-CD58-46B0-92DE-71A5ECD6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75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87520"/>
                </a:solidFill>
                <a:latin typeface="Arial"/>
                <a:ea typeface="Arial"/>
                <a:cs typeface="Arial"/>
              </a:rPr>
              <a:t>ca. 0,850 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DA320-9C38-459B-BD5A-799134C0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09875"/>
            <a:ext cx="9525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70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A970D-2919-433E-84FB-3D7CA6BD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6575" y="27432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0B8"/>
          </a:solidFill>
          <a:ln xmlns:a="http://schemas.openxmlformats.org/drawingml/2006/main" w="0">
            <a:solidFill>
              <a:srgbClr val="1D70B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8F39DA-9B59-435C-BA55-0D619759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003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Z+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8469B9-C807-4AA3-9173-B0866E3A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257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28C5B1-7E86-47E2-9D4D-43BFFC87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Die Höhen betreffen den Flansch ur_tool0. Der Greifer ist nicht dargestellt.</a:t>
            </a:r>
          </a:p>
        </p:txBody>
      </p:sp>
    </p:spTree>
    <p:extLst>
      <p:ext uri="{BB962C8B-B14F-4D97-AF65-F5344CB8AC3E}">
        <p14:creationId xmlns:p14="http://schemas.microsoft.com/office/powerpoint/2010/main" val="1345097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2026-09-24T18:52:18.2500000Z</dcterms:created>
  <dcterms:modified xsi:type="dcterms:W3CDTF">2026-09-24T18:52:18.2500000Z</dcterms:modified>
</coreProperties>
</file>