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8d7fec1920461a" /><Relationship Type="http://schemas.openxmlformats.org/officeDocument/2006/relationships/extended-properties" Target="/docProps/app.xml" Id="R52edf9e6afa54dfb" /><Relationship Type="http://schemas.openxmlformats.org/officeDocument/2006/relationships/officeDocument" Target="/ppt/presentation.xml" Id="R16c6de5766164e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779c601a594a13"/>
  </p:sldMasterIdLst>
  <p:notesMasterIdLst>
    <p:notesMasterId xmlns:r="http://schemas.openxmlformats.org/officeDocument/2006/relationships" r:id="R3cafbf221ed146fb"/>
  </p:notesMasterIdLst>
  <p:sldIdLst>
    <p:sldId xmlns:r="http://schemas.openxmlformats.org/officeDocument/2006/relationships" id="256" r:id="R80b304571f894d99"/>
    <p:sldId xmlns:r="http://schemas.openxmlformats.org/officeDocument/2006/relationships" id="257" r:id="R15677010c3ed41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7afa0f6ede47f5" /><Relationship Type="http://schemas.openxmlformats.org/officeDocument/2006/relationships/slideMaster" Target="/ppt/slideMasters/slideMaster1.xml" Id="R39779c601a594a13" /><Relationship Type="http://schemas.openxmlformats.org/officeDocument/2006/relationships/notesMaster" Target="/ppt/notesMasters/notesMaster1.xml" Id="R3cafbf221ed146fb" /><Relationship Type="http://schemas.openxmlformats.org/officeDocument/2006/relationships/presProps" Target="/ppt/presProps.xml" Id="R3a403b8cb6104cfa" /><Relationship Type="http://schemas.openxmlformats.org/officeDocument/2006/relationships/tableStyles" Target="/ppt/tableStyles.xml" Id="R13740d1021df4ed2" /><Relationship Type="http://schemas.openxmlformats.org/officeDocument/2006/relationships/slide" Target="/ppt/slides/slide1.xml" Id="R80b304571f894d99" /><Relationship Type="http://schemas.openxmlformats.org/officeDocument/2006/relationships/slide" Target="/ppt/slides/slide2.xml" Id="R15677010c3ed41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0884daa7c34a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8d496491564036" /><Relationship Type="http://schemas.openxmlformats.org/officeDocument/2006/relationships/notesMaster" Target="/ppt/notesMasters/notesMaster1.xml" Id="Ra11f6c87cb8148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b5f923de714638" /><Relationship Type="http://schemas.openxmlformats.org/officeDocument/2006/relationships/notesMaster" Target="/ppt/notesMasters/notesMaster1.xml" Id="R283d46e62c874a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0b58956c742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69aa897f78485b" /><Relationship Type="http://schemas.openxmlformats.org/officeDocument/2006/relationships/slideLayout" Target="/ppt/slideLayouts/slideLayout1.xml" Id="Rc4daccaf9dd14a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daccaf9dd14a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91eae5d2743ad" /><Relationship Type="http://schemas.openxmlformats.org/officeDocument/2006/relationships/notesSlide" Target="/ppt/notesSlides/notesSlide1.xml" Id="R8a65237bd07342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7ff7356114ea7" /><Relationship Type="http://schemas.openxmlformats.org/officeDocument/2006/relationships/notesSlide" Target="/ppt/notesSlides/notesSlide2.xml" Id="R619fb134e65348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5E71D7-71AF-44F9-98C0-FDBAADAE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Draufsicht des Versuchsaufbaus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0012F-42E0-4875-86F1-0CB0A506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Globale Koordinaten im Bezugssystem world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99BA4-EC78-480D-9E8F-C2FA9CD9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28750"/>
            <a:ext cx="40005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E7EEF4"/>
          </a:solidFill>
          <a:ln xmlns:a="http://schemas.openxmlformats.org/drawingml/2006/main" w="28575">
            <a:solidFill>
              <a:srgbClr val="305B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2486D-4E28-4D5D-BCA6-FDF7C1BC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19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B0BD2-66C5-43B1-9E88-317419C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14700"/>
            <a:ext cx="337185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dash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52241-64B2-4ACD-B038-0D9BB87B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9525" cy="2238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875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006F9-2211-4E46-A5A5-9B7842EA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409950" y="4572000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7520"/>
          </a:solidFill>
          <a:ln xmlns:a="http://schemas.openxmlformats.org/drawingml/2006/main" w="0">
            <a:solidFill>
              <a:srgbClr val="E8752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0BF13-8933-42F4-94EF-73AF0584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62050"/>
            <a:ext cx="7620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D6DCE1"/>
          </a:solidFill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5AB90-A8BF-4E36-AC6F-1FA54F2E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71600"/>
            <a:ext cx="9525" cy="57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1AB1A-865B-4612-B957-1F8C3204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Base-Kamera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F7EA2-0B71-4535-ADD3-82F6E9B8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mittig am Bandanfang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über Band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BAD4A-4B99-4A76-BBF3-15333558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666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2F6FE-6131-4B29-92B9-D74019DB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2724150" y="1362075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75ED1-4C7A-49F0-8291-C9A12C02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28750"/>
            <a:ext cx="9525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672521-D8FA-44BA-AD78-3E386ECD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457575" y="1971675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288C0-99B2-4338-8094-369D38AA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1811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09412-6B6B-4CEA-93FE-FF0B528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812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B80D1B-3B57-4BAA-B983-7F9B345D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143125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conveyor_frame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31901D-418B-4305-8DB6-F59926D7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14625"/>
            <a:ext cx="1143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DFBD"/>
          </a:solidFill>
          <a:ln xmlns:a="http://schemas.openxmlformats.org/drawingml/2006/main" w="19050">
            <a:solidFill>
              <a:srgbClr val="9B662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12AA45-AA4F-4C99-9175-4BD03851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43225"/>
            <a:ext cx="914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Ablagekiste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CB867F-6734-4A87-8F8B-8E6BC22A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957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8D6"/>
          </a:solidFill>
          <a:ln xmlns:a="http://schemas.openxmlformats.org/drawingml/2006/main" w="28575">
            <a:solidFill>
              <a:srgbClr val="467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2DDF78-AA6B-4EB0-927E-89B8013E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784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UR10e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864C3-9561-42E1-8B4D-098E607C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742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B82B-EB40-4094-914F-4E3E7A74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45624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714F3F-A5E0-489E-A3B9-8354E819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952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BEE2A-4B96-43D4-9E09-EA2D77AC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9433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6482C7-7CA6-456C-AED0-6485B63D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3624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93E5B2-31C5-44B6-8440-3041A2B9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100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1AD7FE-2842-4291-B282-F9E751C0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58BA86-6D41-4413-A97F-4E1B5B47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05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70B8"/>
                </a:solidFill>
                <a:latin typeface="Arial"/>
                <a:ea typeface="Arial"/>
                <a:cs typeface="Arial"/>
              </a:rPr>
              <a:t>Greifbarer Arbeitsbereich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FE332-88A9-4CAB-A0CF-A4304CD2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669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14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 = -1,200 bis -0,530 m</a:t>
            </a:r>
          </a:p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 = -0,320 bis 0,430 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AEE7E9-C98F-4796-8B47-DFB914AA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Ablagepose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A718B7-3FC2-4EDF-B60C-889F4786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95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x = -0,316 m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y = 0,476 m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z = 0,420 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0183DC-75D5-4B9B-8F90-E79B84A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10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Bandkanten: x = -1,275 bis -0,480 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EB5812-A397-4106-87EB-3F5304E7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1150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Nutzbare gerade Förderstrecke: ca. 1,507 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14FD1F-175D-4EE2-93ED-E56A658E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Z+ zeigt von der Bandebene nach oben und ist in der Draufsicht nicht dargestellt.</a:t>
            </a:r>
          </a:p>
        </p:txBody>
      </p:sp>
    </p:spTree>
    <p:extLst>
      <p:ext uri="{BB962C8B-B14F-4D97-AF65-F5344CB8AC3E}">
        <p14:creationId xmlns:p14="http://schemas.microsoft.com/office/powerpoint/2010/main" val="1021586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96D9F5-1F43-4459-B0E2-AD8BC5A9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Seitenansicht der relevanten Höhen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3F4EE-FB8E-4940-8DD7-BC14E093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Flanschhöhen im globalen Bezugssystem world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1C476-5033-4E36-A9B3-960F5A43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428750"/>
            <a:ext cx="9525" cy="3571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ADF8E-7DFD-4ACA-A185-ADB3FDB3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9525" cy="3571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13D1A-F58D-4B02-91D4-1C6425C1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428750"/>
            <a:ext cx="4762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D8E80-0D06-4C85-B272-D764776C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543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6DCE1"/>
          </a:solidFill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53E3B-4A54-4C19-82B5-82A48AC2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00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Base-Kamera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41E24-7ABB-417C-B704-AF55FA6F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über Band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22ADB-7C58-495F-84B8-11354234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00625"/>
            <a:ext cx="590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7EEF4"/>
          </a:solidFill>
          <a:ln xmlns:a="http://schemas.openxmlformats.org/drawingml/2006/main" w="28575">
            <a:solidFill>
              <a:srgbClr val="305B7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59B8CD-9C7A-4679-9427-04FAE898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768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4DD10-5021-400B-8AFC-D8C9EF2C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4795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D4F8E-A43D-40E4-BF37-BF125353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20955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BF8DD-BADF-4A2E-89C0-906F0D6E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obere Arbeitsraumgrenze: z = 0,600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06995-153D-463E-9EF0-2E151C79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2900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F79EEF-940D-48B7-903A-6F3C7DC1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38500"/>
            <a:ext cx="20955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37541A-B162-4B5C-84B0-C45C3C25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91C0"/>
                </a:solidFill>
                <a:latin typeface="Arial"/>
                <a:ea typeface="Arial"/>
                <a:cs typeface="Arial"/>
              </a:rPr>
              <a:t>Transferhöhe: z = 0,490 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A8346D-10FA-40B2-AA75-349A0496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1475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6271C7-F592-4FE3-8B03-3EF33A8B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14750"/>
            <a:ext cx="20955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CAAF7-BF25-4B98-BCAB-2304634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91C0"/>
                </a:solidFill>
                <a:latin typeface="Arial"/>
                <a:ea typeface="Arial"/>
                <a:cs typeface="Arial"/>
              </a:rPr>
              <a:t>Folge- und Beobachtungshöhe: z = 0,450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D0BDE1-3A87-4060-AA5D-F779A1EF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24375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16CD48-6B7E-4C13-A430-88D4F42D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209550" cy="8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4D48C3-F3D5-4C8F-B369-AE5D5AE6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434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untere Arbeitsraumgrenze: z = 0,309 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D2F9B-2F9D-4846-9A03-D72A54EB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9525" cy="300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75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BBA254-2F9B-444C-9F8E-FE237188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" y="1952625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7520"/>
          </a:solidFill>
          <a:ln xmlns:a="http://schemas.openxmlformats.org/drawingml/2006/main" w="0">
            <a:solidFill>
              <a:srgbClr val="E8752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FD128-D896-4908-9A9D-4225A26C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75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87520"/>
                </a:solidFill>
                <a:latin typeface="Arial"/>
                <a:ea typeface="Arial"/>
                <a:cs typeface="Arial"/>
              </a:rPr>
              <a:t>ca. 0,850 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75AFF3-E32E-4B06-8DCF-FF624992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09875"/>
            <a:ext cx="9525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70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D5172-9D5A-4619-AD41-EEC9C911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96575" y="2743200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49EECF-B2B3-40B4-8455-3F055A5E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003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40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Z+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F258EC-5E44-41BA-9936-B4ACFCC5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578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6285BD-05BD-4066-9D26-23158FC7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Die Höhen betreffen den Flansch ur_tool0. Der Greifer ist nicht dargestellt.</a:t>
            </a:r>
          </a:p>
        </p:txBody>
      </p:sp>
    </p:spTree>
    <p:extLst>
      <p:ext uri="{BB962C8B-B14F-4D97-AF65-F5344CB8AC3E}">
        <p14:creationId xmlns:p14="http://schemas.microsoft.com/office/powerpoint/2010/main" val="9369908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2026-09-24T18:53:52.6620000Z</dcterms:created>
  <dcterms:modified xsi:type="dcterms:W3CDTF">2026-09-24T18:53:52.6620000Z</dcterms:modified>
</coreProperties>
</file>