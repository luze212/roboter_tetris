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823" r:id="rId1"/>
    <p:sldMasterId id="2147483826" r:id="rId2"/>
    <p:sldMasterId id="2147483841" r:id="rId3"/>
  </p:sldMasterIdLst>
  <p:notesMasterIdLst>
    <p:notesMasterId r:id="rId22"/>
  </p:notesMasterIdLst>
  <p:handoutMasterIdLst>
    <p:handoutMasterId r:id="rId23"/>
  </p:handoutMasterIdLst>
  <p:sldIdLst>
    <p:sldId id="515" r:id="rId4"/>
    <p:sldId id="526" r:id="rId5"/>
    <p:sldId id="502" r:id="rId6"/>
    <p:sldId id="521" r:id="rId7"/>
    <p:sldId id="522" r:id="rId8"/>
    <p:sldId id="523" r:id="rId9"/>
    <p:sldId id="524" r:id="rId10"/>
    <p:sldId id="518" r:id="rId11"/>
    <p:sldId id="519" r:id="rId12"/>
    <p:sldId id="509" r:id="rId13"/>
    <p:sldId id="510" r:id="rId14"/>
    <p:sldId id="528" r:id="rId15"/>
    <p:sldId id="284" r:id="rId16"/>
    <p:sldId id="527" r:id="rId17"/>
    <p:sldId id="520" r:id="rId18"/>
    <p:sldId id="517" r:id="rId19"/>
    <p:sldId id="511" r:id="rId20"/>
    <p:sldId id="512" r:id="rId21"/>
  </p:sldIdLst>
  <p:sldSz cx="12192000" cy="6858000"/>
  <p:notesSz cx="6858000" cy="9144000"/>
  <p:embeddedFontLst>
    <p:embeddedFont>
      <p:font typeface="Calibri Bold" pitchFamily="2" charset="77"/>
      <p:bold r:id="rId24"/>
    </p:embeddedFont>
  </p:embeddedFontLst>
  <p:defaultTextStyle>
    <a:defPPr>
      <a:defRPr lang="en-US"/>
    </a:defPPr>
    <a:lvl1pPr marL="0" algn="l" defTabSz="207340" rtl="0" eaLnBrk="1" latinLnBrk="0" hangingPunct="1">
      <a:defRPr sz="816" kern="1200">
        <a:solidFill>
          <a:schemeClr val="tx1"/>
        </a:solidFill>
        <a:latin typeface="+mn-lt"/>
        <a:ea typeface="+mn-ea"/>
        <a:cs typeface="+mn-cs"/>
      </a:defRPr>
    </a:lvl1pPr>
    <a:lvl2pPr marL="207340" algn="l" defTabSz="207340" rtl="0" eaLnBrk="1" latinLnBrk="0" hangingPunct="1">
      <a:defRPr sz="816" kern="1200">
        <a:solidFill>
          <a:schemeClr val="tx1"/>
        </a:solidFill>
        <a:latin typeface="+mn-lt"/>
        <a:ea typeface="+mn-ea"/>
        <a:cs typeface="+mn-cs"/>
      </a:defRPr>
    </a:lvl2pPr>
    <a:lvl3pPr marL="414680" algn="l" defTabSz="207340" rtl="0" eaLnBrk="1" latinLnBrk="0" hangingPunct="1">
      <a:defRPr sz="816" kern="1200">
        <a:solidFill>
          <a:schemeClr val="tx1"/>
        </a:solidFill>
        <a:latin typeface="+mn-lt"/>
        <a:ea typeface="+mn-ea"/>
        <a:cs typeface="+mn-cs"/>
      </a:defRPr>
    </a:lvl3pPr>
    <a:lvl4pPr marL="622021" algn="l" defTabSz="207340" rtl="0" eaLnBrk="1" latinLnBrk="0" hangingPunct="1">
      <a:defRPr sz="816" kern="1200">
        <a:solidFill>
          <a:schemeClr val="tx1"/>
        </a:solidFill>
        <a:latin typeface="+mn-lt"/>
        <a:ea typeface="+mn-ea"/>
        <a:cs typeface="+mn-cs"/>
      </a:defRPr>
    </a:lvl4pPr>
    <a:lvl5pPr marL="829361" algn="l" defTabSz="207340" rtl="0" eaLnBrk="1" latinLnBrk="0" hangingPunct="1">
      <a:defRPr sz="816" kern="1200">
        <a:solidFill>
          <a:schemeClr val="tx1"/>
        </a:solidFill>
        <a:latin typeface="+mn-lt"/>
        <a:ea typeface="+mn-ea"/>
        <a:cs typeface="+mn-cs"/>
      </a:defRPr>
    </a:lvl5pPr>
    <a:lvl6pPr marL="1036701" algn="l" defTabSz="207340" rtl="0" eaLnBrk="1" latinLnBrk="0" hangingPunct="1">
      <a:defRPr sz="816" kern="1200">
        <a:solidFill>
          <a:schemeClr val="tx1"/>
        </a:solidFill>
        <a:latin typeface="+mn-lt"/>
        <a:ea typeface="+mn-ea"/>
        <a:cs typeface="+mn-cs"/>
      </a:defRPr>
    </a:lvl6pPr>
    <a:lvl7pPr marL="1244041" algn="l" defTabSz="207340" rtl="0" eaLnBrk="1" latinLnBrk="0" hangingPunct="1">
      <a:defRPr sz="816" kern="1200">
        <a:solidFill>
          <a:schemeClr val="tx1"/>
        </a:solidFill>
        <a:latin typeface="+mn-lt"/>
        <a:ea typeface="+mn-ea"/>
        <a:cs typeface="+mn-cs"/>
      </a:defRPr>
    </a:lvl7pPr>
    <a:lvl8pPr marL="1451381" algn="l" defTabSz="207340" rtl="0" eaLnBrk="1" latinLnBrk="0" hangingPunct="1">
      <a:defRPr sz="816" kern="1200">
        <a:solidFill>
          <a:schemeClr val="tx1"/>
        </a:solidFill>
        <a:latin typeface="+mn-lt"/>
        <a:ea typeface="+mn-ea"/>
        <a:cs typeface="+mn-cs"/>
      </a:defRPr>
    </a:lvl8pPr>
    <a:lvl9pPr marL="1658722" algn="l" defTabSz="207340" rtl="0" eaLnBrk="1" latinLnBrk="0" hangingPunct="1">
      <a:defRPr sz="816"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E0564671-BBB7-47DA-92A0-4B080CDF2BC5}">
          <p14:sldIdLst>
            <p14:sldId id="515"/>
            <p14:sldId id="526"/>
            <p14:sldId id="502"/>
            <p14:sldId id="521"/>
            <p14:sldId id="522"/>
            <p14:sldId id="523"/>
            <p14:sldId id="524"/>
            <p14:sldId id="518"/>
            <p14:sldId id="519"/>
            <p14:sldId id="509"/>
            <p14:sldId id="510"/>
            <p14:sldId id="528"/>
            <p14:sldId id="284"/>
          </p14:sldIdLst>
        </p14:section>
        <p14:section name="BackUp" id="{248D2F70-1F5D-4FCD-963E-1DF9CCAD4B9D}">
          <p14:sldIdLst>
            <p14:sldId id="527"/>
            <p14:sldId id="520"/>
            <p14:sldId id="517"/>
            <p14:sldId id="511"/>
            <p14:sldId id="51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D11611D-4589-AE68-FED2-9F023B544461}" name="Tobias Unger" initials="TU" userId="S::unto1011@hs-karlsruhe.de::ac2bba53-662c-47e6-be32-e48104c639a2" providerId="AD"/>
  <p188:author id="{53DF6B4A-7EC5-C862-4DA5-E40D162ED618}" name="Hauke Stürenburg" initials="" userId="S::stha1012@h-ka.de::a8bb1362-552c-4f92-a794-b11d716a31b4" providerId="AD"/>
  <p188:author id="{B1C7D5B7-C62C-72EF-1484-F62F31472190}" name="Tobias Unger" initials="TU" userId="0a5458e38b5f4a0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69AF"/>
    <a:srgbClr val="FF7E29"/>
    <a:srgbClr val="AEAEAE"/>
    <a:srgbClr val="0E5F84"/>
    <a:srgbClr val="D9D9D9"/>
    <a:srgbClr val="C4F7BB"/>
    <a:srgbClr val="D62305"/>
    <a:srgbClr val="FFFFFF"/>
    <a:srgbClr val="D723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Helle Formatvorlag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202B0CA-FC54-4496-8BCA-5EF66A818D29}" styleName="Dunkle Formatvorlag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unkle Formatvorlag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ittlere Formatvorlag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5BE263C-DBD7-4A20-BB59-AAB30ACAA65A}" styleName="Mittlere Formatvorlage 3 - Akz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unkle Formatvorlage 2 - Akzent 1/Akz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unkle Formatvorlage 2 - Akzent 3/Akz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5" autoAdjust="0"/>
    <p:restoredTop sz="91233" autoAdjust="0"/>
  </p:normalViewPr>
  <p:slideViewPr>
    <p:cSldViewPr snapToGrid="0">
      <p:cViewPr>
        <p:scale>
          <a:sx n="53" d="100"/>
          <a:sy n="53" d="100"/>
        </p:scale>
        <p:origin x="2920" y="1528"/>
      </p:cViewPr>
      <p:guideLst/>
    </p:cSldViewPr>
  </p:slideViewPr>
  <p:notesTextViewPr>
    <p:cViewPr>
      <p:scale>
        <a:sx n="1" d="1"/>
        <a:sy n="1" d="1"/>
      </p:scale>
      <p:origin x="0" y="0"/>
    </p:cViewPr>
  </p:notesTextViewPr>
  <p:notesViewPr>
    <p:cSldViewPr snapToGrid="0">
      <p:cViewPr>
        <p:scale>
          <a:sx n="1" d="2"/>
          <a:sy n="1" d="2"/>
        </p:scale>
        <p:origin x="3920" y="101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1.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Arbeitsblat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bar"/>
        <c:grouping val="clustered"/>
        <c:varyColors val="0"/>
        <c:ser>
          <c:idx val="0"/>
          <c:order val="0"/>
          <c:tx>
            <c:v>Mittleres Messalter</c:v>
          </c:tx>
          <c:spPr>
            <a:solidFill>
              <a:srgbClr val="2869AF"/>
            </a:solidFill>
          </c:spPr>
          <c:invertIfNegative val="1"/>
          <c:dPt>
            <c:idx val="0"/>
            <c:invertIfNegative val="0"/>
            <c:bubble3D val="0"/>
            <c:spPr>
              <a:solidFill>
                <a:srgbClr val="A8B7C5"/>
              </a:solidFill>
            </c:spPr>
            <c:extLst>
              <c:ext xmlns:c16="http://schemas.microsoft.com/office/drawing/2014/chart" uri="{C3380CC4-5D6E-409C-BE32-E72D297353CC}">
                <c16:uniqueId val="{00000001-A158-4ED0-B5ED-207DBB482472}"/>
              </c:ext>
            </c:extLst>
          </c:dPt>
          <c:dPt>
            <c:idx val="1"/>
            <c:invertIfNegative val="0"/>
            <c:bubble3D val="0"/>
            <c:extLst>
              <c:ext xmlns:c16="http://schemas.microsoft.com/office/drawing/2014/chart" uri="{C3380CC4-5D6E-409C-BE32-E72D297353CC}">
                <c16:uniqueId val="{00000003-A158-4ED0-B5ED-207DBB482472}"/>
              </c:ext>
            </c:extLst>
          </c:dPt>
          <c:dLbls>
            <c:spPr>
              <a:noFill/>
              <a:ln>
                <a:noFill/>
              </a:ln>
              <a:effectLst/>
            </c:spPr>
            <c:txPr>
              <a:bodyPr anchorCtr="1"/>
              <a:lstStyle/>
              <a:p>
                <a:pPr>
                  <a:defRPr sz="1650" b="1">
                    <a:solidFill>
                      <a:srgbClr val="2869AF"/>
                    </a:solidFill>
                    <a:latin typeface="Calibri"/>
                    <a:ea typeface="Calibri"/>
                    <a:cs typeface="Calibri"/>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Vor Optimierung</c:v>
                </c:pt>
                <c:pt idx="1">
                  <c:v>Nach Maßnahmen</c:v>
                </c:pt>
              </c:strCache>
            </c:strRef>
          </c:cat>
          <c:val>
            <c:numRef>
              <c:f>'Chart Data'!$B$2:$B$3</c:f>
              <c:numCache>
                <c:formatCode>0" ms"</c:formatCode>
                <c:ptCount val="2"/>
                <c:pt idx="0">
                  <c:v>450</c:v>
                </c:pt>
                <c:pt idx="1">
                  <c:v>139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A158-4ED0-B5ED-207DBB482472}"/>
            </c:ext>
          </c:extLst>
        </c:ser>
        <c:dLbls>
          <c:dLblPos val="outEnd"/>
          <c:showLegendKey val="0"/>
          <c:showVal val="1"/>
          <c:showCatName val="0"/>
          <c:showSerName val="0"/>
          <c:showPercent val="0"/>
          <c:showBubbleSize val="0"/>
        </c:dLbls>
        <c:gapWidth val="95"/>
        <c:axId val="48650112"/>
        <c:axId val="48672768"/>
      </c:barChart>
      <c:catAx>
        <c:axId val="48650112"/>
        <c:scaling>
          <c:orientation val="minMax"/>
        </c:scaling>
        <c:delete val="0"/>
        <c:axPos val="l"/>
        <c:majorGridlines>
          <c:spPr>
            <a:ln w="9525">
              <a:solidFill>
                <a:srgbClr val="DCE2E8"/>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350">
                <a:solidFill>
                  <a:srgbClr val="61707D"/>
                </a:solidFill>
                <a:latin typeface="Calibri"/>
                <a:ea typeface="Calibri"/>
                <a:cs typeface="Calibri"/>
              </a:defRPr>
            </a:pPr>
            <a:endParaRPr lang="de-DE"/>
          </a:p>
        </c:txPr>
        <c:crossAx val="48672768"/>
        <c:crosses val="autoZero"/>
        <c:auto val="1"/>
        <c:lblAlgn val="ctr"/>
        <c:lblOffset val="100"/>
        <c:noMultiLvlLbl val="1"/>
      </c:catAx>
      <c:valAx>
        <c:axId val="48672768"/>
        <c:scaling>
          <c:orientation val="minMax"/>
        </c:scaling>
        <c:delete val="0"/>
        <c:axPos val="b"/>
        <c:numFmt formatCode="0&quot; ms&quot;" sourceLinked="1"/>
        <c:majorTickMark val="none"/>
        <c:minorTickMark val="none"/>
        <c:tickLblPos val="nextTo"/>
        <c:spPr>
          <a:ln w="9525">
            <a:solidFill>
              <a:srgbClr val="D4D4D4"/>
            </a:solidFill>
            <a:prstDash val="solid"/>
          </a:ln>
        </c:spPr>
        <c:txPr>
          <a:bodyPr anchorCtr="1"/>
          <a:lstStyle/>
          <a:p>
            <a:pPr>
              <a:defRPr sz="1575">
                <a:solidFill>
                  <a:srgbClr val="17232E"/>
                </a:solidFill>
                <a:latin typeface="Calibri"/>
                <a:ea typeface="Calibri"/>
                <a:cs typeface="Calibri"/>
              </a:defRPr>
            </a:pPr>
            <a:endParaRPr lang="de-DE"/>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D20189E0-1142-8C4C-AC05-A6F1DE011E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4" name="Fußzeilenplatzhalter 3">
            <a:extLst>
              <a:ext uri="{FF2B5EF4-FFF2-40B4-BE49-F238E27FC236}">
                <a16:creationId xmlns:a16="http://schemas.microsoft.com/office/drawing/2014/main" id="{3EF4CE7F-CDCE-EE4B-955F-AE4E1EB583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de-DE"/>
              <a:t>hier</a:t>
            </a:r>
          </a:p>
        </p:txBody>
      </p:sp>
    </p:spTree>
    <p:extLst>
      <p:ext uri="{BB962C8B-B14F-4D97-AF65-F5344CB8AC3E}">
        <p14:creationId xmlns:p14="http://schemas.microsoft.com/office/powerpoint/2010/main" val="287341796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EF5FE6-0578-6C48-AD34-F15B08E4EDC5}" type="datetimeFigureOut">
              <a:rPr lang="de-DE" smtClean="0"/>
              <a:t>09.10.26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de-DE"/>
              <a:t>hier</a:t>
            </a:r>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5FB68A-13DA-DB4F-867D-DB048D314C26}" type="slidenum">
              <a:rPr lang="de-DE" smtClean="0"/>
              <a:t>‹Nr.›</a:t>
            </a:fld>
            <a:endParaRPr lang="de-DE"/>
          </a:p>
        </p:txBody>
      </p:sp>
    </p:spTree>
    <p:extLst>
      <p:ext uri="{BB962C8B-B14F-4D97-AF65-F5344CB8AC3E}">
        <p14:creationId xmlns:p14="http://schemas.microsoft.com/office/powerpoint/2010/main" val="2271907043"/>
      </p:ext>
    </p:extLst>
  </p:cSld>
  <p:clrMap bg1="lt1" tx1="dk1" bg2="lt2" tx2="dk2" accent1="accent1" accent2="accent2" accent3="accent3" accent4="accent4" accent5="accent5" accent6="accent6" hlink="hlink" folHlink="folHlink"/>
  <p:hf hdr="0" dt="0"/>
  <p:notesStyle>
    <a:lvl1pPr marL="0" algn="l" defTabSz="414680" rtl="0" eaLnBrk="1" latinLnBrk="0" hangingPunct="1">
      <a:defRPr sz="544" kern="1200">
        <a:solidFill>
          <a:schemeClr val="tx1"/>
        </a:solidFill>
        <a:latin typeface="+mn-lt"/>
        <a:ea typeface="+mn-ea"/>
        <a:cs typeface="+mn-cs"/>
      </a:defRPr>
    </a:lvl1pPr>
    <a:lvl2pPr marL="207340" algn="l" defTabSz="414680" rtl="0" eaLnBrk="1" latinLnBrk="0" hangingPunct="1">
      <a:defRPr sz="544" kern="1200">
        <a:solidFill>
          <a:schemeClr val="tx1"/>
        </a:solidFill>
        <a:latin typeface="+mn-lt"/>
        <a:ea typeface="+mn-ea"/>
        <a:cs typeface="+mn-cs"/>
      </a:defRPr>
    </a:lvl2pPr>
    <a:lvl3pPr marL="414680" algn="l" defTabSz="414680" rtl="0" eaLnBrk="1" latinLnBrk="0" hangingPunct="1">
      <a:defRPr sz="544" kern="1200">
        <a:solidFill>
          <a:schemeClr val="tx1"/>
        </a:solidFill>
        <a:latin typeface="+mn-lt"/>
        <a:ea typeface="+mn-ea"/>
        <a:cs typeface="+mn-cs"/>
      </a:defRPr>
    </a:lvl3pPr>
    <a:lvl4pPr marL="622021" algn="l" defTabSz="414680" rtl="0" eaLnBrk="1" latinLnBrk="0" hangingPunct="1">
      <a:defRPr sz="544" kern="1200">
        <a:solidFill>
          <a:schemeClr val="tx1"/>
        </a:solidFill>
        <a:latin typeface="+mn-lt"/>
        <a:ea typeface="+mn-ea"/>
        <a:cs typeface="+mn-cs"/>
      </a:defRPr>
    </a:lvl4pPr>
    <a:lvl5pPr marL="829361" algn="l" defTabSz="414680" rtl="0" eaLnBrk="1" latinLnBrk="0" hangingPunct="1">
      <a:defRPr sz="544" kern="1200">
        <a:solidFill>
          <a:schemeClr val="tx1"/>
        </a:solidFill>
        <a:latin typeface="+mn-lt"/>
        <a:ea typeface="+mn-ea"/>
        <a:cs typeface="+mn-cs"/>
      </a:defRPr>
    </a:lvl5pPr>
    <a:lvl6pPr marL="1036701" algn="l" defTabSz="414680" rtl="0" eaLnBrk="1" latinLnBrk="0" hangingPunct="1">
      <a:defRPr sz="544" kern="1200">
        <a:solidFill>
          <a:schemeClr val="tx1"/>
        </a:solidFill>
        <a:latin typeface="+mn-lt"/>
        <a:ea typeface="+mn-ea"/>
        <a:cs typeface="+mn-cs"/>
      </a:defRPr>
    </a:lvl6pPr>
    <a:lvl7pPr marL="1244041" algn="l" defTabSz="414680" rtl="0" eaLnBrk="1" latinLnBrk="0" hangingPunct="1">
      <a:defRPr sz="544" kern="1200">
        <a:solidFill>
          <a:schemeClr val="tx1"/>
        </a:solidFill>
        <a:latin typeface="+mn-lt"/>
        <a:ea typeface="+mn-ea"/>
        <a:cs typeface="+mn-cs"/>
      </a:defRPr>
    </a:lvl7pPr>
    <a:lvl8pPr marL="1451381" algn="l" defTabSz="414680" rtl="0" eaLnBrk="1" latinLnBrk="0" hangingPunct="1">
      <a:defRPr sz="544" kern="1200">
        <a:solidFill>
          <a:schemeClr val="tx1"/>
        </a:solidFill>
        <a:latin typeface="+mn-lt"/>
        <a:ea typeface="+mn-ea"/>
        <a:cs typeface="+mn-cs"/>
      </a:defRPr>
    </a:lvl8pPr>
    <a:lvl9pPr marL="1658722" algn="l" defTabSz="414680" rtl="0" eaLnBrk="1" latinLnBrk="0" hangingPunct="1">
      <a:defRPr sz="54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4A8FC-4924-0632-0F2F-FCA58C83877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D9B4C35-92D3-9D2D-BF30-41279F175DA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47ED0DF-CFD3-4E6A-E3A9-35B4A8A73220}"/>
              </a:ext>
            </a:extLst>
          </p:cNvPr>
          <p:cNvSpPr>
            <a:spLocks noGrp="1"/>
          </p:cNvSpPr>
          <p:nvPr>
            <p:ph type="body" idx="1"/>
          </p:nvPr>
        </p:nvSpPr>
        <p:spPr/>
        <p:txBody>
          <a:bodyPr/>
          <a:lstStyle/>
          <a:p>
            <a:r>
              <a:rPr lang="de-DE" dirty="0"/>
              <a:t>Simon</a:t>
            </a:r>
          </a:p>
        </p:txBody>
      </p:sp>
      <p:sp>
        <p:nvSpPr>
          <p:cNvPr id="4" name="Fußzeilenplatzhalter 3">
            <a:extLst>
              <a:ext uri="{FF2B5EF4-FFF2-40B4-BE49-F238E27FC236}">
                <a16:creationId xmlns:a16="http://schemas.microsoft.com/office/drawing/2014/main" id="{6BC0C7FD-6A34-72E0-FD48-6FEA14EEE519}"/>
              </a:ext>
            </a:extLst>
          </p:cNvPr>
          <p:cNvSpPr>
            <a:spLocks noGrp="1"/>
          </p:cNvSpPr>
          <p:nvPr>
            <p:ph type="ftr" sz="quarter" idx="4"/>
          </p:nvPr>
        </p:nvSpPr>
        <p:spPr/>
        <p:txBody>
          <a:bodyPr/>
          <a:lstStyle/>
          <a:p>
            <a:r>
              <a:rPr lang="de-DE"/>
              <a:t>hier</a:t>
            </a:r>
          </a:p>
        </p:txBody>
      </p:sp>
      <p:sp>
        <p:nvSpPr>
          <p:cNvPr id="5" name="Foliennummernplatzhalter 4">
            <a:extLst>
              <a:ext uri="{FF2B5EF4-FFF2-40B4-BE49-F238E27FC236}">
                <a16:creationId xmlns:a16="http://schemas.microsoft.com/office/drawing/2014/main" id="{1792F3E9-2B27-6946-DEE8-145C49A4F00B}"/>
              </a:ext>
            </a:extLst>
          </p:cNvPr>
          <p:cNvSpPr>
            <a:spLocks noGrp="1"/>
          </p:cNvSpPr>
          <p:nvPr>
            <p:ph type="sldNum" sz="quarter" idx="5"/>
          </p:nvPr>
        </p:nvSpPr>
        <p:spPr/>
        <p:txBody>
          <a:bodyPr/>
          <a:lstStyle/>
          <a:p>
            <a:fld id="{FD5FB68A-13DA-DB4F-867D-DB048D314C26}" type="slidenum">
              <a:rPr lang="de-DE" smtClean="0"/>
              <a:t>1</a:t>
            </a:fld>
            <a:endParaRPr lang="de-DE"/>
          </a:p>
        </p:txBody>
      </p:sp>
    </p:spTree>
    <p:extLst>
      <p:ext uri="{BB962C8B-B14F-4D97-AF65-F5344CB8AC3E}">
        <p14:creationId xmlns:p14="http://schemas.microsoft.com/office/powerpoint/2010/main" val="652861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Simon</a:t>
            </a:r>
          </a:p>
        </p:txBody>
      </p:sp>
      <p:sp>
        <p:nvSpPr>
          <p:cNvPr id="4" name="Fußzeilenplatzhalter 3"/>
          <p:cNvSpPr>
            <a:spLocks noGrp="1"/>
          </p:cNvSpPr>
          <p:nvPr>
            <p:ph type="ftr" sz="quarter" idx="4"/>
          </p:nvPr>
        </p:nvSpPr>
        <p:spPr/>
        <p:txBody>
          <a:bodyPr/>
          <a:lstStyle/>
          <a:p>
            <a:r>
              <a:rPr lang="de-DE"/>
              <a:t>hier</a:t>
            </a:r>
          </a:p>
        </p:txBody>
      </p:sp>
      <p:sp>
        <p:nvSpPr>
          <p:cNvPr id="5" name="Foliennummernplatzhalter 4"/>
          <p:cNvSpPr>
            <a:spLocks noGrp="1"/>
          </p:cNvSpPr>
          <p:nvPr>
            <p:ph type="sldNum" sz="quarter" idx="5"/>
          </p:nvPr>
        </p:nvSpPr>
        <p:spPr/>
        <p:txBody>
          <a:bodyPr/>
          <a:lstStyle/>
          <a:p>
            <a:fld id="{FD5FB68A-13DA-DB4F-867D-DB048D314C26}" type="slidenum">
              <a:rPr lang="de-DE" smtClean="0"/>
              <a:t>2</a:t>
            </a:fld>
            <a:endParaRPr lang="de-DE"/>
          </a:p>
        </p:txBody>
      </p:sp>
    </p:spTree>
    <p:extLst>
      <p:ext uri="{BB962C8B-B14F-4D97-AF65-F5344CB8AC3E}">
        <p14:creationId xmlns:p14="http://schemas.microsoft.com/office/powerpoint/2010/main" val="2142203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Simon</a:t>
            </a:r>
          </a:p>
          <a:p>
            <a:endParaRPr lang="de-DE" dirty="0"/>
          </a:p>
          <a:p>
            <a:r>
              <a:rPr dirty="0"/>
              <a:t>Folie 2: </a:t>
            </a:r>
            <a:r>
              <a:rPr dirty="0" err="1"/>
              <a:t>Aufgabenstellung</a:t>
            </a:r>
            <a:r>
              <a:rPr dirty="0"/>
              <a:t> und </a:t>
            </a:r>
            <a:r>
              <a:rPr dirty="0" err="1"/>
              <a:t>Projektziel</a:t>
            </a:r>
            <a:endParaRPr dirty="0"/>
          </a:p>
          <a:p>
            <a:r>
              <a:rPr dirty="0" err="1"/>
              <a:t>Geplante</a:t>
            </a:r>
            <a:r>
              <a:rPr dirty="0"/>
              <a:t> </a:t>
            </a:r>
            <a:r>
              <a:rPr dirty="0" err="1"/>
              <a:t>Sprechzeit</a:t>
            </a:r>
            <a:r>
              <a:rPr dirty="0"/>
              <a:t>: 1:30 Minuten.</a:t>
            </a:r>
          </a:p>
          <a:p>
            <a:endParaRPr dirty="0"/>
          </a:p>
          <a:p>
            <a:r>
              <a:rPr dirty="0" err="1"/>
              <a:t>Ausgangslage</a:t>
            </a:r>
            <a:r>
              <a:rPr dirty="0"/>
              <a:t>: Das </a:t>
            </a:r>
            <a:r>
              <a:rPr dirty="0" err="1"/>
              <a:t>bestehende</a:t>
            </a:r>
            <a:r>
              <a:rPr dirty="0"/>
              <a:t> System </a:t>
            </a:r>
            <a:r>
              <a:rPr dirty="0" err="1"/>
              <a:t>fuhr</a:t>
            </a:r>
            <a:r>
              <a:rPr dirty="0"/>
              <a:t> </a:t>
            </a:r>
            <a:r>
              <a:rPr dirty="0" err="1"/>
              <a:t>einen</a:t>
            </a:r>
            <a:r>
              <a:rPr dirty="0"/>
              <a:t> </a:t>
            </a:r>
            <a:r>
              <a:rPr dirty="0" err="1"/>
              <a:t>berechneten</a:t>
            </a:r>
            <a:r>
              <a:rPr dirty="0"/>
              <a:t> </a:t>
            </a:r>
            <a:r>
              <a:rPr dirty="0" err="1"/>
              <a:t>festen</a:t>
            </a:r>
            <a:r>
              <a:rPr dirty="0"/>
              <a:t> </a:t>
            </a:r>
            <a:r>
              <a:rPr dirty="0" err="1"/>
              <a:t>Abgriffpunkt</a:t>
            </a:r>
            <a:r>
              <a:rPr dirty="0"/>
              <a:t> an und </a:t>
            </a:r>
            <a:r>
              <a:rPr dirty="0" err="1"/>
              <a:t>wartete</a:t>
            </a:r>
            <a:r>
              <a:rPr dirty="0"/>
              <a:t> </a:t>
            </a:r>
            <a:r>
              <a:rPr dirty="0" err="1"/>
              <a:t>dort</a:t>
            </a:r>
            <a:r>
              <a:rPr dirty="0"/>
              <a:t> auf das </a:t>
            </a:r>
            <a:r>
              <a:rPr dirty="0" err="1"/>
              <a:t>Objekt</a:t>
            </a:r>
            <a:r>
              <a:rPr dirty="0"/>
              <a:t>. Die </a:t>
            </a:r>
            <a:r>
              <a:rPr dirty="0" err="1"/>
              <a:t>Weiterentwicklung</a:t>
            </a:r>
            <a:r>
              <a:rPr dirty="0"/>
              <a:t> </a:t>
            </a:r>
            <a:r>
              <a:rPr dirty="0" err="1"/>
              <a:t>soll</a:t>
            </a:r>
            <a:r>
              <a:rPr dirty="0"/>
              <a:t> </a:t>
            </a:r>
            <a:r>
              <a:rPr dirty="0" err="1"/>
              <a:t>mitfahrend</a:t>
            </a:r>
            <a:r>
              <a:rPr dirty="0"/>
              <a:t> </a:t>
            </a:r>
            <a:r>
              <a:rPr dirty="0" err="1"/>
              <a:t>greifen</a:t>
            </a:r>
            <a:r>
              <a:rPr dirty="0"/>
              <a:t>. Die </a:t>
            </a:r>
            <a:r>
              <a:rPr dirty="0" err="1"/>
              <a:t>Aufgabenstellung</a:t>
            </a:r>
            <a:r>
              <a:rPr dirty="0"/>
              <a:t> </a:t>
            </a:r>
            <a:r>
              <a:rPr dirty="0" err="1"/>
              <a:t>fordert</a:t>
            </a:r>
            <a:r>
              <a:rPr dirty="0"/>
              <a:t> </a:t>
            </a:r>
            <a:r>
              <a:rPr dirty="0" err="1"/>
              <a:t>mehrere</a:t>
            </a:r>
            <a:r>
              <a:rPr dirty="0"/>
              <a:t> </a:t>
            </a:r>
            <a:r>
              <a:rPr dirty="0" err="1"/>
              <a:t>gleichzeitig</a:t>
            </a:r>
            <a:r>
              <a:rPr dirty="0"/>
              <a:t> </a:t>
            </a:r>
            <a:r>
              <a:rPr dirty="0" err="1"/>
              <a:t>vorhandene</a:t>
            </a:r>
            <a:r>
              <a:rPr dirty="0"/>
              <a:t> </a:t>
            </a:r>
            <a:r>
              <a:rPr dirty="0" err="1"/>
              <a:t>Objekte</a:t>
            </a:r>
            <a:r>
              <a:rPr dirty="0"/>
              <a:t>, </a:t>
            </a:r>
            <a:r>
              <a:rPr dirty="0" err="1"/>
              <a:t>bildbasierte</a:t>
            </a:r>
            <a:r>
              <a:rPr dirty="0"/>
              <a:t> Positions- und </a:t>
            </a:r>
            <a:r>
              <a:rPr dirty="0" err="1"/>
              <a:t>Geschwindigkeitsschätzung</a:t>
            </a:r>
            <a:r>
              <a:rPr dirty="0"/>
              <a:t>, AICA-</a:t>
            </a:r>
            <a:r>
              <a:rPr dirty="0" err="1"/>
              <a:t>Ansteuerung</a:t>
            </a:r>
            <a:r>
              <a:rPr dirty="0"/>
              <a:t>, </a:t>
            </a:r>
            <a:r>
              <a:rPr dirty="0" err="1"/>
              <a:t>schnelle</a:t>
            </a:r>
            <a:r>
              <a:rPr dirty="0"/>
              <a:t> </a:t>
            </a:r>
            <a:r>
              <a:rPr dirty="0" err="1"/>
              <a:t>Kamerakalibrierung</a:t>
            </a:r>
            <a:r>
              <a:rPr dirty="0"/>
              <a:t> </a:t>
            </a:r>
            <a:r>
              <a:rPr dirty="0" err="1"/>
              <a:t>sowie</a:t>
            </a:r>
            <a:r>
              <a:rPr dirty="0"/>
              <a:t> </a:t>
            </a:r>
            <a:r>
              <a:rPr dirty="0" err="1"/>
              <a:t>Priorisierung</a:t>
            </a:r>
            <a:r>
              <a:rPr dirty="0"/>
              <a:t> und </a:t>
            </a:r>
            <a:r>
              <a:rPr dirty="0" err="1"/>
              <a:t>Bahnplanung</a:t>
            </a:r>
            <a:r>
              <a:rPr dirty="0"/>
              <a:t>.</a:t>
            </a:r>
          </a:p>
          <a:p>
            <a:r>
              <a:rPr dirty="0"/>
              <a:t>Die </a:t>
            </a:r>
            <a:r>
              <a:rPr dirty="0" err="1"/>
              <a:t>Entwicklung</a:t>
            </a:r>
            <a:r>
              <a:rPr dirty="0"/>
              <a:t> </a:t>
            </a:r>
            <a:r>
              <a:rPr dirty="0" err="1"/>
              <a:t>wurde</a:t>
            </a:r>
            <a:r>
              <a:rPr dirty="0"/>
              <a:t> </a:t>
            </a:r>
            <a:r>
              <a:rPr dirty="0" err="1"/>
              <a:t>mit</a:t>
            </a:r>
            <a:r>
              <a:rPr dirty="0"/>
              <a:t> </a:t>
            </a:r>
            <a:r>
              <a:rPr dirty="0" err="1"/>
              <a:t>quaderförmigen</a:t>
            </a:r>
            <a:r>
              <a:rPr dirty="0"/>
              <a:t> </a:t>
            </a:r>
            <a:r>
              <a:rPr dirty="0" err="1"/>
              <a:t>Klötzen</a:t>
            </a:r>
            <a:r>
              <a:rPr dirty="0"/>
              <a:t> </a:t>
            </a:r>
            <a:r>
              <a:rPr dirty="0" err="1"/>
              <a:t>geprüft</a:t>
            </a:r>
            <a:r>
              <a:rPr dirty="0"/>
              <a:t>. Eine </a:t>
            </a:r>
            <a:r>
              <a:rPr dirty="0" err="1"/>
              <a:t>vollständige</a:t>
            </a:r>
            <a:r>
              <a:rPr dirty="0"/>
              <a:t> Sortierung in </a:t>
            </a:r>
            <a:r>
              <a:rPr dirty="0" err="1"/>
              <a:t>mehrere</a:t>
            </a:r>
            <a:r>
              <a:rPr dirty="0"/>
              <a:t> </a:t>
            </a:r>
            <a:r>
              <a:rPr dirty="0" err="1"/>
              <a:t>Zielkisten</a:t>
            </a:r>
            <a:r>
              <a:rPr dirty="0"/>
              <a:t> </a:t>
            </a:r>
            <a:r>
              <a:rPr dirty="0" err="1"/>
              <a:t>ist</a:t>
            </a:r>
            <a:r>
              <a:rPr dirty="0"/>
              <a:t> </a:t>
            </a:r>
            <a:r>
              <a:rPr dirty="0" err="1"/>
              <a:t>keine</a:t>
            </a:r>
            <a:r>
              <a:rPr dirty="0"/>
              <a:t> </a:t>
            </a:r>
            <a:r>
              <a:rPr dirty="0" err="1"/>
              <a:t>erbrachte</a:t>
            </a:r>
            <a:r>
              <a:rPr dirty="0"/>
              <a:t> </a:t>
            </a:r>
            <a:r>
              <a:rPr dirty="0" err="1"/>
              <a:t>Projektleistung</a:t>
            </a:r>
            <a:r>
              <a:rPr dirty="0"/>
              <a:t>. Das </a:t>
            </a:r>
            <a:r>
              <a:rPr dirty="0" err="1"/>
              <a:t>neue</a:t>
            </a:r>
            <a:r>
              <a:rPr dirty="0"/>
              <a:t> </a:t>
            </a:r>
            <a:r>
              <a:rPr dirty="0" err="1"/>
              <a:t>Förderband</a:t>
            </a:r>
            <a:r>
              <a:rPr dirty="0"/>
              <a:t> war </a:t>
            </a:r>
            <a:r>
              <a:rPr dirty="0" err="1"/>
              <a:t>vorgesehen</a:t>
            </a:r>
            <a:r>
              <a:rPr dirty="0"/>
              <a:t>, seine Integration </a:t>
            </a:r>
            <a:r>
              <a:rPr dirty="0" err="1"/>
              <a:t>wegen</a:t>
            </a:r>
            <a:r>
              <a:rPr dirty="0"/>
              <a:t> </a:t>
            </a:r>
            <a:r>
              <a:rPr dirty="0" err="1"/>
              <a:t>unsicherer</a:t>
            </a:r>
            <a:r>
              <a:rPr dirty="0"/>
              <a:t> </a:t>
            </a:r>
            <a:r>
              <a:rPr dirty="0" err="1"/>
              <a:t>Lieferzeiten</a:t>
            </a:r>
            <a:r>
              <a:rPr dirty="0"/>
              <a:t> </a:t>
            </a:r>
            <a:r>
              <a:rPr dirty="0" err="1"/>
              <a:t>aber</a:t>
            </a:r>
            <a:r>
              <a:rPr dirty="0"/>
              <a:t> </a:t>
            </a:r>
            <a:r>
              <a:rPr dirty="0" err="1"/>
              <a:t>keine</a:t>
            </a:r>
            <a:r>
              <a:rPr dirty="0"/>
              <a:t> </a:t>
            </a:r>
            <a:r>
              <a:rPr dirty="0" err="1"/>
              <a:t>Voraussetzung</a:t>
            </a:r>
            <a:r>
              <a:rPr dirty="0"/>
              <a:t>. Wir </a:t>
            </a:r>
            <a:r>
              <a:rPr dirty="0" err="1"/>
              <a:t>nutzten</a:t>
            </a:r>
            <a:r>
              <a:rPr dirty="0"/>
              <a:t> </a:t>
            </a:r>
            <a:r>
              <a:rPr dirty="0" err="1"/>
              <a:t>verschiedene</a:t>
            </a:r>
            <a:r>
              <a:rPr dirty="0"/>
              <a:t> </a:t>
            </a:r>
            <a:r>
              <a:rPr dirty="0" err="1"/>
              <a:t>Stufen</a:t>
            </a:r>
            <a:r>
              <a:rPr dirty="0"/>
              <a:t> des </a:t>
            </a:r>
            <a:r>
              <a:rPr dirty="0" err="1"/>
              <a:t>vorhandenen</a:t>
            </a:r>
            <a:r>
              <a:rPr dirty="0"/>
              <a:t> Bandes. </a:t>
            </a:r>
            <a:r>
              <a:rPr dirty="0" err="1"/>
              <a:t>Höhere</a:t>
            </a:r>
            <a:r>
              <a:rPr dirty="0"/>
              <a:t> </a:t>
            </a:r>
            <a:r>
              <a:rPr dirty="0" err="1"/>
              <a:t>Stufen</a:t>
            </a:r>
            <a:r>
              <a:rPr dirty="0"/>
              <a:t> bis 3 </a:t>
            </a:r>
            <a:r>
              <a:rPr dirty="0" err="1"/>
              <a:t>wurden</a:t>
            </a:r>
            <a:r>
              <a:rPr dirty="0"/>
              <a:t> </a:t>
            </a:r>
            <a:r>
              <a:rPr dirty="0" err="1"/>
              <a:t>erfolgreich</a:t>
            </a:r>
            <a:r>
              <a:rPr dirty="0"/>
              <a:t> </a:t>
            </a:r>
            <a:r>
              <a:rPr dirty="0" err="1"/>
              <a:t>beobachtet</a:t>
            </a:r>
            <a:r>
              <a:rPr dirty="0"/>
              <a:t>, </a:t>
            </a:r>
            <a:r>
              <a:rPr dirty="0" err="1"/>
              <a:t>aber</a:t>
            </a:r>
            <a:r>
              <a:rPr dirty="0"/>
              <a:t> nicht </a:t>
            </a:r>
            <a:r>
              <a:rPr dirty="0" err="1"/>
              <a:t>vermessen</a:t>
            </a:r>
            <a:r>
              <a:rPr dirty="0"/>
              <a:t>. Die </a:t>
            </a:r>
            <a:r>
              <a:rPr dirty="0" err="1"/>
              <a:t>Auslagerung</a:t>
            </a:r>
            <a:r>
              <a:rPr dirty="0"/>
              <a:t> der </a:t>
            </a:r>
            <a:r>
              <a:rPr dirty="0" err="1"/>
              <a:t>Bildverarbeitung</a:t>
            </a:r>
            <a:r>
              <a:rPr dirty="0"/>
              <a:t> war </a:t>
            </a:r>
            <a:r>
              <a:rPr dirty="0" err="1"/>
              <a:t>nur</a:t>
            </a:r>
            <a:r>
              <a:rPr dirty="0"/>
              <a:t> </a:t>
            </a:r>
            <a:r>
              <a:rPr dirty="0" err="1"/>
              <a:t>bei</a:t>
            </a:r>
            <a:r>
              <a:rPr dirty="0"/>
              <a:t> </a:t>
            </a:r>
            <a:r>
              <a:rPr dirty="0" err="1"/>
              <a:t>Bedarf</a:t>
            </a:r>
            <a:r>
              <a:rPr dirty="0"/>
              <a:t> </a:t>
            </a:r>
            <a:r>
              <a:rPr dirty="0" err="1"/>
              <a:t>gefordert</a:t>
            </a:r>
            <a:r>
              <a:rPr dirty="0"/>
              <a:t>. Wir </a:t>
            </a:r>
            <a:r>
              <a:rPr dirty="0" err="1"/>
              <a:t>begrenzten</a:t>
            </a:r>
            <a:r>
              <a:rPr dirty="0"/>
              <a:t> </a:t>
            </a:r>
            <a:r>
              <a:rPr dirty="0" err="1"/>
              <a:t>stattdessen</a:t>
            </a:r>
            <a:r>
              <a:rPr dirty="0"/>
              <a:t> die Last </a:t>
            </a:r>
            <a:r>
              <a:rPr dirty="0" err="1"/>
              <a:t>im</a:t>
            </a:r>
            <a:r>
              <a:rPr dirty="0"/>
              <a:t> </a:t>
            </a:r>
            <a:r>
              <a:rPr dirty="0" err="1"/>
              <a:t>bestehenden</a:t>
            </a:r>
            <a:r>
              <a:rPr dirty="0"/>
              <a:t> Rechner.</a:t>
            </a:r>
          </a:p>
          <a:p>
            <a:r>
              <a:rPr dirty="0" err="1"/>
              <a:t>Zusätzliche</a:t>
            </a:r>
            <a:r>
              <a:rPr dirty="0"/>
              <a:t> </a:t>
            </a:r>
            <a:r>
              <a:rPr dirty="0" err="1"/>
              <a:t>Funktionen</a:t>
            </a:r>
            <a:r>
              <a:rPr dirty="0"/>
              <a:t> </a:t>
            </a:r>
            <a:r>
              <a:rPr dirty="0" err="1"/>
              <a:t>sind</a:t>
            </a:r>
            <a:r>
              <a:rPr dirty="0"/>
              <a:t> die </a:t>
            </a:r>
            <a:r>
              <a:rPr dirty="0" err="1"/>
              <a:t>Laufzeitdiagnose</a:t>
            </a:r>
            <a:r>
              <a:rPr dirty="0"/>
              <a:t> </a:t>
            </a:r>
            <a:r>
              <a:rPr dirty="0" err="1"/>
              <a:t>sowie</a:t>
            </a:r>
            <a:r>
              <a:rPr dirty="0"/>
              <a:t> </a:t>
            </a:r>
            <a:r>
              <a:rPr dirty="0" err="1"/>
              <a:t>kontrollierte</a:t>
            </a:r>
            <a:r>
              <a:rPr dirty="0"/>
              <a:t> </a:t>
            </a:r>
            <a:r>
              <a:rPr dirty="0" err="1"/>
              <a:t>Abbruch</a:t>
            </a:r>
            <a:r>
              <a:rPr dirty="0"/>
              <a:t>-/</a:t>
            </a:r>
            <a:r>
              <a:rPr dirty="0" err="1"/>
              <a:t>Ablageabläufe</a:t>
            </a:r>
            <a:r>
              <a:rPr dirty="0"/>
              <a:t>. Dass die Basiskamera </a:t>
            </a:r>
            <a:r>
              <a:rPr dirty="0" err="1"/>
              <a:t>allein</a:t>
            </a:r>
            <a:r>
              <a:rPr dirty="0"/>
              <a:t> </a:t>
            </a:r>
            <a:r>
              <a:rPr dirty="0" err="1"/>
              <a:t>genügt</a:t>
            </a:r>
            <a:r>
              <a:rPr dirty="0"/>
              <a:t>, </a:t>
            </a:r>
            <a:r>
              <a:rPr dirty="0" err="1"/>
              <a:t>vereinfacht</a:t>
            </a:r>
            <a:r>
              <a:rPr dirty="0"/>
              <a:t> das </a:t>
            </a:r>
            <a:r>
              <a:rPr dirty="0" err="1"/>
              <a:t>ursprünglich</a:t>
            </a:r>
            <a:r>
              <a:rPr dirty="0"/>
              <a:t> duale </a:t>
            </a:r>
            <a:r>
              <a:rPr dirty="0" err="1"/>
              <a:t>Konzept</a:t>
            </a:r>
            <a:r>
              <a:rPr dirty="0"/>
              <a:t>. </a:t>
            </a:r>
            <a:r>
              <a:rPr dirty="0" err="1"/>
              <a:t>Priorisierung</a:t>
            </a:r>
            <a:r>
              <a:rPr dirty="0"/>
              <a:t> und </a:t>
            </a:r>
            <a:r>
              <a:rPr dirty="0" err="1"/>
              <a:t>verschiedene</a:t>
            </a:r>
            <a:r>
              <a:rPr dirty="0"/>
              <a:t> </a:t>
            </a:r>
            <a:r>
              <a:rPr dirty="0" err="1"/>
              <a:t>Geschwindigkeiten</a:t>
            </a:r>
            <a:r>
              <a:rPr dirty="0"/>
              <a:t> </a:t>
            </a:r>
            <a:r>
              <a:rPr dirty="0" err="1"/>
              <a:t>sind</a:t>
            </a:r>
            <a:r>
              <a:rPr dirty="0"/>
              <a:t> </a:t>
            </a:r>
            <a:r>
              <a:rPr dirty="0" err="1"/>
              <a:t>bereits</a:t>
            </a:r>
            <a:r>
              <a:rPr dirty="0"/>
              <a:t> </a:t>
            </a:r>
            <a:r>
              <a:rPr dirty="0" err="1"/>
              <a:t>Anforderungen</a:t>
            </a:r>
            <a:r>
              <a:rPr dirty="0"/>
              <a:t>, </a:t>
            </a:r>
            <a:r>
              <a:rPr dirty="0" err="1"/>
              <a:t>keine</a:t>
            </a:r>
            <a:r>
              <a:rPr dirty="0"/>
              <a:t> </a:t>
            </a:r>
            <a:r>
              <a:rPr dirty="0" err="1"/>
              <a:t>zusätzlichen</a:t>
            </a:r>
            <a:r>
              <a:rPr dirty="0"/>
              <a:t> </a:t>
            </a:r>
            <a:r>
              <a:rPr dirty="0" err="1"/>
              <a:t>Ziele</a:t>
            </a:r>
            <a:r>
              <a:rPr dirty="0"/>
              <a:t>. Eine </a:t>
            </a:r>
            <a:r>
              <a:rPr dirty="0" err="1"/>
              <a:t>feste</a:t>
            </a:r>
            <a:r>
              <a:rPr dirty="0"/>
              <a:t> </a:t>
            </a:r>
            <a:r>
              <a:rPr dirty="0" err="1"/>
              <a:t>Mindest-Erfolgsquote</a:t>
            </a:r>
            <a:r>
              <a:rPr dirty="0"/>
              <a:t> </a:t>
            </a:r>
            <a:r>
              <a:rPr dirty="0" err="1"/>
              <a:t>wurde</a:t>
            </a:r>
            <a:r>
              <a:rPr dirty="0"/>
              <a:t> nicht </a:t>
            </a:r>
            <a:r>
              <a:rPr dirty="0" err="1"/>
              <a:t>verlangt</a:t>
            </a:r>
            <a:r>
              <a:rPr dirty="0"/>
              <a:t>.</a:t>
            </a:r>
          </a:p>
          <a:p>
            <a:endParaRPr dirty="0"/>
          </a:p>
          <a:p>
            <a:r>
              <a:rPr dirty="0" err="1"/>
              <a:t>Quellen</a:t>
            </a:r>
            <a:r>
              <a:rPr dirty="0"/>
              <a:t>: </a:t>
            </a:r>
            <a:r>
              <a:rPr dirty="0" err="1"/>
              <a:t>Projektbericht</a:t>
            </a:r>
            <a:r>
              <a:rPr dirty="0"/>
              <a:t>/</a:t>
            </a:r>
            <a:r>
              <a:rPr dirty="0" err="1"/>
              <a:t>entwuerfe</a:t>
            </a:r>
            <a:r>
              <a:rPr dirty="0"/>
              <a:t>/berichtstext.md, </a:t>
            </a:r>
            <a:r>
              <a:rPr dirty="0" err="1"/>
              <a:t>Abschnitte</a:t>
            </a:r>
            <a:r>
              <a:rPr dirty="0"/>
              <a:t> 1.1 bis 1.3, 3.1, 3.7 und 6.4; </a:t>
            </a:r>
            <a:r>
              <a:rPr dirty="0" err="1"/>
              <a:t>Aufgabenstellung</a:t>
            </a:r>
            <a:r>
              <a:rPr dirty="0"/>
              <a:t> [1], Stand 02.10.2026.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Simon</a:t>
            </a:r>
          </a:p>
          <a:p>
            <a:endParaRPr lang="de-DE" dirty="0"/>
          </a:p>
          <a:p>
            <a:r>
              <a:rPr dirty="0" err="1"/>
              <a:t>Draufsicht</a:t>
            </a:r>
            <a:r>
              <a:rPr dirty="0"/>
              <a:t> des </a:t>
            </a:r>
            <a:r>
              <a:rPr dirty="0" err="1"/>
              <a:t>Versuchsaufbaus</a:t>
            </a:r>
            <a:endParaRPr dirty="0"/>
          </a:p>
          <a:p>
            <a:endParaRPr dirty="0"/>
          </a:p>
          <a:p>
            <a:r>
              <a:rPr dirty="0"/>
              <a:t>Die </a:t>
            </a:r>
            <a:r>
              <a:rPr dirty="0" err="1"/>
              <a:t>Bandlaufrichtung</a:t>
            </a:r>
            <a:r>
              <a:rPr dirty="0"/>
              <a:t> </a:t>
            </a:r>
            <a:r>
              <a:rPr dirty="0" err="1"/>
              <a:t>zeigt</a:t>
            </a:r>
            <a:r>
              <a:rPr dirty="0"/>
              <a:t> </a:t>
            </a:r>
            <a:r>
              <a:rPr dirty="0" err="1"/>
              <a:t>nach</a:t>
            </a:r>
            <a:r>
              <a:rPr dirty="0"/>
              <a:t> </a:t>
            </a:r>
            <a:r>
              <a:rPr dirty="0" err="1"/>
              <a:t>unten</a:t>
            </a:r>
            <a:r>
              <a:rPr dirty="0"/>
              <a:t>. </a:t>
            </a:r>
            <a:r>
              <a:rPr dirty="0" err="1"/>
              <a:t>Roboter</a:t>
            </a:r>
            <a:r>
              <a:rPr dirty="0"/>
              <a:t> und </a:t>
            </a:r>
            <a:r>
              <a:rPr dirty="0" err="1"/>
              <a:t>Ablagekiste</a:t>
            </a:r>
            <a:r>
              <a:rPr dirty="0"/>
              <a:t> </a:t>
            </a:r>
            <a:r>
              <a:rPr dirty="0" err="1"/>
              <a:t>stehen</a:t>
            </a:r>
            <a:r>
              <a:rPr dirty="0"/>
              <a:t> auf der in </a:t>
            </a:r>
            <a:r>
              <a:rPr dirty="0" err="1"/>
              <a:t>Laufrichtung</a:t>
            </a:r>
            <a:r>
              <a:rPr dirty="0"/>
              <a:t> </a:t>
            </a:r>
            <a:r>
              <a:rPr dirty="0" err="1"/>
              <a:t>linken</a:t>
            </a:r>
            <a:r>
              <a:rPr dirty="0"/>
              <a:t> </a:t>
            </a:r>
            <a:r>
              <a:rPr dirty="0" err="1"/>
              <a:t>Bandseite</a:t>
            </a:r>
            <a:r>
              <a:rPr dirty="0"/>
              <a:t>, in </a:t>
            </a:r>
            <a:r>
              <a:rPr dirty="0" err="1"/>
              <a:t>dieser</a:t>
            </a:r>
            <a:r>
              <a:rPr dirty="0"/>
              <a:t> </a:t>
            </a:r>
            <a:r>
              <a:rPr dirty="0" err="1"/>
              <a:t>Ansicht</a:t>
            </a:r>
            <a:r>
              <a:rPr dirty="0"/>
              <a:t> also </a:t>
            </a:r>
            <a:r>
              <a:rPr dirty="0" err="1"/>
              <a:t>rechts</a:t>
            </a:r>
            <a:r>
              <a:rPr dirty="0"/>
              <a:t> </a:t>
            </a:r>
            <a:r>
              <a:rPr dirty="0" err="1"/>
              <a:t>vom</a:t>
            </a:r>
            <a:r>
              <a:rPr dirty="0"/>
              <a:t> Band. Die Kiste </a:t>
            </a:r>
            <a:r>
              <a:rPr dirty="0" err="1"/>
              <a:t>liegt</a:t>
            </a:r>
            <a:r>
              <a:rPr dirty="0"/>
              <a:t> in </a:t>
            </a:r>
            <a:r>
              <a:rPr dirty="0" err="1"/>
              <a:t>Laufrichtung</a:t>
            </a:r>
            <a:r>
              <a:rPr dirty="0"/>
              <a:t> </a:t>
            </a:r>
            <a:r>
              <a:rPr dirty="0" err="1"/>
              <a:t>vor</a:t>
            </a:r>
            <a:r>
              <a:rPr dirty="0"/>
              <a:t> dem </a:t>
            </a:r>
            <a:r>
              <a:rPr dirty="0" err="1"/>
              <a:t>Roboter</a:t>
            </a:r>
            <a:r>
              <a:rPr dirty="0"/>
              <a:t>. Die Basiskamera </a:t>
            </a:r>
            <a:r>
              <a:rPr dirty="0" err="1"/>
              <a:t>steht</a:t>
            </a:r>
            <a:r>
              <a:rPr dirty="0"/>
              <a:t> </a:t>
            </a:r>
            <a:r>
              <a:rPr dirty="0" err="1"/>
              <a:t>mittig</a:t>
            </a:r>
            <a:r>
              <a:rPr dirty="0"/>
              <a:t> </a:t>
            </a:r>
            <a:r>
              <a:rPr dirty="0" err="1"/>
              <a:t>über</a:t>
            </a:r>
            <a:r>
              <a:rPr dirty="0"/>
              <a:t> dem </a:t>
            </a:r>
            <a:r>
              <a:rPr dirty="0" err="1"/>
              <a:t>Bandanfang</a:t>
            </a:r>
            <a:r>
              <a:rPr dirty="0"/>
              <a:t>. Die </a:t>
            </a:r>
            <a:r>
              <a:rPr dirty="0" err="1"/>
              <a:t>Roboterkamera</a:t>
            </a:r>
            <a:r>
              <a:rPr dirty="0"/>
              <a:t> </a:t>
            </a:r>
            <a:r>
              <a:rPr dirty="0" err="1"/>
              <a:t>ist</a:t>
            </a:r>
            <a:r>
              <a:rPr dirty="0"/>
              <a:t> in </a:t>
            </a:r>
            <a:r>
              <a:rPr dirty="0" err="1"/>
              <a:t>dieser</a:t>
            </a:r>
            <a:r>
              <a:rPr dirty="0"/>
              <a:t> </a:t>
            </a:r>
            <a:r>
              <a:rPr dirty="0" err="1"/>
              <a:t>Aufbauzeichnung</a:t>
            </a:r>
            <a:r>
              <a:rPr dirty="0"/>
              <a:t> nicht </a:t>
            </a:r>
            <a:r>
              <a:rPr dirty="0" err="1"/>
              <a:t>eingezeichnet</a:t>
            </a:r>
            <a:r>
              <a:rPr dirty="0"/>
              <a:t>.</a:t>
            </a:r>
          </a:p>
          <a:p>
            <a:endParaRPr dirty="0"/>
          </a:p>
          <a:p>
            <a:r>
              <a:rPr dirty="0"/>
              <a:t>Die Zahlen </a:t>
            </a:r>
            <a:r>
              <a:rPr dirty="0" err="1"/>
              <a:t>entsprechen</a:t>
            </a:r>
            <a:r>
              <a:rPr dirty="0"/>
              <a:t> </a:t>
            </a:r>
            <a:r>
              <a:rPr dirty="0" err="1"/>
              <a:t>Projektbericht</a:t>
            </a:r>
            <a:r>
              <a:rPr dirty="0"/>
              <a:t>/</a:t>
            </a:r>
            <a:r>
              <a:rPr dirty="0" err="1"/>
              <a:t>entwuerfe</a:t>
            </a:r>
            <a:r>
              <a:rPr dirty="0"/>
              <a:t>/berichtstext.md, </a:t>
            </a:r>
            <a:r>
              <a:rPr dirty="0" err="1"/>
              <a:t>Abschnitte</a:t>
            </a:r>
            <a:r>
              <a:rPr dirty="0"/>
              <a:t> 2.1.1 und 2.2.3, </a:t>
            </a:r>
            <a:r>
              <a:rPr dirty="0" err="1"/>
              <a:t>gelesen</a:t>
            </a:r>
            <a:r>
              <a:rPr dirty="0"/>
              <a:t> am 04.10.2026. </a:t>
            </a:r>
            <a:r>
              <a:rPr dirty="0" err="1"/>
              <a:t>Nutzbare</a:t>
            </a:r>
            <a:r>
              <a:rPr dirty="0"/>
              <a:t> </a:t>
            </a:r>
            <a:r>
              <a:rPr dirty="0" err="1"/>
              <a:t>gerade</a:t>
            </a:r>
            <a:r>
              <a:rPr dirty="0"/>
              <a:t> </a:t>
            </a:r>
            <a:r>
              <a:rPr dirty="0" err="1"/>
              <a:t>Strecke</a:t>
            </a:r>
            <a:r>
              <a:rPr dirty="0"/>
              <a:t> </a:t>
            </a:r>
            <a:r>
              <a:rPr dirty="0" err="1"/>
              <a:t>ungefähr</a:t>
            </a:r>
            <a:r>
              <a:rPr dirty="0"/>
              <a:t> 1,50 m, </a:t>
            </a:r>
            <a:r>
              <a:rPr dirty="0" err="1"/>
              <a:t>Bandbreite</a:t>
            </a:r>
            <a:r>
              <a:rPr dirty="0"/>
              <a:t> </a:t>
            </a:r>
            <a:r>
              <a:rPr dirty="0" err="1"/>
              <a:t>ungefähr</a:t>
            </a:r>
            <a:r>
              <a:rPr dirty="0"/>
              <a:t> 0,80 m. Die </a:t>
            </a:r>
            <a:r>
              <a:rPr dirty="0" err="1"/>
              <a:t>hinterlegten</a:t>
            </a:r>
            <a:r>
              <a:rPr dirty="0"/>
              <a:t> </a:t>
            </a:r>
            <a:r>
              <a:rPr dirty="0" err="1"/>
              <a:t>Bandkanten</a:t>
            </a:r>
            <a:r>
              <a:rPr dirty="0"/>
              <a:t> −1,275 m und −0,480 m </a:t>
            </a:r>
            <a:r>
              <a:rPr dirty="0" err="1"/>
              <a:t>ergeben</a:t>
            </a:r>
            <a:r>
              <a:rPr dirty="0"/>
              <a:t> 0,795 m. </a:t>
            </a:r>
            <a:r>
              <a:rPr dirty="0" err="1"/>
              <a:t>Diese</a:t>
            </a:r>
            <a:r>
              <a:rPr dirty="0"/>
              <a:t> </a:t>
            </a:r>
            <a:r>
              <a:rPr dirty="0" err="1"/>
              <a:t>Koordinatendifferenz</a:t>
            </a:r>
            <a:r>
              <a:rPr dirty="0"/>
              <a:t> </a:t>
            </a:r>
            <a:r>
              <a:rPr dirty="0" err="1"/>
              <a:t>bestimmt</a:t>
            </a:r>
            <a:r>
              <a:rPr dirty="0"/>
              <a:t> die </a:t>
            </a:r>
            <a:r>
              <a:rPr dirty="0" err="1"/>
              <a:t>maßstäbliche</a:t>
            </a:r>
            <a:r>
              <a:rPr dirty="0"/>
              <a:t> Breite. Die </a:t>
            </a:r>
            <a:r>
              <a:rPr dirty="0" err="1"/>
              <a:t>maßstäbliche</a:t>
            </a:r>
            <a:r>
              <a:rPr dirty="0"/>
              <a:t> </a:t>
            </a:r>
            <a:r>
              <a:rPr dirty="0" err="1"/>
              <a:t>Länge</a:t>
            </a:r>
            <a:r>
              <a:rPr dirty="0"/>
              <a:t> </a:t>
            </a:r>
            <a:r>
              <a:rPr dirty="0" err="1"/>
              <a:t>verwendet</a:t>
            </a:r>
            <a:r>
              <a:rPr dirty="0"/>
              <a:t> die </a:t>
            </a:r>
            <a:r>
              <a:rPr dirty="0" err="1"/>
              <a:t>berichtete</a:t>
            </a:r>
            <a:r>
              <a:rPr dirty="0"/>
              <a:t> </a:t>
            </a:r>
            <a:r>
              <a:rPr dirty="0" err="1"/>
              <a:t>Näherung</a:t>
            </a:r>
            <a:r>
              <a:rPr dirty="0"/>
              <a:t> 1,500 m. Die Rollen </a:t>
            </a:r>
            <a:r>
              <a:rPr dirty="0" err="1"/>
              <a:t>liegen</a:t>
            </a:r>
            <a:r>
              <a:rPr dirty="0"/>
              <a:t> </a:t>
            </a:r>
            <a:r>
              <a:rPr dirty="0" err="1"/>
              <a:t>außerhalb</a:t>
            </a:r>
            <a:r>
              <a:rPr dirty="0"/>
              <a:t> dieses </a:t>
            </a:r>
            <a:r>
              <a:rPr dirty="0" err="1"/>
              <a:t>geraden</a:t>
            </a:r>
            <a:r>
              <a:rPr dirty="0"/>
              <a:t> </a:t>
            </a:r>
            <a:r>
              <a:rPr dirty="0" err="1"/>
              <a:t>Abschnitts</a:t>
            </a:r>
            <a:r>
              <a:rPr dirty="0"/>
              <a:t>. Kamera-, </a:t>
            </a:r>
            <a:r>
              <a:rPr dirty="0" err="1"/>
              <a:t>Roboter</a:t>
            </a:r>
            <a:r>
              <a:rPr dirty="0"/>
              <a:t>- und </a:t>
            </a:r>
            <a:r>
              <a:rPr dirty="0" err="1"/>
              <a:t>Kistensymbole</a:t>
            </a:r>
            <a:r>
              <a:rPr dirty="0"/>
              <a:t> </a:t>
            </a:r>
            <a:r>
              <a:rPr dirty="0" err="1"/>
              <a:t>haben</a:t>
            </a:r>
            <a:r>
              <a:rPr dirty="0"/>
              <a:t> </a:t>
            </a:r>
            <a:r>
              <a:rPr dirty="0" err="1"/>
              <a:t>keine</a:t>
            </a:r>
            <a:r>
              <a:rPr dirty="0"/>
              <a:t> </a:t>
            </a:r>
            <a:r>
              <a:rPr dirty="0" err="1"/>
              <a:t>vermessenen</a:t>
            </a:r>
            <a:r>
              <a:rPr dirty="0"/>
              <a:t> </a:t>
            </a:r>
            <a:r>
              <a:rPr dirty="0" err="1"/>
              <a:t>Abmessungen</a:t>
            </a:r>
            <a:r>
              <a:rPr dirty="0"/>
              <a:t> und </a:t>
            </a:r>
            <a:r>
              <a:rPr dirty="0" err="1"/>
              <a:t>bleiben</a:t>
            </a:r>
            <a:r>
              <a:rPr dirty="0"/>
              <a:t> </a:t>
            </a:r>
            <a:r>
              <a:rPr dirty="0" err="1"/>
              <a:t>schematisch</a:t>
            </a:r>
            <a:r>
              <a:rPr dirty="0"/>
              <a:t>.</a:t>
            </a:r>
          </a:p>
          <a:p>
            <a:endParaRPr dirty="0"/>
          </a:p>
          <a:p>
            <a:r>
              <a:rPr dirty="0"/>
              <a:t>Die </a:t>
            </a:r>
            <a:r>
              <a:rPr dirty="0" err="1"/>
              <a:t>Greifzone</a:t>
            </a:r>
            <a:r>
              <a:rPr dirty="0"/>
              <a:t> </a:t>
            </a:r>
            <a:r>
              <a:rPr dirty="0" err="1"/>
              <a:t>reicht</a:t>
            </a:r>
            <a:r>
              <a:rPr dirty="0"/>
              <a:t> in world von x = −1,000 bis −0,530 m und y = −0,320 bis +0,445 m. </a:t>
            </a:r>
            <a:r>
              <a:rPr dirty="0" err="1"/>
              <a:t>Daraus</a:t>
            </a:r>
            <a:r>
              <a:rPr dirty="0"/>
              <a:t> </a:t>
            </a:r>
            <a:r>
              <a:rPr dirty="0" err="1"/>
              <a:t>folgen</a:t>
            </a:r>
            <a:r>
              <a:rPr dirty="0"/>
              <a:t> 0,470 m </a:t>
            </a:r>
            <a:r>
              <a:rPr dirty="0" err="1"/>
              <a:t>quer</a:t>
            </a:r>
            <a:r>
              <a:rPr dirty="0"/>
              <a:t> und 0,765 m </a:t>
            </a:r>
            <a:r>
              <a:rPr dirty="0" err="1"/>
              <a:t>längs</a:t>
            </a:r>
            <a:r>
              <a:rPr dirty="0"/>
              <a:t>. Sie </a:t>
            </a:r>
            <a:r>
              <a:rPr dirty="0" err="1"/>
              <a:t>ist</a:t>
            </a:r>
            <a:r>
              <a:rPr dirty="0"/>
              <a:t> nicht der Bild-ROI und nicht der </a:t>
            </a:r>
            <a:r>
              <a:rPr dirty="0" err="1"/>
              <a:t>gesamte</a:t>
            </a:r>
            <a:r>
              <a:rPr dirty="0"/>
              <a:t> </a:t>
            </a:r>
            <a:r>
              <a:rPr dirty="0" err="1"/>
              <a:t>zulässige</a:t>
            </a:r>
            <a:r>
              <a:rPr dirty="0"/>
              <a:t> </a:t>
            </a:r>
            <a:r>
              <a:rPr dirty="0" err="1"/>
              <a:t>Flansch-Arbeitsraum</a:t>
            </a:r>
            <a:r>
              <a:rPr dirty="0"/>
              <a:t>. Der Abstand </a:t>
            </a:r>
            <a:r>
              <a:rPr dirty="0" err="1"/>
              <a:t>Bandanfang</a:t>
            </a:r>
            <a:r>
              <a:rPr dirty="0"/>
              <a:t> bis </a:t>
            </a:r>
            <a:r>
              <a:rPr dirty="0" err="1"/>
              <a:t>Beginn</a:t>
            </a:r>
            <a:r>
              <a:rPr dirty="0"/>
              <a:t> der </a:t>
            </a:r>
            <a:r>
              <a:rPr dirty="0" err="1"/>
              <a:t>Greifzone</a:t>
            </a:r>
            <a:r>
              <a:rPr dirty="0"/>
              <a:t> </a:t>
            </a:r>
            <a:r>
              <a:rPr dirty="0" err="1"/>
              <a:t>beträgt</a:t>
            </a:r>
            <a:r>
              <a:rPr dirty="0"/>
              <a:t> </a:t>
            </a:r>
            <a:r>
              <a:rPr dirty="0" err="1"/>
              <a:t>ungefähr</a:t>
            </a:r>
            <a:r>
              <a:rPr dirty="0"/>
              <a:t> 0,695 m. </a:t>
            </a:r>
            <a:r>
              <a:rPr dirty="0" err="1"/>
              <a:t>Grundlage</a:t>
            </a:r>
            <a:r>
              <a:rPr dirty="0"/>
              <a:t> </a:t>
            </a:r>
            <a:r>
              <a:rPr dirty="0" err="1"/>
              <a:t>ist</a:t>
            </a:r>
            <a:r>
              <a:rPr dirty="0"/>
              <a:t> der </a:t>
            </a:r>
            <a:r>
              <a:rPr dirty="0" err="1"/>
              <a:t>früher</a:t>
            </a:r>
            <a:r>
              <a:rPr dirty="0"/>
              <a:t> </a:t>
            </a:r>
            <a:r>
              <a:rPr dirty="0" err="1"/>
              <a:t>grob</a:t>
            </a:r>
            <a:r>
              <a:rPr dirty="0"/>
              <a:t> </a:t>
            </a:r>
            <a:r>
              <a:rPr dirty="0" err="1"/>
              <a:t>vermessene</a:t>
            </a:r>
            <a:r>
              <a:rPr dirty="0"/>
              <a:t> </a:t>
            </a:r>
            <a:r>
              <a:rPr dirty="0" err="1"/>
              <a:t>Bandanfang</a:t>
            </a:r>
            <a:r>
              <a:rPr dirty="0"/>
              <a:t> </a:t>
            </a:r>
            <a:r>
              <a:rPr dirty="0" err="1"/>
              <a:t>bei</a:t>
            </a:r>
            <a:r>
              <a:rPr dirty="0"/>
              <a:t> world-y = +1,140 m und die </a:t>
            </a:r>
            <a:r>
              <a:rPr dirty="0" err="1"/>
              <a:t>berichtete</a:t>
            </a:r>
            <a:r>
              <a:rPr dirty="0"/>
              <a:t> </a:t>
            </a:r>
            <a:r>
              <a:rPr dirty="0" err="1"/>
              <a:t>Zonenbegrenzung</a:t>
            </a:r>
            <a:r>
              <a:rPr dirty="0"/>
              <a:t> </a:t>
            </a:r>
            <a:r>
              <a:rPr dirty="0" err="1"/>
              <a:t>bei</a:t>
            </a:r>
            <a:r>
              <a:rPr dirty="0"/>
              <a:t> +0,445 m. Dieser Abstand </a:t>
            </a:r>
            <a:r>
              <a:rPr dirty="0" err="1"/>
              <a:t>ist</a:t>
            </a:r>
            <a:r>
              <a:rPr dirty="0"/>
              <a:t> </a:t>
            </a:r>
            <a:r>
              <a:rPr dirty="0" err="1"/>
              <a:t>keine</a:t>
            </a:r>
            <a:r>
              <a:rPr dirty="0"/>
              <a:t> </a:t>
            </a:r>
            <a:r>
              <a:rPr dirty="0" err="1"/>
              <a:t>neue</a:t>
            </a:r>
            <a:r>
              <a:rPr dirty="0"/>
              <a:t> </a:t>
            </a:r>
            <a:r>
              <a:rPr dirty="0" err="1"/>
              <a:t>Messung</a:t>
            </a:r>
            <a:r>
              <a:rPr dirty="0"/>
              <a:t>.</a:t>
            </a:r>
          </a:p>
          <a:p>
            <a:endParaRPr dirty="0"/>
          </a:p>
          <a:p>
            <a:r>
              <a:rPr dirty="0"/>
              <a:t>W </a:t>
            </a:r>
            <a:r>
              <a:rPr dirty="0" err="1"/>
              <a:t>bezeichnet</a:t>
            </a:r>
            <a:r>
              <a:rPr dirty="0"/>
              <a:t> die Warte- und </a:t>
            </a:r>
            <a:r>
              <a:rPr dirty="0" err="1"/>
              <a:t>Beobachtungsposition</a:t>
            </a:r>
            <a:r>
              <a:rPr dirty="0"/>
              <a:t> des </a:t>
            </a:r>
            <a:r>
              <a:rPr dirty="0" err="1"/>
              <a:t>Flansches</a:t>
            </a:r>
            <a:r>
              <a:rPr dirty="0"/>
              <a:t>: x = −0,816 m, y = +0,350 m, z = +0,450 m. </a:t>
            </a:r>
            <a:r>
              <a:rPr dirty="0" err="1"/>
              <a:t>Ohne</a:t>
            </a:r>
            <a:r>
              <a:rPr dirty="0"/>
              <a:t> </a:t>
            </a:r>
            <a:r>
              <a:rPr dirty="0" err="1"/>
              <a:t>ausgewähltes</a:t>
            </a:r>
            <a:r>
              <a:rPr dirty="0"/>
              <a:t> Ziel </a:t>
            </a:r>
            <a:r>
              <a:rPr dirty="0" err="1"/>
              <a:t>wartet</a:t>
            </a:r>
            <a:r>
              <a:rPr dirty="0"/>
              <a:t> der </a:t>
            </a:r>
            <a:r>
              <a:rPr dirty="0" err="1"/>
              <a:t>Roboter</a:t>
            </a:r>
            <a:r>
              <a:rPr dirty="0"/>
              <a:t> </a:t>
            </a:r>
            <a:r>
              <a:rPr dirty="0" err="1"/>
              <a:t>dort</a:t>
            </a:r>
            <a:r>
              <a:rPr dirty="0"/>
              <a:t>. Die </a:t>
            </a:r>
            <a:r>
              <a:rPr dirty="0" err="1"/>
              <a:t>Grundstellung</a:t>
            </a:r>
            <a:r>
              <a:rPr dirty="0"/>
              <a:t> </a:t>
            </a:r>
            <a:r>
              <a:rPr dirty="0" err="1"/>
              <a:t>besitzt</a:t>
            </a:r>
            <a:r>
              <a:rPr dirty="0"/>
              <a:t> </a:t>
            </a:r>
            <a:r>
              <a:rPr dirty="0" err="1"/>
              <a:t>eine</a:t>
            </a:r>
            <a:r>
              <a:rPr dirty="0"/>
              <a:t> Gier von 90°. Die </a:t>
            </a:r>
            <a:r>
              <a:rPr dirty="0" err="1"/>
              <a:t>gezeichnete</a:t>
            </a:r>
            <a:r>
              <a:rPr dirty="0"/>
              <a:t> Position </a:t>
            </a:r>
            <a:r>
              <a:rPr dirty="0" err="1"/>
              <a:t>folgt</a:t>
            </a:r>
            <a:r>
              <a:rPr dirty="0"/>
              <a:t> den </a:t>
            </a:r>
            <a:r>
              <a:rPr dirty="0" err="1"/>
              <a:t>Koordinaten</a:t>
            </a:r>
            <a:r>
              <a:rPr dirty="0"/>
              <a:t>. Sie </a:t>
            </a:r>
            <a:r>
              <a:rPr dirty="0" err="1"/>
              <a:t>ist</a:t>
            </a:r>
            <a:r>
              <a:rPr dirty="0"/>
              <a:t> </a:t>
            </a:r>
            <a:r>
              <a:rPr dirty="0" err="1"/>
              <a:t>trotz</a:t>
            </a:r>
            <a:r>
              <a:rPr dirty="0"/>
              <a:t> der </a:t>
            </a:r>
            <a:r>
              <a:rPr dirty="0" err="1"/>
              <a:t>vereinfachenden</a:t>
            </a:r>
            <a:r>
              <a:rPr dirty="0"/>
              <a:t> </a:t>
            </a:r>
            <a:r>
              <a:rPr dirty="0" err="1"/>
              <a:t>Bezeichnung</a:t>
            </a:r>
            <a:r>
              <a:rPr dirty="0"/>
              <a:t> </a:t>
            </a:r>
            <a:r>
              <a:rPr dirty="0" err="1"/>
              <a:t>Bandmitte</a:t>
            </a:r>
            <a:r>
              <a:rPr dirty="0"/>
              <a:t> </a:t>
            </a:r>
            <a:r>
              <a:rPr dirty="0" err="1"/>
              <a:t>im</a:t>
            </a:r>
            <a:r>
              <a:rPr dirty="0"/>
              <a:t> </a:t>
            </a:r>
            <a:r>
              <a:rPr dirty="0" err="1"/>
              <a:t>Bericht</a:t>
            </a:r>
            <a:r>
              <a:rPr dirty="0"/>
              <a:t> nicht </a:t>
            </a:r>
            <a:r>
              <a:rPr dirty="0" err="1"/>
              <a:t>exakt</a:t>
            </a:r>
            <a:r>
              <a:rPr dirty="0"/>
              <a:t> auf der </a:t>
            </a:r>
            <a:r>
              <a:rPr dirty="0" err="1"/>
              <a:t>geometrischen</a:t>
            </a:r>
            <a:r>
              <a:rPr dirty="0"/>
              <a:t> </a:t>
            </a:r>
            <a:r>
              <a:rPr dirty="0" err="1"/>
              <a:t>Bandmittellinie</a:t>
            </a:r>
            <a:r>
              <a:rPr dirty="0"/>
              <a:t>. A </a:t>
            </a:r>
            <a:r>
              <a:rPr dirty="0" err="1"/>
              <a:t>bezeichnet</a:t>
            </a:r>
            <a:r>
              <a:rPr dirty="0"/>
              <a:t> die </a:t>
            </a:r>
            <a:r>
              <a:rPr dirty="0" err="1"/>
              <a:t>Ablagepose</a:t>
            </a:r>
            <a:r>
              <a:rPr dirty="0"/>
              <a:t> des </a:t>
            </a:r>
            <a:r>
              <a:rPr dirty="0" err="1"/>
              <a:t>Flansches</a:t>
            </a:r>
            <a:r>
              <a:rPr dirty="0"/>
              <a:t> </a:t>
            </a:r>
            <a:r>
              <a:rPr dirty="0" err="1"/>
              <a:t>über</a:t>
            </a:r>
            <a:r>
              <a:rPr dirty="0"/>
              <a:t> der Kiste: x = −0,316 m, y = +0,476 m, z = +0,420 m. W und A </a:t>
            </a:r>
            <a:r>
              <a:rPr dirty="0" err="1"/>
              <a:t>sind</a:t>
            </a:r>
            <a:r>
              <a:rPr dirty="0"/>
              <a:t> </a:t>
            </a:r>
            <a:r>
              <a:rPr dirty="0" err="1"/>
              <a:t>horizontale</a:t>
            </a:r>
            <a:r>
              <a:rPr dirty="0"/>
              <a:t> </a:t>
            </a:r>
            <a:r>
              <a:rPr dirty="0" err="1"/>
              <a:t>Projektionen</a:t>
            </a:r>
            <a:r>
              <a:rPr dirty="0"/>
              <a:t> von </a:t>
            </a:r>
            <a:r>
              <a:rPr dirty="0" err="1"/>
              <a:t>Flanschpositionen</a:t>
            </a:r>
            <a:r>
              <a:rPr dirty="0"/>
              <a:t>, </a:t>
            </a:r>
            <a:r>
              <a:rPr dirty="0" err="1"/>
              <a:t>keine</a:t>
            </a:r>
            <a:r>
              <a:rPr dirty="0"/>
              <a:t> </a:t>
            </a:r>
            <a:r>
              <a:rPr dirty="0" err="1"/>
              <a:t>Punkte</a:t>
            </a:r>
            <a:r>
              <a:rPr dirty="0"/>
              <a:t> auf der </a:t>
            </a:r>
            <a:r>
              <a:rPr dirty="0" err="1"/>
              <a:t>Bandoberfläche</a:t>
            </a:r>
            <a:r>
              <a:rPr dirty="0"/>
              <a:t>.</a:t>
            </a:r>
          </a:p>
          <a:p>
            <a:endParaRPr dirty="0"/>
          </a:p>
          <a:p>
            <a:r>
              <a:rPr dirty="0"/>
              <a:t>Das </a:t>
            </a:r>
            <a:r>
              <a:rPr dirty="0" err="1"/>
              <a:t>historische</a:t>
            </a:r>
            <a:r>
              <a:rPr dirty="0"/>
              <a:t> </a:t>
            </a:r>
            <a:r>
              <a:rPr dirty="0" err="1"/>
              <a:t>conveyor_frame</a:t>
            </a:r>
            <a:r>
              <a:rPr dirty="0"/>
              <a:t> </a:t>
            </a:r>
            <a:r>
              <a:rPr dirty="0" err="1"/>
              <a:t>beginnt</a:t>
            </a:r>
            <a:r>
              <a:rPr dirty="0"/>
              <a:t> </a:t>
            </a:r>
            <a:r>
              <a:rPr dirty="0" err="1"/>
              <a:t>mittig</a:t>
            </a:r>
            <a:r>
              <a:rPr dirty="0"/>
              <a:t> am </a:t>
            </a:r>
            <a:r>
              <a:rPr dirty="0" err="1"/>
              <a:t>Bandanfang</a:t>
            </a:r>
            <a:r>
              <a:rPr dirty="0"/>
              <a:t>. X+ </a:t>
            </a:r>
            <a:r>
              <a:rPr dirty="0" err="1"/>
              <a:t>zeigt</a:t>
            </a:r>
            <a:r>
              <a:rPr dirty="0"/>
              <a:t> in </a:t>
            </a:r>
            <a:r>
              <a:rPr dirty="0" err="1"/>
              <a:t>Laufrichtung</a:t>
            </a:r>
            <a:r>
              <a:rPr dirty="0"/>
              <a:t> </a:t>
            </a:r>
            <a:r>
              <a:rPr dirty="0" err="1"/>
              <a:t>nach</a:t>
            </a:r>
            <a:r>
              <a:rPr dirty="0"/>
              <a:t> </a:t>
            </a:r>
            <a:r>
              <a:rPr dirty="0" err="1"/>
              <a:t>rechts</a:t>
            </a:r>
            <a:r>
              <a:rPr dirty="0"/>
              <a:t>, in der </a:t>
            </a:r>
            <a:r>
              <a:rPr dirty="0" err="1"/>
              <a:t>Zeichnung</a:t>
            </a:r>
            <a:r>
              <a:rPr dirty="0"/>
              <a:t> </a:t>
            </a:r>
            <a:r>
              <a:rPr dirty="0" err="1"/>
              <a:t>nach</a:t>
            </a:r>
            <a:r>
              <a:rPr dirty="0"/>
              <a:t> links. Y+ </a:t>
            </a:r>
            <a:r>
              <a:rPr dirty="0" err="1"/>
              <a:t>zeigt</a:t>
            </a:r>
            <a:r>
              <a:rPr dirty="0"/>
              <a:t> in </a:t>
            </a:r>
            <a:r>
              <a:rPr dirty="0" err="1"/>
              <a:t>Bandrichtung</a:t>
            </a:r>
            <a:r>
              <a:rPr dirty="0"/>
              <a:t>, in der </a:t>
            </a:r>
            <a:r>
              <a:rPr dirty="0" err="1"/>
              <a:t>Zeichnung</a:t>
            </a:r>
            <a:r>
              <a:rPr dirty="0"/>
              <a:t> </a:t>
            </a:r>
            <a:r>
              <a:rPr dirty="0" err="1"/>
              <a:t>nach</a:t>
            </a:r>
            <a:r>
              <a:rPr dirty="0"/>
              <a:t> </a:t>
            </a:r>
            <a:r>
              <a:rPr dirty="0" err="1"/>
              <a:t>unten</a:t>
            </a:r>
            <a:r>
              <a:rPr dirty="0"/>
              <a:t>. world </a:t>
            </a:r>
            <a:r>
              <a:rPr dirty="0" err="1"/>
              <a:t>beginnt</a:t>
            </a:r>
            <a:r>
              <a:rPr dirty="0"/>
              <a:t> an der </a:t>
            </a:r>
            <a:r>
              <a:rPr dirty="0" err="1"/>
              <a:t>Roboterbasis</a:t>
            </a:r>
            <a:r>
              <a:rPr dirty="0"/>
              <a:t>. world-X+ </a:t>
            </a:r>
            <a:r>
              <a:rPr dirty="0" err="1"/>
              <a:t>zeigt</a:t>
            </a:r>
            <a:r>
              <a:rPr dirty="0"/>
              <a:t> </a:t>
            </a:r>
            <a:r>
              <a:rPr dirty="0" err="1"/>
              <a:t>nach</a:t>
            </a:r>
            <a:r>
              <a:rPr dirty="0"/>
              <a:t> </a:t>
            </a:r>
            <a:r>
              <a:rPr dirty="0" err="1"/>
              <a:t>rechts</a:t>
            </a:r>
            <a:r>
              <a:rPr dirty="0"/>
              <a:t> und world-Y+ </a:t>
            </a:r>
            <a:r>
              <a:rPr dirty="0" err="1"/>
              <a:t>entgegen</a:t>
            </a:r>
            <a:r>
              <a:rPr dirty="0"/>
              <a:t> der </a:t>
            </a:r>
            <a:r>
              <a:rPr dirty="0" err="1"/>
              <a:t>Bandrichtung</a:t>
            </a:r>
            <a:r>
              <a:rPr dirty="0"/>
              <a:t> </a:t>
            </a:r>
            <a:r>
              <a:rPr dirty="0" err="1"/>
              <a:t>nach</a:t>
            </a:r>
            <a:r>
              <a:rPr dirty="0"/>
              <a:t> </a:t>
            </a:r>
            <a:r>
              <a:rPr dirty="0" err="1"/>
              <a:t>oben</a:t>
            </a:r>
            <a:r>
              <a:rPr dirty="0"/>
              <a:t>. In der </a:t>
            </a:r>
            <a:r>
              <a:rPr dirty="0" err="1"/>
              <a:t>Anwendung</a:t>
            </a:r>
            <a:r>
              <a:rPr dirty="0"/>
              <a:t> </a:t>
            </a:r>
            <a:r>
              <a:rPr dirty="0" err="1"/>
              <a:t>werden</a:t>
            </a:r>
            <a:r>
              <a:rPr dirty="0"/>
              <a:t> die world-</a:t>
            </a:r>
            <a:r>
              <a:rPr dirty="0" err="1"/>
              <a:t>Koordinaten</a:t>
            </a:r>
            <a:r>
              <a:rPr dirty="0"/>
              <a:t> </a:t>
            </a:r>
            <a:r>
              <a:rPr dirty="0" err="1"/>
              <a:t>verwendet</a:t>
            </a:r>
            <a:r>
              <a:rPr dirty="0"/>
              <a:t>. Z+ </a:t>
            </a:r>
            <a:r>
              <a:rPr dirty="0" err="1"/>
              <a:t>zeigt</a:t>
            </a:r>
            <a:r>
              <a:rPr dirty="0"/>
              <a:t> </a:t>
            </a:r>
            <a:r>
              <a:rPr dirty="0" err="1"/>
              <a:t>nach</a:t>
            </a:r>
            <a:r>
              <a:rPr dirty="0"/>
              <a:t> </a:t>
            </a:r>
            <a:r>
              <a:rPr dirty="0" err="1"/>
              <a:t>oben</a:t>
            </a:r>
            <a:r>
              <a:rPr dirty="0"/>
              <a:t> </a:t>
            </a:r>
            <a:r>
              <a:rPr dirty="0" err="1"/>
              <a:t>aus</a:t>
            </a:r>
            <a:r>
              <a:rPr dirty="0"/>
              <a:t> der </a:t>
            </a:r>
            <a:r>
              <a:rPr dirty="0" err="1"/>
              <a:t>Bandebene</a:t>
            </a:r>
            <a:r>
              <a:rPr dirty="0"/>
              <a:t>. Eine </a:t>
            </a:r>
            <a:r>
              <a:rPr dirty="0" err="1"/>
              <a:t>Gleichsetzung</a:t>
            </a:r>
            <a:r>
              <a:rPr dirty="0"/>
              <a:t> von world </a:t>
            </a:r>
            <a:r>
              <a:rPr dirty="0" err="1"/>
              <a:t>mit</a:t>
            </a:r>
            <a:r>
              <a:rPr dirty="0"/>
              <a:t> dem </a:t>
            </a:r>
            <a:r>
              <a:rPr dirty="0" err="1"/>
              <a:t>technisch</a:t>
            </a:r>
            <a:r>
              <a:rPr dirty="0"/>
              <a:t> um 180° </a:t>
            </a:r>
            <a:r>
              <a:rPr dirty="0" err="1"/>
              <a:t>gedrehten</a:t>
            </a:r>
            <a:r>
              <a:rPr dirty="0"/>
              <a:t> UR-base-Rahmen </a:t>
            </a:r>
            <a:r>
              <a:rPr dirty="0" err="1"/>
              <a:t>ist</a:t>
            </a:r>
            <a:r>
              <a:rPr dirty="0"/>
              <a:t> nicht </a:t>
            </a:r>
            <a:r>
              <a:rPr dirty="0" err="1"/>
              <a:t>beabsichtigt</a:t>
            </a:r>
            <a:r>
              <a:rPr dirty="0"/>
              <a:t>.</a:t>
            </a:r>
          </a:p>
          <a:p>
            <a:endParaRPr dirty="0"/>
          </a:p>
          <a:p>
            <a:r>
              <a:rPr dirty="0" err="1"/>
              <a:t>Quellen</a:t>
            </a:r>
            <a:r>
              <a:rPr dirty="0"/>
              <a:t>: </a:t>
            </a:r>
            <a:r>
              <a:rPr dirty="0" err="1"/>
              <a:t>Projektbericht</a:t>
            </a:r>
            <a:r>
              <a:rPr dirty="0"/>
              <a:t>/</a:t>
            </a:r>
            <a:r>
              <a:rPr dirty="0" err="1"/>
              <a:t>entwuerfe</a:t>
            </a:r>
            <a:r>
              <a:rPr dirty="0"/>
              <a:t>/berichtstext.md, </a:t>
            </a:r>
            <a:r>
              <a:rPr dirty="0" err="1"/>
              <a:t>Abschnitte</a:t>
            </a:r>
            <a:r>
              <a:rPr dirty="0"/>
              <a:t> 2.1.1 und 2.2.3. </a:t>
            </a:r>
            <a:r>
              <a:rPr dirty="0" err="1"/>
              <a:t>Vorherige</a:t>
            </a:r>
            <a:r>
              <a:rPr dirty="0"/>
              <a:t> </a:t>
            </a:r>
            <a:r>
              <a:rPr dirty="0" err="1"/>
              <a:t>Aufbauvermessung</a:t>
            </a:r>
            <a:r>
              <a:rPr dirty="0"/>
              <a:t> und </a:t>
            </a:r>
            <a:r>
              <a:rPr dirty="0" err="1"/>
              <a:t>Nutzervorgaben</a:t>
            </a:r>
            <a:r>
              <a:rPr dirty="0"/>
              <a:t> in Projektbericht/abbildungen/briefing_systemskizzen.md für den </a:t>
            </a:r>
            <a:r>
              <a:rPr dirty="0" err="1"/>
              <a:t>groben</a:t>
            </a:r>
            <a:r>
              <a:rPr dirty="0"/>
              <a:t> </a:t>
            </a:r>
            <a:r>
              <a:rPr dirty="0" err="1"/>
              <a:t>Bandanfang</a:t>
            </a:r>
            <a:r>
              <a:rPr dirty="0"/>
              <a:t>. </a:t>
            </a:r>
            <a:r>
              <a:rPr dirty="0" err="1"/>
              <a:t>Gestaltungsquelle</a:t>
            </a:r>
            <a:r>
              <a:rPr dirty="0"/>
              <a:t>: </a:t>
            </a:r>
            <a:r>
              <a:rPr dirty="0" err="1"/>
              <a:t>Projektbericht</a:t>
            </a:r>
            <a:r>
              <a:rPr dirty="0"/>
              <a:t>/</a:t>
            </a:r>
            <a:r>
              <a:rPr dirty="0" err="1"/>
              <a:t>abbildungen</a:t>
            </a:r>
            <a:r>
              <a:rPr dirty="0"/>
              <a:t>/systemskizzen_layout_v02.pptx, </a:t>
            </a:r>
            <a:r>
              <a:rPr dirty="0" err="1"/>
              <a:t>erste</a:t>
            </a:r>
            <a:r>
              <a:rPr dirty="0"/>
              <a:t> Folie.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Simon</a:t>
            </a:r>
          </a:p>
          <a:p>
            <a:endParaRPr lang="de-DE" dirty="0"/>
          </a:p>
          <a:p>
            <a:r>
              <a:rPr dirty="0"/>
              <a:t>Folie 4: </a:t>
            </a:r>
            <a:r>
              <a:rPr dirty="0" err="1"/>
              <a:t>Kalibrierung</a:t>
            </a:r>
            <a:r>
              <a:rPr dirty="0"/>
              <a:t> </a:t>
            </a:r>
            <a:r>
              <a:rPr dirty="0" err="1"/>
              <a:t>mit</a:t>
            </a:r>
            <a:r>
              <a:rPr dirty="0"/>
              <a:t> der </a:t>
            </a:r>
            <a:r>
              <a:rPr dirty="0" err="1"/>
              <a:t>Roboterkamera</a:t>
            </a:r>
            <a:endParaRPr dirty="0"/>
          </a:p>
          <a:p>
            <a:r>
              <a:rPr dirty="0" err="1"/>
              <a:t>Geplante</a:t>
            </a:r>
            <a:r>
              <a:rPr dirty="0"/>
              <a:t> </a:t>
            </a:r>
            <a:r>
              <a:rPr dirty="0" err="1"/>
              <a:t>Sprechzeit</a:t>
            </a:r>
            <a:r>
              <a:rPr dirty="0"/>
              <a:t>: 1:15 Minuten.</a:t>
            </a:r>
          </a:p>
          <a:p>
            <a:endParaRPr dirty="0"/>
          </a:p>
          <a:p>
            <a:r>
              <a:rPr dirty="0" err="1"/>
              <a:t>Anordnung</a:t>
            </a:r>
            <a:r>
              <a:rPr dirty="0"/>
              <a:t>: Die D435i </a:t>
            </a:r>
            <a:r>
              <a:rPr dirty="0" err="1"/>
              <a:t>bewegt</a:t>
            </a:r>
            <a:r>
              <a:rPr dirty="0"/>
              <a:t> </a:t>
            </a:r>
            <a:r>
              <a:rPr dirty="0" err="1"/>
              <a:t>sich</a:t>
            </a:r>
            <a:r>
              <a:rPr dirty="0"/>
              <a:t> </a:t>
            </a:r>
            <a:r>
              <a:rPr dirty="0" err="1"/>
              <a:t>mit</a:t>
            </a:r>
            <a:r>
              <a:rPr dirty="0"/>
              <a:t> dem </a:t>
            </a:r>
            <a:r>
              <a:rPr dirty="0" err="1"/>
              <a:t>Flansch</a:t>
            </a:r>
            <a:r>
              <a:rPr dirty="0"/>
              <a:t>. Das </a:t>
            </a:r>
            <a:r>
              <a:rPr dirty="0" err="1"/>
              <a:t>ChArUco</a:t>
            </a:r>
            <a:r>
              <a:rPr dirty="0"/>
              <a:t>-Board </a:t>
            </a:r>
            <a:r>
              <a:rPr dirty="0" err="1"/>
              <a:t>bleibt</a:t>
            </a:r>
            <a:r>
              <a:rPr dirty="0"/>
              <a:t> fest am </a:t>
            </a:r>
            <a:r>
              <a:rPr dirty="0" err="1"/>
              <a:t>Bandrand</a:t>
            </a:r>
            <a:r>
              <a:rPr dirty="0"/>
              <a:t>. Das </a:t>
            </a:r>
            <a:r>
              <a:rPr dirty="0" err="1"/>
              <a:t>ist</a:t>
            </a:r>
            <a:r>
              <a:rPr dirty="0"/>
              <a:t> Eye-in-Hand. </a:t>
            </a:r>
            <a:r>
              <a:rPr dirty="0" err="1"/>
              <a:t>Gesucht</a:t>
            </a:r>
            <a:r>
              <a:rPr dirty="0"/>
              <a:t> </a:t>
            </a:r>
            <a:r>
              <a:rPr dirty="0" err="1"/>
              <a:t>ist</a:t>
            </a:r>
            <a:r>
              <a:rPr dirty="0"/>
              <a:t> die </a:t>
            </a:r>
            <a:r>
              <a:rPr dirty="0" err="1"/>
              <a:t>feste</a:t>
            </a:r>
            <a:r>
              <a:rPr dirty="0"/>
              <a:t> Transformation </a:t>
            </a:r>
            <a:r>
              <a:rPr dirty="0" err="1"/>
              <a:t>zwischen</a:t>
            </a:r>
            <a:r>
              <a:rPr dirty="0"/>
              <a:t> Kamera und </a:t>
            </a:r>
            <a:r>
              <a:rPr dirty="0" err="1"/>
              <a:t>Flansch</a:t>
            </a:r>
            <a:r>
              <a:rPr dirty="0"/>
              <a:t>.</a:t>
            </a:r>
          </a:p>
          <a:p>
            <a:r>
              <a:rPr dirty="0"/>
              <a:t>Der </a:t>
            </a:r>
            <a:r>
              <a:rPr dirty="0" err="1"/>
              <a:t>Roboter</a:t>
            </a:r>
            <a:r>
              <a:rPr dirty="0"/>
              <a:t> </a:t>
            </a:r>
            <a:r>
              <a:rPr dirty="0" err="1"/>
              <a:t>fährt</a:t>
            </a:r>
            <a:r>
              <a:rPr dirty="0"/>
              <a:t> </a:t>
            </a:r>
            <a:r>
              <a:rPr dirty="0" err="1"/>
              <a:t>eine</a:t>
            </a:r>
            <a:r>
              <a:rPr dirty="0"/>
              <a:t> Orbit-</a:t>
            </a:r>
            <a:r>
              <a:rPr dirty="0" err="1"/>
              <a:t>Trajektorie</a:t>
            </a:r>
            <a:r>
              <a:rPr dirty="0"/>
              <a:t>: </a:t>
            </a:r>
            <a:r>
              <a:rPr dirty="0" err="1"/>
              <a:t>Startpose</a:t>
            </a:r>
            <a:r>
              <a:rPr dirty="0"/>
              <a:t> </a:t>
            </a:r>
            <a:r>
              <a:rPr dirty="0" err="1"/>
              <a:t>im</a:t>
            </a:r>
            <a:r>
              <a:rPr dirty="0"/>
              <a:t> Zentrum und </a:t>
            </a:r>
            <a:r>
              <a:rPr dirty="0" err="1"/>
              <a:t>acht</a:t>
            </a:r>
            <a:r>
              <a:rPr dirty="0"/>
              <a:t> </a:t>
            </a:r>
            <a:r>
              <a:rPr dirty="0" err="1"/>
              <a:t>Punkte</a:t>
            </a:r>
            <a:r>
              <a:rPr dirty="0"/>
              <a:t> auf </a:t>
            </a:r>
            <a:r>
              <a:rPr dirty="0" err="1"/>
              <a:t>einem</a:t>
            </a:r>
            <a:r>
              <a:rPr dirty="0"/>
              <a:t> </a:t>
            </a:r>
            <a:r>
              <a:rPr dirty="0" err="1"/>
              <a:t>Kreisring</a:t>
            </a:r>
            <a:r>
              <a:rPr dirty="0"/>
              <a:t> </a:t>
            </a:r>
            <a:r>
              <a:rPr dirty="0" err="1"/>
              <a:t>mit</a:t>
            </a:r>
            <a:r>
              <a:rPr dirty="0"/>
              <a:t> Radius 50 mm. Die Kamera </a:t>
            </a:r>
            <a:r>
              <a:rPr dirty="0" err="1"/>
              <a:t>blickt</a:t>
            </a:r>
            <a:r>
              <a:rPr dirty="0"/>
              <a:t> an </a:t>
            </a:r>
            <a:r>
              <a:rPr dirty="0" err="1"/>
              <a:t>jedem</a:t>
            </a:r>
            <a:r>
              <a:rPr dirty="0"/>
              <a:t> </a:t>
            </a:r>
            <a:r>
              <a:rPr dirty="0" err="1"/>
              <a:t>Punkt</a:t>
            </a:r>
            <a:r>
              <a:rPr dirty="0"/>
              <a:t> auf die </a:t>
            </a:r>
            <a:r>
              <a:rPr dirty="0" err="1"/>
              <a:t>Boardmitte</a:t>
            </a:r>
            <a:r>
              <a:rPr dirty="0"/>
              <a:t>. Nach dem </a:t>
            </a:r>
            <a:r>
              <a:rPr dirty="0" err="1"/>
              <a:t>Ausschwingen</a:t>
            </a:r>
            <a:r>
              <a:rPr dirty="0"/>
              <a:t> </a:t>
            </a:r>
            <a:r>
              <a:rPr dirty="0" err="1"/>
              <a:t>werden</a:t>
            </a:r>
            <a:r>
              <a:rPr dirty="0"/>
              <a:t> </a:t>
            </a:r>
            <a:r>
              <a:rPr dirty="0" err="1"/>
              <a:t>mehrere</a:t>
            </a:r>
            <a:r>
              <a:rPr dirty="0"/>
              <a:t> </a:t>
            </a:r>
            <a:r>
              <a:rPr dirty="0" err="1"/>
              <a:t>Detektionen</a:t>
            </a:r>
            <a:r>
              <a:rPr dirty="0"/>
              <a:t> </a:t>
            </a:r>
            <a:r>
              <a:rPr dirty="0" err="1"/>
              <a:t>gemittelt</a:t>
            </a:r>
            <a:r>
              <a:rPr dirty="0"/>
              <a:t>. Aus </a:t>
            </a:r>
            <a:r>
              <a:rPr dirty="0" err="1"/>
              <a:t>Flansch</a:t>
            </a:r>
            <a:r>
              <a:rPr dirty="0"/>
              <a:t>- und </a:t>
            </a:r>
            <a:r>
              <a:rPr dirty="0" err="1"/>
              <a:t>Boardposen</a:t>
            </a:r>
            <a:r>
              <a:rPr dirty="0"/>
              <a:t> </a:t>
            </a:r>
            <a:r>
              <a:rPr dirty="0" err="1"/>
              <a:t>berechnet</a:t>
            </a:r>
            <a:r>
              <a:rPr dirty="0"/>
              <a:t> OpenCV die Transformation. </a:t>
            </a:r>
            <a:r>
              <a:rPr dirty="0" err="1"/>
              <a:t>Daneben</a:t>
            </a:r>
            <a:r>
              <a:rPr dirty="0"/>
              <a:t> </a:t>
            </a:r>
            <a:r>
              <a:rPr dirty="0" err="1"/>
              <a:t>entstehen</a:t>
            </a:r>
            <a:r>
              <a:rPr dirty="0"/>
              <a:t> </a:t>
            </a:r>
            <a:r>
              <a:rPr dirty="0" err="1"/>
              <a:t>weitere</a:t>
            </a:r>
            <a:r>
              <a:rPr dirty="0"/>
              <a:t> </a:t>
            </a:r>
            <a:r>
              <a:rPr dirty="0" err="1"/>
              <a:t>Transformationen</a:t>
            </a:r>
            <a:r>
              <a:rPr dirty="0"/>
              <a:t> </a:t>
            </a:r>
            <a:r>
              <a:rPr dirty="0" err="1"/>
              <a:t>als</a:t>
            </a:r>
            <a:r>
              <a:rPr dirty="0"/>
              <a:t> </a:t>
            </a:r>
            <a:r>
              <a:rPr dirty="0" err="1"/>
              <a:t>Nebenprodukt</a:t>
            </a:r>
            <a:r>
              <a:rPr dirty="0"/>
              <a:t>.</a:t>
            </a:r>
          </a:p>
          <a:p>
            <a:r>
              <a:rPr dirty="0"/>
              <a:t>Eine </a:t>
            </a:r>
            <a:r>
              <a:rPr dirty="0" err="1"/>
              <a:t>Prüffahrt</a:t>
            </a:r>
            <a:r>
              <a:rPr dirty="0"/>
              <a:t> </a:t>
            </a:r>
            <a:r>
              <a:rPr dirty="0" err="1"/>
              <a:t>zentriert</a:t>
            </a:r>
            <a:r>
              <a:rPr dirty="0"/>
              <a:t> das </a:t>
            </a:r>
            <a:r>
              <a:rPr dirty="0" err="1"/>
              <a:t>Fadenkreuz</a:t>
            </a:r>
            <a:r>
              <a:rPr dirty="0"/>
              <a:t> auf dem Board und </a:t>
            </a:r>
            <a:r>
              <a:rPr dirty="0" err="1"/>
              <a:t>fährt</a:t>
            </a:r>
            <a:r>
              <a:rPr dirty="0"/>
              <a:t> 200 mm </a:t>
            </a:r>
            <a:r>
              <a:rPr dirty="0" err="1"/>
              <a:t>entlang</a:t>
            </a:r>
            <a:r>
              <a:rPr dirty="0"/>
              <a:t> der </a:t>
            </a:r>
            <a:r>
              <a:rPr dirty="0" err="1"/>
              <a:t>Bandachse</a:t>
            </a:r>
            <a:r>
              <a:rPr dirty="0"/>
              <a:t> </a:t>
            </a:r>
            <a:r>
              <a:rPr dirty="0" err="1"/>
              <a:t>vor</a:t>
            </a:r>
            <a:r>
              <a:rPr dirty="0"/>
              <a:t> und </a:t>
            </a:r>
            <a:r>
              <a:rPr dirty="0" err="1"/>
              <a:t>zurück</a:t>
            </a:r>
            <a:r>
              <a:rPr dirty="0"/>
              <a:t>. </a:t>
            </a:r>
            <a:r>
              <a:rPr dirty="0" err="1"/>
              <a:t>Im</a:t>
            </a:r>
            <a:r>
              <a:rPr dirty="0"/>
              <a:t> </a:t>
            </a:r>
            <a:r>
              <a:rPr dirty="0" err="1"/>
              <a:t>beschriebenen</a:t>
            </a:r>
            <a:r>
              <a:rPr dirty="0"/>
              <a:t> Lauf lag der RMSE </a:t>
            </a:r>
            <a:r>
              <a:rPr dirty="0" err="1"/>
              <a:t>über</a:t>
            </a:r>
            <a:r>
              <a:rPr dirty="0"/>
              <a:t> die </a:t>
            </a:r>
            <a:r>
              <a:rPr dirty="0" err="1"/>
              <a:t>Wegpunkte</a:t>
            </a:r>
            <a:r>
              <a:rPr dirty="0"/>
              <a:t> </a:t>
            </a:r>
            <a:r>
              <a:rPr dirty="0" err="1"/>
              <a:t>bei</a:t>
            </a:r>
            <a:r>
              <a:rPr dirty="0"/>
              <a:t> </a:t>
            </a:r>
            <a:r>
              <a:rPr dirty="0" err="1"/>
              <a:t>etwa</a:t>
            </a:r>
            <a:r>
              <a:rPr dirty="0"/>
              <a:t> 1,5 bis 2 mm. Das </a:t>
            </a:r>
            <a:r>
              <a:rPr dirty="0" err="1"/>
              <a:t>ist</a:t>
            </a:r>
            <a:r>
              <a:rPr dirty="0"/>
              <a:t> </a:t>
            </a:r>
            <a:r>
              <a:rPr dirty="0" err="1"/>
              <a:t>kein</a:t>
            </a:r>
            <a:r>
              <a:rPr dirty="0"/>
              <a:t> </a:t>
            </a:r>
            <a:r>
              <a:rPr dirty="0" err="1"/>
              <a:t>direkt</a:t>
            </a:r>
            <a:r>
              <a:rPr dirty="0"/>
              <a:t> </a:t>
            </a:r>
            <a:r>
              <a:rPr dirty="0" err="1"/>
              <a:t>vergleichbarer</a:t>
            </a:r>
            <a:r>
              <a:rPr dirty="0"/>
              <a:t> Fehlerwert </a:t>
            </a:r>
            <a:r>
              <a:rPr dirty="0" err="1"/>
              <a:t>zu</a:t>
            </a:r>
            <a:r>
              <a:rPr dirty="0"/>
              <a:t> den </a:t>
            </a:r>
            <a:r>
              <a:rPr dirty="0" err="1"/>
              <a:t>unabhängigen</a:t>
            </a:r>
            <a:r>
              <a:rPr dirty="0"/>
              <a:t> </a:t>
            </a:r>
            <a:r>
              <a:rPr dirty="0" err="1"/>
              <a:t>Prüfposen</a:t>
            </a:r>
            <a:r>
              <a:rPr dirty="0"/>
              <a:t> des </a:t>
            </a:r>
            <a:r>
              <a:rPr dirty="0" err="1"/>
              <a:t>AprilGrid-Verfahrens</a:t>
            </a:r>
            <a:r>
              <a:rPr dirty="0"/>
              <a:t>.</a:t>
            </a:r>
          </a:p>
          <a:p>
            <a:r>
              <a:rPr dirty="0" err="1"/>
              <a:t>Diese</a:t>
            </a:r>
            <a:r>
              <a:rPr dirty="0"/>
              <a:t> </a:t>
            </a:r>
            <a:r>
              <a:rPr dirty="0" err="1"/>
              <a:t>eigenständige</a:t>
            </a:r>
            <a:r>
              <a:rPr dirty="0"/>
              <a:t> Kalibrieranwendung </a:t>
            </a:r>
            <a:r>
              <a:rPr dirty="0" err="1"/>
              <a:t>ist</a:t>
            </a:r>
            <a:r>
              <a:rPr dirty="0"/>
              <a:t> für die </a:t>
            </a:r>
            <a:r>
              <a:rPr dirty="0" err="1"/>
              <a:t>spätere</a:t>
            </a:r>
            <a:r>
              <a:rPr dirty="0"/>
              <a:t> </a:t>
            </a:r>
            <a:r>
              <a:rPr dirty="0" err="1"/>
              <a:t>Roboterkamera-Einbindung</a:t>
            </a:r>
            <a:r>
              <a:rPr dirty="0"/>
              <a:t> </a:t>
            </a:r>
            <a:r>
              <a:rPr dirty="0" err="1"/>
              <a:t>vorhanden</a:t>
            </a:r>
            <a:r>
              <a:rPr dirty="0"/>
              <a:t>. </a:t>
            </a:r>
            <a:r>
              <a:rPr dirty="0" err="1"/>
              <a:t>Im</a:t>
            </a:r>
            <a:r>
              <a:rPr dirty="0"/>
              <a:t> </a:t>
            </a:r>
            <a:r>
              <a:rPr dirty="0" err="1"/>
              <a:t>finalen</a:t>
            </a:r>
            <a:r>
              <a:rPr dirty="0"/>
              <a:t> </a:t>
            </a:r>
            <a:r>
              <a:rPr dirty="0" err="1"/>
              <a:t>Greifbetrieb</a:t>
            </a:r>
            <a:r>
              <a:rPr dirty="0"/>
              <a:t> </a:t>
            </a:r>
            <a:r>
              <a:rPr dirty="0" err="1"/>
              <a:t>ist</a:t>
            </a:r>
            <a:r>
              <a:rPr dirty="0"/>
              <a:t> die </a:t>
            </a:r>
            <a:r>
              <a:rPr dirty="0" err="1"/>
              <a:t>Roboterkamera</a:t>
            </a:r>
            <a:r>
              <a:rPr dirty="0"/>
              <a:t> nicht </a:t>
            </a:r>
            <a:r>
              <a:rPr dirty="0" err="1"/>
              <a:t>aktiv</a:t>
            </a:r>
            <a:r>
              <a:rPr dirty="0"/>
              <a:t>.</a:t>
            </a:r>
          </a:p>
          <a:p>
            <a:r>
              <a:rPr dirty="0"/>
              <a:t>Externe </a:t>
            </a:r>
            <a:r>
              <a:rPr dirty="0" err="1"/>
              <a:t>Grundlagen</a:t>
            </a:r>
            <a:r>
              <a:rPr dirty="0"/>
              <a:t> </a:t>
            </a:r>
            <a:r>
              <a:rPr dirty="0" err="1"/>
              <a:t>aus</a:t>
            </a:r>
            <a:r>
              <a:rPr dirty="0"/>
              <a:t> dem </a:t>
            </a:r>
            <a:r>
              <a:rPr dirty="0" err="1"/>
              <a:t>Bericht</a:t>
            </a:r>
            <a:r>
              <a:rPr dirty="0"/>
              <a:t>: OpenCV Camera Calibration and 3D Reconstruction, https://docs.opencv.org/4.x/d9/d0c/group__calib3d.html; </a:t>
            </a:r>
            <a:r>
              <a:rPr dirty="0" err="1"/>
              <a:t>ChArUco-Erkennung</a:t>
            </a:r>
            <a:r>
              <a:rPr dirty="0"/>
              <a:t>, https://docs.opencv.org/4.12.0/df/d4a/tutorial_charuco_detection.html.</a:t>
            </a:r>
          </a:p>
          <a:p>
            <a:endParaRPr dirty="0"/>
          </a:p>
          <a:p>
            <a:r>
              <a:rPr dirty="0" err="1"/>
              <a:t>Quellen</a:t>
            </a:r>
            <a:r>
              <a:rPr dirty="0"/>
              <a:t>: </a:t>
            </a:r>
            <a:r>
              <a:rPr dirty="0" err="1"/>
              <a:t>Projektbericht</a:t>
            </a:r>
            <a:r>
              <a:rPr dirty="0"/>
              <a:t>/</a:t>
            </a:r>
            <a:r>
              <a:rPr dirty="0" err="1"/>
              <a:t>entwuerfe</a:t>
            </a:r>
            <a:r>
              <a:rPr dirty="0"/>
              <a:t>/berichtstext.md, </a:t>
            </a:r>
            <a:r>
              <a:rPr dirty="0" err="1"/>
              <a:t>Abschnitt</a:t>
            </a:r>
            <a:r>
              <a:rPr dirty="0"/>
              <a:t> 4.3, Stand 02.10.2026. </a:t>
            </a:r>
            <a:r>
              <a:rPr dirty="0" err="1"/>
              <a:t>Abbildung</a:t>
            </a:r>
            <a:r>
              <a:rPr dirty="0"/>
              <a:t>: </a:t>
            </a:r>
            <a:r>
              <a:rPr dirty="0" err="1"/>
              <a:t>Projektbericht</a:t>
            </a:r>
            <a:r>
              <a:rPr dirty="0"/>
              <a:t>/</a:t>
            </a:r>
            <a:r>
              <a:rPr dirty="0" err="1"/>
              <a:t>abbildungen</a:t>
            </a:r>
            <a:r>
              <a:rPr dirty="0"/>
              <a:t>/fig-orbit-trajektorie.jpg, </a:t>
            </a:r>
            <a:r>
              <a:rPr dirty="0" err="1"/>
              <a:t>schematische</a:t>
            </a:r>
            <a:r>
              <a:rPr dirty="0"/>
              <a:t> KI-</a:t>
            </a:r>
            <a:r>
              <a:rPr dirty="0" err="1"/>
              <a:t>generierte</a:t>
            </a:r>
            <a:r>
              <a:rPr dirty="0"/>
              <a:t> </a:t>
            </a:r>
            <a:r>
              <a:rPr dirty="0" err="1"/>
              <a:t>Darstellung</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Lukas</a:t>
            </a:r>
          </a:p>
          <a:p>
            <a:endParaRPr lang="de-DE" dirty="0"/>
          </a:p>
          <a:p>
            <a:r>
              <a:rPr dirty="0"/>
              <a:t>Folie 5: </a:t>
            </a:r>
            <a:r>
              <a:rPr dirty="0" err="1"/>
              <a:t>Kalibrierung</a:t>
            </a:r>
            <a:r>
              <a:rPr dirty="0"/>
              <a:t> der Basiskamera</a:t>
            </a:r>
          </a:p>
          <a:p>
            <a:r>
              <a:rPr dirty="0" err="1"/>
              <a:t>Geplante</a:t>
            </a:r>
            <a:r>
              <a:rPr dirty="0"/>
              <a:t> </a:t>
            </a:r>
            <a:r>
              <a:rPr dirty="0" err="1"/>
              <a:t>Sprechzeit</a:t>
            </a:r>
            <a:r>
              <a:rPr dirty="0"/>
              <a:t>: 1:30 Minuten.</a:t>
            </a:r>
          </a:p>
          <a:p>
            <a:endParaRPr dirty="0"/>
          </a:p>
          <a:p>
            <a:r>
              <a:rPr dirty="0" err="1"/>
              <a:t>Anordnung</a:t>
            </a:r>
            <a:r>
              <a:rPr dirty="0"/>
              <a:t>: Die L515 </a:t>
            </a:r>
            <a:r>
              <a:rPr dirty="0" err="1"/>
              <a:t>bleibt</a:t>
            </a:r>
            <a:r>
              <a:rPr dirty="0"/>
              <a:t> </a:t>
            </a:r>
            <a:r>
              <a:rPr dirty="0" err="1"/>
              <a:t>ortsfest</a:t>
            </a:r>
            <a:r>
              <a:rPr dirty="0"/>
              <a:t>, der </a:t>
            </a:r>
            <a:r>
              <a:rPr dirty="0" err="1"/>
              <a:t>Greifer</a:t>
            </a:r>
            <a:r>
              <a:rPr dirty="0"/>
              <a:t> </a:t>
            </a:r>
            <a:r>
              <a:rPr dirty="0" err="1"/>
              <a:t>hält</a:t>
            </a:r>
            <a:r>
              <a:rPr dirty="0"/>
              <a:t> das </a:t>
            </a:r>
            <a:r>
              <a:rPr dirty="0" err="1"/>
              <a:t>AprilGrid</a:t>
            </a:r>
            <a:r>
              <a:rPr dirty="0"/>
              <a:t> </a:t>
            </a:r>
            <a:r>
              <a:rPr dirty="0" err="1"/>
              <a:t>aus</a:t>
            </a:r>
            <a:r>
              <a:rPr dirty="0"/>
              <a:t> 7 mal 11 </a:t>
            </a:r>
            <a:r>
              <a:rPr dirty="0" err="1"/>
              <a:t>AprilTags</a:t>
            </a:r>
            <a:r>
              <a:rPr dirty="0"/>
              <a:t> und </a:t>
            </a:r>
            <a:r>
              <a:rPr dirty="0" err="1"/>
              <a:t>bewegt</a:t>
            </a:r>
            <a:r>
              <a:rPr dirty="0"/>
              <a:t> es </a:t>
            </a:r>
            <a:r>
              <a:rPr dirty="0" err="1"/>
              <a:t>durch</a:t>
            </a:r>
            <a:r>
              <a:rPr dirty="0"/>
              <a:t> </a:t>
            </a:r>
            <a:r>
              <a:rPr dirty="0" err="1"/>
              <a:t>verschiedene</a:t>
            </a:r>
            <a:r>
              <a:rPr dirty="0"/>
              <a:t> Posen. </a:t>
            </a:r>
            <a:r>
              <a:rPr dirty="0" err="1"/>
              <a:t>Gesucht</a:t>
            </a:r>
            <a:r>
              <a:rPr dirty="0"/>
              <a:t> </a:t>
            </a:r>
            <a:r>
              <a:rPr dirty="0" err="1"/>
              <a:t>sind</a:t>
            </a:r>
            <a:r>
              <a:rPr dirty="0"/>
              <a:t> </a:t>
            </a:r>
            <a:r>
              <a:rPr dirty="0" err="1"/>
              <a:t>Kameralage</a:t>
            </a:r>
            <a:r>
              <a:rPr dirty="0"/>
              <a:t> in world und </a:t>
            </a:r>
            <a:r>
              <a:rPr dirty="0" err="1"/>
              <a:t>Boardlage</a:t>
            </a:r>
            <a:r>
              <a:rPr dirty="0"/>
              <a:t> am </a:t>
            </a:r>
            <a:r>
              <a:rPr dirty="0" err="1"/>
              <a:t>Flansch</a:t>
            </a:r>
            <a:r>
              <a:rPr dirty="0"/>
              <a:t>. </a:t>
            </a:r>
            <a:r>
              <a:rPr dirty="0" err="1"/>
              <a:t>Beide</a:t>
            </a:r>
            <a:r>
              <a:rPr dirty="0"/>
              <a:t> </a:t>
            </a:r>
            <a:r>
              <a:rPr dirty="0" err="1"/>
              <a:t>werden</a:t>
            </a:r>
            <a:r>
              <a:rPr dirty="0"/>
              <a:t> </a:t>
            </a:r>
            <a:r>
              <a:rPr dirty="0" err="1"/>
              <a:t>gemeinsam</a:t>
            </a:r>
            <a:r>
              <a:rPr dirty="0"/>
              <a:t> </a:t>
            </a:r>
            <a:r>
              <a:rPr dirty="0" err="1"/>
              <a:t>bestimmt</a:t>
            </a:r>
            <a:r>
              <a:rPr dirty="0"/>
              <a:t> und </a:t>
            </a:r>
            <a:r>
              <a:rPr dirty="0" err="1"/>
              <a:t>anschließend</a:t>
            </a:r>
            <a:r>
              <a:rPr dirty="0"/>
              <a:t> </a:t>
            </a:r>
            <a:r>
              <a:rPr dirty="0" err="1"/>
              <a:t>anhand</a:t>
            </a:r>
            <a:r>
              <a:rPr dirty="0"/>
              <a:t> der Tag-Ecken </a:t>
            </a:r>
            <a:r>
              <a:rPr dirty="0" err="1"/>
              <a:t>optimiert</a:t>
            </a:r>
            <a:r>
              <a:rPr dirty="0"/>
              <a:t>.</a:t>
            </a:r>
          </a:p>
          <a:p>
            <a:r>
              <a:rPr dirty="0"/>
              <a:t>Das Board </a:t>
            </a:r>
            <a:r>
              <a:rPr dirty="0" err="1"/>
              <a:t>wird</a:t>
            </a:r>
            <a:r>
              <a:rPr dirty="0"/>
              <a:t> </a:t>
            </a:r>
            <a:r>
              <a:rPr dirty="0" err="1"/>
              <a:t>einmal</a:t>
            </a:r>
            <a:r>
              <a:rPr dirty="0"/>
              <a:t> von Hand </a:t>
            </a:r>
            <a:r>
              <a:rPr dirty="0" err="1"/>
              <a:t>eingelegt</a:t>
            </a:r>
            <a:r>
              <a:rPr dirty="0"/>
              <a:t>. </a:t>
            </a:r>
            <a:r>
              <a:rPr dirty="0" err="1"/>
              <a:t>Danach</a:t>
            </a:r>
            <a:r>
              <a:rPr dirty="0"/>
              <a:t> </a:t>
            </a:r>
            <a:r>
              <a:rPr dirty="0" err="1"/>
              <a:t>fährt</a:t>
            </a:r>
            <a:r>
              <a:rPr dirty="0"/>
              <a:t> der </a:t>
            </a:r>
            <a:r>
              <a:rPr dirty="0" err="1"/>
              <a:t>Roboter</a:t>
            </a:r>
            <a:r>
              <a:rPr dirty="0"/>
              <a:t> 40 </a:t>
            </a:r>
            <a:r>
              <a:rPr dirty="0" err="1"/>
              <a:t>Messposen</a:t>
            </a:r>
            <a:r>
              <a:rPr dirty="0"/>
              <a:t> und vier </a:t>
            </a:r>
            <a:r>
              <a:rPr dirty="0" err="1"/>
              <a:t>unabhängige</a:t>
            </a:r>
            <a:r>
              <a:rPr dirty="0"/>
              <a:t> </a:t>
            </a:r>
            <a:r>
              <a:rPr dirty="0" err="1"/>
              <a:t>Prüfposen</a:t>
            </a:r>
            <a:r>
              <a:rPr dirty="0"/>
              <a:t>. Die </a:t>
            </a:r>
            <a:r>
              <a:rPr dirty="0" err="1"/>
              <a:t>erste</a:t>
            </a:r>
            <a:r>
              <a:rPr dirty="0"/>
              <a:t> Pose </a:t>
            </a:r>
            <a:r>
              <a:rPr dirty="0" err="1"/>
              <a:t>wird</a:t>
            </a:r>
            <a:r>
              <a:rPr dirty="0"/>
              <a:t> </a:t>
            </a:r>
            <a:r>
              <a:rPr dirty="0" err="1"/>
              <a:t>zum</a:t>
            </a:r>
            <a:r>
              <a:rPr dirty="0"/>
              <a:t> </a:t>
            </a:r>
            <a:r>
              <a:rPr dirty="0" err="1"/>
              <a:t>Abschluss</a:t>
            </a:r>
            <a:r>
              <a:rPr dirty="0"/>
              <a:t> </a:t>
            </a:r>
            <a:r>
              <a:rPr dirty="0" err="1"/>
              <a:t>wiederholt</a:t>
            </a:r>
            <a:r>
              <a:rPr dirty="0"/>
              <a:t>, um </a:t>
            </a:r>
            <a:r>
              <a:rPr dirty="0" err="1"/>
              <a:t>Verrutschen</a:t>
            </a:r>
            <a:r>
              <a:rPr dirty="0"/>
              <a:t> des Boards </a:t>
            </a:r>
            <a:r>
              <a:rPr dirty="0" err="1"/>
              <a:t>zu</a:t>
            </a:r>
            <a:r>
              <a:rPr dirty="0"/>
              <a:t> </a:t>
            </a:r>
            <a:r>
              <a:rPr dirty="0" err="1"/>
              <a:t>erkennen</a:t>
            </a:r>
            <a:r>
              <a:rPr dirty="0"/>
              <a:t>. Ein </a:t>
            </a:r>
            <a:r>
              <a:rPr dirty="0" err="1"/>
              <a:t>Messlauf</a:t>
            </a:r>
            <a:r>
              <a:rPr dirty="0"/>
              <a:t> </a:t>
            </a:r>
            <a:r>
              <a:rPr dirty="0" err="1"/>
              <a:t>dauert</a:t>
            </a:r>
            <a:r>
              <a:rPr dirty="0"/>
              <a:t> </a:t>
            </a:r>
            <a:r>
              <a:rPr dirty="0" err="1"/>
              <a:t>rund</a:t>
            </a:r>
            <a:r>
              <a:rPr dirty="0"/>
              <a:t> vier Minuten, </a:t>
            </a:r>
            <a:r>
              <a:rPr dirty="0" err="1"/>
              <a:t>mit</a:t>
            </a:r>
            <a:r>
              <a:rPr dirty="0"/>
              <a:t> </a:t>
            </a:r>
            <a:r>
              <a:rPr dirty="0" err="1"/>
              <a:t>Vorbereitung</a:t>
            </a:r>
            <a:r>
              <a:rPr dirty="0"/>
              <a:t> </a:t>
            </a:r>
            <a:r>
              <a:rPr dirty="0" err="1"/>
              <a:t>etwa</a:t>
            </a:r>
            <a:r>
              <a:rPr dirty="0"/>
              <a:t> </a:t>
            </a:r>
            <a:r>
              <a:rPr dirty="0" err="1"/>
              <a:t>fünf</a:t>
            </a:r>
            <a:r>
              <a:rPr dirty="0"/>
              <a:t>.</a:t>
            </a:r>
          </a:p>
          <a:p>
            <a:r>
              <a:rPr dirty="0"/>
              <a:t>Die </a:t>
            </a:r>
            <a:r>
              <a:rPr dirty="0" err="1"/>
              <a:t>Prüfung</a:t>
            </a:r>
            <a:r>
              <a:rPr dirty="0"/>
              <a:t> am 28.09.2026 </a:t>
            </a:r>
            <a:r>
              <a:rPr dirty="0" err="1"/>
              <a:t>ergab</a:t>
            </a:r>
            <a:r>
              <a:rPr dirty="0"/>
              <a:t> 0,34 </a:t>
            </a:r>
            <a:r>
              <a:rPr dirty="0" err="1"/>
              <a:t>px</a:t>
            </a:r>
            <a:r>
              <a:rPr dirty="0"/>
              <a:t> </a:t>
            </a:r>
            <a:r>
              <a:rPr dirty="0" err="1"/>
              <a:t>mittleren</a:t>
            </a:r>
            <a:r>
              <a:rPr dirty="0"/>
              <a:t> </a:t>
            </a:r>
            <a:r>
              <a:rPr dirty="0" err="1"/>
              <a:t>Bildfehler</a:t>
            </a:r>
            <a:r>
              <a:rPr dirty="0"/>
              <a:t>, 0,54 mm </a:t>
            </a:r>
            <a:r>
              <a:rPr dirty="0" err="1"/>
              <a:t>Prüfposenabweichung</a:t>
            </a:r>
            <a:r>
              <a:rPr dirty="0"/>
              <a:t> und 0,04 mm </a:t>
            </a:r>
            <a:r>
              <a:rPr dirty="0" err="1"/>
              <a:t>Boardverrutschen</a:t>
            </a:r>
            <a:r>
              <a:rPr dirty="0"/>
              <a:t>. </a:t>
            </a:r>
            <a:r>
              <a:rPr dirty="0" err="1"/>
              <a:t>Zwischen</a:t>
            </a:r>
            <a:r>
              <a:rPr dirty="0"/>
              <a:t> </a:t>
            </a:r>
            <a:r>
              <a:rPr dirty="0" err="1"/>
              <a:t>Läufen</a:t>
            </a:r>
            <a:r>
              <a:rPr dirty="0"/>
              <a:t> </a:t>
            </a:r>
            <a:r>
              <a:rPr dirty="0" err="1"/>
              <a:t>über</a:t>
            </a:r>
            <a:r>
              <a:rPr dirty="0"/>
              <a:t> </a:t>
            </a:r>
            <a:r>
              <a:rPr dirty="0" err="1"/>
              <a:t>drei</a:t>
            </a:r>
            <a:r>
              <a:rPr dirty="0"/>
              <a:t> Tage war die </a:t>
            </a:r>
            <a:r>
              <a:rPr dirty="0" err="1"/>
              <a:t>Kameralage</a:t>
            </a:r>
            <a:r>
              <a:rPr dirty="0"/>
              <a:t> </a:t>
            </a:r>
            <a:r>
              <a:rPr dirty="0" err="1"/>
              <a:t>mit</a:t>
            </a:r>
            <a:r>
              <a:rPr dirty="0"/>
              <a:t> </a:t>
            </a:r>
            <a:r>
              <a:rPr dirty="0" err="1"/>
              <a:t>unter</a:t>
            </a:r>
            <a:r>
              <a:rPr dirty="0"/>
              <a:t> 1 mm Abweichung </a:t>
            </a:r>
            <a:r>
              <a:rPr dirty="0" err="1"/>
              <a:t>wiederholbar</a:t>
            </a:r>
            <a:r>
              <a:rPr dirty="0"/>
              <a:t>. </a:t>
            </a:r>
            <a:r>
              <a:rPr dirty="0" err="1"/>
              <a:t>Diese</a:t>
            </a:r>
            <a:r>
              <a:rPr dirty="0"/>
              <a:t> </a:t>
            </a:r>
            <a:r>
              <a:rPr dirty="0" err="1"/>
              <a:t>Größen</a:t>
            </a:r>
            <a:r>
              <a:rPr dirty="0"/>
              <a:t> </a:t>
            </a:r>
            <a:r>
              <a:rPr dirty="0" err="1"/>
              <a:t>sind</a:t>
            </a:r>
            <a:r>
              <a:rPr dirty="0"/>
              <a:t> </a:t>
            </a:r>
            <a:r>
              <a:rPr dirty="0" err="1"/>
              <a:t>keine</a:t>
            </a:r>
            <a:r>
              <a:rPr dirty="0"/>
              <a:t> absolute </a:t>
            </a:r>
            <a:r>
              <a:rPr dirty="0" err="1"/>
              <a:t>Greifgenauigkeit</a:t>
            </a:r>
            <a:r>
              <a:rPr dirty="0"/>
              <a:t>.</a:t>
            </a:r>
          </a:p>
          <a:p>
            <a:r>
              <a:rPr dirty="0"/>
              <a:t>Die Farb-/</a:t>
            </a:r>
            <a:r>
              <a:rPr dirty="0" err="1"/>
              <a:t>Tiefengeometrie</a:t>
            </a:r>
            <a:r>
              <a:rPr dirty="0"/>
              <a:t> der L515 </a:t>
            </a:r>
            <a:r>
              <a:rPr dirty="0" err="1"/>
              <a:t>weicht</a:t>
            </a:r>
            <a:r>
              <a:rPr dirty="0"/>
              <a:t> ab: </a:t>
            </a:r>
            <a:r>
              <a:rPr dirty="0" err="1"/>
              <a:t>Tiefenebene</a:t>
            </a:r>
            <a:r>
              <a:rPr dirty="0"/>
              <a:t> 1,0 bis 1,8 Grad </a:t>
            </a:r>
            <a:r>
              <a:rPr dirty="0" err="1"/>
              <a:t>verkippt</a:t>
            </a:r>
            <a:r>
              <a:rPr dirty="0"/>
              <a:t>, </a:t>
            </a:r>
            <a:r>
              <a:rPr dirty="0" err="1"/>
              <a:t>Tiefe</a:t>
            </a:r>
            <a:r>
              <a:rPr dirty="0"/>
              <a:t> am Klotz 5,5 bis 13,5 mm </a:t>
            </a:r>
            <a:r>
              <a:rPr dirty="0" err="1"/>
              <a:t>zu</a:t>
            </a:r>
            <a:r>
              <a:rPr dirty="0"/>
              <a:t> </a:t>
            </a:r>
            <a:r>
              <a:rPr dirty="0" err="1"/>
              <a:t>tief</a:t>
            </a:r>
            <a:r>
              <a:rPr dirty="0"/>
              <a:t>. </a:t>
            </a:r>
            <a:r>
              <a:rPr dirty="0" err="1"/>
              <a:t>Deshalb</a:t>
            </a:r>
            <a:r>
              <a:rPr dirty="0"/>
              <a:t> </a:t>
            </a:r>
            <a:r>
              <a:rPr dirty="0" err="1"/>
              <a:t>wird</a:t>
            </a:r>
            <a:r>
              <a:rPr dirty="0"/>
              <a:t> die </a:t>
            </a:r>
            <a:r>
              <a:rPr dirty="0" err="1"/>
              <a:t>Kalibrierung</a:t>
            </a:r>
            <a:r>
              <a:rPr dirty="0"/>
              <a:t> für die </a:t>
            </a:r>
            <a:r>
              <a:rPr dirty="0" err="1"/>
              <a:t>tatsächlich</a:t>
            </a:r>
            <a:r>
              <a:rPr dirty="0"/>
              <a:t> </a:t>
            </a:r>
            <a:r>
              <a:rPr dirty="0" err="1"/>
              <a:t>verwendete</a:t>
            </a:r>
            <a:r>
              <a:rPr dirty="0"/>
              <a:t> </a:t>
            </a:r>
            <a:r>
              <a:rPr dirty="0" err="1"/>
              <a:t>Tiefenauswertung</a:t>
            </a:r>
            <a:r>
              <a:rPr dirty="0"/>
              <a:t> </a:t>
            </a:r>
            <a:r>
              <a:rPr dirty="0" err="1"/>
              <a:t>angepasst</a:t>
            </a:r>
            <a:r>
              <a:rPr dirty="0"/>
              <a:t>.</a:t>
            </a:r>
          </a:p>
          <a:p>
            <a:r>
              <a:rPr dirty="0"/>
              <a:t>Das </a:t>
            </a:r>
            <a:r>
              <a:rPr dirty="0" err="1"/>
              <a:t>Verfahren</a:t>
            </a:r>
            <a:r>
              <a:rPr dirty="0"/>
              <a:t> </a:t>
            </a:r>
            <a:r>
              <a:rPr dirty="0" err="1"/>
              <a:t>wird</a:t>
            </a:r>
            <a:r>
              <a:rPr dirty="0"/>
              <a:t> für die Basiskamera </a:t>
            </a:r>
            <a:r>
              <a:rPr dirty="0" err="1"/>
              <a:t>im</a:t>
            </a:r>
            <a:r>
              <a:rPr dirty="0"/>
              <a:t> </a:t>
            </a:r>
            <a:r>
              <a:rPr dirty="0" err="1"/>
              <a:t>Greifbetrieb</a:t>
            </a:r>
            <a:r>
              <a:rPr dirty="0"/>
              <a:t> </a:t>
            </a:r>
            <a:r>
              <a:rPr dirty="0" err="1"/>
              <a:t>verwendet</a:t>
            </a:r>
            <a:r>
              <a:rPr dirty="0"/>
              <a:t>. Ein </a:t>
            </a:r>
            <a:r>
              <a:rPr dirty="0" err="1"/>
              <a:t>protokollierter</a:t>
            </a:r>
            <a:r>
              <a:rPr dirty="0"/>
              <a:t> </a:t>
            </a:r>
            <a:r>
              <a:rPr dirty="0" err="1"/>
              <a:t>Kalibrier-Greiflauf</a:t>
            </a:r>
            <a:r>
              <a:rPr dirty="0"/>
              <a:t> </a:t>
            </a:r>
            <a:r>
              <a:rPr dirty="0" err="1"/>
              <a:t>mit</a:t>
            </a:r>
            <a:r>
              <a:rPr dirty="0"/>
              <a:t> </a:t>
            </a:r>
            <a:r>
              <a:rPr dirty="0" err="1"/>
              <a:t>sieben</a:t>
            </a:r>
            <a:r>
              <a:rPr dirty="0"/>
              <a:t> </a:t>
            </a:r>
            <a:r>
              <a:rPr dirty="0" err="1"/>
              <a:t>Klötzen</a:t>
            </a:r>
            <a:r>
              <a:rPr dirty="0"/>
              <a:t> </a:t>
            </a:r>
            <a:r>
              <a:rPr dirty="0" err="1"/>
              <a:t>wurde</a:t>
            </a:r>
            <a:r>
              <a:rPr dirty="0"/>
              <a:t> </a:t>
            </a:r>
            <a:r>
              <a:rPr dirty="0" err="1"/>
              <a:t>vollständig</a:t>
            </a:r>
            <a:r>
              <a:rPr dirty="0"/>
              <a:t> </a:t>
            </a:r>
            <a:r>
              <a:rPr dirty="0" err="1"/>
              <a:t>abgelegt</a:t>
            </a:r>
            <a:r>
              <a:rPr dirty="0"/>
              <a:t>. </a:t>
            </a:r>
            <a:r>
              <a:rPr dirty="0" err="1"/>
              <a:t>Kalibrierung</a:t>
            </a:r>
            <a:r>
              <a:rPr dirty="0"/>
              <a:t> </a:t>
            </a:r>
            <a:r>
              <a:rPr dirty="0" err="1"/>
              <a:t>liefert</a:t>
            </a:r>
            <a:r>
              <a:rPr dirty="0"/>
              <a:t> </a:t>
            </a:r>
            <a:r>
              <a:rPr dirty="0" err="1"/>
              <a:t>räumliche</a:t>
            </a:r>
            <a:r>
              <a:rPr dirty="0"/>
              <a:t> </a:t>
            </a:r>
            <a:r>
              <a:rPr dirty="0" err="1"/>
              <a:t>Zuordnung</a:t>
            </a:r>
            <a:r>
              <a:rPr dirty="0"/>
              <a:t>, nicht </a:t>
            </a:r>
            <a:r>
              <a:rPr dirty="0" err="1"/>
              <a:t>Geschwindigkeit</a:t>
            </a:r>
            <a:r>
              <a:rPr dirty="0"/>
              <a:t> </a:t>
            </a:r>
            <a:r>
              <a:rPr dirty="0" err="1"/>
              <a:t>oder</a:t>
            </a:r>
            <a:r>
              <a:rPr dirty="0"/>
              <a:t> </a:t>
            </a:r>
            <a:r>
              <a:rPr dirty="0" err="1"/>
              <a:t>Richtung</a:t>
            </a:r>
            <a:r>
              <a:rPr dirty="0"/>
              <a:t> der </a:t>
            </a:r>
            <a:r>
              <a:rPr dirty="0" err="1"/>
              <a:t>Bandbewegung</a:t>
            </a:r>
            <a:r>
              <a:rPr dirty="0"/>
              <a:t>.</a:t>
            </a:r>
          </a:p>
          <a:p>
            <a:r>
              <a:rPr dirty="0" err="1"/>
              <a:t>Grundlagen</a:t>
            </a:r>
            <a:r>
              <a:rPr dirty="0"/>
              <a:t>: Kalibr calibration targets, https://github.com/ethz-asl/kalibr/wiki/calibration-targets; OpenCV Camera Calibration and 3D Reconstruction, https://docs.opencv.org/4.x/d9/d0c/group__calib3d.html.</a:t>
            </a:r>
          </a:p>
          <a:p>
            <a:endParaRPr dirty="0"/>
          </a:p>
          <a:p>
            <a:r>
              <a:rPr dirty="0" err="1"/>
              <a:t>Quellen</a:t>
            </a:r>
            <a:r>
              <a:rPr dirty="0"/>
              <a:t>: </a:t>
            </a:r>
            <a:r>
              <a:rPr dirty="0" err="1"/>
              <a:t>Projektbericht</a:t>
            </a:r>
            <a:r>
              <a:rPr dirty="0"/>
              <a:t>/</a:t>
            </a:r>
            <a:r>
              <a:rPr dirty="0" err="1"/>
              <a:t>entwuerfe</a:t>
            </a:r>
            <a:r>
              <a:rPr dirty="0"/>
              <a:t>/berichtstext.md, </a:t>
            </a:r>
            <a:r>
              <a:rPr dirty="0" err="1"/>
              <a:t>Abschnitte</a:t>
            </a:r>
            <a:r>
              <a:rPr dirty="0"/>
              <a:t> 4.2 und 4.4, Stand 02.10.2026. </a:t>
            </a:r>
            <a:r>
              <a:rPr dirty="0" err="1"/>
              <a:t>Abbildung</a:t>
            </a:r>
            <a:r>
              <a:rPr dirty="0"/>
              <a:t>: </a:t>
            </a:r>
            <a:r>
              <a:rPr dirty="0" err="1"/>
              <a:t>Projektbericht</a:t>
            </a:r>
            <a:r>
              <a:rPr dirty="0"/>
              <a:t>/</a:t>
            </a:r>
            <a:r>
              <a:rPr dirty="0" err="1"/>
              <a:t>abbildungen</a:t>
            </a:r>
            <a:r>
              <a:rPr dirty="0"/>
              <a:t>/fig-kalibrierung-board-greifer.png.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Tobi</a:t>
            </a:r>
          </a:p>
          <a:p>
            <a:endParaRPr lang="de-DE" dirty="0"/>
          </a:p>
          <a:p>
            <a:r>
              <a:rPr dirty="0"/>
              <a:t>Folie 7: </a:t>
            </a:r>
            <a:r>
              <a:rPr dirty="0" err="1"/>
              <a:t>Erkennung</a:t>
            </a:r>
            <a:r>
              <a:rPr dirty="0"/>
              <a:t> und </a:t>
            </a:r>
            <a:r>
              <a:rPr dirty="0" err="1"/>
              <a:t>Objektbeschreibung</a:t>
            </a:r>
            <a:endParaRPr dirty="0"/>
          </a:p>
          <a:p>
            <a:r>
              <a:rPr dirty="0" err="1"/>
              <a:t>Geplante</a:t>
            </a:r>
            <a:r>
              <a:rPr dirty="0"/>
              <a:t> </a:t>
            </a:r>
            <a:r>
              <a:rPr dirty="0" err="1"/>
              <a:t>Sprechzeit</a:t>
            </a:r>
            <a:r>
              <a:rPr dirty="0"/>
              <a:t>: 1:00 Minuten.</a:t>
            </a:r>
          </a:p>
          <a:p>
            <a:endParaRPr dirty="0"/>
          </a:p>
          <a:p>
            <a:r>
              <a:rPr dirty="0"/>
              <a:t>Die Basiskamera </a:t>
            </a:r>
            <a:r>
              <a:rPr dirty="0" err="1"/>
              <a:t>wertet</a:t>
            </a:r>
            <a:r>
              <a:rPr dirty="0"/>
              <a:t> Farb- und </a:t>
            </a:r>
            <a:r>
              <a:rPr dirty="0" err="1"/>
              <a:t>Tiefenbilder</a:t>
            </a:r>
            <a:r>
              <a:rPr dirty="0"/>
              <a:t> </a:t>
            </a:r>
            <a:r>
              <a:rPr dirty="0" err="1"/>
              <a:t>aus.</a:t>
            </a:r>
            <a:r>
              <a:rPr dirty="0"/>
              <a:t> </a:t>
            </a:r>
            <a:r>
              <a:rPr dirty="0" err="1"/>
              <a:t>Im</a:t>
            </a:r>
            <a:r>
              <a:rPr dirty="0"/>
              <a:t> </a:t>
            </a:r>
            <a:r>
              <a:rPr dirty="0" err="1"/>
              <a:t>Tiefenbild</a:t>
            </a:r>
            <a:r>
              <a:rPr dirty="0"/>
              <a:t> </a:t>
            </a:r>
            <a:r>
              <a:rPr dirty="0" err="1"/>
              <a:t>werden</a:t>
            </a:r>
            <a:r>
              <a:rPr dirty="0"/>
              <a:t> </a:t>
            </a:r>
            <a:r>
              <a:rPr dirty="0" err="1"/>
              <a:t>innerhalb</a:t>
            </a:r>
            <a:r>
              <a:rPr dirty="0"/>
              <a:t> des ROI </a:t>
            </a:r>
            <a:r>
              <a:rPr dirty="0" err="1"/>
              <a:t>Punkte</a:t>
            </a:r>
            <a:r>
              <a:rPr dirty="0"/>
              <a:t> </a:t>
            </a:r>
            <a:r>
              <a:rPr dirty="0" err="1"/>
              <a:t>oberhalb</a:t>
            </a:r>
            <a:r>
              <a:rPr dirty="0"/>
              <a:t> der </a:t>
            </a:r>
            <a:r>
              <a:rPr dirty="0" err="1"/>
              <a:t>Bandebene</a:t>
            </a:r>
            <a:r>
              <a:rPr dirty="0"/>
              <a:t> </a:t>
            </a:r>
            <a:r>
              <a:rPr dirty="0" err="1"/>
              <a:t>als</a:t>
            </a:r>
            <a:r>
              <a:rPr dirty="0"/>
              <a:t> </a:t>
            </a:r>
            <a:r>
              <a:rPr dirty="0" err="1"/>
              <a:t>Kandidaten</a:t>
            </a:r>
            <a:r>
              <a:rPr dirty="0"/>
              <a:t> </a:t>
            </a:r>
            <a:r>
              <a:rPr dirty="0" err="1"/>
              <a:t>betrachtet</a:t>
            </a:r>
            <a:r>
              <a:rPr dirty="0"/>
              <a:t>. Ein </a:t>
            </a:r>
            <a:r>
              <a:rPr dirty="0" err="1"/>
              <a:t>umschließendes</a:t>
            </a:r>
            <a:r>
              <a:rPr dirty="0"/>
              <a:t> </a:t>
            </a:r>
            <a:r>
              <a:rPr dirty="0" err="1"/>
              <a:t>Rechteck</a:t>
            </a:r>
            <a:r>
              <a:rPr dirty="0"/>
              <a:t> </a:t>
            </a:r>
            <a:r>
              <a:rPr dirty="0" err="1"/>
              <a:t>liefert</a:t>
            </a:r>
            <a:r>
              <a:rPr dirty="0"/>
              <a:t> </a:t>
            </a:r>
            <a:r>
              <a:rPr dirty="0" err="1"/>
              <a:t>Mittelpunkt</a:t>
            </a:r>
            <a:r>
              <a:rPr dirty="0"/>
              <a:t>, </a:t>
            </a:r>
            <a:r>
              <a:rPr dirty="0" err="1"/>
              <a:t>Länge</a:t>
            </a:r>
            <a:r>
              <a:rPr dirty="0"/>
              <a:t>, Breite und Winkel. </a:t>
            </a:r>
            <a:r>
              <a:rPr dirty="0" err="1"/>
              <a:t>Medianwerte</a:t>
            </a:r>
            <a:r>
              <a:rPr dirty="0"/>
              <a:t> </a:t>
            </a:r>
            <a:r>
              <a:rPr dirty="0" err="1"/>
              <a:t>reduzieren</a:t>
            </a:r>
            <a:r>
              <a:rPr dirty="0"/>
              <a:t> den </a:t>
            </a:r>
            <a:r>
              <a:rPr dirty="0" err="1"/>
              <a:t>Einfluss</a:t>
            </a:r>
            <a:r>
              <a:rPr dirty="0"/>
              <a:t> von </a:t>
            </a:r>
            <a:r>
              <a:rPr dirty="0" err="1"/>
              <a:t>Randpixeln</a:t>
            </a:r>
            <a:r>
              <a:rPr dirty="0"/>
              <a:t>. Die </a:t>
            </a:r>
            <a:r>
              <a:rPr dirty="0" err="1"/>
              <a:t>Farbe</a:t>
            </a:r>
            <a:r>
              <a:rPr dirty="0"/>
              <a:t> </a:t>
            </a:r>
            <a:r>
              <a:rPr dirty="0" err="1"/>
              <a:t>kommt</a:t>
            </a:r>
            <a:r>
              <a:rPr dirty="0"/>
              <a:t> </a:t>
            </a:r>
            <a:r>
              <a:rPr dirty="0" err="1"/>
              <a:t>aus</a:t>
            </a:r>
            <a:r>
              <a:rPr dirty="0"/>
              <a:t> dem </a:t>
            </a:r>
            <a:r>
              <a:rPr dirty="0" err="1"/>
              <a:t>Farbbild</a:t>
            </a:r>
            <a:r>
              <a:rPr dirty="0"/>
              <a:t>.</a:t>
            </a:r>
          </a:p>
          <a:p>
            <a:r>
              <a:rPr dirty="0" err="1"/>
              <a:t>Jedes</a:t>
            </a:r>
            <a:r>
              <a:rPr dirty="0"/>
              <a:t> </a:t>
            </a:r>
            <a:r>
              <a:rPr dirty="0" err="1"/>
              <a:t>Objekt</a:t>
            </a:r>
            <a:r>
              <a:rPr dirty="0"/>
              <a:t> </a:t>
            </a:r>
            <a:r>
              <a:rPr dirty="0" err="1"/>
              <a:t>erhält</a:t>
            </a:r>
            <a:r>
              <a:rPr dirty="0"/>
              <a:t> </a:t>
            </a:r>
            <a:r>
              <a:rPr dirty="0" err="1"/>
              <a:t>eine</a:t>
            </a:r>
            <a:r>
              <a:rPr dirty="0"/>
              <a:t> </a:t>
            </a:r>
            <a:r>
              <a:rPr dirty="0" err="1"/>
              <a:t>dauerhafte</a:t>
            </a:r>
            <a:r>
              <a:rPr dirty="0"/>
              <a:t> ID. </a:t>
            </a:r>
            <a:r>
              <a:rPr dirty="0" err="1"/>
              <a:t>Aufeinanderfolgende</a:t>
            </a:r>
            <a:r>
              <a:rPr dirty="0"/>
              <a:t> Bilder </a:t>
            </a:r>
            <a:r>
              <a:rPr dirty="0" err="1"/>
              <a:t>werden</a:t>
            </a:r>
            <a:r>
              <a:rPr dirty="0"/>
              <a:t> </a:t>
            </a:r>
            <a:r>
              <a:rPr dirty="0" err="1"/>
              <a:t>dadurch</a:t>
            </a:r>
            <a:r>
              <a:rPr dirty="0"/>
              <a:t> </a:t>
            </a:r>
            <a:r>
              <a:rPr dirty="0" err="1"/>
              <a:t>demselben</a:t>
            </a:r>
            <a:r>
              <a:rPr dirty="0"/>
              <a:t> Klotz </a:t>
            </a:r>
            <a:r>
              <a:rPr dirty="0" err="1"/>
              <a:t>zugeordnet</a:t>
            </a:r>
            <a:r>
              <a:rPr dirty="0"/>
              <a:t>. Die </a:t>
            </a:r>
            <a:r>
              <a:rPr dirty="0" err="1"/>
              <a:t>gezeigten</a:t>
            </a:r>
            <a:r>
              <a:rPr dirty="0"/>
              <a:t> </a:t>
            </a:r>
            <a:r>
              <a:rPr dirty="0" err="1"/>
              <a:t>Klötze</a:t>
            </a:r>
            <a:r>
              <a:rPr dirty="0"/>
              <a:t> </a:t>
            </a:r>
            <a:r>
              <a:rPr dirty="0" err="1"/>
              <a:t>tragen</a:t>
            </a:r>
            <a:r>
              <a:rPr dirty="0"/>
              <a:t> IDs 10 und 11 und </a:t>
            </a:r>
            <a:r>
              <a:rPr dirty="0" err="1"/>
              <a:t>ihre</a:t>
            </a:r>
            <a:r>
              <a:rPr dirty="0"/>
              <a:t> Farben. </a:t>
            </a:r>
            <a:r>
              <a:rPr dirty="0" err="1"/>
              <a:t>Positionen</a:t>
            </a:r>
            <a:r>
              <a:rPr dirty="0"/>
              <a:t> </a:t>
            </a:r>
            <a:r>
              <a:rPr dirty="0" err="1"/>
              <a:t>werden</a:t>
            </a:r>
            <a:r>
              <a:rPr dirty="0"/>
              <a:t> </a:t>
            </a:r>
            <a:r>
              <a:rPr dirty="0" err="1"/>
              <a:t>mit</a:t>
            </a:r>
            <a:r>
              <a:rPr dirty="0"/>
              <a:t> der </a:t>
            </a:r>
            <a:r>
              <a:rPr dirty="0" err="1"/>
              <a:t>Kalibrierung</a:t>
            </a:r>
            <a:r>
              <a:rPr dirty="0"/>
              <a:t> in world </a:t>
            </a:r>
            <a:r>
              <a:rPr dirty="0" err="1"/>
              <a:t>umgerechnet</a:t>
            </a:r>
            <a:r>
              <a:rPr dirty="0"/>
              <a:t>.</a:t>
            </a:r>
          </a:p>
          <a:p>
            <a:r>
              <a:rPr dirty="0"/>
              <a:t>Die Lage </a:t>
            </a:r>
            <a:r>
              <a:rPr dirty="0" err="1"/>
              <a:t>streut</a:t>
            </a:r>
            <a:r>
              <a:rPr dirty="0"/>
              <a:t> </a:t>
            </a:r>
            <a:r>
              <a:rPr dirty="0" err="1"/>
              <a:t>wenig</a:t>
            </a:r>
            <a:r>
              <a:rPr dirty="0"/>
              <a:t>, die </a:t>
            </a:r>
            <a:r>
              <a:rPr dirty="0" err="1"/>
              <a:t>gemessenen</a:t>
            </a:r>
            <a:r>
              <a:rPr dirty="0"/>
              <a:t> </a:t>
            </a:r>
            <a:r>
              <a:rPr dirty="0" err="1"/>
              <a:t>Abmessungen</a:t>
            </a:r>
            <a:r>
              <a:rPr dirty="0"/>
              <a:t> </a:t>
            </a:r>
            <a:r>
              <a:rPr dirty="0" err="1"/>
              <a:t>stärker</a:t>
            </a:r>
            <a:r>
              <a:rPr dirty="0"/>
              <a:t>. </a:t>
            </a:r>
            <a:r>
              <a:rPr dirty="0" err="1"/>
              <a:t>Reflexionen</a:t>
            </a:r>
            <a:r>
              <a:rPr dirty="0"/>
              <a:t> und </a:t>
            </a:r>
            <a:r>
              <a:rPr dirty="0" err="1"/>
              <a:t>unvollständige</a:t>
            </a:r>
            <a:r>
              <a:rPr dirty="0"/>
              <a:t> </a:t>
            </a:r>
            <a:r>
              <a:rPr dirty="0" err="1"/>
              <a:t>Tiefenwerte</a:t>
            </a:r>
            <a:r>
              <a:rPr dirty="0"/>
              <a:t> </a:t>
            </a:r>
            <a:r>
              <a:rPr dirty="0" err="1"/>
              <a:t>begrenzen</a:t>
            </a:r>
            <a:r>
              <a:rPr dirty="0"/>
              <a:t> die </a:t>
            </a:r>
            <a:r>
              <a:rPr dirty="0" err="1"/>
              <a:t>Erkennung</a:t>
            </a:r>
            <a:r>
              <a:rPr dirty="0"/>
              <a:t>. Die </a:t>
            </a:r>
            <a:r>
              <a:rPr dirty="0" err="1"/>
              <a:t>nächste</a:t>
            </a:r>
            <a:r>
              <a:rPr dirty="0"/>
              <a:t> </a:t>
            </a:r>
            <a:r>
              <a:rPr dirty="0" err="1"/>
              <a:t>Stufe</a:t>
            </a:r>
            <a:r>
              <a:rPr dirty="0"/>
              <a:t> </a:t>
            </a:r>
            <a:r>
              <a:rPr dirty="0" err="1"/>
              <a:t>glättet</a:t>
            </a:r>
            <a:r>
              <a:rPr dirty="0"/>
              <a:t> </a:t>
            </a:r>
            <a:r>
              <a:rPr dirty="0" err="1"/>
              <a:t>deshalb</a:t>
            </a:r>
            <a:r>
              <a:rPr dirty="0"/>
              <a:t> </a:t>
            </a:r>
            <a:r>
              <a:rPr dirty="0" err="1"/>
              <a:t>zeitlich</a:t>
            </a:r>
            <a:r>
              <a:rPr dirty="0"/>
              <a:t>. </a:t>
            </a:r>
            <a:r>
              <a:rPr dirty="0" err="1"/>
              <a:t>Farbe</a:t>
            </a:r>
            <a:r>
              <a:rPr dirty="0"/>
              <a:t> </a:t>
            </a:r>
            <a:r>
              <a:rPr dirty="0" err="1"/>
              <a:t>beschreibt</a:t>
            </a:r>
            <a:r>
              <a:rPr dirty="0"/>
              <a:t> den Klotz, </a:t>
            </a:r>
            <a:r>
              <a:rPr dirty="0" err="1"/>
              <a:t>ist</a:t>
            </a:r>
            <a:r>
              <a:rPr dirty="0"/>
              <a:t> </a:t>
            </a:r>
            <a:r>
              <a:rPr dirty="0" err="1"/>
              <a:t>aber</a:t>
            </a:r>
            <a:r>
              <a:rPr dirty="0"/>
              <a:t> </a:t>
            </a:r>
            <a:r>
              <a:rPr dirty="0" err="1"/>
              <a:t>kein</a:t>
            </a:r>
            <a:r>
              <a:rPr dirty="0"/>
              <a:t> </a:t>
            </a:r>
            <a:r>
              <a:rPr dirty="0" err="1"/>
              <a:t>Sortierkriterium</a:t>
            </a:r>
            <a:r>
              <a:rPr dirty="0"/>
              <a:t> für </a:t>
            </a:r>
            <a:r>
              <a:rPr dirty="0" err="1"/>
              <a:t>unterschiedliche</a:t>
            </a:r>
            <a:r>
              <a:rPr dirty="0"/>
              <a:t> </a:t>
            </a:r>
            <a:r>
              <a:rPr dirty="0" err="1"/>
              <a:t>Ablagekisten</a:t>
            </a:r>
            <a:r>
              <a:rPr dirty="0"/>
              <a:t>.</a:t>
            </a:r>
          </a:p>
          <a:p>
            <a:endParaRPr dirty="0"/>
          </a:p>
          <a:p>
            <a:r>
              <a:rPr dirty="0" err="1"/>
              <a:t>Quellen</a:t>
            </a:r>
            <a:r>
              <a:rPr dirty="0"/>
              <a:t>: </a:t>
            </a:r>
            <a:r>
              <a:rPr dirty="0" err="1"/>
              <a:t>Projektbericht</a:t>
            </a:r>
            <a:r>
              <a:rPr dirty="0"/>
              <a:t>/</a:t>
            </a:r>
            <a:r>
              <a:rPr dirty="0" err="1"/>
              <a:t>entwuerfe</a:t>
            </a:r>
            <a:r>
              <a:rPr dirty="0"/>
              <a:t>/berichtstext.md, </a:t>
            </a:r>
            <a:r>
              <a:rPr dirty="0" err="1"/>
              <a:t>Abschnitte</a:t>
            </a:r>
            <a:r>
              <a:rPr dirty="0"/>
              <a:t> 3.2.1 und 3.7, Stand 02.10.2026. </a:t>
            </a:r>
            <a:r>
              <a:rPr dirty="0" err="1"/>
              <a:t>Abbildung</a:t>
            </a:r>
            <a:r>
              <a:rPr dirty="0"/>
              <a:t>: </a:t>
            </a:r>
            <a:r>
              <a:rPr dirty="0" err="1"/>
              <a:t>Projektbericht</a:t>
            </a:r>
            <a:r>
              <a:rPr dirty="0"/>
              <a:t>/</a:t>
            </a:r>
            <a:r>
              <a:rPr dirty="0" err="1"/>
              <a:t>abbildungen</a:t>
            </a:r>
            <a:r>
              <a:rPr dirty="0"/>
              <a:t>/fig-basecam-erkennung-roi.png.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Tobi</a:t>
            </a:r>
          </a:p>
          <a:p>
            <a:endParaRPr lang="de-DE" dirty="0"/>
          </a:p>
          <a:p>
            <a:r>
              <a:rPr dirty="0"/>
              <a:t>Folie 8: </a:t>
            </a:r>
            <a:r>
              <a:rPr dirty="0" err="1"/>
              <a:t>Bewegungsschätzung</a:t>
            </a:r>
            <a:r>
              <a:rPr dirty="0"/>
              <a:t> und </a:t>
            </a:r>
            <a:r>
              <a:rPr dirty="0" err="1"/>
              <a:t>Vorhersage</a:t>
            </a:r>
            <a:endParaRPr dirty="0"/>
          </a:p>
          <a:p>
            <a:r>
              <a:rPr dirty="0" err="1"/>
              <a:t>Sprechzeit</a:t>
            </a:r>
            <a:r>
              <a:rPr dirty="0"/>
              <a:t>: </a:t>
            </a:r>
            <a:r>
              <a:rPr dirty="0" err="1"/>
              <a:t>etwa</a:t>
            </a:r>
            <a:r>
              <a:rPr dirty="0"/>
              <a:t> 75 </a:t>
            </a:r>
            <a:r>
              <a:rPr dirty="0" err="1"/>
              <a:t>Sekunden</a:t>
            </a:r>
            <a:r>
              <a:rPr dirty="0"/>
              <a:t>.</a:t>
            </a:r>
          </a:p>
          <a:p>
            <a:endParaRPr dirty="0"/>
          </a:p>
          <a:p>
            <a:r>
              <a:rPr dirty="0"/>
              <a:t>Die </a:t>
            </a:r>
            <a:r>
              <a:rPr dirty="0" err="1"/>
              <a:t>schematische</a:t>
            </a:r>
            <a:r>
              <a:rPr dirty="0"/>
              <a:t> </a:t>
            </a:r>
            <a:r>
              <a:rPr dirty="0" err="1"/>
              <a:t>Draufsicht</a:t>
            </a:r>
            <a:r>
              <a:rPr dirty="0"/>
              <a:t> </a:t>
            </a:r>
            <a:r>
              <a:rPr dirty="0" err="1"/>
              <a:t>zeigt</a:t>
            </a:r>
            <a:r>
              <a:rPr dirty="0"/>
              <a:t> die </a:t>
            </a:r>
            <a:r>
              <a:rPr dirty="0" err="1"/>
              <a:t>Positionshistorien</a:t>
            </a:r>
            <a:r>
              <a:rPr dirty="0"/>
              <a:t> von </a:t>
            </a:r>
            <a:r>
              <a:rPr dirty="0" err="1"/>
              <a:t>zwei</a:t>
            </a:r>
            <a:r>
              <a:rPr dirty="0"/>
              <a:t> </a:t>
            </a:r>
            <a:r>
              <a:rPr dirty="0" err="1"/>
              <a:t>Gegenständen</a:t>
            </a:r>
            <a:r>
              <a:rPr dirty="0"/>
              <a:t> auf dem </a:t>
            </a:r>
            <a:r>
              <a:rPr dirty="0" err="1"/>
              <a:t>Förderband</a:t>
            </a:r>
            <a:r>
              <a:rPr dirty="0"/>
              <a:t>. Die </a:t>
            </a:r>
            <a:r>
              <a:rPr dirty="0" err="1"/>
              <a:t>vertikale</a:t>
            </a:r>
            <a:r>
              <a:rPr dirty="0"/>
              <a:t> </a:t>
            </a:r>
            <a:r>
              <a:rPr dirty="0" err="1"/>
              <a:t>Achse</a:t>
            </a:r>
            <a:r>
              <a:rPr dirty="0"/>
              <a:t> </a:t>
            </a:r>
            <a:r>
              <a:rPr dirty="0" err="1"/>
              <a:t>bezeichnet</a:t>
            </a:r>
            <a:r>
              <a:rPr dirty="0"/>
              <a:t> die x-</a:t>
            </a:r>
            <a:r>
              <a:rPr dirty="0" err="1"/>
              <a:t>Koordinate</a:t>
            </a:r>
            <a:r>
              <a:rPr dirty="0"/>
              <a:t>, die </a:t>
            </a:r>
            <a:r>
              <a:rPr dirty="0" err="1"/>
              <a:t>horizontale</a:t>
            </a:r>
            <a:r>
              <a:rPr dirty="0"/>
              <a:t> </a:t>
            </a:r>
            <a:r>
              <a:rPr dirty="0" err="1"/>
              <a:t>Achse</a:t>
            </a:r>
            <a:r>
              <a:rPr dirty="0"/>
              <a:t> die y-</a:t>
            </a:r>
            <a:r>
              <a:rPr dirty="0" err="1"/>
              <a:t>Koordinate</a:t>
            </a:r>
            <a:r>
              <a:rPr dirty="0"/>
              <a:t> und die </a:t>
            </a:r>
            <a:r>
              <a:rPr dirty="0" err="1"/>
              <a:t>Bandrichtung</a:t>
            </a:r>
            <a:r>
              <a:rPr dirty="0"/>
              <a:t>. </a:t>
            </a:r>
            <a:r>
              <a:rPr dirty="0" err="1"/>
              <a:t>Diese</a:t>
            </a:r>
            <a:r>
              <a:rPr dirty="0"/>
              <a:t> </a:t>
            </a:r>
            <a:r>
              <a:rPr dirty="0" err="1"/>
              <a:t>frei</a:t>
            </a:r>
            <a:r>
              <a:rPr dirty="0"/>
              <a:t> </a:t>
            </a:r>
            <a:r>
              <a:rPr dirty="0" err="1"/>
              <a:t>gewählten</a:t>
            </a:r>
            <a:r>
              <a:rPr dirty="0"/>
              <a:t> </a:t>
            </a:r>
            <a:r>
              <a:rPr dirty="0" err="1"/>
              <a:t>Achsen</a:t>
            </a:r>
            <a:r>
              <a:rPr dirty="0"/>
              <a:t> </a:t>
            </a:r>
            <a:r>
              <a:rPr dirty="0" err="1"/>
              <a:t>stellen</a:t>
            </a:r>
            <a:r>
              <a:rPr dirty="0"/>
              <a:t> </a:t>
            </a:r>
            <a:r>
              <a:rPr dirty="0" err="1"/>
              <a:t>kein</a:t>
            </a:r>
            <a:r>
              <a:rPr dirty="0"/>
              <a:t> </a:t>
            </a:r>
            <a:r>
              <a:rPr dirty="0" err="1"/>
              <a:t>maßstäbliches</a:t>
            </a:r>
            <a:r>
              <a:rPr dirty="0"/>
              <a:t> </a:t>
            </a:r>
            <a:r>
              <a:rPr dirty="0" err="1"/>
              <a:t>Abbild</a:t>
            </a:r>
            <a:r>
              <a:rPr dirty="0"/>
              <a:t> des </a:t>
            </a:r>
            <a:r>
              <a:rPr dirty="0" err="1"/>
              <a:t>Laufzeitrahmens</a:t>
            </a:r>
            <a:r>
              <a:rPr dirty="0"/>
              <a:t> world </a:t>
            </a:r>
            <a:r>
              <a:rPr dirty="0" err="1"/>
              <a:t>dar</a:t>
            </a:r>
            <a:r>
              <a:rPr dirty="0"/>
              <a:t>. </a:t>
            </a:r>
            <a:r>
              <a:rPr dirty="0" err="1"/>
              <a:t>Im</a:t>
            </a:r>
            <a:r>
              <a:rPr dirty="0"/>
              <a:t> </a:t>
            </a:r>
            <a:r>
              <a:rPr dirty="0" err="1"/>
              <a:t>realen</a:t>
            </a:r>
            <a:r>
              <a:rPr dirty="0"/>
              <a:t> Aufbau </a:t>
            </a:r>
            <a:r>
              <a:rPr dirty="0" err="1"/>
              <a:t>läuft</a:t>
            </a:r>
            <a:r>
              <a:rPr dirty="0"/>
              <a:t> das Band in </a:t>
            </a:r>
            <a:r>
              <a:rPr dirty="0" err="1"/>
              <a:t>negativer</a:t>
            </a:r>
            <a:r>
              <a:rPr dirty="0"/>
              <a:t> world-y-</a:t>
            </a:r>
            <a:r>
              <a:rPr dirty="0" err="1"/>
              <a:t>Richtung</a:t>
            </a:r>
            <a:r>
              <a:rPr dirty="0"/>
              <a:t>.</a:t>
            </a:r>
          </a:p>
          <a:p>
            <a:endParaRPr dirty="0"/>
          </a:p>
          <a:p>
            <a:r>
              <a:rPr dirty="0"/>
              <a:t>Die </a:t>
            </a:r>
            <a:r>
              <a:rPr dirty="0" err="1"/>
              <a:t>blauen</a:t>
            </a:r>
            <a:r>
              <a:rPr dirty="0"/>
              <a:t> und </a:t>
            </a:r>
            <a:r>
              <a:rPr dirty="0" err="1"/>
              <a:t>grünen</a:t>
            </a:r>
            <a:r>
              <a:rPr dirty="0"/>
              <a:t> </a:t>
            </a:r>
            <a:r>
              <a:rPr dirty="0" err="1"/>
              <a:t>Punkte</a:t>
            </a:r>
            <a:r>
              <a:rPr dirty="0"/>
              <a:t> </a:t>
            </a:r>
            <a:r>
              <a:rPr dirty="0" err="1"/>
              <a:t>sind</a:t>
            </a:r>
            <a:r>
              <a:rPr dirty="0"/>
              <a:t> </a:t>
            </a:r>
            <a:r>
              <a:rPr dirty="0" err="1"/>
              <a:t>einzelne</a:t>
            </a:r>
            <a:r>
              <a:rPr dirty="0"/>
              <a:t>, nicht </a:t>
            </a:r>
            <a:r>
              <a:rPr dirty="0" err="1"/>
              <a:t>verbundene</a:t>
            </a:r>
            <a:r>
              <a:rPr dirty="0"/>
              <a:t> </a:t>
            </a:r>
            <a:r>
              <a:rPr dirty="0" err="1"/>
              <a:t>Kamerabeobachtungen</a:t>
            </a:r>
            <a:r>
              <a:rPr dirty="0"/>
              <a:t>. Alle </a:t>
            </a:r>
            <a:r>
              <a:rPr dirty="0" err="1"/>
              <a:t>Punkte</a:t>
            </a:r>
            <a:r>
              <a:rPr dirty="0"/>
              <a:t> </a:t>
            </a:r>
            <a:r>
              <a:rPr dirty="0" err="1"/>
              <a:t>liegen</a:t>
            </a:r>
            <a:r>
              <a:rPr dirty="0"/>
              <a:t> </a:t>
            </a:r>
            <a:r>
              <a:rPr dirty="0" err="1"/>
              <a:t>im</a:t>
            </a:r>
            <a:r>
              <a:rPr dirty="0"/>
              <a:t> </a:t>
            </a:r>
            <a:r>
              <a:rPr dirty="0" err="1"/>
              <a:t>Kamerabereich</a:t>
            </a:r>
            <a:r>
              <a:rPr dirty="0"/>
              <a:t>. Die </a:t>
            </a:r>
            <a:r>
              <a:rPr dirty="0" err="1"/>
              <a:t>untere</a:t>
            </a:r>
            <a:r>
              <a:rPr dirty="0"/>
              <a:t> </a:t>
            </a:r>
            <a:r>
              <a:rPr dirty="0" err="1"/>
              <a:t>Punktreihe</a:t>
            </a:r>
            <a:r>
              <a:rPr dirty="0"/>
              <a:t> </a:t>
            </a:r>
            <a:r>
              <a:rPr dirty="0" err="1"/>
              <a:t>enthält</a:t>
            </a:r>
            <a:r>
              <a:rPr dirty="0"/>
              <a:t> </a:t>
            </a:r>
            <a:r>
              <a:rPr dirty="0" err="1"/>
              <a:t>weniger</a:t>
            </a:r>
            <a:r>
              <a:rPr dirty="0"/>
              <a:t> </a:t>
            </a:r>
            <a:r>
              <a:rPr dirty="0" err="1"/>
              <a:t>Messungen</a:t>
            </a:r>
            <a:r>
              <a:rPr dirty="0"/>
              <a:t>, </a:t>
            </a:r>
            <a:r>
              <a:rPr dirty="0" err="1"/>
              <a:t>größere</a:t>
            </a:r>
            <a:r>
              <a:rPr dirty="0"/>
              <a:t> </a:t>
            </a:r>
            <a:r>
              <a:rPr dirty="0" err="1"/>
              <a:t>Längsabstände</a:t>
            </a:r>
            <a:r>
              <a:rPr dirty="0"/>
              <a:t> und </a:t>
            </a:r>
            <a:r>
              <a:rPr dirty="0" err="1"/>
              <a:t>stärkere</a:t>
            </a:r>
            <a:r>
              <a:rPr dirty="0"/>
              <a:t> </a:t>
            </a:r>
            <a:r>
              <a:rPr dirty="0" err="1"/>
              <a:t>Streuung</a:t>
            </a:r>
            <a:r>
              <a:rPr dirty="0"/>
              <a:t> </a:t>
            </a:r>
            <a:r>
              <a:rPr dirty="0" err="1"/>
              <a:t>als</a:t>
            </a:r>
            <a:r>
              <a:rPr dirty="0"/>
              <a:t> die </a:t>
            </a:r>
            <a:r>
              <a:rPr dirty="0" err="1"/>
              <a:t>obere</a:t>
            </a:r>
            <a:r>
              <a:rPr dirty="0"/>
              <a:t>. Die </a:t>
            </a:r>
            <a:r>
              <a:rPr dirty="0" err="1"/>
              <a:t>gestrichelten</a:t>
            </a:r>
            <a:r>
              <a:rPr dirty="0"/>
              <a:t> </a:t>
            </a:r>
            <a:r>
              <a:rPr dirty="0" err="1"/>
              <a:t>Geraden</a:t>
            </a:r>
            <a:r>
              <a:rPr dirty="0"/>
              <a:t> </a:t>
            </a:r>
            <a:r>
              <a:rPr dirty="0" err="1"/>
              <a:t>sind</a:t>
            </a:r>
            <a:r>
              <a:rPr dirty="0"/>
              <a:t> </a:t>
            </a:r>
            <a:r>
              <a:rPr dirty="0" err="1"/>
              <a:t>Ausgleichsgeraden</a:t>
            </a:r>
            <a:r>
              <a:rPr dirty="0"/>
              <a:t> </a:t>
            </a:r>
            <a:r>
              <a:rPr dirty="0" err="1"/>
              <a:t>zu</a:t>
            </a:r>
            <a:r>
              <a:rPr dirty="0"/>
              <a:t> den </a:t>
            </a:r>
            <a:r>
              <a:rPr dirty="0" err="1"/>
              <a:t>gezeichneten</a:t>
            </a:r>
            <a:r>
              <a:rPr dirty="0"/>
              <a:t> </a:t>
            </a:r>
            <a:r>
              <a:rPr dirty="0" err="1"/>
              <a:t>Punktwolken</a:t>
            </a:r>
            <a:r>
              <a:rPr dirty="0"/>
              <a:t>. Sie </a:t>
            </a:r>
            <a:r>
              <a:rPr dirty="0" err="1"/>
              <a:t>laufen</a:t>
            </a:r>
            <a:r>
              <a:rPr dirty="0"/>
              <a:t> </a:t>
            </a:r>
            <a:r>
              <a:rPr dirty="0" err="1"/>
              <a:t>über</a:t>
            </a:r>
            <a:r>
              <a:rPr dirty="0"/>
              <a:t> das Ende des </a:t>
            </a:r>
            <a:r>
              <a:rPr dirty="0" err="1"/>
              <a:t>Kamerabilds</a:t>
            </a:r>
            <a:r>
              <a:rPr dirty="0"/>
              <a:t> </a:t>
            </a:r>
            <a:r>
              <a:rPr dirty="0" err="1"/>
              <a:t>hinaus</a:t>
            </a:r>
            <a:r>
              <a:rPr dirty="0"/>
              <a:t> bis </a:t>
            </a:r>
            <a:r>
              <a:rPr dirty="0" err="1"/>
              <a:t>zum</a:t>
            </a:r>
            <a:r>
              <a:rPr dirty="0"/>
              <a:t> Ende der </a:t>
            </a:r>
            <a:r>
              <a:rPr dirty="0" err="1"/>
              <a:t>horizontalen</a:t>
            </a:r>
            <a:r>
              <a:rPr dirty="0"/>
              <a:t> </a:t>
            </a:r>
            <a:r>
              <a:rPr dirty="0" err="1"/>
              <a:t>Achse</a:t>
            </a:r>
            <a:r>
              <a:rPr dirty="0"/>
              <a:t>. Die </a:t>
            </a:r>
            <a:r>
              <a:rPr dirty="0" err="1"/>
              <a:t>durchgezogene</a:t>
            </a:r>
            <a:r>
              <a:rPr dirty="0"/>
              <a:t> rote </a:t>
            </a:r>
            <a:r>
              <a:rPr dirty="0" err="1"/>
              <a:t>Gerade</a:t>
            </a:r>
            <a:r>
              <a:rPr dirty="0"/>
              <a:t> </a:t>
            </a:r>
            <a:r>
              <a:rPr dirty="0" err="1"/>
              <a:t>veranschaulicht</a:t>
            </a:r>
            <a:r>
              <a:rPr dirty="0"/>
              <a:t> </a:t>
            </a:r>
            <a:r>
              <a:rPr dirty="0" err="1"/>
              <a:t>eine</a:t>
            </a:r>
            <a:r>
              <a:rPr dirty="0"/>
              <a:t> </a:t>
            </a:r>
            <a:r>
              <a:rPr dirty="0" err="1"/>
              <a:t>gemeinsame</a:t>
            </a:r>
            <a:r>
              <a:rPr dirty="0"/>
              <a:t> </a:t>
            </a:r>
            <a:r>
              <a:rPr dirty="0" err="1"/>
              <a:t>Bewegungsschätzung</a:t>
            </a:r>
            <a:r>
              <a:rPr dirty="0"/>
              <a:t> </a:t>
            </a:r>
            <a:r>
              <a:rPr dirty="0" err="1"/>
              <a:t>mit</a:t>
            </a:r>
            <a:r>
              <a:rPr dirty="0"/>
              <a:t> </a:t>
            </a:r>
            <a:r>
              <a:rPr dirty="0" err="1"/>
              <a:t>einer</a:t>
            </a:r>
            <a:r>
              <a:rPr dirty="0"/>
              <a:t> </a:t>
            </a:r>
            <a:r>
              <a:rPr dirty="0" err="1"/>
              <a:t>Richtung</a:t>
            </a:r>
            <a:r>
              <a:rPr dirty="0"/>
              <a:t> </a:t>
            </a:r>
            <a:r>
              <a:rPr dirty="0" err="1"/>
              <a:t>zwischen</a:t>
            </a:r>
            <a:r>
              <a:rPr dirty="0"/>
              <a:t> den </a:t>
            </a:r>
            <a:r>
              <a:rPr dirty="0" err="1"/>
              <a:t>beiden</a:t>
            </a:r>
            <a:r>
              <a:rPr dirty="0"/>
              <a:t> </a:t>
            </a:r>
            <a:r>
              <a:rPr dirty="0" err="1"/>
              <a:t>Einzelschätzungen</a:t>
            </a:r>
            <a:r>
              <a:rPr dirty="0"/>
              <a:t>. Die </a:t>
            </a:r>
            <a:r>
              <a:rPr dirty="0" err="1"/>
              <a:t>gezeichneten</a:t>
            </a:r>
            <a:r>
              <a:rPr dirty="0"/>
              <a:t> </a:t>
            </a:r>
            <a:r>
              <a:rPr dirty="0" err="1"/>
              <a:t>Punkte</a:t>
            </a:r>
            <a:r>
              <a:rPr dirty="0"/>
              <a:t> und </a:t>
            </a:r>
            <a:r>
              <a:rPr dirty="0" err="1"/>
              <a:t>Geraden</a:t>
            </a:r>
            <a:r>
              <a:rPr dirty="0"/>
              <a:t> </a:t>
            </a:r>
            <a:r>
              <a:rPr dirty="0" err="1"/>
              <a:t>sind</a:t>
            </a:r>
            <a:r>
              <a:rPr dirty="0"/>
              <a:t> illustrative </a:t>
            </a:r>
            <a:r>
              <a:rPr dirty="0" err="1"/>
              <a:t>Daten</a:t>
            </a:r>
            <a:r>
              <a:rPr dirty="0"/>
              <a:t> und </a:t>
            </a:r>
            <a:r>
              <a:rPr dirty="0" err="1"/>
              <a:t>keine</a:t>
            </a:r>
            <a:r>
              <a:rPr dirty="0"/>
              <a:t> </a:t>
            </a:r>
            <a:r>
              <a:rPr dirty="0" err="1"/>
              <a:t>protokollierte</a:t>
            </a:r>
            <a:r>
              <a:rPr dirty="0"/>
              <a:t> </a:t>
            </a:r>
            <a:r>
              <a:rPr dirty="0" err="1"/>
              <a:t>Messreihe</a:t>
            </a:r>
            <a:r>
              <a:rPr dirty="0"/>
              <a:t>. Die </a:t>
            </a:r>
            <a:r>
              <a:rPr dirty="0" err="1"/>
              <a:t>genaue</a:t>
            </a:r>
            <a:r>
              <a:rPr dirty="0"/>
              <a:t> </a:t>
            </a:r>
            <a:r>
              <a:rPr dirty="0" err="1"/>
              <a:t>Mittelung</a:t>
            </a:r>
            <a:r>
              <a:rPr dirty="0"/>
              <a:t> der </a:t>
            </a:r>
            <a:r>
              <a:rPr dirty="0" err="1"/>
              <a:t>gezeichneten</a:t>
            </a:r>
            <a:r>
              <a:rPr dirty="0"/>
              <a:t> </a:t>
            </a:r>
            <a:r>
              <a:rPr dirty="0" err="1"/>
              <a:t>Geraden</a:t>
            </a:r>
            <a:r>
              <a:rPr dirty="0"/>
              <a:t> </a:t>
            </a:r>
            <a:r>
              <a:rPr dirty="0" err="1"/>
              <a:t>ist</a:t>
            </a:r>
            <a:r>
              <a:rPr dirty="0"/>
              <a:t> </a:t>
            </a:r>
            <a:r>
              <a:rPr dirty="0" err="1"/>
              <a:t>keine</a:t>
            </a:r>
            <a:r>
              <a:rPr dirty="0"/>
              <a:t> </a:t>
            </a:r>
            <a:r>
              <a:rPr dirty="0" err="1"/>
              <a:t>Beschreibung</a:t>
            </a:r>
            <a:r>
              <a:rPr dirty="0"/>
              <a:t> des </a:t>
            </a:r>
            <a:r>
              <a:rPr dirty="0" err="1"/>
              <a:t>Implementierungsalgorithmus</a:t>
            </a:r>
            <a:r>
              <a:rPr dirty="0"/>
              <a:t>.</a:t>
            </a:r>
          </a:p>
          <a:p>
            <a:endParaRPr dirty="0"/>
          </a:p>
          <a:p>
            <a:r>
              <a:rPr dirty="0"/>
              <a:t>In </a:t>
            </a:r>
            <a:r>
              <a:rPr dirty="0" err="1"/>
              <a:t>einer</a:t>
            </a:r>
            <a:r>
              <a:rPr dirty="0"/>
              <a:t> x/y-</a:t>
            </a:r>
            <a:r>
              <a:rPr dirty="0" err="1"/>
              <a:t>Darstellung</a:t>
            </a:r>
            <a:r>
              <a:rPr dirty="0"/>
              <a:t> </a:t>
            </a:r>
            <a:r>
              <a:rPr dirty="0" err="1"/>
              <a:t>zeigt</a:t>
            </a:r>
            <a:r>
              <a:rPr dirty="0"/>
              <a:t> die </a:t>
            </a:r>
            <a:r>
              <a:rPr dirty="0" err="1"/>
              <a:t>Geradensteigung</a:t>
            </a:r>
            <a:r>
              <a:rPr dirty="0"/>
              <a:t> die </a:t>
            </a:r>
            <a:r>
              <a:rPr dirty="0" err="1"/>
              <a:t>Bewegungsrichtung</a:t>
            </a:r>
            <a:r>
              <a:rPr dirty="0"/>
              <a:t>. Den </a:t>
            </a:r>
            <a:r>
              <a:rPr dirty="0" err="1"/>
              <a:t>Geschwindigkeitsbetrag</a:t>
            </a:r>
            <a:r>
              <a:rPr dirty="0"/>
              <a:t> </a:t>
            </a:r>
            <a:r>
              <a:rPr dirty="0" err="1"/>
              <a:t>kann</a:t>
            </a:r>
            <a:r>
              <a:rPr dirty="0"/>
              <a:t> man </a:t>
            </a:r>
            <a:r>
              <a:rPr dirty="0" err="1"/>
              <a:t>daraus</a:t>
            </a:r>
            <a:r>
              <a:rPr dirty="0"/>
              <a:t> </a:t>
            </a:r>
            <a:r>
              <a:rPr dirty="0" err="1"/>
              <a:t>allein</a:t>
            </a:r>
            <a:r>
              <a:rPr dirty="0"/>
              <a:t> nicht </a:t>
            </a:r>
            <a:r>
              <a:rPr dirty="0" err="1"/>
              <a:t>ablesen</a:t>
            </a:r>
            <a:r>
              <a:rPr dirty="0"/>
              <a:t>. </a:t>
            </a:r>
            <a:r>
              <a:rPr dirty="0" err="1"/>
              <a:t>Dafür</a:t>
            </a:r>
            <a:r>
              <a:rPr dirty="0"/>
              <a:t> </a:t>
            </a:r>
            <a:r>
              <a:rPr dirty="0" err="1"/>
              <a:t>wertet</a:t>
            </a:r>
            <a:r>
              <a:rPr dirty="0"/>
              <a:t> vectoring die </a:t>
            </a:r>
            <a:r>
              <a:rPr dirty="0" err="1"/>
              <a:t>Positionshistorien</a:t>
            </a:r>
            <a:r>
              <a:rPr dirty="0"/>
              <a:t> </a:t>
            </a:r>
            <a:r>
              <a:rPr dirty="0" err="1"/>
              <a:t>zusammen</a:t>
            </a:r>
            <a:r>
              <a:rPr dirty="0"/>
              <a:t> </a:t>
            </a:r>
            <a:r>
              <a:rPr dirty="0" err="1"/>
              <a:t>mit</a:t>
            </a:r>
            <a:r>
              <a:rPr dirty="0"/>
              <a:t> </a:t>
            </a:r>
            <a:r>
              <a:rPr dirty="0" err="1"/>
              <a:t>ihren</a:t>
            </a:r>
            <a:r>
              <a:rPr dirty="0"/>
              <a:t> Zeitstempeln </a:t>
            </a:r>
            <a:r>
              <a:rPr dirty="0" err="1"/>
              <a:t>aus.</a:t>
            </a:r>
            <a:r>
              <a:rPr dirty="0"/>
              <a:t> </a:t>
            </a:r>
            <a:r>
              <a:rPr dirty="0" err="1"/>
              <a:t>Unterschiedliche</a:t>
            </a:r>
            <a:r>
              <a:rPr dirty="0"/>
              <a:t> </a:t>
            </a:r>
            <a:r>
              <a:rPr dirty="0" err="1"/>
              <a:t>räumliche</a:t>
            </a:r>
            <a:r>
              <a:rPr dirty="0"/>
              <a:t> </a:t>
            </a:r>
            <a:r>
              <a:rPr dirty="0" err="1"/>
              <a:t>Punktabstände</a:t>
            </a:r>
            <a:r>
              <a:rPr dirty="0"/>
              <a:t> </a:t>
            </a:r>
            <a:r>
              <a:rPr dirty="0" err="1"/>
              <a:t>können</a:t>
            </a:r>
            <a:r>
              <a:rPr dirty="0"/>
              <a:t> </a:t>
            </a:r>
            <a:r>
              <a:rPr dirty="0" err="1"/>
              <a:t>auch</a:t>
            </a:r>
            <a:r>
              <a:rPr dirty="0"/>
              <a:t> </a:t>
            </a:r>
            <a:r>
              <a:rPr dirty="0" err="1"/>
              <a:t>durch</a:t>
            </a:r>
            <a:r>
              <a:rPr dirty="0"/>
              <a:t> </a:t>
            </a:r>
            <a:r>
              <a:rPr dirty="0" err="1"/>
              <a:t>unterschiedlich</a:t>
            </a:r>
            <a:r>
              <a:rPr dirty="0"/>
              <a:t> </a:t>
            </a:r>
            <a:r>
              <a:rPr dirty="0" err="1"/>
              <a:t>viele</a:t>
            </a:r>
            <a:r>
              <a:rPr dirty="0"/>
              <a:t> </a:t>
            </a:r>
            <a:r>
              <a:rPr dirty="0" err="1"/>
              <a:t>Beobachtungen</a:t>
            </a:r>
            <a:r>
              <a:rPr dirty="0"/>
              <a:t> </a:t>
            </a:r>
            <a:r>
              <a:rPr dirty="0" err="1"/>
              <a:t>entstehen</a:t>
            </a:r>
            <a:r>
              <a:rPr dirty="0"/>
              <a:t>. Die </a:t>
            </a:r>
            <a:r>
              <a:rPr dirty="0" err="1"/>
              <a:t>Bandkalibrierung</a:t>
            </a:r>
            <a:r>
              <a:rPr dirty="0"/>
              <a:t> </a:t>
            </a:r>
            <a:r>
              <a:rPr dirty="0" err="1"/>
              <a:t>bestimmt</a:t>
            </a:r>
            <a:r>
              <a:rPr dirty="0"/>
              <a:t> die </a:t>
            </a:r>
            <a:r>
              <a:rPr dirty="0" err="1"/>
              <a:t>geometrische</a:t>
            </a:r>
            <a:r>
              <a:rPr dirty="0"/>
              <a:t> Transformation, nicht die </a:t>
            </a:r>
            <a:r>
              <a:rPr dirty="0" err="1"/>
              <a:t>Bandbewegung</a:t>
            </a:r>
            <a:r>
              <a:rPr dirty="0"/>
              <a:t>.</a:t>
            </a:r>
          </a:p>
          <a:p>
            <a:endParaRPr dirty="0"/>
          </a:p>
          <a:p>
            <a:r>
              <a:rPr dirty="0" err="1"/>
              <a:t>Im</a:t>
            </a:r>
            <a:r>
              <a:rPr dirty="0"/>
              <a:t> System: </a:t>
            </a:r>
            <a:r>
              <a:rPr dirty="0" err="1"/>
              <a:t>Einschwingen</a:t>
            </a:r>
            <a:r>
              <a:rPr dirty="0"/>
              <a:t> </a:t>
            </a:r>
            <a:r>
              <a:rPr dirty="0" err="1"/>
              <a:t>über</a:t>
            </a:r>
            <a:r>
              <a:rPr dirty="0"/>
              <a:t> </a:t>
            </a:r>
            <a:r>
              <a:rPr dirty="0" err="1"/>
              <a:t>zwei</a:t>
            </a:r>
            <a:r>
              <a:rPr dirty="0"/>
              <a:t> Fenster </a:t>
            </a:r>
            <a:r>
              <a:rPr dirty="0" err="1"/>
              <a:t>mit</a:t>
            </a:r>
            <a:r>
              <a:rPr dirty="0"/>
              <a:t> </a:t>
            </a:r>
            <a:r>
              <a:rPr dirty="0" err="1"/>
              <a:t>jeweils</a:t>
            </a:r>
            <a:r>
              <a:rPr dirty="0"/>
              <a:t> 5 </a:t>
            </a:r>
            <a:r>
              <a:rPr dirty="0" err="1"/>
              <a:t>Messungen</a:t>
            </a:r>
            <a:r>
              <a:rPr dirty="0"/>
              <a:t> und </a:t>
            </a:r>
            <a:r>
              <a:rPr dirty="0" err="1"/>
              <a:t>einer</a:t>
            </a:r>
            <a:r>
              <a:rPr dirty="0"/>
              <a:t> </a:t>
            </a:r>
            <a:r>
              <a:rPr dirty="0" err="1"/>
              <a:t>Geschwindigkeitstoleranz</a:t>
            </a:r>
            <a:r>
              <a:rPr dirty="0"/>
              <a:t> von 0,01 m/s. Aus den </a:t>
            </a:r>
            <a:r>
              <a:rPr dirty="0" err="1"/>
              <a:t>stabilen</a:t>
            </a:r>
            <a:r>
              <a:rPr dirty="0"/>
              <a:t> Tracks </a:t>
            </a:r>
            <a:r>
              <a:rPr dirty="0" err="1"/>
              <a:t>entsteht</a:t>
            </a:r>
            <a:r>
              <a:rPr dirty="0"/>
              <a:t> </a:t>
            </a:r>
            <a:r>
              <a:rPr dirty="0" err="1"/>
              <a:t>eine</a:t>
            </a:r>
            <a:r>
              <a:rPr dirty="0"/>
              <a:t> </a:t>
            </a:r>
            <a:r>
              <a:rPr dirty="0" err="1"/>
              <a:t>gemeinsame</a:t>
            </a:r>
            <a:r>
              <a:rPr dirty="0"/>
              <a:t> </a:t>
            </a:r>
            <a:r>
              <a:rPr dirty="0" err="1"/>
              <a:t>Ausgleichsrechnung</a:t>
            </a:r>
            <a:r>
              <a:rPr dirty="0"/>
              <a:t> für </a:t>
            </a:r>
            <a:r>
              <a:rPr dirty="0" err="1"/>
              <a:t>Betrag</a:t>
            </a:r>
            <a:r>
              <a:rPr dirty="0"/>
              <a:t> und </a:t>
            </a:r>
            <a:r>
              <a:rPr dirty="0" err="1"/>
              <a:t>Richtung</a:t>
            </a:r>
            <a:r>
              <a:rPr dirty="0"/>
              <a:t> der </a:t>
            </a:r>
            <a:r>
              <a:rPr dirty="0" err="1"/>
              <a:t>Bandgeschwindigkeit</a:t>
            </a:r>
            <a:r>
              <a:rPr dirty="0"/>
              <a:t>. Lange, </a:t>
            </a:r>
            <a:r>
              <a:rPr dirty="0" err="1"/>
              <a:t>ungestörte</a:t>
            </a:r>
            <a:r>
              <a:rPr dirty="0"/>
              <a:t> </a:t>
            </a:r>
            <a:r>
              <a:rPr dirty="0" err="1"/>
              <a:t>Messreihen</a:t>
            </a:r>
            <a:r>
              <a:rPr dirty="0"/>
              <a:t> </a:t>
            </a:r>
            <a:r>
              <a:rPr dirty="0" err="1"/>
              <a:t>erhalten</a:t>
            </a:r>
            <a:r>
              <a:rPr dirty="0"/>
              <a:t> </a:t>
            </a:r>
            <a:r>
              <a:rPr dirty="0" err="1"/>
              <a:t>mehr</a:t>
            </a:r>
            <a:r>
              <a:rPr dirty="0"/>
              <a:t> </a:t>
            </a:r>
            <a:r>
              <a:rPr dirty="0" err="1"/>
              <a:t>Gewicht</a:t>
            </a:r>
            <a:r>
              <a:rPr dirty="0"/>
              <a:t> </a:t>
            </a:r>
            <a:r>
              <a:rPr dirty="0" err="1"/>
              <a:t>als</a:t>
            </a:r>
            <a:r>
              <a:rPr dirty="0"/>
              <a:t> </a:t>
            </a:r>
            <a:r>
              <a:rPr dirty="0" err="1"/>
              <a:t>kurze</a:t>
            </a:r>
            <a:r>
              <a:rPr dirty="0"/>
              <a:t>. Position, </a:t>
            </a:r>
            <a:r>
              <a:rPr dirty="0" err="1"/>
              <a:t>Abmessungen</a:t>
            </a:r>
            <a:r>
              <a:rPr dirty="0"/>
              <a:t> und </a:t>
            </a:r>
            <a:r>
              <a:rPr dirty="0" err="1"/>
              <a:t>Orientierung</a:t>
            </a:r>
            <a:r>
              <a:rPr dirty="0"/>
              <a:t> </a:t>
            </a:r>
            <a:r>
              <a:rPr dirty="0" err="1"/>
              <a:t>werden</a:t>
            </a:r>
            <a:r>
              <a:rPr dirty="0"/>
              <a:t> ab dem </a:t>
            </a:r>
            <a:r>
              <a:rPr dirty="0" err="1"/>
              <a:t>Einschwingen</a:t>
            </a:r>
            <a:r>
              <a:rPr dirty="0"/>
              <a:t> </a:t>
            </a:r>
            <a:r>
              <a:rPr dirty="0" err="1"/>
              <a:t>über</a:t>
            </a:r>
            <a:r>
              <a:rPr dirty="0"/>
              <a:t> die </a:t>
            </a:r>
            <a:r>
              <a:rPr dirty="0" err="1"/>
              <a:t>letzten</a:t>
            </a:r>
            <a:r>
              <a:rPr dirty="0"/>
              <a:t> 20 </a:t>
            </a:r>
            <a:r>
              <a:rPr dirty="0" err="1"/>
              <a:t>Messungen</a:t>
            </a:r>
            <a:r>
              <a:rPr dirty="0"/>
              <a:t> </a:t>
            </a:r>
            <a:r>
              <a:rPr dirty="0" err="1"/>
              <a:t>geglättet</a:t>
            </a:r>
            <a:r>
              <a:rPr dirty="0"/>
              <a:t>. Mit der </a:t>
            </a:r>
            <a:r>
              <a:rPr dirty="0" err="1"/>
              <a:t>Bandgeschwindigkeit</a:t>
            </a:r>
            <a:r>
              <a:rPr dirty="0"/>
              <a:t> </a:t>
            </a:r>
            <a:r>
              <a:rPr dirty="0" err="1"/>
              <a:t>führt</a:t>
            </a:r>
            <a:r>
              <a:rPr dirty="0"/>
              <a:t> vectoring die </a:t>
            </a:r>
            <a:r>
              <a:rPr dirty="0" err="1"/>
              <a:t>Objektpositionen</a:t>
            </a:r>
            <a:r>
              <a:rPr dirty="0"/>
              <a:t> hinter dem </a:t>
            </a:r>
            <a:r>
              <a:rPr dirty="0" err="1"/>
              <a:t>Bildbereich</a:t>
            </a:r>
            <a:r>
              <a:rPr dirty="0"/>
              <a:t> </a:t>
            </a:r>
            <a:r>
              <a:rPr dirty="0" err="1"/>
              <a:t>weiter</a:t>
            </a:r>
            <a:r>
              <a:rPr dirty="0"/>
              <a:t>. Die </a:t>
            </a:r>
            <a:r>
              <a:rPr dirty="0" err="1"/>
              <a:t>dokumentierte</a:t>
            </a:r>
            <a:r>
              <a:rPr dirty="0"/>
              <a:t> </a:t>
            </a:r>
            <a:r>
              <a:rPr dirty="0" err="1"/>
              <a:t>bildbasierte</a:t>
            </a:r>
            <a:r>
              <a:rPr dirty="0"/>
              <a:t> </a:t>
            </a:r>
            <a:r>
              <a:rPr dirty="0" err="1"/>
              <a:t>Schätzung</a:t>
            </a:r>
            <a:r>
              <a:rPr dirty="0"/>
              <a:t> </a:t>
            </a:r>
            <a:r>
              <a:rPr dirty="0" err="1"/>
              <a:t>betrug</a:t>
            </a:r>
            <a:r>
              <a:rPr dirty="0"/>
              <a:t> </a:t>
            </a:r>
            <a:r>
              <a:rPr dirty="0" err="1"/>
              <a:t>rund</a:t>
            </a:r>
            <a:r>
              <a:rPr dirty="0"/>
              <a:t> 128 mm/s, die </a:t>
            </a:r>
            <a:r>
              <a:rPr dirty="0" err="1"/>
              <a:t>Gegenprobe</a:t>
            </a:r>
            <a:r>
              <a:rPr dirty="0"/>
              <a:t> </a:t>
            </a:r>
            <a:r>
              <a:rPr dirty="0" err="1"/>
              <a:t>mit</a:t>
            </a:r>
            <a:r>
              <a:rPr dirty="0"/>
              <a:t> </a:t>
            </a:r>
            <a:r>
              <a:rPr dirty="0" err="1"/>
              <a:t>Stoppuhr</a:t>
            </a:r>
            <a:r>
              <a:rPr dirty="0"/>
              <a:t> 125 bis 133 mm/s. </a:t>
            </a:r>
            <a:r>
              <a:rPr dirty="0" err="1"/>
              <a:t>Diese</a:t>
            </a:r>
            <a:r>
              <a:rPr dirty="0"/>
              <a:t> </a:t>
            </a:r>
            <a:r>
              <a:rPr dirty="0" err="1"/>
              <a:t>Werte</a:t>
            </a:r>
            <a:r>
              <a:rPr dirty="0"/>
              <a:t> </a:t>
            </a:r>
            <a:r>
              <a:rPr dirty="0" err="1"/>
              <a:t>gehören</a:t>
            </a:r>
            <a:r>
              <a:rPr dirty="0"/>
              <a:t> </a:t>
            </a:r>
            <a:r>
              <a:rPr dirty="0" err="1"/>
              <a:t>zu</a:t>
            </a:r>
            <a:r>
              <a:rPr dirty="0"/>
              <a:t> </a:t>
            </a:r>
            <a:r>
              <a:rPr dirty="0" err="1"/>
              <a:t>einer</a:t>
            </a:r>
            <a:r>
              <a:rPr dirty="0"/>
              <a:t> </a:t>
            </a:r>
            <a:r>
              <a:rPr dirty="0" err="1"/>
              <a:t>dokumentierten</a:t>
            </a:r>
            <a:r>
              <a:rPr dirty="0"/>
              <a:t> </a:t>
            </a:r>
            <a:r>
              <a:rPr dirty="0" err="1"/>
              <a:t>Gegenprobe</a:t>
            </a:r>
            <a:r>
              <a:rPr dirty="0"/>
              <a:t> und </a:t>
            </a:r>
            <a:r>
              <a:rPr dirty="0" err="1"/>
              <a:t>sind</a:t>
            </a:r>
            <a:r>
              <a:rPr dirty="0"/>
              <a:t> nicht </a:t>
            </a:r>
            <a:r>
              <a:rPr dirty="0" err="1"/>
              <a:t>aus</a:t>
            </a:r>
            <a:r>
              <a:rPr dirty="0"/>
              <a:t> </a:t>
            </a:r>
            <a:r>
              <a:rPr dirty="0" err="1"/>
              <a:t>dieser</a:t>
            </a:r>
            <a:r>
              <a:rPr dirty="0"/>
              <a:t> </a:t>
            </a:r>
            <a:r>
              <a:rPr dirty="0" err="1"/>
              <a:t>Skizze</a:t>
            </a:r>
            <a:r>
              <a:rPr dirty="0"/>
              <a:t> </a:t>
            </a:r>
            <a:r>
              <a:rPr dirty="0" err="1"/>
              <a:t>abgelesen</a:t>
            </a:r>
            <a:r>
              <a:rPr dirty="0"/>
              <a:t>.</a:t>
            </a:r>
          </a:p>
          <a:p>
            <a:endParaRPr dirty="0"/>
          </a:p>
          <a:p>
            <a:r>
              <a:rPr dirty="0" err="1"/>
              <a:t>Quellen</a:t>
            </a:r>
            <a:r>
              <a:rPr dirty="0"/>
              <a:t>: </a:t>
            </a:r>
            <a:r>
              <a:rPr dirty="0" err="1"/>
              <a:t>Projektbericht</a:t>
            </a:r>
            <a:r>
              <a:rPr dirty="0"/>
              <a:t>/</a:t>
            </a:r>
            <a:r>
              <a:rPr dirty="0" err="1"/>
              <a:t>entwuerfe</a:t>
            </a:r>
            <a:r>
              <a:rPr dirty="0"/>
              <a:t>/berichtstext.md, </a:t>
            </a:r>
            <a:r>
              <a:rPr dirty="0" err="1"/>
              <a:t>Abschnitt</a:t>
            </a:r>
            <a:r>
              <a:rPr dirty="0"/>
              <a:t> 3.2.2. docs/</a:t>
            </a:r>
            <a:r>
              <a:rPr dirty="0" err="1"/>
              <a:t>uebersicht</a:t>
            </a:r>
            <a:r>
              <a:rPr dirty="0"/>
              <a:t>/systemgraph.md. source/</a:t>
            </a:r>
            <a:r>
              <a:rPr dirty="0" err="1"/>
              <a:t>roboter_tetris</a:t>
            </a:r>
            <a:r>
              <a:rPr dirty="0"/>
              <a:t>/</a:t>
            </a:r>
            <a:r>
              <a:rPr dirty="0" err="1"/>
              <a:t>roboter_tetris</a:t>
            </a:r>
            <a:r>
              <a:rPr dirty="0"/>
              <a:t>/track_estimation.py. Stand 02.10.2026.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F98DA-4B32-35E3-CB80-57CA1B88A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F0656-DAD9-D469-C6FA-A63F961F2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3ACACF-F8DE-CAD6-F496-49471D36640D}"/>
              </a:ext>
            </a:extLst>
          </p:cNvPr>
          <p:cNvSpPr>
            <a:spLocks noGrp="1"/>
          </p:cNvSpPr>
          <p:nvPr>
            <p:ph type="body" idx="1"/>
          </p:nvPr>
        </p:nvSpPr>
        <p:spPr/>
        <p:txBody>
          <a:bodyPr/>
          <a:lstStyle/>
          <a:p>
            <a:r>
              <a:rPr lang="de-DE" dirty="0"/>
              <a:t>Noch Band drehen</a:t>
            </a:r>
          </a:p>
          <a:p>
            <a:endParaRPr lang="de-DE" dirty="0"/>
          </a:p>
          <a:p>
            <a:r>
              <a:rPr dirty="0"/>
              <a:t>Folie 8: </a:t>
            </a:r>
            <a:r>
              <a:rPr dirty="0" err="1"/>
              <a:t>Bewegungsschätzung</a:t>
            </a:r>
            <a:r>
              <a:rPr dirty="0"/>
              <a:t> und </a:t>
            </a:r>
            <a:r>
              <a:rPr dirty="0" err="1"/>
              <a:t>Vorhersage</a:t>
            </a:r>
            <a:endParaRPr dirty="0"/>
          </a:p>
          <a:p>
            <a:r>
              <a:rPr dirty="0" err="1"/>
              <a:t>Sprechzeit</a:t>
            </a:r>
            <a:r>
              <a:rPr dirty="0"/>
              <a:t>: </a:t>
            </a:r>
            <a:r>
              <a:rPr dirty="0" err="1"/>
              <a:t>etwa</a:t>
            </a:r>
            <a:r>
              <a:rPr dirty="0"/>
              <a:t> 75 </a:t>
            </a:r>
            <a:r>
              <a:rPr dirty="0" err="1"/>
              <a:t>Sekunden</a:t>
            </a:r>
            <a:r>
              <a:rPr dirty="0"/>
              <a:t>.</a:t>
            </a:r>
          </a:p>
          <a:p>
            <a:endParaRPr dirty="0"/>
          </a:p>
          <a:p>
            <a:r>
              <a:rPr dirty="0"/>
              <a:t>Die </a:t>
            </a:r>
            <a:r>
              <a:rPr dirty="0" err="1"/>
              <a:t>schematische</a:t>
            </a:r>
            <a:r>
              <a:rPr dirty="0"/>
              <a:t> </a:t>
            </a:r>
            <a:r>
              <a:rPr dirty="0" err="1"/>
              <a:t>Draufsicht</a:t>
            </a:r>
            <a:r>
              <a:rPr dirty="0"/>
              <a:t> </a:t>
            </a:r>
            <a:r>
              <a:rPr dirty="0" err="1"/>
              <a:t>zeigt</a:t>
            </a:r>
            <a:r>
              <a:rPr dirty="0"/>
              <a:t> die </a:t>
            </a:r>
            <a:r>
              <a:rPr dirty="0" err="1"/>
              <a:t>Positionshistorien</a:t>
            </a:r>
            <a:r>
              <a:rPr dirty="0"/>
              <a:t> von </a:t>
            </a:r>
            <a:r>
              <a:rPr dirty="0" err="1"/>
              <a:t>zwei</a:t>
            </a:r>
            <a:r>
              <a:rPr dirty="0"/>
              <a:t> </a:t>
            </a:r>
            <a:r>
              <a:rPr dirty="0" err="1"/>
              <a:t>Gegenständen</a:t>
            </a:r>
            <a:r>
              <a:rPr dirty="0"/>
              <a:t> auf dem </a:t>
            </a:r>
            <a:r>
              <a:rPr dirty="0" err="1"/>
              <a:t>Förderband</a:t>
            </a:r>
            <a:r>
              <a:rPr dirty="0"/>
              <a:t>. Die </a:t>
            </a:r>
            <a:r>
              <a:rPr dirty="0" err="1"/>
              <a:t>vertikale</a:t>
            </a:r>
            <a:r>
              <a:rPr dirty="0"/>
              <a:t> </a:t>
            </a:r>
            <a:r>
              <a:rPr dirty="0" err="1"/>
              <a:t>Achse</a:t>
            </a:r>
            <a:r>
              <a:rPr dirty="0"/>
              <a:t> </a:t>
            </a:r>
            <a:r>
              <a:rPr dirty="0" err="1"/>
              <a:t>bezeichnet</a:t>
            </a:r>
            <a:r>
              <a:rPr dirty="0"/>
              <a:t> die x-</a:t>
            </a:r>
            <a:r>
              <a:rPr dirty="0" err="1"/>
              <a:t>Koordinate</a:t>
            </a:r>
            <a:r>
              <a:rPr dirty="0"/>
              <a:t>, die </a:t>
            </a:r>
            <a:r>
              <a:rPr dirty="0" err="1"/>
              <a:t>horizontale</a:t>
            </a:r>
            <a:r>
              <a:rPr dirty="0"/>
              <a:t> </a:t>
            </a:r>
            <a:r>
              <a:rPr dirty="0" err="1"/>
              <a:t>Achse</a:t>
            </a:r>
            <a:r>
              <a:rPr dirty="0"/>
              <a:t> die y-</a:t>
            </a:r>
            <a:r>
              <a:rPr dirty="0" err="1"/>
              <a:t>Koordinate</a:t>
            </a:r>
            <a:r>
              <a:rPr dirty="0"/>
              <a:t> und die </a:t>
            </a:r>
            <a:r>
              <a:rPr dirty="0" err="1"/>
              <a:t>Bandrichtung</a:t>
            </a:r>
            <a:r>
              <a:rPr dirty="0"/>
              <a:t>. </a:t>
            </a:r>
            <a:r>
              <a:rPr dirty="0" err="1"/>
              <a:t>Diese</a:t>
            </a:r>
            <a:r>
              <a:rPr dirty="0"/>
              <a:t> </a:t>
            </a:r>
            <a:r>
              <a:rPr dirty="0" err="1"/>
              <a:t>frei</a:t>
            </a:r>
            <a:r>
              <a:rPr dirty="0"/>
              <a:t> </a:t>
            </a:r>
            <a:r>
              <a:rPr dirty="0" err="1"/>
              <a:t>gewählten</a:t>
            </a:r>
            <a:r>
              <a:rPr dirty="0"/>
              <a:t> </a:t>
            </a:r>
            <a:r>
              <a:rPr dirty="0" err="1"/>
              <a:t>Achsen</a:t>
            </a:r>
            <a:r>
              <a:rPr dirty="0"/>
              <a:t> </a:t>
            </a:r>
            <a:r>
              <a:rPr dirty="0" err="1"/>
              <a:t>stellen</a:t>
            </a:r>
            <a:r>
              <a:rPr dirty="0"/>
              <a:t> </a:t>
            </a:r>
            <a:r>
              <a:rPr dirty="0" err="1"/>
              <a:t>kein</a:t>
            </a:r>
            <a:r>
              <a:rPr dirty="0"/>
              <a:t> </a:t>
            </a:r>
            <a:r>
              <a:rPr dirty="0" err="1"/>
              <a:t>maßstäbliches</a:t>
            </a:r>
            <a:r>
              <a:rPr dirty="0"/>
              <a:t> </a:t>
            </a:r>
            <a:r>
              <a:rPr dirty="0" err="1"/>
              <a:t>Abbild</a:t>
            </a:r>
            <a:r>
              <a:rPr dirty="0"/>
              <a:t> des </a:t>
            </a:r>
            <a:r>
              <a:rPr dirty="0" err="1"/>
              <a:t>Laufzeitrahmens</a:t>
            </a:r>
            <a:r>
              <a:rPr dirty="0"/>
              <a:t> world </a:t>
            </a:r>
            <a:r>
              <a:rPr dirty="0" err="1"/>
              <a:t>dar</a:t>
            </a:r>
            <a:r>
              <a:rPr dirty="0"/>
              <a:t>. </a:t>
            </a:r>
            <a:r>
              <a:rPr dirty="0" err="1"/>
              <a:t>Im</a:t>
            </a:r>
            <a:r>
              <a:rPr dirty="0"/>
              <a:t> </a:t>
            </a:r>
            <a:r>
              <a:rPr dirty="0" err="1"/>
              <a:t>realen</a:t>
            </a:r>
            <a:r>
              <a:rPr dirty="0"/>
              <a:t> Aufbau </a:t>
            </a:r>
            <a:r>
              <a:rPr dirty="0" err="1"/>
              <a:t>läuft</a:t>
            </a:r>
            <a:r>
              <a:rPr dirty="0"/>
              <a:t> das Band in </a:t>
            </a:r>
            <a:r>
              <a:rPr dirty="0" err="1"/>
              <a:t>negativer</a:t>
            </a:r>
            <a:r>
              <a:rPr dirty="0"/>
              <a:t> world-y-</a:t>
            </a:r>
            <a:r>
              <a:rPr dirty="0" err="1"/>
              <a:t>Richtung</a:t>
            </a:r>
            <a:r>
              <a:rPr dirty="0"/>
              <a:t>.</a:t>
            </a:r>
          </a:p>
          <a:p>
            <a:endParaRPr dirty="0"/>
          </a:p>
          <a:p>
            <a:r>
              <a:rPr dirty="0"/>
              <a:t>Die </a:t>
            </a:r>
            <a:r>
              <a:rPr dirty="0" err="1"/>
              <a:t>blauen</a:t>
            </a:r>
            <a:r>
              <a:rPr dirty="0"/>
              <a:t> und </a:t>
            </a:r>
            <a:r>
              <a:rPr dirty="0" err="1"/>
              <a:t>grünen</a:t>
            </a:r>
            <a:r>
              <a:rPr dirty="0"/>
              <a:t> </a:t>
            </a:r>
            <a:r>
              <a:rPr dirty="0" err="1"/>
              <a:t>Punkte</a:t>
            </a:r>
            <a:r>
              <a:rPr dirty="0"/>
              <a:t> </a:t>
            </a:r>
            <a:r>
              <a:rPr dirty="0" err="1"/>
              <a:t>sind</a:t>
            </a:r>
            <a:r>
              <a:rPr dirty="0"/>
              <a:t> </a:t>
            </a:r>
            <a:r>
              <a:rPr dirty="0" err="1"/>
              <a:t>einzelne</a:t>
            </a:r>
            <a:r>
              <a:rPr dirty="0"/>
              <a:t>, nicht </a:t>
            </a:r>
            <a:r>
              <a:rPr dirty="0" err="1"/>
              <a:t>verbundene</a:t>
            </a:r>
            <a:r>
              <a:rPr dirty="0"/>
              <a:t> </a:t>
            </a:r>
            <a:r>
              <a:rPr dirty="0" err="1"/>
              <a:t>Kamerabeobachtungen</a:t>
            </a:r>
            <a:r>
              <a:rPr dirty="0"/>
              <a:t>. Alle </a:t>
            </a:r>
            <a:r>
              <a:rPr dirty="0" err="1"/>
              <a:t>Punkte</a:t>
            </a:r>
            <a:r>
              <a:rPr dirty="0"/>
              <a:t> </a:t>
            </a:r>
            <a:r>
              <a:rPr dirty="0" err="1"/>
              <a:t>liegen</a:t>
            </a:r>
            <a:r>
              <a:rPr dirty="0"/>
              <a:t> </a:t>
            </a:r>
            <a:r>
              <a:rPr dirty="0" err="1"/>
              <a:t>im</a:t>
            </a:r>
            <a:r>
              <a:rPr dirty="0"/>
              <a:t> </a:t>
            </a:r>
            <a:r>
              <a:rPr dirty="0" err="1"/>
              <a:t>Kamerabereich</a:t>
            </a:r>
            <a:r>
              <a:rPr dirty="0"/>
              <a:t>. Die </a:t>
            </a:r>
            <a:r>
              <a:rPr dirty="0" err="1"/>
              <a:t>untere</a:t>
            </a:r>
            <a:r>
              <a:rPr dirty="0"/>
              <a:t> </a:t>
            </a:r>
            <a:r>
              <a:rPr dirty="0" err="1"/>
              <a:t>Punktreihe</a:t>
            </a:r>
            <a:r>
              <a:rPr dirty="0"/>
              <a:t> </a:t>
            </a:r>
            <a:r>
              <a:rPr dirty="0" err="1"/>
              <a:t>enthält</a:t>
            </a:r>
            <a:r>
              <a:rPr dirty="0"/>
              <a:t> </a:t>
            </a:r>
            <a:r>
              <a:rPr dirty="0" err="1"/>
              <a:t>weniger</a:t>
            </a:r>
            <a:r>
              <a:rPr dirty="0"/>
              <a:t> </a:t>
            </a:r>
            <a:r>
              <a:rPr dirty="0" err="1"/>
              <a:t>Messungen</a:t>
            </a:r>
            <a:r>
              <a:rPr dirty="0"/>
              <a:t>, </a:t>
            </a:r>
            <a:r>
              <a:rPr dirty="0" err="1"/>
              <a:t>größere</a:t>
            </a:r>
            <a:r>
              <a:rPr dirty="0"/>
              <a:t> </a:t>
            </a:r>
            <a:r>
              <a:rPr dirty="0" err="1"/>
              <a:t>Längsabstände</a:t>
            </a:r>
            <a:r>
              <a:rPr dirty="0"/>
              <a:t> und </a:t>
            </a:r>
            <a:r>
              <a:rPr dirty="0" err="1"/>
              <a:t>stärkere</a:t>
            </a:r>
            <a:r>
              <a:rPr dirty="0"/>
              <a:t> </a:t>
            </a:r>
            <a:r>
              <a:rPr dirty="0" err="1"/>
              <a:t>Streuung</a:t>
            </a:r>
            <a:r>
              <a:rPr dirty="0"/>
              <a:t> </a:t>
            </a:r>
            <a:r>
              <a:rPr dirty="0" err="1"/>
              <a:t>als</a:t>
            </a:r>
            <a:r>
              <a:rPr dirty="0"/>
              <a:t> die </a:t>
            </a:r>
            <a:r>
              <a:rPr dirty="0" err="1"/>
              <a:t>obere</a:t>
            </a:r>
            <a:r>
              <a:rPr dirty="0"/>
              <a:t>. Die </a:t>
            </a:r>
            <a:r>
              <a:rPr dirty="0" err="1"/>
              <a:t>gestrichelten</a:t>
            </a:r>
            <a:r>
              <a:rPr dirty="0"/>
              <a:t> </a:t>
            </a:r>
            <a:r>
              <a:rPr dirty="0" err="1"/>
              <a:t>Geraden</a:t>
            </a:r>
            <a:r>
              <a:rPr dirty="0"/>
              <a:t> </a:t>
            </a:r>
            <a:r>
              <a:rPr dirty="0" err="1"/>
              <a:t>sind</a:t>
            </a:r>
            <a:r>
              <a:rPr dirty="0"/>
              <a:t> </a:t>
            </a:r>
            <a:r>
              <a:rPr dirty="0" err="1"/>
              <a:t>Ausgleichsgeraden</a:t>
            </a:r>
            <a:r>
              <a:rPr dirty="0"/>
              <a:t> </a:t>
            </a:r>
            <a:r>
              <a:rPr dirty="0" err="1"/>
              <a:t>zu</a:t>
            </a:r>
            <a:r>
              <a:rPr dirty="0"/>
              <a:t> den </a:t>
            </a:r>
            <a:r>
              <a:rPr dirty="0" err="1"/>
              <a:t>gezeichneten</a:t>
            </a:r>
            <a:r>
              <a:rPr dirty="0"/>
              <a:t> </a:t>
            </a:r>
            <a:r>
              <a:rPr dirty="0" err="1"/>
              <a:t>Punktwolken</a:t>
            </a:r>
            <a:r>
              <a:rPr dirty="0"/>
              <a:t>. Sie </a:t>
            </a:r>
            <a:r>
              <a:rPr dirty="0" err="1"/>
              <a:t>laufen</a:t>
            </a:r>
            <a:r>
              <a:rPr dirty="0"/>
              <a:t> </a:t>
            </a:r>
            <a:r>
              <a:rPr dirty="0" err="1"/>
              <a:t>über</a:t>
            </a:r>
            <a:r>
              <a:rPr dirty="0"/>
              <a:t> das Ende des </a:t>
            </a:r>
            <a:r>
              <a:rPr dirty="0" err="1"/>
              <a:t>Kamerabilds</a:t>
            </a:r>
            <a:r>
              <a:rPr dirty="0"/>
              <a:t> </a:t>
            </a:r>
            <a:r>
              <a:rPr dirty="0" err="1"/>
              <a:t>hinaus</a:t>
            </a:r>
            <a:r>
              <a:rPr dirty="0"/>
              <a:t> bis </a:t>
            </a:r>
            <a:r>
              <a:rPr dirty="0" err="1"/>
              <a:t>zum</a:t>
            </a:r>
            <a:r>
              <a:rPr dirty="0"/>
              <a:t> Ende der </a:t>
            </a:r>
            <a:r>
              <a:rPr dirty="0" err="1"/>
              <a:t>horizontalen</a:t>
            </a:r>
            <a:r>
              <a:rPr dirty="0"/>
              <a:t> </a:t>
            </a:r>
            <a:r>
              <a:rPr dirty="0" err="1"/>
              <a:t>Achse</a:t>
            </a:r>
            <a:r>
              <a:rPr dirty="0"/>
              <a:t>. Die </a:t>
            </a:r>
            <a:r>
              <a:rPr dirty="0" err="1"/>
              <a:t>durchgezogene</a:t>
            </a:r>
            <a:r>
              <a:rPr dirty="0"/>
              <a:t> rote </a:t>
            </a:r>
            <a:r>
              <a:rPr dirty="0" err="1"/>
              <a:t>Gerade</a:t>
            </a:r>
            <a:r>
              <a:rPr dirty="0"/>
              <a:t> </a:t>
            </a:r>
            <a:r>
              <a:rPr dirty="0" err="1"/>
              <a:t>veranschaulicht</a:t>
            </a:r>
            <a:r>
              <a:rPr dirty="0"/>
              <a:t> </a:t>
            </a:r>
            <a:r>
              <a:rPr dirty="0" err="1"/>
              <a:t>eine</a:t>
            </a:r>
            <a:r>
              <a:rPr dirty="0"/>
              <a:t> </a:t>
            </a:r>
            <a:r>
              <a:rPr dirty="0" err="1"/>
              <a:t>gemeinsame</a:t>
            </a:r>
            <a:r>
              <a:rPr dirty="0"/>
              <a:t> </a:t>
            </a:r>
            <a:r>
              <a:rPr dirty="0" err="1"/>
              <a:t>Bewegungsschätzung</a:t>
            </a:r>
            <a:r>
              <a:rPr dirty="0"/>
              <a:t> </a:t>
            </a:r>
            <a:r>
              <a:rPr dirty="0" err="1"/>
              <a:t>mit</a:t>
            </a:r>
            <a:r>
              <a:rPr dirty="0"/>
              <a:t> </a:t>
            </a:r>
            <a:r>
              <a:rPr dirty="0" err="1"/>
              <a:t>einer</a:t>
            </a:r>
            <a:r>
              <a:rPr dirty="0"/>
              <a:t> </a:t>
            </a:r>
            <a:r>
              <a:rPr dirty="0" err="1"/>
              <a:t>Richtung</a:t>
            </a:r>
            <a:r>
              <a:rPr dirty="0"/>
              <a:t> </a:t>
            </a:r>
            <a:r>
              <a:rPr dirty="0" err="1"/>
              <a:t>zwischen</a:t>
            </a:r>
            <a:r>
              <a:rPr dirty="0"/>
              <a:t> den </a:t>
            </a:r>
            <a:r>
              <a:rPr dirty="0" err="1"/>
              <a:t>beiden</a:t>
            </a:r>
            <a:r>
              <a:rPr dirty="0"/>
              <a:t> </a:t>
            </a:r>
            <a:r>
              <a:rPr dirty="0" err="1"/>
              <a:t>Einzelschätzungen</a:t>
            </a:r>
            <a:r>
              <a:rPr dirty="0"/>
              <a:t>. Die </a:t>
            </a:r>
            <a:r>
              <a:rPr dirty="0" err="1"/>
              <a:t>gezeichneten</a:t>
            </a:r>
            <a:r>
              <a:rPr dirty="0"/>
              <a:t> </a:t>
            </a:r>
            <a:r>
              <a:rPr dirty="0" err="1"/>
              <a:t>Punkte</a:t>
            </a:r>
            <a:r>
              <a:rPr dirty="0"/>
              <a:t> und </a:t>
            </a:r>
            <a:r>
              <a:rPr dirty="0" err="1"/>
              <a:t>Geraden</a:t>
            </a:r>
            <a:r>
              <a:rPr dirty="0"/>
              <a:t> </a:t>
            </a:r>
            <a:r>
              <a:rPr dirty="0" err="1"/>
              <a:t>sind</a:t>
            </a:r>
            <a:r>
              <a:rPr dirty="0"/>
              <a:t> illustrative </a:t>
            </a:r>
            <a:r>
              <a:rPr dirty="0" err="1"/>
              <a:t>Daten</a:t>
            </a:r>
            <a:r>
              <a:rPr dirty="0"/>
              <a:t> und </a:t>
            </a:r>
            <a:r>
              <a:rPr dirty="0" err="1"/>
              <a:t>keine</a:t>
            </a:r>
            <a:r>
              <a:rPr dirty="0"/>
              <a:t> </a:t>
            </a:r>
            <a:r>
              <a:rPr dirty="0" err="1"/>
              <a:t>protokollierte</a:t>
            </a:r>
            <a:r>
              <a:rPr dirty="0"/>
              <a:t> </a:t>
            </a:r>
            <a:r>
              <a:rPr dirty="0" err="1"/>
              <a:t>Messreihe</a:t>
            </a:r>
            <a:r>
              <a:rPr dirty="0"/>
              <a:t>. Die </a:t>
            </a:r>
            <a:r>
              <a:rPr dirty="0" err="1"/>
              <a:t>genaue</a:t>
            </a:r>
            <a:r>
              <a:rPr dirty="0"/>
              <a:t> </a:t>
            </a:r>
            <a:r>
              <a:rPr dirty="0" err="1"/>
              <a:t>Mittelung</a:t>
            </a:r>
            <a:r>
              <a:rPr dirty="0"/>
              <a:t> der </a:t>
            </a:r>
            <a:r>
              <a:rPr dirty="0" err="1"/>
              <a:t>gezeichneten</a:t>
            </a:r>
            <a:r>
              <a:rPr dirty="0"/>
              <a:t> </a:t>
            </a:r>
            <a:r>
              <a:rPr dirty="0" err="1"/>
              <a:t>Geraden</a:t>
            </a:r>
            <a:r>
              <a:rPr dirty="0"/>
              <a:t> </a:t>
            </a:r>
            <a:r>
              <a:rPr dirty="0" err="1"/>
              <a:t>ist</a:t>
            </a:r>
            <a:r>
              <a:rPr dirty="0"/>
              <a:t> </a:t>
            </a:r>
            <a:r>
              <a:rPr dirty="0" err="1"/>
              <a:t>keine</a:t>
            </a:r>
            <a:r>
              <a:rPr dirty="0"/>
              <a:t> </a:t>
            </a:r>
            <a:r>
              <a:rPr dirty="0" err="1"/>
              <a:t>Beschreibung</a:t>
            </a:r>
            <a:r>
              <a:rPr dirty="0"/>
              <a:t> des </a:t>
            </a:r>
            <a:r>
              <a:rPr dirty="0" err="1"/>
              <a:t>Implementierungsalgorithmus</a:t>
            </a:r>
            <a:r>
              <a:rPr dirty="0"/>
              <a:t>.</a:t>
            </a:r>
          </a:p>
          <a:p>
            <a:endParaRPr dirty="0"/>
          </a:p>
          <a:p>
            <a:r>
              <a:rPr dirty="0"/>
              <a:t>In </a:t>
            </a:r>
            <a:r>
              <a:rPr dirty="0" err="1"/>
              <a:t>einer</a:t>
            </a:r>
            <a:r>
              <a:rPr dirty="0"/>
              <a:t> x/y-</a:t>
            </a:r>
            <a:r>
              <a:rPr dirty="0" err="1"/>
              <a:t>Darstellung</a:t>
            </a:r>
            <a:r>
              <a:rPr dirty="0"/>
              <a:t> </a:t>
            </a:r>
            <a:r>
              <a:rPr dirty="0" err="1"/>
              <a:t>zeigt</a:t>
            </a:r>
            <a:r>
              <a:rPr dirty="0"/>
              <a:t> die </a:t>
            </a:r>
            <a:r>
              <a:rPr dirty="0" err="1"/>
              <a:t>Geradensteigung</a:t>
            </a:r>
            <a:r>
              <a:rPr dirty="0"/>
              <a:t> die </a:t>
            </a:r>
            <a:r>
              <a:rPr dirty="0" err="1"/>
              <a:t>Bewegungsrichtung</a:t>
            </a:r>
            <a:r>
              <a:rPr dirty="0"/>
              <a:t>. Den </a:t>
            </a:r>
            <a:r>
              <a:rPr dirty="0" err="1"/>
              <a:t>Geschwindigkeitsbetrag</a:t>
            </a:r>
            <a:r>
              <a:rPr dirty="0"/>
              <a:t> </a:t>
            </a:r>
            <a:r>
              <a:rPr dirty="0" err="1"/>
              <a:t>kann</a:t>
            </a:r>
            <a:r>
              <a:rPr dirty="0"/>
              <a:t> man </a:t>
            </a:r>
            <a:r>
              <a:rPr dirty="0" err="1"/>
              <a:t>daraus</a:t>
            </a:r>
            <a:r>
              <a:rPr dirty="0"/>
              <a:t> </a:t>
            </a:r>
            <a:r>
              <a:rPr dirty="0" err="1"/>
              <a:t>allein</a:t>
            </a:r>
            <a:r>
              <a:rPr dirty="0"/>
              <a:t> nicht </a:t>
            </a:r>
            <a:r>
              <a:rPr dirty="0" err="1"/>
              <a:t>ablesen</a:t>
            </a:r>
            <a:r>
              <a:rPr dirty="0"/>
              <a:t>. </a:t>
            </a:r>
            <a:r>
              <a:rPr dirty="0" err="1"/>
              <a:t>Dafür</a:t>
            </a:r>
            <a:r>
              <a:rPr dirty="0"/>
              <a:t> </a:t>
            </a:r>
            <a:r>
              <a:rPr dirty="0" err="1"/>
              <a:t>wertet</a:t>
            </a:r>
            <a:r>
              <a:rPr dirty="0"/>
              <a:t> vectoring die </a:t>
            </a:r>
            <a:r>
              <a:rPr dirty="0" err="1"/>
              <a:t>Positionshistorien</a:t>
            </a:r>
            <a:r>
              <a:rPr dirty="0"/>
              <a:t> </a:t>
            </a:r>
            <a:r>
              <a:rPr dirty="0" err="1"/>
              <a:t>zusammen</a:t>
            </a:r>
            <a:r>
              <a:rPr dirty="0"/>
              <a:t> </a:t>
            </a:r>
            <a:r>
              <a:rPr dirty="0" err="1"/>
              <a:t>mit</a:t>
            </a:r>
            <a:r>
              <a:rPr dirty="0"/>
              <a:t> </a:t>
            </a:r>
            <a:r>
              <a:rPr dirty="0" err="1"/>
              <a:t>ihren</a:t>
            </a:r>
            <a:r>
              <a:rPr dirty="0"/>
              <a:t> Zeitstempeln </a:t>
            </a:r>
            <a:r>
              <a:rPr dirty="0" err="1"/>
              <a:t>aus.</a:t>
            </a:r>
            <a:r>
              <a:rPr dirty="0"/>
              <a:t> </a:t>
            </a:r>
            <a:r>
              <a:rPr dirty="0" err="1"/>
              <a:t>Unterschiedliche</a:t>
            </a:r>
            <a:r>
              <a:rPr dirty="0"/>
              <a:t> </a:t>
            </a:r>
            <a:r>
              <a:rPr dirty="0" err="1"/>
              <a:t>räumliche</a:t>
            </a:r>
            <a:r>
              <a:rPr dirty="0"/>
              <a:t> </a:t>
            </a:r>
            <a:r>
              <a:rPr dirty="0" err="1"/>
              <a:t>Punktabstände</a:t>
            </a:r>
            <a:r>
              <a:rPr dirty="0"/>
              <a:t> </a:t>
            </a:r>
            <a:r>
              <a:rPr dirty="0" err="1"/>
              <a:t>können</a:t>
            </a:r>
            <a:r>
              <a:rPr dirty="0"/>
              <a:t> </a:t>
            </a:r>
            <a:r>
              <a:rPr dirty="0" err="1"/>
              <a:t>auch</a:t>
            </a:r>
            <a:r>
              <a:rPr dirty="0"/>
              <a:t> </a:t>
            </a:r>
            <a:r>
              <a:rPr dirty="0" err="1"/>
              <a:t>durch</a:t>
            </a:r>
            <a:r>
              <a:rPr dirty="0"/>
              <a:t> </a:t>
            </a:r>
            <a:r>
              <a:rPr dirty="0" err="1"/>
              <a:t>unterschiedlich</a:t>
            </a:r>
            <a:r>
              <a:rPr dirty="0"/>
              <a:t> </a:t>
            </a:r>
            <a:r>
              <a:rPr dirty="0" err="1"/>
              <a:t>viele</a:t>
            </a:r>
            <a:r>
              <a:rPr dirty="0"/>
              <a:t> </a:t>
            </a:r>
            <a:r>
              <a:rPr dirty="0" err="1"/>
              <a:t>Beobachtungen</a:t>
            </a:r>
            <a:r>
              <a:rPr dirty="0"/>
              <a:t> </a:t>
            </a:r>
            <a:r>
              <a:rPr dirty="0" err="1"/>
              <a:t>entstehen</a:t>
            </a:r>
            <a:r>
              <a:rPr dirty="0"/>
              <a:t>. Die </a:t>
            </a:r>
            <a:r>
              <a:rPr dirty="0" err="1"/>
              <a:t>Bandkalibrierung</a:t>
            </a:r>
            <a:r>
              <a:rPr dirty="0"/>
              <a:t> </a:t>
            </a:r>
            <a:r>
              <a:rPr dirty="0" err="1"/>
              <a:t>bestimmt</a:t>
            </a:r>
            <a:r>
              <a:rPr dirty="0"/>
              <a:t> die </a:t>
            </a:r>
            <a:r>
              <a:rPr dirty="0" err="1"/>
              <a:t>geometrische</a:t>
            </a:r>
            <a:r>
              <a:rPr dirty="0"/>
              <a:t> Transformation, nicht die </a:t>
            </a:r>
            <a:r>
              <a:rPr dirty="0" err="1"/>
              <a:t>Bandbewegung</a:t>
            </a:r>
            <a:r>
              <a:rPr dirty="0"/>
              <a:t>.</a:t>
            </a:r>
          </a:p>
          <a:p>
            <a:endParaRPr dirty="0"/>
          </a:p>
          <a:p>
            <a:r>
              <a:rPr dirty="0" err="1"/>
              <a:t>Im</a:t>
            </a:r>
            <a:r>
              <a:rPr dirty="0"/>
              <a:t> System: </a:t>
            </a:r>
            <a:r>
              <a:rPr dirty="0" err="1"/>
              <a:t>Einschwingen</a:t>
            </a:r>
            <a:r>
              <a:rPr dirty="0"/>
              <a:t> </a:t>
            </a:r>
            <a:r>
              <a:rPr dirty="0" err="1"/>
              <a:t>über</a:t>
            </a:r>
            <a:r>
              <a:rPr dirty="0"/>
              <a:t> </a:t>
            </a:r>
            <a:r>
              <a:rPr dirty="0" err="1"/>
              <a:t>zwei</a:t>
            </a:r>
            <a:r>
              <a:rPr dirty="0"/>
              <a:t> Fenster </a:t>
            </a:r>
            <a:r>
              <a:rPr dirty="0" err="1"/>
              <a:t>mit</a:t>
            </a:r>
            <a:r>
              <a:rPr dirty="0"/>
              <a:t> </a:t>
            </a:r>
            <a:r>
              <a:rPr dirty="0" err="1"/>
              <a:t>jeweils</a:t>
            </a:r>
            <a:r>
              <a:rPr dirty="0"/>
              <a:t> 5 </a:t>
            </a:r>
            <a:r>
              <a:rPr dirty="0" err="1"/>
              <a:t>Messungen</a:t>
            </a:r>
            <a:r>
              <a:rPr dirty="0"/>
              <a:t> und </a:t>
            </a:r>
            <a:r>
              <a:rPr dirty="0" err="1"/>
              <a:t>einer</a:t>
            </a:r>
            <a:r>
              <a:rPr dirty="0"/>
              <a:t> </a:t>
            </a:r>
            <a:r>
              <a:rPr dirty="0" err="1"/>
              <a:t>Geschwindigkeitstoleranz</a:t>
            </a:r>
            <a:r>
              <a:rPr dirty="0"/>
              <a:t> von 0,01 m/s. Aus den </a:t>
            </a:r>
            <a:r>
              <a:rPr dirty="0" err="1"/>
              <a:t>stabilen</a:t>
            </a:r>
            <a:r>
              <a:rPr dirty="0"/>
              <a:t> Tracks </a:t>
            </a:r>
            <a:r>
              <a:rPr dirty="0" err="1"/>
              <a:t>entsteht</a:t>
            </a:r>
            <a:r>
              <a:rPr dirty="0"/>
              <a:t> </a:t>
            </a:r>
            <a:r>
              <a:rPr dirty="0" err="1"/>
              <a:t>eine</a:t>
            </a:r>
            <a:r>
              <a:rPr dirty="0"/>
              <a:t> </a:t>
            </a:r>
            <a:r>
              <a:rPr dirty="0" err="1"/>
              <a:t>gemeinsame</a:t>
            </a:r>
            <a:r>
              <a:rPr dirty="0"/>
              <a:t> </a:t>
            </a:r>
            <a:r>
              <a:rPr dirty="0" err="1"/>
              <a:t>Ausgleichsrechnung</a:t>
            </a:r>
            <a:r>
              <a:rPr dirty="0"/>
              <a:t> für </a:t>
            </a:r>
            <a:r>
              <a:rPr dirty="0" err="1"/>
              <a:t>Betrag</a:t>
            </a:r>
            <a:r>
              <a:rPr dirty="0"/>
              <a:t> und </a:t>
            </a:r>
            <a:r>
              <a:rPr dirty="0" err="1"/>
              <a:t>Richtung</a:t>
            </a:r>
            <a:r>
              <a:rPr dirty="0"/>
              <a:t> der </a:t>
            </a:r>
            <a:r>
              <a:rPr dirty="0" err="1"/>
              <a:t>Bandgeschwindigkeit</a:t>
            </a:r>
            <a:r>
              <a:rPr dirty="0"/>
              <a:t>. Lange, </a:t>
            </a:r>
            <a:r>
              <a:rPr dirty="0" err="1"/>
              <a:t>ungestörte</a:t>
            </a:r>
            <a:r>
              <a:rPr dirty="0"/>
              <a:t> </a:t>
            </a:r>
            <a:r>
              <a:rPr dirty="0" err="1"/>
              <a:t>Messreihen</a:t>
            </a:r>
            <a:r>
              <a:rPr dirty="0"/>
              <a:t> </a:t>
            </a:r>
            <a:r>
              <a:rPr dirty="0" err="1"/>
              <a:t>erhalten</a:t>
            </a:r>
            <a:r>
              <a:rPr dirty="0"/>
              <a:t> </a:t>
            </a:r>
            <a:r>
              <a:rPr dirty="0" err="1"/>
              <a:t>mehr</a:t>
            </a:r>
            <a:r>
              <a:rPr dirty="0"/>
              <a:t> </a:t>
            </a:r>
            <a:r>
              <a:rPr dirty="0" err="1"/>
              <a:t>Gewicht</a:t>
            </a:r>
            <a:r>
              <a:rPr dirty="0"/>
              <a:t> </a:t>
            </a:r>
            <a:r>
              <a:rPr dirty="0" err="1"/>
              <a:t>als</a:t>
            </a:r>
            <a:r>
              <a:rPr dirty="0"/>
              <a:t> </a:t>
            </a:r>
            <a:r>
              <a:rPr dirty="0" err="1"/>
              <a:t>kurze</a:t>
            </a:r>
            <a:r>
              <a:rPr dirty="0"/>
              <a:t>. Position, </a:t>
            </a:r>
            <a:r>
              <a:rPr dirty="0" err="1"/>
              <a:t>Abmessungen</a:t>
            </a:r>
            <a:r>
              <a:rPr dirty="0"/>
              <a:t> und </a:t>
            </a:r>
            <a:r>
              <a:rPr dirty="0" err="1"/>
              <a:t>Orientierung</a:t>
            </a:r>
            <a:r>
              <a:rPr dirty="0"/>
              <a:t> </a:t>
            </a:r>
            <a:r>
              <a:rPr dirty="0" err="1"/>
              <a:t>werden</a:t>
            </a:r>
            <a:r>
              <a:rPr dirty="0"/>
              <a:t> ab dem </a:t>
            </a:r>
            <a:r>
              <a:rPr dirty="0" err="1"/>
              <a:t>Einschwingen</a:t>
            </a:r>
            <a:r>
              <a:rPr dirty="0"/>
              <a:t> </a:t>
            </a:r>
            <a:r>
              <a:rPr dirty="0" err="1"/>
              <a:t>über</a:t>
            </a:r>
            <a:r>
              <a:rPr dirty="0"/>
              <a:t> die </a:t>
            </a:r>
            <a:r>
              <a:rPr dirty="0" err="1"/>
              <a:t>letzten</a:t>
            </a:r>
            <a:r>
              <a:rPr dirty="0"/>
              <a:t> 20 </a:t>
            </a:r>
            <a:r>
              <a:rPr dirty="0" err="1"/>
              <a:t>Messungen</a:t>
            </a:r>
            <a:r>
              <a:rPr dirty="0"/>
              <a:t> </a:t>
            </a:r>
            <a:r>
              <a:rPr dirty="0" err="1"/>
              <a:t>geglättet</a:t>
            </a:r>
            <a:r>
              <a:rPr dirty="0"/>
              <a:t>. Mit der </a:t>
            </a:r>
            <a:r>
              <a:rPr dirty="0" err="1"/>
              <a:t>Bandgeschwindigkeit</a:t>
            </a:r>
            <a:r>
              <a:rPr dirty="0"/>
              <a:t> </a:t>
            </a:r>
            <a:r>
              <a:rPr dirty="0" err="1"/>
              <a:t>führt</a:t>
            </a:r>
            <a:r>
              <a:rPr dirty="0"/>
              <a:t> vectoring die </a:t>
            </a:r>
            <a:r>
              <a:rPr dirty="0" err="1"/>
              <a:t>Objektpositionen</a:t>
            </a:r>
            <a:r>
              <a:rPr dirty="0"/>
              <a:t> hinter dem </a:t>
            </a:r>
            <a:r>
              <a:rPr dirty="0" err="1"/>
              <a:t>Bildbereich</a:t>
            </a:r>
            <a:r>
              <a:rPr dirty="0"/>
              <a:t> </a:t>
            </a:r>
            <a:r>
              <a:rPr dirty="0" err="1"/>
              <a:t>weiter</a:t>
            </a:r>
            <a:r>
              <a:rPr dirty="0"/>
              <a:t>. Die </a:t>
            </a:r>
            <a:r>
              <a:rPr dirty="0" err="1"/>
              <a:t>dokumentierte</a:t>
            </a:r>
            <a:r>
              <a:rPr dirty="0"/>
              <a:t> </a:t>
            </a:r>
            <a:r>
              <a:rPr dirty="0" err="1"/>
              <a:t>bildbasierte</a:t>
            </a:r>
            <a:r>
              <a:rPr dirty="0"/>
              <a:t> </a:t>
            </a:r>
            <a:r>
              <a:rPr dirty="0" err="1"/>
              <a:t>Schätzung</a:t>
            </a:r>
            <a:r>
              <a:rPr dirty="0"/>
              <a:t> </a:t>
            </a:r>
            <a:r>
              <a:rPr dirty="0" err="1"/>
              <a:t>betrug</a:t>
            </a:r>
            <a:r>
              <a:rPr dirty="0"/>
              <a:t> </a:t>
            </a:r>
            <a:r>
              <a:rPr dirty="0" err="1"/>
              <a:t>rund</a:t>
            </a:r>
            <a:r>
              <a:rPr dirty="0"/>
              <a:t> 128 mm/s, die </a:t>
            </a:r>
            <a:r>
              <a:rPr dirty="0" err="1"/>
              <a:t>Gegenprobe</a:t>
            </a:r>
            <a:r>
              <a:rPr dirty="0"/>
              <a:t> </a:t>
            </a:r>
            <a:r>
              <a:rPr dirty="0" err="1"/>
              <a:t>mit</a:t>
            </a:r>
            <a:r>
              <a:rPr dirty="0"/>
              <a:t> </a:t>
            </a:r>
            <a:r>
              <a:rPr dirty="0" err="1"/>
              <a:t>Stoppuhr</a:t>
            </a:r>
            <a:r>
              <a:rPr dirty="0"/>
              <a:t> 125 bis 133 mm/s. </a:t>
            </a:r>
            <a:r>
              <a:rPr dirty="0" err="1"/>
              <a:t>Diese</a:t>
            </a:r>
            <a:r>
              <a:rPr dirty="0"/>
              <a:t> </a:t>
            </a:r>
            <a:r>
              <a:rPr dirty="0" err="1"/>
              <a:t>Werte</a:t>
            </a:r>
            <a:r>
              <a:rPr dirty="0"/>
              <a:t> </a:t>
            </a:r>
            <a:r>
              <a:rPr dirty="0" err="1"/>
              <a:t>gehören</a:t>
            </a:r>
            <a:r>
              <a:rPr dirty="0"/>
              <a:t> </a:t>
            </a:r>
            <a:r>
              <a:rPr dirty="0" err="1"/>
              <a:t>zu</a:t>
            </a:r>
            <a:r>
              <a:rPr dirty="0"/>
              <a:t> </a:t>
            </a:r>
            <a:r>
              <a:rPr dirty="0" err="1"/>
              <a:t>einer</a:t>
            </a:r>
            <a:r>
              <a:rPr dirty="0"/>
              <a:t> </a:t>
            </a:r>
            <a:r>
              <a:rPr dirty="0" err="1"/>
              <a:t>dokumentierten</a:t>
            </a:r>
            <a:r>
              <a:rPr dirty="0"/>
              <a:t> </a:t>
            </a:r>
            <a:r>
              <a:rPr dirty="0" err="1"/>
              <a:t>Gegenprobe</a:t>
            </a:r>
            <a:r>
              <a:rPr dirty="0"/>
              <a:t> und </a:t>
            </a:r>
            <a:r>
              <a:rPr dirty="0" err="1"/>
              <a:t>sind</a:t>
            </a:r>
            <a:r>
              <a:rPr dirty="0"/>
              <a:t> nicht </a:t>
            </a:r>
            <a:r>
              <a:rPr dirty="0" err="1"/>
              <a:t>aus</a:t>
            </a:r>
            <a:r>
              <a:rPr dirty="0"/>
              <a:t> </a:t>
            </a:r>
            <a:r>
              <a:rPr dirty="0" err="1"/>
              <a:t>dieser</a:t>
            </a:r>
            <a:r>
              <a:rPr dirty="0"/>
              <a:t> </a:t>
            </a:r>
            <a:r>
              <a:rPr dirty="0" err="1"/>
              <a:t>Skizze</a:t>
            </a:r>
            <a:r>
              <a:rPr dirty="0"/>
              <a:t> </a:t>
            </a:r>
            <a:r>
              <a:rPr dirty="0" err="1"/>
              <a:t>abgelesen</a:t>
            </a:r>
            <a:r>
              <a:rPr dirty="0"/>
              <a:t>.</a:t>
            </a:r>
          </a:p>
          <a:p>
            <a:endParaRPr dirty="0"/>
          </a:p>
          <a:p>
            <a:r>
              <a:rPr dirty="0" err="1"/>
              <a:t>Quellen</a:t>
            </a:r>
            <a:r>
              <a:rPr dirty="0"/>
              <a:t>: </a:t>
            </a:r>
            <a:r>
              <a:rPr dirty="0" err="1"/>
              <a:t>Projektbericht</a:t>
            </a:r>
            <a:r>
              <a:rPr dirty="0"/>
              <a:t>/</a:t>
            </a:r>
            <a:r>
              <a:rPr dirty="0" err="1"/>
              <a:t>entwuerfe</a:t>
            </a:r>
            <a:r>
              <a:rPr dirty="0"/>
              <a:t>/berichtstext.md, </a:t>
            </a:r>
            <a:r>
              <a:rPr dirty="0" err="1"/>
              <a:t>Abschnitt</a:t>
            </a:r>
            <a:r>
              <a:rPr dirty="0"/>
              <a:t> 3.2.2. docs/</a:t>
            </a:r>
            <a:r>
              <a:rPr dirty="0" err="1"/>
              <a:t>uebersicht</a:t>
            </a:r>
            <a:r>
              <a:rPr dirty="0"/>
              <a:t>/systemgraph.md. source/</a:t>
            </a:r>
            <a:r>
              <a:rPr dirty="0" err="1"/>
              <a:t>roboter_tetris</a:t>
            </a:r>
            <a:r>
              <a:rPr dirty="0"/>
              <a:t>/</a:t>
            </a:r>
            <a:r>
              <a:rPr dirty="0" err="1"/>
              <a:t>roboter_tetris</a:t>
            </a:r>
            <a:r>
              <a:rPr dirty="0"/>
              <a:t>/track_estimation.py. Stand 02.10.2026.</a:t>
            </a:r>
          </a:p>
        </p:txBody>
      </p:sp>
      <p:sp>
        <p:nvSpPr>
          <p:cNvPr id="4" name="Slide Number Placeholder 3">
            <a:extLst>
              <a:ext uri="{FF2B5EF4-FFF2-40B4-BE49-F238E27FC236}">
                <a16:creationId xmlns:a16="http://schemas.microsoft.com/office/drawing/2014/main" id="{4367017E-00AC-FCED-795C-8D8D390C416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838732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Tobi</a:t>
            </a:r>
          </a:p>
          <a:p>
            <a:endParaRPr lang="de-DE" dirty="0"/>
          </a:p>
          <a:p>
            <a:r>
              <a:rPr dirty="0"/>
              <a:t>Folie 9: </a:t>
            </a:r>
            <a:r>
              <a:rPr dirty="0" err="1"/>
              <a:t>Zielauswahl</a:t>
            </a:r>
            <a:r>
              <a:rPr dirty="0"/>
              <a:t> und </a:t>
            </a:r>
            <a:r>
              <a:rPr dirty="0" err="1"/>
              <a:t>Erreichbarkeit</a:t>
            </a:r>
            <a:endParaRPr dirty="0"/>
          </a:p>
          <a:p>
            <a:r>
              <a:rPr dirty="0" err="1"/>
              <a:t>Geplante</a:t>
            </a:r>
            <a:r>
              <a:rPr dirty="0"/>
              <a:t> </a:t>
            </a:r>
            <a:r>
              <a:rPr dirty="0" err="1"/>
              <a:t>Sprechzeit</a:t>
            </a:r>
            <a:r>
              <a:rPr dirty="0"/>
              <a:t>: 1:00 Minuten.</a:t>
            </a:r>
          </a:p>
          <a:p>
            <a:endParaRPr dirty="0"/>
          </a:p>
          <a:p>
            <a:r>
              <a:rPr dirty="0"/>
              <a:t>Das </a:t>
            </a:r>
            <a:r>
              <a:rPr dirty="0" err="1"/>
              <a:t>Bandbild</a:t>
            </a:r>
            <a:r>
              <a:rPr dirty="0"/>
              <a:t> </a:t>
            </a:r>
            <a:r>
              <a:rPr dirty="0" err="1"/>
              <a:t>ist</a:t>
            </a:r>
            <a:r>
              <a:rPr dirty="0"/>
              <a:t> </a:t>
            </a:r>
            <a:r>
              <a:rPr dirty="0" err="1"/>
              <a:t>schematisch</a:t>
            </a:r>
            <a:r>
              <a:rPr dirty="0"/>
              <a:t> und </a:t>
            </a:r>
            <a:r>
              <a:rPr dirty="0" err="1"/>
              <a:t>zeigt</a:t>
            </a:r>
            <a:r>
              <a:rPr dirty="0"/>
              <a:t> </a:t>
            </a:r>
            <a:r>
              <a:rPr dirty="0" err="1"/>
              <a:t>verschiedene</a:t>
            </a:r>
            <a:r>
              <a:rPr dirty="0"/>
              <a:t> </a:t>
            </a:r>
            <a:r>
              <a:rPr dirty="0" err="1"/>
              <a:t>Auswahlzustände</a:t>
            </a:r>
            <a:r>
              <a:rPr dirty="0"/>
              <a:t>, </a:t>
            </a:r>
            <a:r>
              <a:rPr dirty="0" err="1"/>
              <a:t>keine</a:t>
            </a:r>
            <a:r>
              <a:rPr dirty="0"/>
              <a:t> </a:t>
            </a:r>
            <a:r>
              <a:rPr dirty="0" err="1"/>
              <a:t>realen</a:t>
            </a:r>
            <a:r>
              <a:rPr dirty="0"/>
              <a:t> IDs </a:t>
            </a:r>
            <a:r>
              <a:rPr dirty="0" err="1"/>
              <a:t>oder</a:t>
            </a:r>
            <a:r>
              <a:rPr dirty="0"/>
              <a:t> </a:t>
            </a:r>
            <a:r>
              <a:rPr dirty="0" err="1"/>
              <a:t>Versuchsdaten</a:t>
            </a:r>
            <a:r>
              <a:rPr dirty="0"/>
              <a:t>. Nur </a:t>
            </a:r>
            <a:r>
              <a:rPr dirty="0" err="1"/>
              <a:t>eingeschwungene</a:t>
            </a:r>
            <a:r>
              <a:rPr dirty="0"/>
              <a:t>, </a:t>
            </a:r>
            <a:r>
              <a:rPr dirty="0" err="1"/>
              <a:t>geometrisch</a:t>
            </a:r>
            <a:r>
              <a:rPr dirty="0"/>
              <a:t> </a:t>
            </a:r>
            <a:r>
              <a:rPr dirty="0" err="1"/>
              <a:t>greifbare</a:t>
            </a:r>
            <a:r>
              <a:rPr dirty="0"/>
              <a:t> und </a:t>
            </a:r>
            <a:r>
              <a:rPr dirty="0" err="1"/>
              <a:t>rechtzeitig</a:t>
            </a:r>
            <a:r>
              <a:rPr dirty="0"/>
              <a:t> </a:t>
            </a:r>
            <a:r>
              <a:rPr dirty="0" err="1"/>
              <a:t>erreichbare</a:t>
            </a:r>
            <a:r>
              <a:rPr dirty="0"/>
              <a:t> </a:t>
            </a:r>
            <a:r>
              <a:rPr dirty="0" err="1"/>
              <a:t>Klötze</a:t>
            </a:r>
            <a:r>
              <a:rPr dirty="0"/>
              <a:t> </a:t>
            </a:r>
            <a:r>
              <a:rPr dirty="0" err="1"/>
              <a:t>sind</a:t>
            </a:r>
            <a:r>
              <a:rPr dirty="0"/>
              <a:t> </a:t>
            </a:r>
            <a:r>
              <a:rPr dirty="0" err="1"/>
              <a:t>Kandidaten</a:t>
            </a:r>
            <a:r>
              <a:rPr dirty="0"/>
              <a:t>. Die </a:t>
            </a:r>
            <a:r>
              <a:rPr dirty="0" err="1"/>
              <a:t>Auswahl</a:t>
            </a:r>
            <a:r>
              <a:rPr dirty="0"/>
              <a:t> </a:t>
            </a:r>
            <a:r>
              <a:rPr dirty="0" err="1"/>
              <a:t>bleibt</a:t>
            </a:r>
            <a:r>
              <a:rPr dirty="0"/>
              <a:t> bis </a:t>
            </a:r>
            <a:r>
              <a:rPr dirty="0" err="1"/>
              <a:t>zur</a:t>
            </a:r>
            <a:r>
              <a:rPr dirty="0"/>
              <a:t> </a:t>
            </a:r>
            <a:r>
              <a:rPr dirty="0" err="1"/>
              <a:t>Abschlussmeldung</a:t>
            </a:r>
            <a:r>
              <a:rPr dirty="0"/>
              <a:t> </a:t>
            </a:r>
            <a:r>
              <a:rPr dirty="0" err="1"/>
              <a:t>gebunden</a:t>
            </a:r>
            <a:r>
              <a:rPr dirty="0"/>
              <a:t>.</a:t>
            </a:r>
          </a:p>
          <a:p>
            <a:r>
              <a:rPr dirty="0"/>
              <a:t>Die </a:t>
            </a:r>
            <a:r>
              <a:rPr dirty="0" err="1"/>
              <a:t>Greifzone</a:t>
            </a:r>
            <a:r>
              <a:rPr dirty="0"/>
              <a:t> </a:t>
            </a:r>
            <a:r>
              <a:rPr dirty="0" err="1"/>
              <a:t>ist</a:t>
            </a:r>
            <a:r>
              <a:rPr dirty="0"/>
              <a:t> der </a:t>
            </a:r>
            <a:r>
              <a:rPr dirty="0" err="1"/>
              <a:t>räumlich</a:t>
            </a:r>
            <a:r>
              <a:rPr dirty="0"/>
              <a:t> </a:t>
            </a:r>
            <a:r>
              <a:rPr dirty="0" err="1"/>
              <a:t>nutzbare</a:t>
            </a:r>
            <a:r>
              <a:rPr dirty="0"/>
              <a:t> </a:t>
            </a:r>
            <a:r>
              <a:rPr dirty="0" err="1"/>
              <a:t>Bereich</a:t>
            </a:r>
            <a:r>
              <a:rPr dirty="0"/>
              <a:t> auf dem Band. Die </a:t>
            </a:r>
            <a:r>
              <a:rPr dirty="0" err="1"/>
              <a:t>Greifebene</a:t>
            </a:r>
            <a:r>
              <a:rPr dirty="0"/>
              <a:t> </a:t>
            </a:r>
            <a:r>
              <a:rPr dirty="0" err="1"/>
              <a:t>ist</a:t>
            </a:r>
            <a:r>
              <a:rPr dirty="0"/>
              <a:t> </a:t>
            </a:r>
            <a:r>
              <a:rPr dirty="0" err="1"/>
              <a:t>dagegen</a:t>
            </a:r>
            <a:r>
              <a:rPr dirty="0"/>
              <a:t> die </a:t>
            </a:r>
            <a:r>
              <a:rPr dirty="0" err="1"/>
              <a:t>letzte</a:t>
            </a:r>
            <a:r>
              <a:rPr dirty="0"/>
              <a:t> Position, an der das </a:t>
            </a:r>
            <a:r>
              <a:rPr dirty="0" err="1"/>
              <a:t>Absenken</a:t>
            </a:r>
            <a:r>
              <a:rPr dirty="0"/>
              <a:t> </a:t>
            </a:r>
            <a:r>
              <a:rPr dirty="0" err="1"/>
              <a:t>beginnen</a:t>
            </a:r>
            <a:r>
              <a:rPr dirty="0"/>
              <a:t> </a:t>
            </a:r>
            <a:r>
              <a:rPr dirty="0" err="1"/>
              <a:t>darf</a:t>
            </a:r>
            <a:r>
              <a:rPr dirty="0"/>
              <a:t>. Bis </a:t>
            </a:r>
            <a:r>
              <a:rPr dirty="0" err="1"/>
              <a:t>zum</a:t>
            </a:r>
            <a:r>
              <a:rPr dirty="0"/>
              <a:t> </a:t>
            </a:r>
            <a:r>
              <a:rPr dirty="0" err="1"/>
              <a:t>Zonenende</a:t>
            </a:r>
            <a:r>
              <a:rPr dirty="0"/>
              <a:t> muss der </a:t>
            </a:r>
            <a:r>
              <a:rPr dirty="0" err="1"/>
              <a:t>Greifvorgang</a:t>
            </a:r>
            <a:r>
              <a:rPr dirty="0"/>
              <a:t> </a:t>
            </a:r>
            <a:r>
              <a:rPr dirty="0" err="1"/>
              <a:t>abgeschlossen</a:t>
            </a:r>
            <a:r>
              <a:rPr dirty="0"/>
              <a:t> sein. </a:t>
            </a:r>
            <a:r>
              <a:rPr dirty="0" err="1"/>
              <a:t>Ihre</a:t>
            </a:r>
            <a:r>
              <a:rPr dirty="0"/>
              <a:t> Lage </a:t>
            </a:r>
            <a:r>
              <a:rPr dirty="0" err="1"/>
              <a:t>folgt</a:t>
            </a:r>
            <a:r>
              <a:rPr dirty="0"/>
              <a:t> </a:t>
            </a:r>
            <a:r>
              <a:rPr dirty="0" err="1"/>
              <a:t>aus</a:t>
            </a:r>
            <a:r>
              <a:rPr dirty="0"/>
              <a:t> </a:t>
            </a:r>
            <a:r>
              <a:rPr dirty="0" err="1"/>
              <a:t>Geschwindigkeit</a:t>
            </a:r>
            <a:r>
              <a:rPr dirty="0"/>
              <a:t>, </a:t>
            </a:r>
            <a:r>
              <a:rPr dirty="0" err="1"/>
              <a:t>Prozessdauer</a:t>
            </a:r>
            <a:r>
              <a:rPr dirty="0"/>
              <a:t> und 20 </a:t>
            </a:r>
            <a:r>
              <a:rPr dirty="0" err="1"/>
              <a:t>Prozent</a:t>
            </a:r>
            <a:r>
              <a:rPr dirty="0"/>
              <a:t> Reserve. Bei </a:t>
            </a:r>
            <a:r>
              <a:rPr dirty="0" err="1"/>
              <a:t>höherer</a:t>
            </a:r>
            <a:r>
              <a:rPr dirty="0"/>
              <a:t> </a:t>
            </a:r>
            <a:r>
              <a:rPr dirty="0" err="1"/>
              <a:t>Geschwindigkeit</a:t>
            </a:r>
            <a:r>
              <a:rPr dirty="0"/>
              <a:t> </a:t>
            </a:r>
            <a:r>
              <a:rPr dirty="0" err="1"/>
              <a:t>rückt</a:t>
            </a:r>
            <a:r>
              <a:rPr dirty="0"/>
              <a:t> </a:t>
            </a:r>
            <a:r>
              <a:rPr dirty="0" err="1"/>
              <a:t>sie</a:t>
            </a:r>
            <a:r>
              <a:rPr dirty="0"/>
              <a:t> an den </a:t>
            </a:r>
            <a:r>
              <a:rPr dirty="0" err="1"/>
              <a:t>Zonenanfang</a:t>
            </a:r>
            <a:r>
              <a:rPr dirty="0"/>
              <a:t>.</a:t>
            </a:r>
          </a:p>
          <a:p>
            <a:r>
              <a:rPr dirty="0"/>
              <a:t>Zeit bis </a:t>
            </a:r>
            <a:r>
              <a:rPr dirty="0" err="1"/>
              <a:t>zur</a:t>
            </a:r>
            <a:r>
              <a:rPr dirty="0"/>
              <a:t> </a:t>
            </a:r>
            <a:r>
              <a:rPr dirty="0" err="1"/>
              <a:t>Greifebene</a:t>
            </a:r>
            <a:r>
              <a:rPr dirty="0"/>
              <a:t> </a:t>
            </a:r>
            <a:r>
              <a:rPr dirty="0" err="1"/>
              <a:t>wird</a:t>
            </a:r>
            <a:r>
              <a:rPr dirty="0"/>
              <a:t> </a:t>
            </a:r>
            <a:r>
              <a:rPr dirty="0" err="1"/>
              <a:t>mit</a:t>
            </a:r>
            <a:r>
              <a:rPr dirty="0"/>
              <a:t> </a:t>
            </a:r>
            <a:r>
              <a:rPr dirty="0" err="1"/>
              <a:t>Anfahr</a:t>
            </a:r>
            <a:r>
              <a:rPr dirty="0"/>
              <a:t>- und </a:t>
            </a:r>
            <a:r>
              <a:rPr dirty="0" err="1"/>
              <a:t>Einschwingzeit</a:t>
            </a:r>
            <a:r>
              <a:rPr dirty="0"/>
              <a:t> </a:t>
            </a:r>
            <a:r>
              <a:rPr dirty="0" err="1"/>
              <a:t>verglichen</a:t>
            </a:r>
            <a:r>
              <a:rPr dirty="0"/>
              <a:t>. Das </a:t>
            </a:r>
            <a:r>
              <a:rPr dirty="0" err="1"/>
              <a:t>dringendste</a:t>
            </a:r>
            <a:r>
              <a:rPr dirty="0"/>
              <a:t> </a:t>
            </a:r>
            <a:r>
              <a:rPr dirty="0" err="1"/>
              <a:t>noch</a:t>
            </a:r>
            <a:r>
              <a:rPr dirty="0"/>
              <a:t> </a:t>
            </a:r>
            <a:r>
              <a:rPr dirty="0" err="1"/>
              <a:t>erreichbare</a:t>
            </a:r>
            <a:r>
              <a:rPr dirty="0"/>
              <a:t> Ziel </a:t>
            </a:r>
            <a:r>
              <a:rPr dirty="0" err="1"/>
              <a:t>wird</a:t>
            </a:r>
            <a:r>
              <a:rPr dirty="0"/>
              <a:t> </a:t>
            </a:r>
            <a:r>
              <a:rPr dirty="0" err="1"/>
              <a:t>gewählt</a:t>
            </a:r>
            <a:r>
              <a:rPr dirty="0"/>
              <a:t>. Zu </a:t>
            </a:r>
            <a:r>
              <a:rPr dirty="0" err="1"/>
              <a:t>spät</a:t>
            </a:r>
            <a:r>
              <a:rPr dirty="0"/>
              <a:t> </a:t>
            </a:r>
            <a:r>
              <a:rPr dirty="0" err="1"/>
              <a:t>kommende</a:t>
            </a:r>
            <a:r>
              <a:rPr dirty="0"/>
              <a:t> </a:t>
            </a:r>
            <a:r>
              <a:rPr dirty="0" err="1"/>
              <a:t>Objekte</a:t>
            </a:r>
            <a:r>
              <a:rPr dirty="0"/>
              <a:t> </a:t>
            </a:r>
            <a:r>
              <a:rPr dirty="0" err="1"/>
              <a:t>bleiben</a:t>
            </a:r>
            <a:r>
              <a:rPr dirty="0"/>
              <a:t> auf dem Band. Ein </a:t>
            </a:r>
            <a:r>
              <a:rPr dirty="0" err="1"/>
              <a:t>Durchläufer</a:t>
            </a:r>
            <a:r>
              <a:rPr dirty="0"/>
              <a:t> </a:t>
            </a:r>
            <a:r>
              <a:rPr dirty="0" err="1"/>
              <a:t>kann</a:t>
            </a:r>
            <a:r>
              <a:rPr dirty="0"/>
              <a:t> </a:t>
            </a:r>
            <a:r>
              <a:rPr dirty="0" err="1"/>
              <a:t>daher</a:t>
            </a:r>
            <a:r>
              <a:rPr dirty="0"/>
              <a:t> die </a:t>
            </a:r>
            <a:r>
              <a:rPr dirty="0" err="1"/>
              <a:t>korrekte</a:t>
            </a:r>
            <a:r>
              <a:rPr dirty="0"/>
              <a:t> </a:t>
            </a:r>
            <a:r>
              <a:rPr dirty="0" err="1"/>
              <a:t>Auswahlentscheidung</a:t>
            </a:r>
            <a:r>
              <a:rPr dirty="0"/>
              <a:t> sein.</a:t>
            </a:r>
          </a:p>
          <a:p>
            <a:endParaRPr dirty="0"/>
          </a:p>
          <a:p>
            <a:r>
              <a:rPr dirty="0" err="1"/>
              <a:t>Quellen</a:t>
            </a:r>
            <a:r>
              <a:rPr dirty="0"/>
              <a:t>: </a:t>
            </a:r>
            <a:r>
              <a:rPr dirty="0" err="1"/>
              <a:t>Projektbericht</a:t>
            </a:r>
            <a:r>
              <a:rPr dirty="0"/>
              <a:t>/</a:t>
            </a:r>
            <a:r>
              <a:rPr dirty="0" err="1"/>
              <a:t>entwuerfe</a:t>
            </a:r>
            <a:r>
              <a:rPr dirty="0"/>
              <a:t>/berichtstext.md, </a:t>
            </a:r>
            <a:r>
              <a:rPr dirty="0" err="1"/>
              <a:t>Abschnitte</a:t>
            </a:r>
            <a:r>
              <a:rPr dirty="0"/>
              <a:t> 3.3.1 und 3.3.2, Stand 02.10.2026.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Lukas</a:t>
            </a:r>
          </a:p>
          <a:p>
            <a:endParaRPr lang="de-DE" dirty="0"/>
          </a:p>
          <a:p>
            <a:r>
              <a:rPr dirty="0"/>
              <a:t>Folie 10: </a:t>
            </a:r>
            <a:r>
              <a:rPr dirty="0" err="1"/>
              <a:t>Greifen</a:t>
            </a:r>
            <a:r>
              <a:rPr dirty="0"/>
              <a:t> </a:t>
            </a:r>
            <a:r>
              <a:rPr dirty="0" err="1"/>
              <a:t>während</a:t>
            </a:r>
            <a:r>
              <a:rPr dirty="0"/>
              <a:t> der </a:t>
            </a:r>
            <a:r>
              <a:rPr dirty="0" err="1"/>
              <a:t>Bewegung</a:t>
            </a:r>
            <a:endParaRPr dirty="0"/>
          </a:p>
          <a:p>
            <a:r>
              <a:rPr dirty="0" err="1"/>
              <a:t>Geplante</a:t>
            </a:r>
            <a:r>
              <a:rPr dirty="0"/>
              <a:t> </a:t>
            </a:r>
            <a:r>
              <a:rPr dirty="0" err="1"/>
              <a:t>Sprechzeit</a:t>
            </a:r>
            <a:r>
              <a:rPr dirty="0"/>
              <a:t>: 1:30 Minuten.</a:t>
            </a:r>
          </a:p>
          <a:p>
            <a:endParaRPr dirty="0"/>
          </a:p>
          <a:p>
            <a:r>
              <a:rPr dirty="0"/>
              <a:t>Der </a:t>
            </a:r>
            <a:r>
              <a:rPr dirty="0" err="1"/>
              <a:t>Zustandsautomat</a:t>
            </a:r>
            <a:r>
              <a:rPr dirty="0"/>
              <a:t> </a:t>
            </a:r>
            <a:r>
              <a:rPr dirty="0" err="1"/>
              <a:t>führt</a:t>
            </a:r>
            <a:r>
              <a:rPr dirty="0"/>
              <a:t> den </a:t>
            </a:r>
            <a:r>
              <a:rPr dirty="0" err="1"/>
              <a:t>vollständigen</a:t>
            </a:r>
            <a:r>
              <a:rPr dirty="0"/>
              <a:t> </a:t>
            </a:r>
            <a:r>
              <a:rPr dirty="0" err="1"/>
              <a:t>Versuch</a:t>
            </a:r>
            <a:r>
              <a:rPr dirty="0"/>
              <a:t>. </a:t>
            </a:r>
            <a:r>
              <a:rPr dirty="0" err="1"/>
              <a:t>Anfahren</a:t>
            </a:r>
            <a:r>
              <a:rPr dirty="0"/>
              <a:t> </a:t>
            </a:r>
            <a:r>
              <a:rPr dirty="0" err="1"/>
              <a:t>bringt</a:t>
            </a:r>
            <a:r>
              <a:rPr dirty="0"/>
              <a:t> den </a:t>
            </a:r>
            <a:r>
              <a:rPr dirty="0" err="1"/>
              <a:t>Greifer</a:t>
            </a:r>
            <a:r>
              <a:rPr dirty="0"/>
              <a:t> </a:t>
            </a:r>
            <a:r>
              <a:rPr dirty="0" err="1"/>
              <a:t>über</a:t>
            </a:r>
            <a:r>
              <a:rPr dirty="0"/>
              <a:t> die </a:t>
            </a:r>
            <a:r>
              <a:rPr dirty="0" err="1"/>
              <a:t>vorhergesagte</a:t>
            </a:r>
            <a:r>
              <a:rPr dirty="0"/>
              <a:t> Position. </a:t>
            </a:r>
            <a:r>
              <a:rPr dirty="0" err="1"/>
              <a:t>Folgen</a:t>
            </a:r>
            <a:r>
              <a:rPr dirty="0"/>
              <a:t> </a:t>
            </a:r>
            <a:r>
              <a:rPr dirty="0" err="1"/>
              <a:t>stabilisiert</a:t>
            </a:r>
            <a:r>
              <a:rPr dirty="0"/>
              <a:t> den Abstand. Beim </a:t>
            </a:r>
            <a:r>
              <a:rPr dirty="0" err="1"/>
              <a:t>Absenken</a:t>
            </a:r>
            <a:r>
              <a:rPr dirty="0"/>
              <a:t> und </a:t>
            </a:r>
            <a:r>
              <a:rPr dirty="0" err="1"/>
              <a:t>Schließen</a:t>
            </a:r>
            <a:r>
              <a:rPr dirty="0"/>
              <a:t> </a:t>
            </a:r>
            <a:r>
              <a:rPr dirty="0" err="1"/>
              <a:t>bewegt</a:t>
            </a:r>
            <a:r>
              <a:rPr dirty="0"/>
              <a:t> </a:t>
            </a:r>
            <a:r>
              <a:rPr dirty="0" err="1"/>
              <a:t>sich</a:t>
            </a:r>
            <a:r>
              <a:rPr dirty="0"/>
              <a:t> der </a:t>
            </a:r>
            <a:r>
              <a:rPr dirty="0" err="1"/>
              <a:t>Roboter</a:t>
            </a:r>
            <a:r>
              <a:rPr dirty="0"/>
              <a:t> </a:t>
            </a:r>
            <a:r>
              <a:rPr dirty="0" err="1"/>
              <a:t>mit</a:t>
            </a:r>
            <a:r>
              <a:rPr dirty="0"/>
              <a:t> dem Klotz </a:t>
            </a:r>
            <a:r>
              <a:rPr dirty="0" err="1"/>
              <a:t>weiter</a:t>
            </a:r>
            <a:r>
              <a:rPr dirty="0"/>
              <a:t>. Die </a:t>
            </a:r>
            <a:r>
              <a:rPr dirty="0" err="1"/>
              <a:t>Orientierung</a:t>
            </a:r>
            <a:r>
              <a:rPr dirty="0"/>
              <a:t> </a:t>
            </a:r>
            <a:r>
              <a:rPr dirty="0" err="1"/>
              <a:t>wird</a:t>
            </a:r>
            <a:r>
              <a:rPr dirty="0"/>
              <a:t> </a:t>
            </a:r>
            <a:r>
              <a:rPr dirty="0" err="1"/>
              <a:t>beim</a:t>
            </a:r>
            <a:r>
              <a:rPr dirty="0"/>
              <a:t> </a:t>
            </a:r>
            <a:r>
              <a:rPr dirty="0" err="1"/>
              <a:t>Absenken</a:t>
            </a:r>
            <a:r>
              <a:rPr dirty="0"/>
              <a:t> </a:t>
            </a:r>
            <a:r>
              <a:rPr dirty="0" err="1"/>
              <a:t>eingefroren</a:t>
            </a:r>
            <a:r>
              <a:rPr dirty="0"/>
              <a:t>.</a:t>
            </a:r>
          </a:p>
          <a:p>
            <a:r>
              <a:rPr dirty="0"/>
              <a:t>Der </a:t>
            </a:r>
            <a:r>
              <a:rPr dirty="0" err="1"/>
              <a:t>Greifer</a:t>
            </a:r>
            <a:r>
              <a:rPr dirty="0"/>
              <a:t> </a:t>
            </a:r>
            <a:r>
              <a:rPr dirty="0" err="1"/>
              <a:t>meldet</a:t>
            </a:r>
            <a:r>
              <a:rPr dirty="0"/>
              <a:t> </a:t>
            </a:r>
            <a:r>
              <a:rPr dirty="0" err="1"/>
              <a:t>Bewegung</a:t>
            </a:r>
            <a:r>
              <a:rPr dirty="0"/>
              <a:t> </a:t>
            </a:r>
            <a:r>
              <a:rPr dirty="0" err="1"/>
              <a:t>fertig</a:t>
            </a:r>
            <a:r>
              <a:rPr dirty="0"/>
              <a:t> und Klotz </a:t>
            </a:r>
            <a:r>
              <a:rPr dirty="0" err="1"/>
              <a:t>gehalten</a:t>
            </a:r>
            <a:r>
              <a:rPr dirty="0"/>
              <a:t>. Nach </a:t>
            </a:r>
            <a:r>
              <a:rPr dirty="0" err="1"/>
              <a:t>bestätigtem</a:t>
            </a:r>
            <a:r>
              <a:rPr dirty="0"/>
              <a:t> Griff </a:t>
            </a:r>
            <a:r>
              <a:rPr dirty="0" err="1"/>
              <a:t>wird</a:t>
            </a:r>
            <a:r>
              <a:rPr dirty="0"/>
              <a:t> </a:t>
            </a:r>
            <a:r>
              <a:rPr dirty="0" err="1"/>
              <a:t>zunächst</a:t>
            </a:r>
            <a:r>
              <a:rPr dirty="0"/>
              <a:t> </a:t>
            </a:r>
            <a:r>
              <a:rPr dirty="0" err="1"/>
              <a:t>mitfahrend</a:t>
            </a:r>
            <a:r>
              <a:rPr dirty="0"/>
              <a:t> </a:t>
            </a:r>
            <a:r>
              <a:rPr dirty="0" err="1"/>
              <a:t>angehoben</a:t>
            </a:r>
            <a:r>
              <a:rPr dirty="0"/>
              <a:t>, </a:t>
            </a:r>
            <a:r>
              <a:rPr dirty="0" err="1"/>
              <a:t>danach</a:t>
            </a:r>
            <a:r>
              <a:rPr dirty="0"/>
              <a:t> auf </a:t>
            </a:r>
            <a:r>
              <a:rPr dirty="0" err="1"/>
              <a:t>Freihöhe</a:t>
            </a:r>
            <a:r>
              <a:rPr dirty="0"/>
              <a:t> </a:t>
            </a:r>
            <a:r>
              <a:rPr dirty="0" err="1"/>
              <a:t>gestiegen</a:t>
            </a:r>
            <a:r>
              <a:rPr dirty="0"/>
              <a:t> und </a:t>
            </a:r>
            <a:r>
              <a:rPr dirty="0" err="1"/>
              <a:t>zur</a:t>
            </a:r>
            <a:r>
              <a:rPr dirty="0"/>
              <a:t> Box </a:t>
            </a:r>
            <a:r>
              <a:rPr dirty="0" err="1"/>
              <a:t>gefahren</a:t>
            </a:r>
            <a:r>
              <a:rPr dirty="0"/>
              <a:t>. </a:t>
            </a:r>
            <a:r>
              <a:rPr dirty="0" err="1"/>
              <a:t>Öffnen</a:t>
            </a:r>
            <a:r>
              <a:rPr dirty="0"/>
              <a:t> und </a:t>
            </a:r>
            <a:r>
              <a:rPr dirty="0" err="1"/>
              <a:t>Rückfahrt</a:t>
            </a:r>
            <a:r>
              <a:rPr dirty="0"/>
              <a:t> </a:t>
            </a:r>
            <a:r>
              <a:rPr dirty="0" err="1"/>
              <a:t>schließen</a:t>
            </a:r>
            <a:r>
              <a:rPr dirty="0"/>
              <a:t> den </a:t>
            </a:r>
            <a:r>
              <a:rPr dirty="0" err="1"/>
              <a:t>Zyklus</a:t>
            </a:r>
            <a:r>
              <a:rPr dirty="0"/>
              <a:t> ab.</a:t>
            </a:r>
          </a:p>
          <a:p>
            <a:r>
              <a:rPr dirty="0"/>
              <a:t>Der Attractor </a:t>
            </a:r>
            <a:r>
              <a:rPr dirty="0" err="1"/>
              <a:t>arbeitet</a:t>
            </a:r>
            <a:r>
              <a:rPr dirty="0"/>
              <a:t> proportional </a:t>
            </a:r>
            <a:r>
              <a:rPr dirty="0" err="1"/>
              <a:t>zur</a:t>
            </a:r>
            <a:r>
              <a:rPr dirty="0"/>
              <a:t> Abweichung von der </a:t>
            </a:r>
            <a:r>
              <a:rPr dirty="0" err="1"/>
              <a:t>Zielpose</a:t>
            </a:r>
            <a:r>
              <a:rPr dirty="0"/>
              <a:t>. Bei </a:t>
            </a:r>
            <a:r>
              <a:rPr dirty="0" err="1"/>
              <a:t>einem</a:t>
            </a:r>
            <a:r>
              <a:rPr dirty="0"/>
              <a:t> </a:t>
            </a:r>
            <a:r>
              <a:rPr dirty="0" err="1"/>
              <a:t>bewegten</a:t>
            </a:r>
            <a:r>
              <a:rPr dirty="0"/>
              <a:t> Ziel </a:t>
            </a:r>
            <a:r>
              <a:rPr dirty="0" err="1"/>
              <a:t>entsteht</a:t>
            </a:r>
            <a:r>
              <a:rPr dirty="0"/>
              <a:t> </a:t>
            </a:r>
            <a:r>
              <a:rPr dirty="0" err="1"/>
              <a:t>ein</a:t>
            </a:r>
            <a:r>
              <a:rPr dirty="0"/>
              <a:t> </a:t>
            </a:r>
            <a:r>
              <a:rPr dirty="0" err="1"/>
              <a:t>bleibender</a:t>
            </a:r>
            <a:r>
              <a:rPr dirty="0"/>
              <a:t> </a:t>
            </a:r>
            <a:r>
              <a:rPr dirty="0" err="1"/>
              <a:t>Nachlauf</a:t>
            </a:r>
            <a:r>
              <a:rPr dirty="0"/>
              <a:t> </a:t>
            </a:r>
            <a:r>
              <a:rPr dirty="0" err="1"/>
              <a:t>etwa</a:t>
            </a:r>
            <a:r>
              <a:rPr dirty="0"/>
              <a:t> v/K. Die </a:t>
            </a:r>
            <a:r>
              <a:rPr dirty="0" err="1"/>
              <a:t>empirisch</a:t>
            </a:r>
            <a:r>
              <a:rPr dirty="0"/>
              <a:t> </a:t>
            </a:r>
            <a:r>
              <a:rPr dirty="0" err="1"/>
              <a:t>abgestimmte</a:t>
            </a:r>
            <a:r>
              <a:rPr dirty="0"/>
              <a:t> </a:t>
            </a:r>
            <a:r>
              <a:rPr dirty="0" err="1"/>
              <a:t>Vorhaltezeit</a:t>
            </a:r>
            <a:r>
              <a:rPr dirty="0"/>
              <a:t> 0,24 s </a:t>
            </a:r>
            <a:r>
              <a:rPr dirty="0" err="1"/>
              <a:t>versetzt</a:t>
            </a:r>
            <a:r>
              <a:rPr dirty="0"/>
              <a:t> die </a:t>
            </a:r>
            <a:r>
              <a:rPr dirty="0" err="1"/>
              <a:t>Zielpose</a:t>
            </a:r>
            <a:r>
              <a:rPr dirty="0"/>
              <a:t> </a:t>
            </a:r>
            <a:r>
              <a:rPr dirty="0" err="1"/>
              <a:t>deshalb</a:t>
            </a:r>
            <a:r>
              <a:rPr dirty="0"/>
              <a:t> </a:t>
            </a:r>
            <a:r>
              <a:rPr dirty="0" err="1"/>
              <a:t>voraus</a:t>
            </a:r>
            <a:r>
              <a:rPr dirty="0"/>
              <a:t>. </a:t>
            </a:r>
            <a:r>
              <a:rPr dirty="0" err="1"/>
              <a:t>Geregelt</a:t>
            </a:r>
            <a:r>
              <a:rPr dirty="0"/>
              <a:t> </a:t>
            </a:r>
            <a:r>
              <a:rPr dirty="0" err="1"/>
              <a:t>wird</a:t>
            </a:r>
            <a:r>
              <a:rPr dirty="0"/>
              <a:t> der </a:t>
            </a:r>
            <a:r>
              <a:rPr dirty="0" err="1"/>
              <a:t>Flansch</a:t>
            </a:r>
            <a:r>
              <a:rPr dirty="0"/>
              <a:t> ur_tool0. Den </a:t>
            </a:r>
            <a:r>
              <a:rPr dirty="0" err="1"/>
              <a:t>gemessenen</a:t>
            </a:r>
            <a:r>
              <a:rPr dirty="0"/>
              <a:t> Abstand von 0,235 m </a:t>
            </a:r>
            <a:r>
              <a:rPr dirty="0" err="1"/>
              <a:t>zum</a:t>
            </a:r>
            <a:r>
              <a:rPr dirty="0"/>
              <a:t> </a:t>
            </a:r>
            <a:r>
              <a:rPr dirty="0" err="1"/>
              <a:t>Griffpunkt</a:t>
            </a:r>
            <a:r>
              <a:rPr dirty="0"/>
              <a:t> </a:t>
            </a:r>
            <a:r>
              <a:rPr dirty="0" err="1"/>
              <a:t>berücksichtigt</a:t>
            </a:r>
            <a:r>
              <a:rPr dirty="0"/>
              <a:t> der Follower.</a:t>
            </a:r>
          </a:p>
          <a:p>
            <a:r>
              <a:rPr dirty="0"/>
              <a:t>Bei </a:t>
            </a:r>
            <a:r>
              <a:rPr dirty="0" err="1"/>
              <a:t>veralteten</a:t>
            </a:r>
            <a:r>
              <a:rPr dirty="0"/>
              <a:t> </a:t>
            </a:r>
            <a:r>
              <a:rPr dirty="0" err="1"/>
              <a:t>Daten</a:t>
            </a:r>
            <a:r>
              <a:rPr dirty="0"/>
              <a:t> </a:t>
            </a:r>
            <a:r>
              <a:rPr dirty="0" err="1"/>
              <a:t>oder</a:t>
            </a:r>
            <a:r>
              <a:rPr dirty="0"/>
              <a:t> nicht </a:t>
            </a:r>
            <a:r>
              <a:rPr dirty="0" err="1"/>
              <a:t>mehr</a:t>
            </a:r>
            <a:r>
              <a:rPr dirty="0"/>
              <a:t> </a:t>
            </a:r>
            <a:r>
              <a:rPr dirty="0" err="1"/>
              <a:t>erreichbarer</a:t>
            </a:r>
            <a:r>
              <a:rPr dirty="0"/>
              <a:t> </a:t>
            </a:r>
            <a:r>
              <a:rPr dirty="0" err="1"/>
              <a:t>Greifebene</a:t>
            </a:r>
            <a:r>
              <a:rPr dirty="0"/>
              <a:t> </a:t>
            </a:r>
            <a:r>
              <a:rPr dirty="0" err="1"/>
              <a:t>wird</a:t>
            </a:r>
            <a:r>
              <a:rPr dirty="0"/>
              <a:t> </a:t>
            </a:r>
            <a:r>
              <a:rPr dirty="0" err="1"/>
              <a:t>vor</a:t>
            </a:r>
            <a:r>
              <a:rPr dirty="0"/>
              <a:t> </a:t>
            </a:r>
            <a:r>
              <a:rPr dirty="0" err="1"/>
              <a:t>erfolgreicher</a:t>
            </a:r>
            <a:r>
              <a:rPr dirty="0"/>
              <a:t> </a:t>
            </a:r>
            <a:r>
              <a:rPr dirty="0" err="1"/>
              <a:t>Aufnahme</a:t>
            </a:r>
            <a:r>
              <a:rPr dirty="0"/>
              <a:t> </a:t>
            </a:r>
            <a:r>
              <a:rPr dirty="0" err="1"/>
              <a:t>abgebrochen</a:t>
            </a:r>
            <a:r>
              <a:rPr dirty="0"/>
              <a:t>. Ein </a:t>
            </a:r>
            <a:r>
              <a:rPr dirty="0" err="1"/>
              <a:t>bereits</a:t>
            </a:r>
            <a:r>
              <a:rPr dirty="0"/>
              <a:t> </a:t>
            </a:r>
            <a:r>
              <a:rPr dirty="0" err="1"/>
              <a:t>gehaltener</a:t>
            </a:r>
            <a:r>
              <a:rPr dirty="0"/>
              <a:t> Klotz </a:t>
            </a:r>
            <a:r>
              <a:rPr dirty="0" err="1"/>
              <a:t>wird</a:t>
            </a:r>
            <a:r>
              <a:rPr dirty="0"/>
              <a:t> </a:t>
            </a:r>
            <a:r>
              <a:rPr dirty="0" err="1"/>
              <a:t>auch</a:t>
            </a:r>
            <a:r>
              <a:rPr dirty="0"/>
              <a:t> </a:t>
            </a:r>
            <a:r>
              <a:rPr dirty="0" err="1"/>
              <a:t>bei</a:t>
            </a:r>
            <a:r>
              <a:rPr dirty="0"/>
              <a:t> </a:t>
            </a:r>
            <a:r>
              <a:rPr dirty="0" err="1"/>
              <a:t>Abbruch</a:t>
            </a:r>
            <a:r>
              <a:rPr dirty="0"/>
              <a:t> </a:t>
            </a:r>
            <a:r>
              <a:rPr dirty="0" err="1"/>
              <a:t>kontrolliert</a:t>
            </a:r>
            <a:r>
              <a:rPr dirty="0"/>
              <a:t> </a:t>
            </a:r>
            <a:r>
              <a:rPr dirty="0" err="1"/>
              <a:t>abgelegt</a:t>
            </a:r>
            <a:r>
              <a:rPr dirty="0"/>
              <a:t>. Die </a:t>
            </a:r>
            <a:r>
              <a:rPr dirty="0" err="1"/>
              <a:t>Grafik</a:t>
            </a:r>
            <a:r>
              <a:rPr dirty="0"/>
              <a:t> </a:t>
            </a:r>
            <a:r>
              <a:rPr dirty="0" err="1"/>
              <a:t>fasst</a:t>
            </a:r>
            <a:r>
              <a:rPr dirty="0"/>
              <a:t> den </a:t>
            </a:r>
            <a:r>
              <a:rPr dirty="0" err="1"/>
              <a:t>Ablauf</a:t>
            </a:r>
            <a:r>
              <a:rPr dirty="0"/>
              <a:t> </a:t>
            </a:r>
            <a:r>
              <a:rPr dirty="0" err="1"/>
              <a:t>zusammen</a:t>
            </a:r>
            <a:r>
              <a:rPr dirty="0"/>
              <a:t>; das </a:t>
            </a:r>
            <a:r>
              <a:rPr dirty="0" err="1"/>
              <a:t>vollständige</a:t>
            </a:r>
            <a:r>
              <a:rPr dirty="0"/>
              <a:t> </a:t>
            </a:r>
            <a:r>
              <a:rPr dirty="0" err="1"/>
              <a:t>Zustandsdiagramm</a:t>
            </a:r>
            <a:r>
              <a:rPr dirty="0"/>
              <a:t> </a:t>
            </a:r>
            <a:r>
              <a:rPr dirty="0" err="1"/>
              <a:t>steht</a:t>
            </a:r>
            <a:r>
              <a:rPr dirty="0"/>
              <a:t> </a:t>
            </a:r>
            <a:r>
              <a:rPr dirty="0" err="1"/>
              <a:t>im</a:t>
            </a:r>
            <a:r>
              <a:rPr dirty="0"/>
              <a:t> </a:t>
            </a:r>
            <a:r>
              <a:rPr dirty="0" err="1"/>
              <a:t>Bericht</a:t>
            </a:r>
            <a:r>
              <a:rPr dirty="0"/>
              <a:t>.</a:t>
            </a:r>
          </a:p>
          <a:p>
            <a:endParaRPr dirty="0"/>
          </a:p>
          <a:p>
            <a:r>
              <a:rPr dirty="0" err="1"/>
              <a:t>Quellen</a:t>
            </a:r>
            <a:r>
              <a:rPr dirty="0"/>
              <a:t>: </a:t>
            </a:r>
            <a:r>
              <a:rPr dirty="0" err="1"/>
              <a:t>Projektbericht</a:t>
            </a:r>
            <a:r>
              <a:rPr dirty="0"/>
              <a:t>/</a:t>
            </a:r>
            <a:r>
              <a:rPr dirty="0" err="1"/>
              <a:t>entwuerfe</a:t>
            </a:r>
            <a:r>
              <a:rPr dirty="0"/>
              <a:t>/berichtstext.md, </a:t>
            </a:r>
            <a:r>
              <a:rPr dirty="0" err="1"/>
              <a:t>Abschnitte</a:t>
            </a:r>
            <a:r>
              <a:rPr dirty="0"/>
              <a:t> 3.4 bis 3.6; </a:t>
            </a:r>
            <a:r>
              <a:rPr dirty="0" err="1"/>
              <a:t>Grundlage</a:t>
            </a:r>
            <a:r>
              <a:rPr dirty="0"/>
              <a:t> fig-follower-</a:t>
            </a:r>
            <a:r>
              <a:rPr dirty="0" err="1"/>
              <a:t>zustandsdiagramm</a:t>
            </a:r>
            <a:r>
              <a:rPr dirty="0"/>
              <a:t>, Stand 02.10.2026.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6: Systemkonzept und AICA</a:t>
            </a:r>
          </a:p>
          <a:p>
            <a:r>
              <a:t>Sprechzeit: etwa 45 Sekunden.</a:t>
            </a:r>
          </a:p>
          <a:p>
            <a:endParaRPr/>
          </a:p>
          <a:p>
            <a:r>
              <a:t>Oben stehen die Komponenten mit den konfigurierten Taktraten, unten ihre Aufgaben. base_cam: Bildauswertung, 15 Hz. vectoring: Bewegungsschätzung, 15 Hz. priority_handler: Zielauswahl, 20 Hz. object_follower: Greifablauf und Flansch-Zielpose, 50 Hz. Signal Point Attractor: kartesische Sollgeschwindigkeit, 50 Hz. IK Velocity Controller: Gelenkgeschwindigkeiten im Hardware-Regelpfad mit 500 Hz. Die Pfeile nach unten zeigen die Zuordnung, die Pfeile zwischen den Funktionsgruppen den Ablauf.</a:t>
            </a:r>
          </a:p>
          <a:p>
            <a:endParaRPr/>
          </a:p>
          <a:p>
            <a:r>
              <a:t>Der Follower liefert eine Zielpose an den Attractor. Der Attractor erzeugt daraus einen Twist, der IK-Controller setzt diesen in Gelenkgeschwindigkeiten um. 50 Hz Zielposenaktualisierung und 500 Hz Hardware-Regelung sind unterschiedliche Takte. Konfigurierte Auswerterate bedeutet nicht, dass ebenso viele neue Kameramessungen ankommen.</a:t>
            </a:r>
          </a:p>
          <a:p>
            <a:endParaRPr/>
          </a:p>
          <a:p>
            <a:r>
              <a:t>Quellen: docs/uebersicht/systemgraph.md, Komponententabelle; docs/uebersicht/einrichtung-projektanwendung.md, Abschnitte 2, 4 und 5; Projektbericht/entwuerfe/berichtstext.md, Abschnitte 2.3, 3.1, 3.5 und 5.1. Stand 02.10.2026.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11: Inbetriebnahme und Rechenlast</a:t>
            </a:r>
          </a:p>
          <a:p>
            <a:r>
              <a:t>Geplante Sprechzeit: 1:00 Minuten.</a:t>
            </a:r>
          </a:p>
          <a:p>
            <a:endParaRPr/>
          </a:p>
          <a:p>
            <a:r>
              <a:t>Alle eigenen Python-Komponenten teilen sich einen Prozess. Diagnose und zusätzliche Auswertung können daher die Bildverarbeitung verzögern. Die Grafik vergleicht dokumentierte Entwicklungsstände, keine kontrollierte Einzelmaßnahmenstudie.</a:t>
            </a:r>
          </a:p>
          <a:p>
            <a:r>
              <a:t>Zunächst kamen etwa 5,1 neue Messungen je Sekunde an, mittleres Messalter etwa 450 ms. Nach Reduktion der Diagnoseraten stieg die Messrate auf 7,1 Hz; eine Eingangsqueue der Tiefe 1 verhinderte aufgestaute alte Bilder. Das dokumentierte mittlere Messalter sank auf 139 ms. Im finalen Betrieb wurden rund 8,6 neue Messungen je Sekunde erreicht.</a:t>
            </a:r>
          </a:p>
          <a:p>
            <a:r>
              <a:t>Konfigurierte Rate und neue Messrate unterscheiden. Kameraauswertung und Vectoring sind mit 15 Hz konfiguriert. Data Tracker läuft mit 2 Hz, Interface Streamer mit 10 Hz. Nicht benötigte Roboterkamera, RViz-Ansichten und parallele Diagnoseprozesse werden nicht geladen bzw. geschlossen. Der ROI beschränkt die auszuwertende Bildmenge.</a:t>
            </a:r>
          </a:p>
          <a:p>
            <a:r>
              <a:t>Die gezeigte Parameteransicht verdeutlicht die direkt einstellbare Rate in AICA. Die reale Roboterregelung bleibt davon getrennt bei 500 Hz.</a:t>
            </a:r>
          </a:p>
          <a:p>
            <a:endParaRPr/>
          </a:p>
          <a:p>
            <a:r>
              <a:t>Quellen: Projektbericht/entwuerfe/berichtstext.md, Abschnitte 5.1 und 5.3, Stand 02.10.2026. Abbildung: Projektbericht/abbildungen/fig-aica-vectoring-parameter.png, Ausschnitt.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12: Entwicklungsabnahme und Ergebnisse</a:t>
            </a:r>
          </a:p>
          <a:p>
            <a:r>
              <a:t>Geplante Sprechzeit: 1:45 Minuten.</a:t>
            </a:r>
          </a:p>
          <a:p>
            <a:endParaRPr/>
          </a:p>
          <a:p>
            <a:r>
              <a:t>Als Erfolg zählt Erkennen, Auswählen, Greifen im Lauf, Anheben und vollständige Ablage. Die Läufe wurden mit unterschiedlichen Einstellungen durchgeführt und dürfen nicht zu einer allgemeinen Erfolgsquote addiert werden.</a:t>
            </a:r>
          </a:p>
          <a:p>
            <a:r>
              <a:t>Vor Änderung der Zeitgrenzen wurden 3 von 7 Klötzen abgelegt. Die Daten waren teilweise zu alt, die Greifebene wurde zu spät erreicht und ein Timeout trat auf. Nach Anhebung der Extrapolationsgrenze von 0,6 auf 1,0 s und des Ziel-Timeouts von 1,0 auf 1,5 s wurden mit denselben Klötzen 9 von 9 Ablagen dokumentiert.</a:t>
            </a:r>
          </a:p>
          <a:p>
            <a:r>
              <a:t>Der separate Dauerlauf mit horizontal 0,5 m/s und vertikal 0,25 m/s ergab in rund zwei Minuten 15 Ablagen, einen Fehlgriff und neun Durchläufer. Die Durchläufer folgten zu dicht auf bereits gegriffene Ziele, während der Roboter noch hob, ablegte oder zurückfuhr. Sie waren nicht mehr sicher erreichbar.</a:t>
            </a:r>
          </a:p>
          <a:p>
            <a:r>
              <a:t>Weitere Läufe mit gedrehten und gemischten Klötzen sowie höhere Bandstufen bis Stufe 3 waren nach Beobachtung erfolgreich. Dafür liegen keine gemessenen Geschwindigkeiten oder systematische Zählung vor. Der zusätzliche Kalibrier-Greiflauf wird nicht nochmals als unabhängiger Datensatz gezählt.</a:t>
            </a:r>
          </a:p>
          <a:p>
            <a:r>
              <a:t>Der Screenshot zeigt die tatsächliche Laufzeitdiagnose mit Zustand, Ziel-ID, geschätzter Geschwindigkeit und Regelabweichungen. Es liegt derzeit kein Video vor; der Screenshot ist kein vollständiger videografischer Ablaufnachweis.</a:t>
            </a:r>
          </a:p>
          <a:p>
            <a:endParaRPr/>
          </a:p>
          <a:p>
            <a:r>
              <a:t>Quellen: Projektbericht/entwuerfe/berichtstext.md, Kapitel 6, Stand 02.10.2026. Abbildung: Projektbericht/abbildungen/fig-interface-streamer-betrieb.png.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7.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22.jpe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24.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emf"/><Relationship Id="rId1" Type="http://schemas.openxmlformats.org/officeDocument/2006/relationships/slideMaster" Target="../slideMasters/slideMaster3.xml"/><Relationship Id="rId6" Type="http://schemas.openxmlformats.org/officeDocument/2006/relationships/image" Target="../media/image1.svg"/><Relationship Id="rId5" Type="http://schemas.openxmlformats.org/officeDocument/2006/relationships/image" Target="../media/image2.svg"/><Relationship Id="rId4" Type="http://schemas.openxmlformats.org/officeDocument/2006/relationships/image" Target="../media/image26.jpe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3.xml"/><Relationship Id="rId5" Type="http://schemas.openxmlformats.org/officeDocument/2006/relationships/image" Target="../media/image9.svg"/><Relationship Id="rId4" Type="http://schemas.openxmlformats.org/officeDocument/2006/relationships/image" Target="../media/image27.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MT_Präsentation // Cover_V1">
    <p:bg>
      <p:bgPr>
        <a:solidFill>
          <a:schemeClr val="bg1"/>
        </a:solidFill>
        <a:effectLst/>
      </p:bgPr>
    </p:b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36ED98AA-1C46-0443-A5FC-11C077AE8100}"/>
              </a:ext>
            </a:extLst>
          </p:cNvPr>
          <p:cNvSpPr>
            <a:spLocks noGrp="1"/>
          </p:cNvSpPr>
          <p:nvPr>
            <p:ph type="pic" sz="quarter" idx="12"/>
          </p:nvPr>
        </p:nvSpPr>
        <p:spPr>
          <a:xfrm>
            <a:off x="0" y="2744789"/>
            <a:ext cx="12192000" cy="3672527"/>
          </a:xfrm>
          <a:prstGeom prst="rect">
            <a:avLst/>
          </a:prstGeom>
          <a:solidFill>
            <a:schemeClr val="bg1">
              <a:lumMod val="95000"/>
            </a:schemeClr>
          </a:solidFill>
        </p:spPr>
        <p:txBody>
          <a:bodyPr/>
          <a:lstStyle>
            <a:lvl1pPr marL="0" indent="0">
              <a:buNone/>
              <a:defRPr sz="2000" b="0" i="0">
                <a:latin typeface="Calibri" panose="020F0502020204030204" pitchFamily="34" charset="0"/>
                <a:cs typeface="Calibri" panose="020F0502020204030204" pitchFamily="34" charset="0"/>
              </a:defRPr>
            </a:lvl1pPr>
          </a:lstStyle>
          <a:p>
            <a:r>
              <a:rPr lang="de-DE"/>
              <a:t>Bild durch Klicken auf Symbol hinzufügen</a:t>
            </a:r>
          </a:p>
        </p:txBody>
      </p:sp>
      <p:sp>
        <p:nvSpPr>
          <p:cNvPr id="7" name="Textfeld 6">
            <a:extLst>
              <a:ext uri="{FF2B5EF4-FFF2-40B4-BE49-F238E27FC236}">
                <a16:creationId xmlns:a16="http://schemas.microsoft.com/office/drawing/2014/main" id="{EBC4D843-9687-5E47-9E23-8DA6E1D2F540}"/>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feld 7">
            <a:extLst>
              <a:ext uri="{FF2B5EF4-FFF2-40B4-BE49-F238E27FC236}">
                <a16:creationId xmlns:a16="http://schemas.microsoft.com/office/drawing/2014/main" id="{AB4AE916-8FBE-0A48-921A-1DECF82C926C}"/>
              </a:ext>
            </a:extLst>
          </p:cNvPr>
          <p:cNvSpPr txBox="1"/>
          <p:nvPr userDrawn="1"/>
        </p:nvSpPr>
        <p:spPr>
          <a:xfrm>
            <a:off x="543403" y="4065509"/>
            <a:ext cx="8023301" cy="1950116"/>
          </a:xfrm>
          <a:prstGeom prst="rect">
            <a:avLst/>
          </a:prstGeom>
          <a:ln>
            <a:noFill/>
          </a:ln>
        </p:spPr>
        <p:txBody>
          <a:bodyPr wrap="square" lIns="0" tIns="0" rIns="0" bIns="0" rtlCol="0" anchor="t">
            <a:noAutofit/>
          </a:bodyPr>
          <a:lstStyle/>
          <a:p>
            <a:pPr algn="l">
              <a:lnSpc>
                <a:spcPts val="4763"/>
              </a:lnSpc>
            </a:pPr>
            <a:endParaRPr lang="de-DE" sz="4717" b="0" i="0" baseline="0">
              <a:solidFill>
                <a:srgbClr val="E63214"/>
              </a:solidFill>
              <a:latin typeface="Calibri" panose="020F0502020204030204" pitchFamily="34" charset="0"/>
            </a:endParaRPr>
          </a:p>
        </p:txBody>
      </p:sp>
      <p:sp>
        <p:nvSpPr>
          <p:cNvPr id="9" name="Textplatzhalter 11">
            <a:extLst>
              <a:ext uri="{FF2B5EF4-FFF2-40B4-BE49-F238E27FC236}">
                <a16:creationId xmlns:a16="http://schemas.microsoft.com/office/drawing/2014/main" id="{EF3C5B44-AC6E-2D48-924E-3901DAE94B9A}"/>
              </a:ext>
            </a:extLst>
          </p:cNvPr>
          <p:cNvSpPr>
            <a:spLocks noGrp="1"/>
          </p:cNvSpPr>
          <p:nvPr>
            <p:ph type="body" sz="quarter" idx="13" hasCustomPrompt="1"/>
          </p:nvPr>
        </p:nvSpPr>
        <p:spPr>
          <a:xfrm>
            <a:off x="333044" y="1548000"/>
            <a:ext cx="9601200" cy="1093600"/>
          </a:xfrm>
          <a:prstGeom prst="rect">
            <a:avLst/>
          </a:prstGeom>
        </p:spPr>
        <p:txBody>
          <a:bodyPr vert="horz" lIns="0" tIns="0" rIns="0" bIns="0" anchor="b" anchorCtr="0"/>
          <a:lstStyle>
            <a:lvl1pPr marL="0" indent="0">
              <a:lnSpc>
                <a:spcPts val="4200"/>
              </a:lnSpc>
              <a:spcBef>
                <a:spcPts val="0"/>
              </a:spcBef>
              <a:buFontTx/>
              <a:buNone/>
              <a:defRPr sz="4400" spc="-70" baseline="0">
                <a:solidFill>
                  <a:schemeClr val="accent5"/>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p>
        </p:txBody>
      </p:sp>
      <p:sp>
        <p:nvSpPr>
          <p:cNvPr id="10" name="Bildplatzhalter 3">
            <a:extLst>
              <a:ext uri="{FF2B5EF4-FFF2-40B4-BE49-F238E27FC236}">
                <a16:creationId xmlns:a16="http://schemas.microsoft.com/office/drawing/2014/main" id="{63594EE7-6D4C-F342-9549-A73FD626E6D5}"/>
              </a:ext>
            </a:extLst>
          </p:cNvPr>
          <p:cNvSpPr>
            <a:spLocks noGrp="1"/>
          </p:cNvSpPr>
          <p:nvPr>
            <p:ph type="pic" sz="quarter" idx="14"/>
          </p:nvPr>
        </p:nvSpPr>
        <p:spPr>
          <a:xfrm>
            <a:off x="10663200" y="2065732"/>
            <a:ext cx="1355141"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chemeClr val="bg1"/>
                </a:solidFill>
              </a:defRPr>
            </a:lvl1pPr>
          </a:lstStyle>
          <a:p>
            <a:r>
              <a:rPr lang="de-DE"/>
              <a:t>Bild durch Klicken auf Symbol hinzufügen</a:t>
            </a:r>
          </a:p>
        </p:txBody>
      </p:sp>
      <p:sp>
        <p:nvSpPr>
          <p:cNvPr id="4" name="Textplatzhalter 3">
            <a:extLst>
              <a:ext uri="{FF2B5EF4-FFF2-40B4-BE49-F238E27FC236}">
                <a16:creationId xmlns:a16="http://schemas.microsoft.com/office/drawing/2014/main" id="{F600A371-89E2-ED47-9691-9E9170B97BE8}"/>
              </a:ext>
            </a:extLst>
          </p:cNvPr>
          <p:cNvSpPr>
            <a:spLocks noGrp="1"/>
          </p:cNvSpPr>
          <p:nvPr>
            <p:ph type="body" sz="quarter" idx="15" hasCustomPrompt="1"/>
          </p:nvPr>
        </p:nvSpPr>
        <p:spPr>
          <a:xfrm>
            <a:off x="334800" y="6560424"/>
            <a:ext cx="3271937" cy="102315"/>
          </a:xfrm>
          <a:prstGeom prst="rect">
            <a:avLst/>
          </a:prstGeom>
        </p:spPr>
        <p:txBody>
          <a:bodyPr lIns="0" tIns="0" rIns="0" bIns="0"/>
          <a:lstStyle>
            <a:lvl1pPr marL="0" indent="0">
              <a:buNone/>
              <a:defRPr sz="907" b="0" baseline="0">
                <a:solidFill>
                  <a:schemeClr val="accent5"/>
                </a:solidFill>
                <a:latin typeface="Calibri" panose="020F0502020204030204" pitchFamily="34" charset="0"/>
                <a:cs typeface="Calibri" panose="020F0502020204030204" pitchFamily="34" charset="0"/>
              </a:defRPr>
            </a:lvl1pPr>
          </a:lstStyle>
          <a:p>
            <a:pPr lvl="0"/>
            <a:r>
              <a:rPr lang="de-DE" dirty="0"/>
              <a:t>FuE-Projekt Sommersemester 2026 | 30.09.2026</a:t>
            </a:r>
          </a:p>
        </p:txBody>
      </p:sp>
      <p:sp>
        <p:nvSpPr>
          <p:cNvPr id="2" name="Textfeld 1">
            <a:extLst>
              <a:ext uri="{FF2B5EF4-FFF2-40B4-BE49-F238E27FC236}">
                <a16:creationId xmlns:a16="http://schemas.microsoft.com/office/drawing/2014/main" id="{0EC0280D-1DC9-4D4F-8C6D-4C387A85644A}"/>
              </a:ext>
            </a:extLst>
          </p:cNvPr>
          <p:cNvSpPr txBox="1"/>
          <p:nvPr userDrawn="1"/>
        </p:nvSpPr>
        <p:spPr>
          <a:xfrm>
            <a:off x="-2356645" y="2343995"/>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Grundlinie Headline</a:t>
            </a:r>
          </a:p>
        </p:txBody>
      </p:sp>
      <p:sp>
        <p:nvSpPr>
          <p:cNvPr id="11" name="Textfeld 10">
            <a:extLst>
              <a:ext uri="{FF2B5EF4-FFF2-40B4-BE49-F238E27FC236}">
                <a16:creationId xmlns:a16="http://schemas.microsoft.com/office/drawing/2014/main" id="{8F7E0B84-5208-5649-A1CA-6D74146EDC74}"/>
              </a:ext>
            </a:extLst>
          </p:cNvPr>
          <p:cNvSpPr txBox="1"/>
          <p:nvPr userDrawn="1"/>
        </p:nvSpPr>
        <p:spPr>
          <a:xfrm>
            <a:off x="-2382169" y="272662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 K</a:t>
            </a:r>
          </a:p>
        </p:txBody>
      </p:sp>
      <p:sp>
        <p:nvSpPr>
          <p:cNvPr id="12" name="Textfeld 11">
            <a:extLst>
              <a:ext uri="{FF2B5EF4-FFF2-40B4-BE49-F238E27FC236}">
                <a16:creationId xmlns:a16="http://schemas.microsoft.com/office/drawing/2014/main" id="{86480DE9-73A8-2249-BD4A-8C2D2FA63776}"/>
              </a:ext>
            </a:extLst>
          </p:cNvPr>
          <p:cNvSpPr txBox="1"/>
          <p:nvPr userDrawn="1"/>
        </p:nvSpPr>
        <p:spPr>
          <a:xfrm>
            <a:off x="-2382169" y="629614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Bild</a:t>
            </a:r>
          </a:p>
        </p:txBody>
      </p:sp>
      <p:pic>
        <p:nvPicPr>
          <p:cNvPr id="13" name="Grafik 12">
            <a:extLst>
              <a:ext uri="{FF2B5EF4-FFF2-40B4-BE49-F238E27FC236}">
                <a16:creationId xmlns:a16="http://schemas.microsoft.com/office/drawing/2014/main" id="{F8D9F442-01BB-6F4C-A1FF-816B3394AAEB}"/>
              </a:ext>
            </a:extLst>
          </p:cNvPr>
          <p:cNvPicPr>
            <a:picLocks noChangeAspect="1"/>
          </p:cNvPicPr>
          <p:nvPr userDrawn="1"/>
        </p:nvPicPr>
        <p:blipFill>
          <a:blip r:embed="rId3">
            <a:alphaModFix amt="50000"/>
          </a:blip>
          <a:srcRect/>
          <a:stretch/>
        </p:blipFill>
        <p:spPr>
          <a:xfrm>
            <a:off x="12521184" y="7129"/>
            <a:ext cx="12191999" cy="6843741"/>
          </a:xfrm>
          <a:prstGeom prst="rect">
            <a:avLst/>
          </a:prstGeom>
        </p:spPr>
      </p:pic>
    </p:spTree>
    <p:extLst>
      <p:ext uri="{BB962C8B-B14F-4D97-AF65-F5344CB8AC3E}">
        <p14:creationId xmlns:p14="http://schemas.microsoft.com/office/powerpoint/2010/main" val="1401137780"/>
      </p:ext>
    </p:extLst>
  </p:cSld>
  <p:clrMapOvr>
    <a:masterClrMapping/>
  </p:clrMapOvr>
  <p:extLst>
    <p:ext uri="{DCECCB84-F9BA-43D5-87BE-67443E8EF086}">
      <p15:sldGuideLst xmlns:p15="http://schemas.microsoft.com/office/powerpoint/2012/main">
        <p15:guide id="1" orient="horz" pos="1729" userDrawn="1">
          <p15:clr>
            <a:srgbClr val="FBAE40"/>
          </p15:clr>
        </p15:guide>
        <p15:guide id="3" orient="horz" pos="157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MT_Präsentation // Cover_V2">
    <p:bg>
      <p:bgPr>
        <a:solidFill>
          <a:schemeClr val="bg1"/>
        </a:solidFill>
        <a:effectLst/>
      </p:bgPr>
    </p:b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36ED98AA-1C46-0443-A5FC-11C077AE8100}"/>
              </a:ext>
            </a:extLst>
          </p:cNvPr>
          <p:cNvSpPr>
            <a:spLocks noGrp="1"/>
          </p:cNvSpPr>
          <p:nvPr>
            <p:ph type="pic" sz="quarter" idx="12"/>
          </p:nvPr>
        </p:nvSpPr>
        <p:spPr>
          <a:xfrm>
            <a:off x="0" y="2744789"/>
            <a:ext cx="12192000" cy="4106081"/>
          </a:xfrm>
          <a:prstGeom prst="rect">
            <a:avLst/>
          </a:prstGeom>
          <a:solidFill>
            <a:schemeClr val="bg1">
              <a:lumMod val="95000"/>
            </a:schemeClr>
          </a:solidFill>
        </p:spPr>
        <p:txBody>
          <a:bodyPr/>
          <a:lstStyle>
            <a:lvl1pPr marL="0" indent="0">
              <a:buNone/>
              <a:defRPr sz="2000" b="0" i="0">
                <a:latin typeface="Calibri" panose="020F0502020204030204" pitchFamily="34" charset="0"/>
                <a:cs typeface="Calibri" panose="020F0502020204030204" pitchFamily="34" charset="0"/>
              </a:defRPr>
            </a:lvl1pPr>
          </a:lstStyle>
          <a:p>
            <a:r>
              <a:rPr lang="de-DE"/>
              <a:t>Bild durch Klicken auf Symbol hinzufügen</a:t>
            </a:r>
          </a:p>
        </p:txBody>
      </p:sp>
      <p:sp>
        <p:nvSpPr>
          <p:cNvPr id="7" name="Textfeld 6">
            <a:extLst>
              <a:ext uri="{FF2B5EF4-FFF2-40B4-BE49-F238E27FC236}">
                <a16:creationId xmlns:a16="http://schemas.microsoft.com/office/drawing/2014/main" id="{EBC4D843-9687-5E47-9E23-8DA6E1D2F540}"/>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feld 7">
            <a:extLst>
              <a:ext uri="{FF2B5EF4-FFF2-40B4-BE49-F238E27FC236}">
                <a16:creationId xmlns:a16="http://schemas.microsoft.com/office/drawing/2014/main" id="{AB4AE916-8FBE-0A48-921A-1DECF82C926C}"/>
              </a:ext>
            </a:extLst>
          </p:cNvPr>
          <p:cNvSpPr txBox="1"/>
          <p:nvPr userDrawn="1"/>
        </p:nvSpPr>
        <p:spPr>
          <a:xfrm>
            <a:off x="543403" y="4065509"/>
            <a:ext cx="8023301" cy="1950116"/>
          </a:xfrm>
          <a:prstGeom prst="rect">
            <a:avLst/>
          </a:prstGeom>
          <a:ln>
            <a:noFill/>
          </a:ln>
        </p:spPr>
        <p:txBody>
          <a:bodyPr wrap="square" lIns="0" tIns="0" rIns="0" bIns="0" rtlCol="0" anchor="t">
            <a:noAutofit/>
          </a:bodyPr>
          <a:lstStyle/>
          <a:p>
            <a:pPr algn="l">
              <a:lnSpc>
                <a:spcPts val="4763"/>
              </a:lnSpc>
            </a:pPr>
            <a:endParaRPr lang="de-DE" sz="4717" b="0" i="0" baseline="0">
              <a:solidFill>
                <a:srgbClr val="E63214"/>
              </a:solidFill>
              <a:latin typeface="Calibri" panose="020F0502020204030204" pitchFamily="34" charset="0"/>
            </a:endParaRPr>
          </a:p>
        </p:txBody>
      </p:sp>
      <p:sp>
        <p:nvSpPr>
          <p:cNvPr id="9" name="Textplatzhalter 11">
            <a:extLst>
              <a:ext uri="{FF2B5EF4-FFF2-40B4-BE49-F238E27FC236}">
                <a16:creationId xmlns:a16="http://schemas.microsoft.com/office/drawing/2014/main" id="{EF3C5B44-AC6E-2D48-924E-3901DAE94B9A}"/>
              </a:ext>
            </a:extLst>
          </p:cNvPr>
          <p:cNvSpPr>
            <a:spLocks noGrp="1"/>
          </p:cNvSpPr>
          <p:nvPr>
            <p:ph type="body" sz="quarter" idx="13" hasCustomPrompt="1"/>
          </p:nvPr>
        </p:nvSpPr>
        <p:spPr>
          <a:xfrm>
            <a:off x="333044" y="1548000"/>
            <a:ext cx="9601200" cy="1093600"/>
          </a:xfrm>
          <a:prstGeom prst="rect">
            <a:avLst/>
          </a:prstGeom>
        </p:spPr>
        <p:txBody>
          <a:bodyPr vert="horz" lIns="0" tIns="0" rIns="0" bIns="0" anchor="b" anchorCtr="0"/>
          <a:lstStyle>
            <a:lvl1pPr marL="0" indent="0">
              <a:lnSpc>
                <a:spcPts val="4200"/>
              </a:lnSpc>
              <a:spcBef>
                <a:spcPts val="0"/>
              </a:spcBef>
              <a:buFontTx/>
              <a:buNone/>
              <a:defRPr sz="4400" spc="-70" baseline="0">
                <a:solidFill>
                  <a:schemeClr val="accent5"/>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p>
        </p:txBody>
      </p:sp>
      <p:sp>
        <p:nvSpPr>
          <p:cNvPr id="10" name="Bildplatzhalter 3">
            <a:extLst>
              <a:ext uri="{FF2B5EF4-FFF2-40B4-BE49-F238E27FC236}">
                <a16:creationId xmlns:a16="http://schemas.microsoft.com/office/drawing/2014/main" id="{63594EE7-6D4C-F342-9549-A73FD626E6D5}"/>
              </a:ext>
            </a:extLst>
          </p:cNvPr>
          <p:cNvSpPr>
            <a:spLocks noGrp="1"/>
          </p:cNvSpPr>
          <p:nvPr>
            <p:ph type="pic" sz="quarter" idx="14"/>
          </p:nvPr>
        </p:nvSpPr>
        <p:spPr>
          <a:xfrm>
            <a:off x="10663200" y="2065732"/>
            <a:ext cx="1355141"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chemeClr val="bg1"/>
                </a:solidFill>
              </a:defRPr>
            </a:lvl1pPr>
          </a:lstStyle>
          <a:p>
            <a:r>
              <a:rPr lang="de-DE"/>
              <a:t>Bild durch Klicken auf Symbol hinzufügen</a:t>
            </a:r>
          </a:p>
        </p:txBody>
      </p:sp>
      <p:sp>
        <p:nvSpPr>
          <p:cNvPr id="2" name="Textfeld 1">
            <a:extLst>
              <a:ext uri="{FF2B5EF4-FFF2-40B4-BE49-F238E27FC236}">
                <a16:creationId xmlns:a16="http://schemas.microsoft.com/office/drawing/2014/main" id="{0EC0280D-1DC9-4D4F-8C6D-4C387A85644A}"/>
              </a:ext>
            </a:extLst>
          </p:cNvPr>
          <p:cNvSpPr txBox="1"/>
          <p:nvPr userDrawn="1"/>
        </p:nvSpPr>
        <p:spPr>
          <a:xfrm>
            <a:off x="-2356645" y="2343995"/>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Grundlinie Headline</a:t>
            </a:r>
          </a:p>
        </p:txBody>
      </p:sp>
      <p:sp>
        <p:nvSpPr>
          <p:cNvPr id="11" name="Textfeld 10">
            <a:extLst>
              <a:ext uri="{FF2B5EF4-FFF2-40B4-BE49-F238E27FC236}">
                <a16:creationId xmlns:a16="http://schemas.microsoft.com/office/drawing/2014/main" id="{8F7E0B84-5208-5649-A1CA-6D74146EDC74}"/>
              </a:ext>
            </a:extLst>
          </p:cNvPr>
          <p:cNvSpPr txBox="1"/>
          <p:nvPr userDrawn="1"/>
        </p:nvSpPr>
        <p:spPr>
          <a:xfrm>
            <a:off x="-2382169" y="272662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 K</a:t>
            </a:r>
          </a:p>
        </p:txBody>
      </p:sp>
      <p:sp>
        <p:nvSpPr>
          <p:cNvPr id="12" name="Textfeld 11">
            <a:extLst>
              <a:ext uri="{FF2B5EF4-FFF2-40B4-BE49-F238E27FC236}">
                <a16:creationId xmlns:a16="http://schemas.microsoft.com/office/drawing/2014/main" id="{86480DE9-73A8-2249-BD4A-8C2D2FA63776}"/>
              </a:ext>
            </a:extLst>
          </p:cNvPr>
          <p:cNvSpPr txBox="1"/>
          <p:nvPr userDrawn="1"/>
        </p:nvSpPr>
        <p:spPr>
          <a:xfrm>
            <a:off x="-2382169" y="629614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Bild</a:t>
            </a:r>
          </a:p>
        </p:txBody>
      </p:sp>
      <p:pic>
        <p:nvPicPr>
          <p:cNvPr id="13" name="Grafik 12">
            <a:extLst>
              <a:ext uri="{FF2B5EF4-FFF2-40B4-BE49-F238E27FC236}">
                <a16:creationId xmlns:a16="http://schemas.microsoft.com/office/drawing/2014/main" id="{F8D9F442-01BB-6F4C-A1FF-816B3394AAEB}"/>
              </a:ext>
            </a:extLst>
          </p:cNvPr>
          <p:cNvPicPr>
            <a:picLocks noChangeAspect="1"/>
          </p:cNvPicPr>
          <p:nvPr userDrawn="1"/>
        </p:nvPicPr>
        <p:blipFill>
          <a:blip r:embed="rId3">
            <a:alphaModFix amt="50000"/>
          </a:blip>
          <a:srcRect/>
          <a:stretch/>
        </p:blipFill>
        <p:spPr>
          <a:xfrm>
            <a:off x="12521185" y="7129"/>
            <a:ext cx="12191997" cy="6843741"/>
          </a:xfrm>
          <a:prstGeom prst="rect">
            <a:avLst/>
          </a:prstGeom>
        </p:spPr>
      </p:pic>
    </p:spTree>
    <p:extLst>
      <p:ext uri="{BB962C8B-B14F-4D97-AF65-F5344CB8AC3E}">
        <p14:creationId xmlns:p14="http://schemas.microsoft.com/office/powerpoint/2010/main" val="656871068"/>
      </p:ext>
    </p:extLst>
  </p:cSld>
  <p:clrMapOvr>
    <a:masterClrMapping/>
  </p:clrMapOvr>
  <p:extLst>
    <p:ext uri="{DCECCB84-F9BA-43D5-87BE-67443E8EF086}">
      <p15:sldGuideLst xmlns:p15="http://schemas.microsoft.com/office/powerpoint/2012/main">
        <p15:guide id="1" orient="horz" pos="1729">
          <p15:clr>
            <a:srgbClr val="FBAE40"/>
          </p15:clr>
        </p15:guide>
        <p15:guide id="3" orient="horz" pos="157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MT_Präsentation // Cover_V3">
    <p:bg>
      <p:bgPr>
        <a:solidFill>
          <a:schemeClr val="accent5"/>
        </a:solidFill>
        <a:effectLst/>
      </p:bgPr>
    </p:b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4" name="Textplatzhalter 11">
            <a:extLst>
              <a:ext uri="{FF2B5EF4-FFF2-40B4-BE49-F238E27FC236}">
                <a16:creationId xmlns:a16="http://schemas.microsoft.com/office/drawing/2014/main" id="{AD848F20-E885-8540-A608-6B6DA063C484}"/>
              </a:ext>
            </a:extLst>
          </p:cNvPr>
          <p:cNvSpPr>
            <a:spLocks noGrp="1"/>
          </p:cNvSpPr>
          <p:nvPr>
            <p:ph type="body" sz="quarter" idx="11" hasCustomPrompt="1"/>
          </p:nvPr>
        </p:nvSpPr>
        <p:spPr>
          <a:xfrm>
            <a:off x="334963" y="1881001"/>
            <a:ext cx="9601200" cy="1488815"/>
          </a:xfrm>
          <a:prstGeom prst="rect">
            <a:avLst/>
          </a:prstGeom>
        </p:spPr>
        <p:txBody>
          <a:bodyPr lIns="0" tIns="0" rIns="0" bIns="0" anchor="t" anchorCtr="0"/>
          <a:lstStyle>
            <a:lvl1pPr marL="0" indent="0">
              <a:lnSpc>
                <a:spcPts val="4200"/>
              </a:lnSpc>
              <a:spcBef>
                <a:spcPts val="0"/>
              </a:spcBef>
              <a:buFontTx/>
              <a:buNone/>
              <a:defRPr sz="4400" spc="-70" baseline="0">
                <a:solidFill>
                  <a:srgbClr val="FFFFFF"/>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br>
              <a:rPr lang="de-DE"/>
            </a:br>
            <a:r>
              <a:rPr lang="de-DE"/>
              <a:t>der Präsentation</a:t>
            </a:r>
          </a:p>
        </p:txBody>
      </p:sp>
      <p:sp>
        <p:nvSpPr>
          <p:cNvPr id="2" name="Textfeld 1">
            <a:extLst>
              <a:ext uri="{FF2B5EF4-FFF2-40B4-BE49-F238E27FC236}">
                <a16:creationId xmlns:a16="http://schemas.microsoft.com/office/drawing/2014/main" id="{D9190E2B-E77D-C849-914C-35375BDC90B2}"/>
              </a:ext>
            </a:extLst>
          </p:cNvPr>
          <p:cNvSpPr txBox="1"/>
          <p:nvPr userDrawn="1"/>
        </p:nvSpPr>
        <p:spPr>
          <a:xfrm>
            <a:off x="1063468" y="6629836"/>
            <a:ext cx="0" cy="0"/>
          </a:xfrm>
          <a:prstGeom prst="rect">
            <a:avLst/>
          </a:prstGeom>
          <a:ln>
            <a:solidFill>
              <a:schemeClr val="accent1"/>
            </a:solidFill>
          </a:ln>
        </p:spPr>
        <p:txBody>
          <a:bodyPr wrap="none" rtlCol="0" anchor="b">
            <a:noAutofit/>
          </a:bodyPr>
          <a:lstStyle/>
          <a:p>
            <a:pPr algn="l"/>
            <a:endParaRPr lang="de-DE" sz="370" err="1"/>
          </a:p>
        </p:txBody>
      </p:sp>
      <p:sp>
        <p:nvSpPr>
          <p:cNvPr id="4" name="Bildplatzhalter 3">
            <a:extLst>
              <a:ext uri="{FF2B5EF4-FFF2-40B4-BE49-F238E27FC236}">
                <a16:creationId xmlns:a16="http://schemas.microsoft.com/office/drawing/2014/main" id="{0DEA4B71-C0F6-A143-91CD-20DCCAFE1ECE}"/>
              </a:ext>
            </a:extLst>
          </p:cNvPr>
          <p:cNvSpPr>
            <a:spLocks noGrp="1"/>
          </p:cNvSpPr>
          <p:nvPr>
            <p:ph type="pic" sz="quarter" idx="12"/>
          </p:nvPr>
        </p:nvSpPr>
        <p:spPr>
          <a:xfrm>
            <a:off x="10663200" y="1206000"/>
            <a:ext cx="1355294"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rgbClr val="D72305"/>
                </a:solidFill>
              </a:defRPr>
            </a:lvl1pPr>
          </a:lstStyle>
          <a:p>
            <a:r>
              <a:rPr lang="de-DE"/>
              <a:t>Bild durch Klicken auf Symbol hinzufügen</a:t>
            </a:r>
          </a:p>
        </p:txBody>
      </p:sp>
      <p:pic>
        <p:nvPicPr>
          <p:cNvPr id="9" name="Grafik 8">
            <a:extLst>
              <a:ext uri="{FF2B5EF4-FFF2-40B4-BE49-F238E27FC236}">
                <a16:creationId xmlns:a16="http://schemas.microsoft.com/office/drawing/2014/main" id="{8497CFA3-6340-C34D-B768-F7A95EB4E9C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663200" y="302400"/>
            <a:ext cx="1356360" cy="914400"/>
          </a:xfrm>
          <a:prstGeom prst="rect">
            <a:avLst/>
          </a:prstGeom>
        </p:spPr>
      </p:pic>
      <p:sp>
        <p:nvSpPr>
          <p:cNvPr id="8" name="Textplatzhalter 3">
            <a:extLst>
              <a:ext uri="{FF2B5EF4-FFF2-40B4-BE49-F238E27FC236}">
                <a16:creationId xmlns:a16="http://schemas.microsoft.com/office/drawing/2014/main" id="{C8BD6479-55DD-AC47-9F75-3DCC5AA8DAAA}"/>
              </a:ext>
            </a:extLst>
          </p:cNvPr>
          <p:cNvSpPr>
            <a:spLocks noGrp="1"/>
          </p:cNvSpPr>
          <p:nvPr>
            <p:ph type="body" sz="quarter" idx="15" hasCustomPrompt="1"/>
          </p:nvPr>
        </p:nvSpPr>
        <p:spPr>
          <a:xfrm>
            <a:off x="334800" y="6560424"/>
            <a:ext cx="3271937" cy="102315"/>
          </a:xfrm>
          <a:prstGeom prst="rect">
            <a:avLst/>
          </a:prstGeom>
        </p:spPr>
        <p:txBody>
          <a:bodyPr lIns="0" tIns="0" rIns="0" bIns="0"/>
          <a:lstStyle>
            <a:lvl1pPr marL="0" indent="0">
              <a:buNone/>
              <a:defRPr sz="907" b="0" baseline="0">
                <a:solidFill>
                  <a:schemeClr val="tx2"/>
                </a:solidFill>
                <a:latin typeface="Calibri" panose="020F0502020204030204" pitchFamily="34" charset="0"/>
                <a:cs typeface="Calibri" panose="020F0502020204030204" pitchFamily="34" charset="0"/>
              </a:defRPr>
            </a:lvl1pPr>
          </a:lstStyle>
          <a:p>
            <a:pPr lvl="0"/>
            <a:r>
              <a:rPr lang="de-DE" dirty="0"/>
              <a:t>FuE-Projekt Sommersemester 2026 | 30.09.2026</a:t>
            </a:r>
          </a:p>
        </p:txBody>
      </p:sp>
      <p:sp>
        <p:nvSpPr>
          <p:cNvPr id="12" name="Textfeld 11">
            <a:extLst>
              <a:ext uri="{FF2B5EF4-FFF2-40B4-BE49-F238E27FC236}">
                <a16:creationId xmlns:a16="http://schemas.microsoft.com/office/drawing/2014/main" id="{D9A9E72F-1ACA-F247-8BD4-0C1BBC4CCD82}"/>
              </a:ext>
            </a:extLst>
          </p:cNvPr>
          <p:cNvSpPr txBox="1"/>
          <p:nvPr userDrawn="1"/>
        </p:nvSpPr>
        <p:spPr>
          <a:xfrm>
            <a:off x="-2382169" y="182897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pic>
        <p:nvPicPr>
          <p:cNvPr id="5" name="Grafik 4" descr="Ein Bild, das Text enthält.&#10;&#10;Automatisch generierte Beschreibung">
            <a:extLst>
              <a:ext uri="{FF2B5EF4-FFF2-40B4-BE49-F238E27FC236}">
                <a16:creationId xmlns:a16="http://schemas.microsoft.com/office/drawing/2014/main" id="{F9C5C9DE-460D-3A49-889E-B30613FE6DB5}"/>
              </a:ext>
            </a:extLst>
          </p:cNvPr>
          <p:cNvPicPr>
            <a:picLocks noChangeAspect="1"/>
          </p:cNvPicPr>
          <p:nvPr userDrawn="1"/>
        </p:nvPicPr>
        <p:blipFill>
          <a:blip r:embed="rId4">
            <a:alphaModFix amt="50000"/>
          </a:blip>
          <a:stretch>
            <a:fillRect/>
          </a:stretch>
        </p:blipFill>
        <p:spPr>
          <a:xfrm>
            <a:off x="12557760" y="7129"/>
            <a:ext cx="12192000" cy="6843742"/>
          </a:xfrm>
          <a:prstGeom prst="rect">
            <a:avLst/>
          </a:prstGeom>
        </p:spPr>
      </p:pic>
      <p:pic>
        <p:nvPicPr>
          <p:cNvPr id="11" name="Grafik 10">
            <a:extLst>
              <a:ext uri="{FF2B5EF4-FFF2-40B4-BE49-F238E27FC236}">
                <a16:creationId xmlns:a16="http://schemas.microsoft.com/office/drawing/2014/main" id="{AF38B288-F314-D247-B61E-DD5F7516106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3"/>
            <a:ext cx="1737356" cy="967737"/>
          </a:xfrm>
          <a:prstGeom prst="rect">
            <a:avLst/>
          </a:prstGeom>
        </p:spPr>
      </p:pic>
    </p:spTree>
    <p:extLst>
      <p:ext uri="{BB962C8B-B14F-4D97-AF65-F5344CB8AC3E}">
        <p14:creationId xmlns:p14="http://schemas.microsoft.com/office/powerpoint/2010/main" val="2257337023"/>
      </p:ext>
    </p:extLst>
  </p:cSld>
  <p:clrMapOvr>
    <a:masterClrMapping/>
  </p:clrMapOvr>
  <p:extLst>
    <p:ext uri="{DCECCB84-F9BA-43D5-87BE-67443E8EF086}">
      <p15:sldGuideLst xmlns:p15="http://schemas.microsoft.com/office/powerpoint/2012/main">
        <p15:guide id="2" orient="horz" pos="118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MT_Präsentation // Headline + FT">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platzhalter 2">
            <a:extLst>
              <a:ext uri="{FF2B5EF4-FFF2-40B4-BE49-F238E27FC236}">
                <a16:creationId xmlns:a16="http://schemas.microsoft.com/office/drawing/2014/main" id="{86E46402-E95E-8E4B-91CE-C6482D95DF06}"/>
              </a:ext>
            </a:extLst>
          </p:cNvPr>
          <p:cNvSpPr>
            <a:spLocks noGrp="1"/>
          </p:cNvSpPr>
          <p:nvPr>
            <p:ph type="body" sz="quarter" idx="18" hasCustomPrompt="1"/>
          </p:nvPr>
        </p:nvSpPr>
        <p:spPr>
          <a:xfrm>
            <a:off x="334960" y="1206001"/>
            <a:ext cx="10909303" cy="4599488"/>
          </a:xfrm>
          <a:prstGeom prst="rect">
            <a:avLst/>
          </a:prstGeom>
        </p:spPr>
        <p:txBody>
          <a:bodyPr lIns="0" tIns="0" rIns="0" bIns="0" numCol="1" spcCol="720000"/>
          <a:lstStyle>
            <a:lvl1pPr marL="0" indent="0">
              <a:lnSpc>
                <a:spcPts val="2100"/>
              </a:lnSpc>
              <a:spcBef>
                <a:spcPts val="1350"/>
              </a:spcBef>
              <a:spcAft>
                <a:spcPts val="0"/>
              </a:spcAft>
              <a:buSzPct val="90000"/>
              <a:buFontTx/>
              <a:buNone/>
              <a:defRPr sz="1800" b="0" i="0" baseline="0">
                <a:latin typeface="Calibri" panose="020F0502020204030204" pitchFamily="34" charset="0"/>
                <a:cs typeface="Calibri" panose="020F0502020204030204" pitchFamily="34" charset="0"/>
              </a:defRPr>
            </a:lvl1pPr>
            <a:lvl2pPr marL="252000" indent="-252000">
              <a:lnSpc>
                <a:spcPts val="2250"/>
              </a:lnSpc>
              <a:spcBef>
                <a:spcPts val="350"/>
              </a:spcBef>
              <a:spcAft>
                <a:spcPts val="200"/>
              </a:spcAft>
              <a:buFontTx/>
              <a:buBlip>
                <a:blip r:embed="rId2"/>
              </a:buBlip>
              <a:defRPr sz="1800" b="0" i="0" baseline="0">
                <a:latin typeface="Calibri" panose="020F0502020204030204" pitchFamily="34" charset="0"/>
                <a:cs typeface="Calibri" panose="020F0502020204030204" pitchFamily="34" charset="0"/>
              </a:defRPr>
            </a:lvl2pPr>
            <a:lvl3pPr marL="504000" indent="-252000">
              <a:lnSpc>
                <a:spcPts val="2250"/>
              </a:lnSpc>
              <a:spcBef>
                <a:spcPts val="350"/>
              </a:spcBef>
              <a:spcAft>
                <a:spcPts val="0"/>
              </a:spcAft>
              <a:buSzPct val="100000"/>
              <a:buFontTx/>
              <a:buBlip>
                <a:blip r:embed="rId2"/>
              </a:buBlip>
              <a:defRPr sz="1800" b="0" i="0" baseline="0">
                <a:latin typeface="Calibri" panose="020F0502020204030204" pitchFamily="34" charset="0"/>
                <a:cs typeface="Calibri" panose="020F0502020204030204" pitchFamily="34" charset="0"/>
              </a:defRPr>
            </a:lvl3pPr>
            <a:lvl4pPr marL="504000" indent="-234000">
              <a:lnSpc>
                <a:spcPts val="2250"/>
              </a:lnSpc>
              <a:spcBef>
                <a:spcPts val="350"/>
              </a:spcBef>
              <a:spcAft>
                <a:spcPts val="0"/>
              </a:spcAft>
              <a:buSzPct val="90000"/>
              <a:buFont typeface="Arial" pitchFamily="2" charset="2"/>
              <a:buChar char="-"/>
              <a:defRPr sz="1800" b="0" i="0" baseline="0">
                <a:latin typeface="Calibri" panose="020F0502020204030204" pitchFamily="34" charset="0"/>
                <a:cs typeface="Calibri" panose="020F0502020204030204" pitchFamily="34" charset="0"/>
              </a:defRPr>
            </a:lvl4pPr>
            <a:lvl5pPr marL="504000" indent="0">
              <a:lnSpc>
                <a:spcPts val="1800"/>
              </a:lnSpc>
              <a:spcBef>
                <a:spcPts val="350"/>
              </a:spcBef>
              <a:spcAft>
                <a:spcPts val="0"/>
              </a:spcAft>
              <a:buNone/>
              <a:defRPr sz="1452" b="0" i="0">
                <a:latin typeface="Calibri" panose="020F0502020204030204" pitchFamily="34" charset="0"/>
                <a:cs typeface="Calibri" panose="020F0502020204030204" pitchFamily="34" charset="0"/>
              </a:defRPr>
            </a:lvl5pPr>
          </a:lstStyle>
          <a:p>
            <a:pPr lvl="0"/>
            <a:r>
              <a:rPr lang="de-DE"/>
              <a:t>Mastertextformat bearbeiten 18pt</a:t>
            </a:r>
          </a:p>
          <a:p>
            <a:pPr lvl="1"/>
            <a:r>
              <a:rPr lang="de-DE"/>
              <a:t>Zweite Ebene 18pt</a:t>
            </a:r>
          </a:p>
          <a:p>
            <a:pPr lvl="2"/>
            <a:r>
              <a:rPr lang="de-DE"/>
              <a:t>Dritte Ebene 18pt</a:t>
            </a:r>
          </a:p>
          <a:p>
            <a:pPr lvl="3"/>
            <a:r>
              <a:rPr lang="de-DE"/>
              <a:t>Vierte Ebene 18pt</a:t>
            </a:r>
          </a:p>
          <a:p>
            <a:pPr lvl="4"/>
            <a:r>
              <a:rPr lang="de-DE"/>
              <a:t>Fünfte Ebene 14,5pt</a:t>
            </a:r>
          </a:p>
        </p:txBody>
      </p:sp>
      <p:sp>
        <p:nvSpPr>
          <p:cNvPr id="9" name="Textplatzhalter 2">
            <a:extLst>
              <a:ext uri="{FF2B5EF4-FFF2-40B4-BE49-F238E27FC236}">
                <a16:creationId xmlns:a16="http://schemas.microsoft.com/office/drawing/2014/main" id="{901185BA-D52F-D14B-86B3-9443C18925BC}"/>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sp>
        <p:nvSpPr>
          <p:cNvPr id="14" name="Textfeld 13">
            <a:extLst>
              <a:ext uri="{FF2B5EF4-FFF2-40B4-BE49-F238E27FC236}">
                <a16:creationId xmlns:a16="http://schemas.microsoft.com/office/drawing/2014/main" id="{D2E72119-490B-1845-9D75-16B134CF87E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5" name="Textfeld 14">
            <a:extLst>
              <a:ext uri="{FF2B5EF4-FFF2-40B4-BE49-F238E27FC236}">
                <a16:creationId xmlns:a16="http://schemas.microsoft.com/office/drawing/2014/main" id="{C97E69B1-EE6A-9E46-A114-65ACB3875226}"/>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pic>
        <p:nvPicPr>
          <p:cNvPr id="16" name="Grafik 15">
            <a:extLst>
              <a:ext uri="{FF2B5EF4-FFF2-40B4-BE49-F238E27FC236}">
                <a16:creationId xmlns:a16="http://schemas.microsoft.com/office/drawing/2014/main" id="{D318F462-CCE5-C94F-B170-2AB521F1013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6" name="Datumsplatzhalter 5">
            <a:extLst>
              <a:ext uri="{FF2B5EF4-FFF2-40B4-BE49-F238E27FC236}">
                <a16:creationId xmlns:a16="http://schemas.microsoft.com/office/drawing/2014/main" id="{6AB2C604-EF2B-4241-9B8D-353525CC64B5}"/>
              </a:ext>
            </a:extLst>
          </p:cNvPr>
          <p:cNvSpPr>
            <a:spLocks noGrp="1"/>
          </p:cNvSpPr>
          <p:nvPr>
            <p:ph type="dt" sz="half" idx="27"/>
          </p:nvPr>
        </p:nvSpPr>
        <p:spPr/>
        <p:txBody>
          <a:bodyPr/>
          <a:lstStyle/>
          <a:p>
            <a:pPr lvl="0"/>
            <a:r>
              <a:rPr lang="de-DE" dirty="0"/>
              <a:t>FuE-Projekt Sommersemester 2026 | 30.09.2026</a:t>
            </a:r>
          </a:p>
        </p:txBody>
      </p:sp>
      <p:sp>
        <p:nvSpPr>
          <p:cNvPr id="7" name="Fußzeilenplatzhalter 6">
            <a:extLst>
              <a:ext uri="{FF2B5EF4-FFF2-40B4-BE49-F238E27FC236}">
                <a16:creationId xmlns:a16="http://schemas.microsoft.com/office/drawing/2014/main" id="{0536C2A7-C47B-254D-B8A7-9A5F4F781FC8}"/>
              </a:ext>
            </a:extLst>
          </p:cNvPr>
          <p:cNvSpPr>
            <a:spLocks noGrp="1"/>
          </p:cNvSpPr>
          <p:nvPr>
            <p:ph type="ftr" sz="quarter" idx="28"/>
          </p:nvPr>
        </p:nvSpPr>
        <p:spPr/>
        <p:txBody>
          <a:bodyPr/>
          <a:lstStyle/>
          <a:p>
            <a:r>
              <a:rPr lang="de-DE"/>
              <a:t>Hochschule Karlsruhe</a:t>
            </a:r>
          </a:p>
        </p:txBody>
      </p:sp>
      <p:sp>
        <p:nvSpPr>
          <p:cNvPr id="10" name="Foliennummernplatzhalter 9">
            <a:extLst>
              <a:ext uri="{FF2B5EF4-FFF2-40B4-BE49-F238E27FC236}">
                <a16:creationId xmlns:a16="http://schemas.microsoft.com/office/drawing/2014/main" id="{7CA1E7AB-4DEA-5C4B-BF0E-2A91CF7C83B6}"/>
              </a:ext>
            </a:extLst>
          </p:cNvPr>
          <p:cNvSpPr>
            <a:spLocks noGrp="1"/>
          </p:cNvSpPr>
          <p:nvPr>
            <p:ph type="sldNum" sz="quarter" idx="29"/>
          </p:nvPr>
        </p:nvSpPr>
        <p:spPr/>
        <p:txBody>
          <a:bodyPr/>
          <a:lstStyle/>
          <a:p>
            <a:fld id="{13005BA2-ABF8-0A46-8B15-84F2660EFA6C}" type="slidenum">
              <a:rPr lang="de-DE" smtClean="0"/>
              <a:pPr/>
              <a:t>‹Nr.›</a:t>
            </a:fld>
            <a:endParaRPr lang="de-DE"/>
          </a:p>
        </p:txBody>
      </p:sp>
      <p:pic>
        <p:nvPicPr>
          <p:cNvPr id="2" name="Grafik 1">
            <a:extLst>
              <a:ext uri="{FF2B5EF4-FFF2-40B4-BE49-F238E27FC236}">
                <a16:creationId xmlns:a16="http://schemas.microsoft.com/office/drawing/2014/main" id="{7AF99E34-E21F-829E-6DB0-5444337FA472}"/>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593054334"/>
      </p:ext>
    </p:extLst>
  </p:cSld>
  <p:clrMapOvr>
    <a:masterClrMapping/>
  </p:clrMapOvr>
  <p:transition spd="slow">
    <p:push dir="u"/>
  </p:transition>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MT_Präsentation // Headline + FT / 2 Spalten">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3" name="Textplatzhalter 2">
            <a:extLst>
              <a:ext uri="{FF2B5EF4-FFF2-40B4-BE49-F238E27FC236}">
                <a16:creationId xmlns:a16="http://schemas.microsoft.com/office/drawing/2014/main" id="{30F0FB05-04C2-824E-B783-EC81EB6ADA59}"/>
              </a:ext>
            </a:extLst>
          </p:cNvPr>
          <p:cNvSpPr>
            <a:spLocks noGrp="1"/>
          </p:cNvSpPr>
          <p:nvPr>
            <p:ph type="body" sz="quarter" idx="18" hasCustomPrompt="1"/>
          </p:nvPr>
        </p:nvSpPr>
        <p:spPr>
          <a:xfrm>
            <a:off x="334961" y="1206000"/>
            <a:ext cx="10908000" cy="4599488"/>
          </a:xfrm>
          <a:prstGeom prst="rect">
            <a:avLst/>
          </a:prstGeom>
        </p:spPr>
        <p:txBody>
          <a:bodyPr lIns="0" tIns="0" rIns="0" bIns="0" numCol="2" spcCol="360000"/>
          <a:lstStyle>
            <a:lvl1pPr marL="0" indent="0">
              <a:lnSpc>
                <a:spcPts val="1700"/>
              </a:lnSpc>
              <a:spcBef>
                <a:spcPts val="1200"/>
              </a:spcBef>
              <a:spcAft>
                <a:spcPts val="0"/>
              </a:spcAft>
              <a:buSzPct val="90000"/>
              <a:buFontTx/>
              <a:buNone/>
              <a:defRPr sz="1452" b="0" i="0" baseline="0">
                <a:latin typeface="Calibri" panose="020F0502020204030204" pitchFamily="34" charset="0"/>
                <a:cs typeface="Calibri" panose="020F0502020204030204" pitchFamily="34" charset="0"/>
              </a:defRPr>
            </a:lvl1pPr>
            <a:lvl2pPr marL="252000" indent="-252000">
              <a:lnSpc>
                <a:spcPts val="1800"/>
              </a:lnSpc>
              <a:spcBef>
                <a:spcPts val="350"/>
              </a:spcBef>
              <a:spcAft>
                <a:spcPts val="200"/>
              </a:spcAft>
              <a:buFontTx/>
              <a:buBlip>
                <a:blip r:embed="rId2"/>
              </a:buBlip>
              <a:defRPr sz="1452" b="0" i="0" baseline="0">
                <a:latin typeface="Calibri" panose="020F0502020204030204" pitchFamily="34" charset="0"/>
                <a:cs typeface="Calibri" panose="020F0502020204030204" pitchFamily="34" charset="0"/>
              </a:defRPr>
            </a:lvl2pPr>
            <a:lvl3pPr marL="504000" indent="-252000">
              <a:lnSpc>
                <a:spcPts val="1800"/>
              </a:lnSpc>
              <a:spcBef>
                <a:spcPts val="350"/>
              </a:spcBef>
              <a:spcAft>
                <a:spcPts val="0"/>
              </a:spcAft>
              <a:buFontTx/>
              <a:buBlip>
                <a:blip r:embed="rId2"/>
              </a:buBlip>
              <a:defRPr sz="1452" b="0" i="0" baseline="0">
                <a:latin typeface="Calibri" panose="020F0502020204030204" pitchFamily="34" charset="0"/>
                <a:cs typeface="Calibri" panose="020F0502020204030204" pitchFamily="34" charset="0"/>
              </a:defRPr>
            </a:lvl3pPr>
            <a:lvl4pPr marL="504000" indent="-234000">
              <a:lnSpc>
                <a:spcPts val="1800"/>
              </a:lnSpc>
              <a:spcBef>
                <a:spcPts val="350"/>
              </a:spcBef>
              <a:spcAft>
                <a:spcPts val="0"/>
              </a:spcAft>
              <a:buSzPct val="90000"/>
              <a:buFont typeface="Arial" pitchFamily="2" charset="2"/>
              <a:buChar char="-"/>
              <a:defRPr sz="1452" b="0" i="0" baseline="0">
                <a:latin typeface="Calibri" panose="020F0502020204030204" pitchFamily="34" charset="0"/>
                <a:cs typeface="Calibri" panose="020F0502020204030204" pitchFamily="34" charset="0"/>
              </a:defRPr>
            </a:lvl4pPr>
            <a:lvl5pPr marL="504000" indent="0">
              <a:lnSpc>
                <a:spcPts val="1800"/>
              </a:lnSpc>
              <a:spcBef>
                <a:spcPts val="500"/>
              </a:spcBef>
              <a:spcAft>
                <a:spcPts val="0"/>
              </a:spcAft>
              <a:buNone/>
              <a:defRPr sz="1450" b="0" i="0">
                <a:latin typeface="Calibri" panose="020F0502020204030204" pitchFamily="34" charset="0"/>
                <a:cs typeface="Calibri" panose="020F0502020204030204" pitchFamily="34" charset="0"/>
              </a:defRPr>
            </a:lvl5pPr>
          </a:lstStyle>
          <a:p>
            <a:pPr lvl="0"/>
            <a:r>
              <a:rPr lang="de-DE"/>
              <a:t>Mastertextformat bearbeiten 14,5pt</a:t>
            </a:r>
          </a:p>
          <a:p>
            <a:pPr lvl="1"/>
            <a:r>
              <a:rPr lang="de-DE"/>
              <a:t>Zweite Ebene 14,5pt</a:t>
            </a:r>
          </a:p>
          <a:p>
            <a:pPr lvl="2"/>
            <a:r>
              <a:rPr lang="de-DE"/>
              <a:t>Dritte Ebene 14,5pt</a:t>
            </a:r>
          </a:p>
          <a:p>
            <a:pPr lvl="3"/>
            <a:r>
              <a:rPr lang="de-DE"/>
              <a:t>Vierte Ebene 14,5pt</a:t>
            </a:r>
          </a:p>
          <a:p>
            <a:pPr lvl="4"/>
            <a:r>
              <a:rPr lang="de-DE"/>
              <a:t>Fünfte Ebene 14,5pt</a:t>
            </a:r>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14" name="Textfeld 13">
            <a:extLst>
              <a:ext uri="{FF2B5EF4-FFF2-40B4-BE49-F238E27FC236}">
                <a16:creationId xmlns:a16="http://schemas.microsoft.com/office/drawing/2014/main" id="{CB82DBDE-22F0-EA49-8FE1-81FDE3F246C1}"/>
              </a:ext>
            </a:extLst>
          </p:cNvPr>
          <p:cNvSpPr txBox="1"/>
          <p:nvPr userDrawn="1"/>
        </p:nvSpPr>
        <p:spPr>
          <a:xfrm>
            <a:off x="5916613" y="-285042"/>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 Kante 2-spaltiger Text</a:t>
            </a:r>
          </a:p>
        </p:txBody>
      </p:sp>
      <p:pic>
        <p:nvPicPr>
          <p:cNvPr id="15" name="Grafik 14">
            <a:extLst>
              <a:ext uri="{FF2B5EF4-FFF2-40B4-BE49-F238E27FC236}">
                <a16:creationId xmlns:a16="http://schemas.microsoft.com/office/drawing/2014/main" id="{36AAFD6B-6B4E-4244-A5BE-4A87DF410485}"/>
              </a:ext>
            </a:extLst>
          </p:cNvPr>
          <p:cNvPicPr>
            <a:picLocks noChangeAspect="1"/>
          </p:cNvPicPr>
          <p:nvPr userDrawn="1"/>
        </p:nvPicPr>
        <p:blipFill>
          <a:blip r:embed="rId3">
            <a:alphaModFix amt="50000"/>
          </a:blip>
          <a:srcRect/>
          <a:stretch/>
        </p:blipFill>
        <p:spPr>
          <a:xfrm>
            <a:off x="12521184" y="7129"/>
            <a:ext cx="12191999" cy="6843742"/>
          </a:xfrm>
          <a:prstGeom prst="rect">
            <a:avLst/>
          </a:prstGeom>
        </p:spPr>
      </p:pic>
      <p:sp>
        <p:nvSpPr>
          <p:cNvPr id="9" name="Datumsplatzhalter 8">
            <a:extLst>
              <a:ext uri="{FF2B5EF4-FFF2-40B4-BE49-F238E27FC236}">
                <a16:creationId xmlns:a16="http://schemas.microsoft.com/office/drawing/2014/main" id="{C5E3C4FF-AC9F-F54B-8465-1AC4021BC55E}"/>
              </a:ext>
            </a:extLst>
          </p:cNvPr>
          <p:cNvSpPr>
            <a:spLocks noGrp="1"/>
          </p:cNvSpPr>
          <p:nvPr>
            <p:ph type="dt" sz="half" idx="28"/>
          </p:nvPr>
        </p:nvSpPr>
        <p:spPr/>
        <p:txBody>
          <a:bodyPr/>
          <a:lstStyle/>
          <a:p>
            <a:r>
              <a:rPr lang="de-DE" dirty="0"/>
              <a:t>FuE-Projekt Sommersemester 2026 | 30.09.2026</a:t>
            </a:r>
          </a:p>
        </p:txBody>
      </p:sp>
      <p:sp>
        <p:nvSpPr>
          <p:cNvPr id="11" name="Fußzeilenplatzhalter 10">
            <a:extLst>
              <a:ext uri="{FF2B5EF4-FFF2-40B4-BE49-F238E27FC236}">
                <a16:creationId xmlns:a16="http://schemas.microsoft.com/office/drawing/2014/main" id="{879FB237-7ED6-3346-A8F6-42573391E724}"/>
              </a:ext>
            </a:extLst>
          </p:cNvPr>
          <p:cNvSpPr>
            <a:spLocks noGrp="1"/>
          </p:cNvSpPr>
          <p:nvPr>
            <p:ph type="ftr" sz="quarter" idx="29"/>
          </p:nvPr>
        </p:nvSpPr>
        <p:spPr/>
        <p:txBody>
          <a:bodyPr/>
          <a:lstStyle/>
          <a:p>
            <a:r>
              <a:rPr lang="de-DE"/>
              <a:t>Hochschule Karlsruhe</a:t>
            </a:r>
          </a:p>
        </p:txBody>
      </p:sp>
      <p:sp>
        <p:nvSpPr>
          <p:cNvPr id="16" name="Foliennummernplatzhalter 15">
            <a:extLst>
              <a:ext uri="{FF2B5EF4-FFF2-40B4-BE49-F238E27FC236}">
                <a16:creationId xmlns:a16="http://schemas.microsoft.com/office/drawing/2014/main" id="{474AE2D7-E79E-3A47-87A1-AFF2B7575974}"/>
              </a:ext>
            </a:extLst>
          </p:cNvPr>
          <p:cNvSpPr>
            <a:spLocks noGrp="1"/>
          </p:cNvSpPr>
          <p:nvPr>
            <p:ph type="sldNum" sz="quarter" idx="30"/>
          </p:nvPr>
        </p:nvSpPr>
        <p:spPr/>
        <p:txBody>
          <a:bodyPr/>
          <a:lstStyle/>
          <a:p>
            <a:fld id="{13005BA2-ABF8-0A46-8B15-84F2660EFA6C}" type="slidenum">
              <a:rPr lang="de-DE" smtClean="0"/>
              <a:pPr/>
              <a:t>‹Nr.›</a:t>
            </a:fld>
            <a:endParaRPr lang="de-DE"/>
          </a:p>
        </p:txBody>
      </p:sp>
      <p:sp>
        <p:nvSpPr>
          <p:cNvPr id="17" name="Textplatzhalter 2">
            <a:extLst>
              <a:ext uri="{FF2B5EF4-FFF2-40B4-BE49-F238E27FC236}">
                <a16:creationId xmlns:a16="http://schemas.microsoft.com/office/drawing/2014/main" id="{AAD67889-1293-ED41-AF2F-6BE684E4815D}"/>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1" name="Grafik 20">
            <a:extLst>
              <a:ext uri="{FF2B5EF4-FFF2-40B4-BE49-F238E27FC236}">
                <a16:creationId xmlns:a16="http://schemas.microsoft.com/office/drawing/2014/main" id="{4C47BBE0-2958-B54C-92CA-A77794DE3B65}"/>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8533D82B-2F15-041A-01CD-A97EECF66CA1}"/>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470982144"/>
      </p:ext>
    </p:extLst>
  </p:cSld>
  <p:clrMapOvr>
    <a:masterClrMapping/>
  </p:clrMapOvr>
  <p:extLst>
    <p:ext uri="{DCECCB84-F9BA-43D5-87BE-67443E8EF086}">
      <p15:sldGuideLst xmlns:p15="http://schemas.microsoft.com/office/powerpoint/2012/main">
        <p15:guide id="1" pos="3727" userDrawn="1">
          <p15:clr>
            <a:srgbClr val="FBAE40"/>
          </p15:clr>
        </p15:guide>
        <p15:guide id="2" pos="3545" userDrawn="1">
          <p15:clr>
            <a:srgbClr val="FBAE40"/>
          </p15:clr>
        </p15:guide>
        <p15:guide id="3" orient="horz" pos="754" userDrawn="1">
          <p15:clr>
            <a:srgbClr val="FBAE40"/>
          </p15:clr>
        </p15:guide>
        <p15:guide id="4" orient="horz" pos="18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MT_Präsentation // Headline + Tabelle">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graphicFrame>
        <p:nvGraphicFramePr>
          <p:cNvPr id="16" name="Tabellenplatzhalter 3">
            <a:extLst>
              <a:ext uri="{FF2B5EF4-FFF2-40B4-BE49-F238E27FC236}">
                <a16:creationId xmlns:a16="http://schemas.microsoft.com/office/drawing/2014/main" id="{8547AEB8-9C30-F74C-BCA7-E98FD69BF063}"/>
              </a:ext>
            </a:extLst>
          </p:cNvPr>
          <p:cNvGraphicFramePr>
            <a:graphicFrameLocks/>
          </p:cNvGraphicFramePr>
          <p:nvPr userDrawn="1">
            <p:extLst>
              <p:ext uri="{D42A27DB-BD31-4B8C-83A1-F6EECF244321}">
                <p14:modId xmlns:p14="http://schemas.microsoft.com/office/powerpoint/2010/main" val="3030657280"/>
              </p:ext>
            </p:extLst>
          </p:nvPr>
        </p:nvGraphicFramePr>
        <p:xfrm>
          <a:off x="334962" y="1223694"/>
          <a:ext cx="10909300" cy="2050560"/>
        </p:xfrm>
        <a:graphic>
          <a:graphicData uri="http://schemas.openxmlformats.org/drawingml/2006/table">
            <a:tbl>
              <a:tblPr firstRow="1" bandRow="1">
                <a:tableStyleId>{6E25E649-3F16-4E02-A733-19D2CDBF48F0}</a:tableStyleId>
              </a:tblPr>
              <a:tblGrid>
                <a:gridCol w="2181860">
                  <a:extLst>
                    <a:ext uri="{9D8B030D-6E8A-4147-A177-3AD203B41FA5}">
                      <a16:colId xmlns:a16="http://schemas.microsoft.com/office/drawing/2014/main" val="2407453687"/>
                    </a:ext>
                  </a:extLst>
                </a:gridCol>
                <a:gridCol w="2181860">
                  <a:extLst>
                    <a:ext uri="{9D8B030D-6E8A-4147-A177-3AD203B41FA5}">
                      <a16:colId xmlns:a16="http://schemas.microsoft.com/office/drawing/2014/main" val="2035961621"/>
                    </a:ext>
                  </a:extLst>
                </a:gridCol>
                <a:gridCol w="2181860">
                  <a:extLst>
                    <a:ext uri="{9D8B030D-6E8A-4147-A177-3AD203B41FA5}">
                      <a16:colId xmlns:a16="http://schemas.microsoft.com/office/drawing/2014/main" val="2328942624"/>
                    </a:ext>
                  </a:extLst>
                </a:gridCol>
                <a:gridCol w="2181860">
                  <a:extLst>
                    <a:ext uri="{9D8B030D-6E8A-4147-A177-3AD203B41FA5}">
                      <a16:colId xmlns:a16="http://schemas.microsoft.com/office/drawing/2014/main" val="1653075632"/>
                    </a:ext>
                  </a:extLst>
                </a:gridCol>
                <a:gridCol w="2181860">
                  <a:extLst>
                    <a:ext uri="{9D8B030D-6E8A-4147-A177-3AD203B41FA5}">
                      <a16:colId xmlns:a16="http://schemas.microsoft.com/office/drawing/2014/main" val="267688811"/>
                    </a:ext>
                  </a:extLst>
                </a:gridCol>
              </a:tblGrid>
              <a:tr h="313200">
                <a:tc>
                  <a:txBody>
                    <a:bodyPr/>
                    <a:lstStyle/>
                    <a:p>
                      <a:r>
                        <a:rPr lang="de-DE" sz="1450" b="0" i="0" baseline="0">
                          <a:solidFill>
                            <a:schemeClr val="tx1"/>
                          </a:solidFill>
                          <a:latin typeface="Calibri" panose="020F0502020204030204" pitchFamily="34" charset="0"/>
                          <a:cs typeface="Calibri" panose="020F0502020204030204" pitchFamily="34" charset="0"/>
                        </a:rPr>
                        <a:t>Text 1</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2</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3</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4</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5 </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extLst>
                  <a:ext uri="{0D108BD9-81ED-4DB2-BD59-A6C34878D82A}">
                    <a16:rowId xmlns:a16="http://schemas.microsoft.com/office/drawing/2014/main" val="4063638116"/>
                  </a:ext>
                </a:extLst>
              </a:tr>
              <a:tr h="273600">
                <a:tc>
                  <a:txBody>
                    <a:bodyPr/>
                    <a:lstStyle/>
                    <a:p>
                      <a:pPr marL="0" marR="0" lvl="0" indent="0" algn="l" defTabSz="914454" rtl="0" eaLnBrk="1" fontAlgn="auto" latinLnBrk="0" hangingPunct="1">
                        <a:lnSpc>
                          <a:spcPct val="100000"/>
                        </a:lnSpc>
                        <a:spcBef>
                          <a:spcPts val="0"/>
                        </a:spcBef>
                        <a:spcAft>
                          <a:spcPts val="0"/>
                        </a:spcAft>
                        <a:buClrTx/>
                        <a:buSzTx/>
                        <a:buFontTx/>
                        <a:buNone/>
                        <a:tabLst/>
                        <a:defRPr/>
                      </a:pPr>
                      <a:r>
                        <a:rPr lang="de-DE" sz="1200" b="0" i="0" baseline="0">
                          <a:solidFill>
                            <a:schemeClr val="tx1"/>
                          </a:solidFill>
                          <a:latin typeface="Calibri" panose="020F0502020204030204" pitchFamily="34" charset="0"/>
                          <a:cs typeface="Calibri" panose="020F0502020204030204" pitchFamily="34" charset="0"/>
                        </a:rPr>
                        <a:t>Kopieren Sie bitte diese Tabelle auf die gewünschte Seite und befüllen Sie diese anschließend</a:t>
                      </a: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86334606"/>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1083416"/>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91044271"/>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17130585"/>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9448792"/>
                  </a:ext>
                </a:extLst>
              </a:tr>
            </a:tbl>
          </a:graphicData>
        </a:graphic>
      </p:graphicFrame>
      <p:sp>
        <p:nvSpPr>
          <p:cNvPr id="18" name="Textplatzhalter 4">
            <a:extLst>
              <a:ext uri="{FF2B5EF4-FFF2-40B4-BE49-F238E27FC236}">
                <a16:creationId xmlns:a16="http://schemas.microsoft.com/office/drawing/2014/main" id="{6A71D293-D3EB-7149-8C21-21F0D236959A}"/>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pic>
        <p:nvPicPr>
          <p:cNvPr id="13" name="Grafik 12">
            <a:extLst>
              <a:ext uri="{FF2B5EF4-FFF2-40B4-BE49-F238E27FC236}">
                <a16:creationId xmlns:a16="http://schemas.microsoft.com/office/drawing/2014/main" id="{229D2C92-F854-9545-923A-93B7916AD087}"/>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5" name="Datumsplatzhalter 4">
            <a:extLst>
              <a:ext uri="{FF2B5EF4-FFF2-40B4-BE49-F238E27FC236}">
                <a16:creationId xmlns:a16="http://schemas.microsoft.com/office/drawing/2014/main" id="{BACCCF20-7C7E-1A46-AA50-89130936CD2A}"/>
              </a:ext>
            </a:extLst>
          </p:cNvPr>
          <p:cNvSpPr>
            <a:spLocks noGrp="1"/>
          </p:cNvSpPr>
          <p:nvPr>
            <p:ph type="dt" sz="half" idx="32"/>
          </p:nvPr>
        </p:nvSpPr>
        <p:spPr/>
        <p:txBody>
          <a:bodyPr/>
          <a:lstStyle/>
          <a:p>
            <a:r>
              <a:rPr lang="de-DE" dirty="0"/>
              <a:t>FuE-Projekt Sommersemester 2026 | 30.09.2026</a:t>
            </a:r>
          </a:p>
        </p:txBody>
      </p:sp>
      <p:sp>
        <p:nvSpPr>
          <p:cNvPr id="6" name="Fußzeilenplatzhalter 5">
            <a:extLst>
              <a:ext uri="{FF2B5EF4-FFF2-40B4-BE49-F238E27FC236}">
                <a16:creationId xmlns:a16="http://schemas.microsoft.com/office/drawing/2014/main" id="{E574FDB5-0976-474B-8851-9D4A33AD64EF}"/>
              </a:ext>
            </a:extLst>
          </p:cNvPr>
          <p:cNvSpPr>
            <a:spLocks noGrp="1"/>
          </p:cNvSpPr>
          <p:nvPr>
            <p:ph type="ftr" sz="quarter" idx="33"/>
          </p:nvPr>
        </p:nvSpPr>
        <p:spPr/>
        <p:txBody>
          <a:bodyPr/>
          <a:lstStyle/>
          <a:p>
            <a:r>
              <a:rPr lang="de-DE"/>
              <a:t>Hochschule Karlsruhe</a:t>
            </a:r>
          </a:p>
        </p:txBody>
      </p:sp>
      <p:sp>
        <p:nvSpPr>
          <p:cNvPr id="7" name="Foliennummernplatzhalter 6">
            <a:extLst>
              <a:ext uri="{FF2B5EF4-FFF2-40B4-BE49-F238E27FC236}">
                <a16:creationId xmlns:a16="http://schemas.microsoft.com/office/drawing/2014/main" id="{B72A8FAD-934D-2B42-8C2C-1923D097BC3E}"/>
              </a:ext>
            </a:extLst>
          </p:cNvPr>
          <p:cNvSpPr>
            <a:spLocks noGrp="1"/>
          </p:cNvSpPr>
          <p:nvPr>
            <p:ph type="sldNum" sz="quarter" idx="34"/>
          </p:nvPr>
        </p:nvSpPr>
        <p:spPr/>
        <p:txBody>
          <a:bodyPr/>
          <a:lstStyle/>
          <a:p>
            <a:fld id="{13005BA2-ABF8-0A46-8B15-84F2660EFA6C}" type="slidenum">
              <a:rPr lang="de-DE" smtClean="0"/>
              <a:pPr/>
              <a:t>‹Nr.›</a:t>
            </a:fld>
            <a:endParaRPr lang="de-DE"/>
          </a:p>
        </p:txBody>
      </p:sp>
      <p:sp>
        <p:nvSpPr>
          <p:cNvPr id="15" name="Textplatzhalter 2">
            <a:extLst>
              <a:ext uri="{FF2B5EF4-FFF2-40B4-BE49-F238E27FC236}">
                <a16:creationId xmlns:a16="http://schemas.microsoft.com/office/drawing/2014/main" id="{0DB07685-E6B4-5E41-AA73-041CFF227EB4}"/>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9" name="Grafik 18">
            <a:extLst>
              <a:ext uri="{FF2B5EF4-FFF2-40B4-BE49-F238E27FC236}">
                <a16:creationId xmlns:a16="http://schemas.microsoft.com/office/drawing/2014/main" id="{97A00F15-E7DE-3D4C-9333-B5BB48AB417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2" name="Grafik 1">
            <a:extLst>
              <a:ext uri="{FF2B5EF4-FFF2-40B4-BE49-F238E27FC236}">
                <a16:creationId xmlns:a16="http://schemas.microsoft.com/office/drawing/2014/main" id="{B928182F-8786-6C39-5D59-F73969802F85}"/>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547547267"/>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MT_Präsentation // Organigramm 3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AD966BBF-D8B8-7B4D-BF9D-72B40D878F23}"/>
              </a:ext>
            </a:extLst>
          </p:cNvPr>
          <p:cNvSpPr>
            <a:spLocks noGrp="1"/>
          </p:cNvSpPr>
          <p:nvPr>
            <p:ph type="sldNum" sz="quarter" idx="26"/>
          </p:nvPr>
        </p:nvSpPr>
        <p:spPr>
          <a:xfrm>
            <a:off x="334800" y="6429600"/>
            <a:ext cx="2742936" cy="97976"/>
          </a:xfrm>
          <a:prstGeom prst="rect">
            <a:avLst/>
          </a:prstGeom>
        </p:spPr>
        <p:txBody>
          <a:bodyPr/>
          <a:lstStyle/>
          <a:p>
            <a:fld id="{13005BA2-ABF8-0A46-8B15-84F2660EFA6C}" type="slidenum">
              <a:rPr lang="de-DE" smtClean="0"/>
              <a:pPr/>
              <a:t>‹Nr.›</a:t>
            </a:fld>
            <a:endParaRPr lang="de-DE"/>
          </a:p>
        </p:txBody>
      </p:sp>
      <p:sp>
        <p:nvSpPr>
          <p:cNvPr id="17" name="Textplatzhalter 4">
            <a:extLst>
              <a:ext uri="{FF2B5EF4-FFF2-40B4-BE49-F238E27FC236}">
                <a16:creationId xmlns:a16="http://schemas.microsoft.com/office/drawing/2014/main" id="{49EF7359-9E2B-F744-8DAD-214E09ED75DD}"/>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19" name="Rechteck 18">
            <a:extLst>
              <a:ext uri="{FF2B5EF4-FFF2-40B4-BE49-F238E27FC236}">
                <a16:creationId xmlns:a16="http://schemas.microsoft.com/office/drawing/2014/main" id="{61AF4062-03E6-2047-8BC7-38683BFB29F9}"/>
              </a:ext>
            </a:extLst>
          </p:cNvPr>
          <p:cNvSpPr/>
          <p:nvPr userDrawn="1"/>
        </p:nvSpPr>
        <p:spPr>
          <a:xfrm flipV="1">
            <a:off x="4043863" y="-311575"/>
            <a:ext cx="3492000" cy="494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20" name="Rechteck 19">
            <a:extLst>
              <a:ext uri="{FF2B5EF4-FFF2-40B4-BE49-F238E27FC236}">
                <a16:creationId xmlns:a16="http://schemas.microsoft.com/office/drawing/2014/main" id="{255B160F-37BC-7F45-9C7C-5382F7E693D9}"/>
              </a:ext>
            </a:extLst>
          </p:cNvPr>
          <p:cNvSpPr/>
          <p:nvPr userDrawn="1"/>
        </p:nvSpPr>
        <p:spPr>
          <a:xfrm flipV="1">
            <a:off x="7751763" y="-311575"/>
            <a:ext cx="3492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23" name="Rechteck 22">
            <a:extLst>
              <a:ext uri="{FF2B5EF4-FFF2-40B4-BE49-F238E27FC236}">
                <a16:creationId xmlns:a16="http://schemas.microsoft.com/office/drawing/2014/main" id="{46DF377B-B249-9A49-BCCB-B92E402581A5}"/>
              </a:ext>
            </a:extLst>
          </p:cNvPr>
          <p:cNvSpPr/>
          <p:nvPr userDrawn="1"/>
        </p:nvSpPr>
        <p:spPr>
          <a:xfrm flipV="1">
            <a:off x="333149" y="-311575"/>
            <a:ext cx="3492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4" name="Fußzeilenplatzhalter 3">
            <a:extLst>
              <a:ext uri="{FF2B5EF4-FFF2-40B4-BE49-F238E27FC236}">
                <a16:creationId xmlns:a16="http://schemas.microsoft.com/office/drawing/2014/main" id="{41A01861-E3E5-2942-82A8-EF942FCBCDA3}"/>
              </a:ext>
            </a:extLst>
          </p:cNvPr>
          <p:cNvSpPr>
            <a:spLocks noGrp="1"/>
          </p:cNvSpPr>
          <p:nvPr>
            <p:ph type="ftr" sz="quarter" idx="32"/>
          </p:nvPr>
        </p:nvSpPr>
        <p:spPr/>
        <p:txBody>
          <a:bodyPr/>
          <a:lstStyle/>
          <a:p>
            <a:r>
              <a:rPr lang="de-DE"/>
              <a:t>Hochschule Karlsruhe</a:t>
            </a:r>
          </a:p>
        </p:txBody>
      </p:sp>
      <p:pic>
        <p:nvPicPr>
          <p:cNvPr id="21" name="Grafik 20">
            <a:extLst>
              <a:ext uri="{FF2B5EF4-FFF2-40B4-BE49-F238E27FC236}">
                <a16:creationId xmlns:a16="http://schemas.microsoft.com/office/drawing/2014/main" id="{1F4462D4-CE42-1443-AB8A-478C2CA35B1B}"/>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D50B5E35-EA0F-7F44-9443-E548EA3B39D6}"/>
              </a:ext>
            </a:extLst>
          </p:cNvPr>
          <p:cNvSpPr>
            <a:spLocks noGrp="1"/>
          </p:cNvSpPr>
          <p:nvPr>
            <p:ph type="dt" sz="half" idx="33"/>
          </p:nvPr>
        </p:nvSpPr>
        <p:spPr/>
        <p:txBody>
          <a:bodyPr/>
          <a:lstStyle/>
          <a:p>
            <a:r>
              <a:rPr lang="de-DE" dirty="0"/>
              <a:t>FuE-Projekt Sommersemester 2026 | 30.09.2026</a:t>
            </a:r>
          </a:p>
        </p:txBody>
      </p:sp>
      <p:sp>
        <p:nvSpPr>
          <p:cNvPr id="22" name="Textplatzhalter 2">
            <a:extLst>
              <a:ext uri="{FF2B5EF4-FFF2-40B4-BE49-F238E27FC236}">
                <a16:creationId xmlns:a16="http://schemas.microsoft.com/office/drawing/2014/main" id="{184D7E11-A3DD-D949-8E09-0C9A3EA966D5}"/>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4" name="Grafik 23">
            <a:extLst>
              <a:ext uri="{FF2B5EF4-FFF2-40B4-BE49-F238E27FC236}">
                <a16:creationId xmlns:a16="http://schemas.microsoft.com/office/drawing/2014/main" id="{306BB9E4-8410-CF4C-BC95-9F8E12F0558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5" name="Grafik 4">
            <a:extLst>
              <a:ext uri="{FF2B5EF4-FFF2-40B4-BE49-F238E27FC236}">
                <a16:creationId xmlns:a16="http://schemas.microsoft.com/office/drawing/2014/main" id="{10139F7E-7CBC-969D-357A-D8B43AC61870}"/>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12006142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2547" userDrawn="1">
          <p15:clr>
            <a:srgbClr val="FBAE40"/>
          </p15:clr>
        </p15:guide>
        <p15:guide id="4" pos="2411" userDrawn="1">
          <p15:clr>
            <a:srgbClr val="FBAE40"/>
          </p15:clr>
        </p15:guide>
        <p15:guide id="6" pos="4883" userDrawn="1">
          <p15:clr>
            <a:srgbClr val="FBAE40"/>
          </p15:clr>
        </p15:guide>
        <p15:guide id="8" pos="4747" userDrawn="1">
          <p15:clr>
            <a:srgbClr val="FBAE40"/>
          </p15:clr>
        </p15:guide>
        <p15:guide id="9" orient="horz" pos="377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MT_Präsentation // Organigramm 4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355BD758-F599-D943-8D6B-A2B167C14F7F}"/>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23" name="Textplatzhalter 4">
            <a:extLst>
              <a:ext uri="{FF2B5EF4-FFF2-40B4-BE49-F238E27FC236}">
                <a16:creationId xmlns:a16="http://schemas.microsoft.com/office/drawing/2014/main" id="{DF7B0D80-71B2-9948-A1B5-99CCBB2A39C4}"/>
              </a:ext>
            </a:extLst>
          </p:cNvPr>
          <p:cNvSpPr>
            <a:spLocks noGrp="1"/>
          </p:cNvSpPr>
          <p:nvPr>
            <p:ph type="body" sz="quarter" idx="30" hasCustomPrompt="1"/>
          </p:nvPr>
        </p:nvSpPr>
        <p:spPr>
          <a:xfrm>
            <a:off x="334800" y="5886899"/>
            <a:ext cx="10596171"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0" name="Rechteck 19">
            <a:extLst>
              <a:ext uri="{FF2B5EF4-FFF2-40B4-BE49-F238E27FC236}">
                <a16:creationId xmlns:a16="http://schemas.microsoft.com/office/drawing/2014/main" id="{D6DFB93E-C9FB-2F4F-A89E-2D3DD151F181}"/>
              </a:ext>
            </a:extLst>
          </p:cNvPr>
          <p:cNvSpPr/>
          <p:nvPr userDrawn="1"/>
        </p:nvSpPr>
        <p:spPr>
          <a:xfrm>
            <a:off x="334961" y="-485017"/>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2" name="Rechteck 21">
            <a:extLst>
              <a:ext uri="{FF2B5EF4-FFF2-40B4-BE49-F238E27FC236}">
                <a16:creationId xmlns:a16="http://schemas.microsoft.com/office/drawing/2014/main" id="{4B92E84A-B8AE-D145-8A3D-BE68A470188C}"/>
              </a:ext>
            </a:extLst>
          </p:cNvPr>
          <p:cNvSpPr/>
          <p:nvPr userDrawn="1"/>
        </p:nvSpPr>
        <p:spPr>
          <a:xfrm>
            <a:off x="3106960" y="-485017"/>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5" name="Rechteck 24">
            <a:extLst>
              <a:ext uri="{FF2B5EF4-FFF2-40B4-BE49-F238E27FC236}">
                <a16:creationId xmlns:a16="http://schemas.microsoft.com/office/drawing/2014/main" id="{D522A928-7DD6-974E-B52D-723031A7AB79}"/>
              </a:ext>
            </a:extLst>
          </p:cNvPr>
          <p:cNvSpPr/>
          <p:nvPr userDrawn="1"/>
        </p:nvSpPr>
        <p:spPr>
          <a:xfrm>
            <a:off x="5880100" y="-484663"/>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6" name="Rechteck 25">
            <a:extLst>
              <a:ext uri="{FF2B5EF4-FFF2-40B4-BE49-F238E27FC236}">
                <a16:creationId xmlns:a16="http://schemas.microsoft.com/office/drawing/2014/main" id="{C4342483-9666-B94F-AD79-E111B0931C48}"/>
              </a:ext>
            </a:extLst>
          </p:cNvPr>
          <p:cNvSpPr/>
          <p:nvPr userDrawn="1"/>
        </p:nvSpPr>
        <p:spPr>
          <a:xfrm>
            <a:off x="8653780" y="-484663"/>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5" name="Fußzeilenplatzhalter 4">
            <a:extLst>
              <a:ext uri="{FF2B5EF4-FFF2-40B4-BE49-F238E27FC236}">
                <a16:creationId xmlns:a16="http://schemas.microsoft.com/office/drawing/2014/main" id="{97038A97-D27D-B642-B2FD-9744821A9531}"/>
              </a:ext>
            </a:extLst>
          </p:cNvPr>
          <p:cNvSpPr>
            <a:spLocks noGrp="1"/>
          </p:cNvSpPr>
          <p:nvPr>
            <p:ph type="ftr" sz="quarter" idx="32"/>
          </p:nvPr>
        </p:nvSpPr>
        <p:spPr/>
        <p:txBody>
          <a:bodyPr/>
          <a:lstStyle/>
          <a:p>
            <a:r>
              <a:rPr lang="de-DE"/>
              <a:t>Hochschule Karlsruhe</a:t>
            </a:r>
          </a:p>
        </p:txBody>
      </p:sp>
      <p:pic>
        <p:nvPicPr>
          <p:cNvPr id="15" name="Grafik 14">
            <a:extLst>
              <a:ext uri="{FF2B5EF4-FFF2-40B4-BE49-F238E27FC236}">
                <a16:creationId xmlns:a16="http://schemas.microsoft.com/office/drawing/2014/main" id="{6486DB35-28E9-BE46-A048-216C4628405B}"/>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19335B3D-A935-7941-BAFB-C7A98F057C47}"/>
              </a:ext>
            </a:extLst>
          </p:cNvPr>
          <p:cNvSpPr>
            <a:spLocks noGrp="1"/>
          </p:cNvSpPr>
          <p:nvPr>
            <p:ph type="dt" sz="half" idx="33"/>
          </p:nvPr>
        </p:nvSpPr>
        <p:spPr/>
        <p:txBody>
          <a:bodyPr/>
          <a:lstStyle/>
          <a:p>
            <a:r>
              <a:rPr lang="de-DE" dirty="0"/>
              <a:t>FuE-Projekt Sommersemester 2026 | 30.09.2026</a:t>
            </a:r>
          </a:p>
        </p:txBody>
      </p:sp>
      <p:sp>
        <p:nvSpPr>
          <p:cNvPr id="21" name="Textplatzhalter 2">
            <a:extLst>
              <a:ext uri="{FF2B5EF4-FFF2-40B4-BE49-F238E27FC236}">
                <a16:creationId xmlns:a16="http://schemas.microsoft.com/office/drawing/2014/main" id="{58EC8B0F-9FE3-924D-BEE3-32BD1A416390}"/>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4" name="Grafik 23">
            <a:extLst>
              <a:ext uri="{FF2B5EF4-FFF2-40B4-BE49-F238E27FC236}">
                <a16:creationId xmlns:a16="http://schemas.microsoft.com/office/drawing/2014/main" id="{FBA120F4-9C32-9145-87E0-FF751658910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27" name="Bildplatzhalter 4">
            <a:extLst>
              <a:ext uri="{FF2B5EF4-FFF2-40B4-BE49-F238E27FC236}">
                <a16:creationId xmlns:a16="http://schemas.microsoft.com/office/drawing/2014/main" id="{630DE8FB-031C-8B47-9B34-C2643B033B5A}"/>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77916226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3545" userDrawn="1">
          <p15:clr>
            <a:srgbClr val="FBAE40"/>
          </p15:clr>
        </p15:guide>
        <p15:guide id="4" pos="1958" userDrawn="1">
          <p15:clr>
            <a:srgbClr val="FBAE40"/>
          </p15:clr>
        </p15:guide>
        <p15:guide id="9" pos="3704" userDrawn="1">
          <p15:clr>
            <a:srgbClr val="FBAE40"/>
          </p15:clr>
        </p15:guide>
        <p15:guide id="10" pos="1799" userDrawn="1">
          <p15:clr>
            <a:srgbClr val="FBAE40"/>
          </p15:clr>
        </p15:guide>
        <p15:guide id="11" pos="5292" userDrawn="1">
          <p15:clr>
            <a:srgbClr val="FBAE40"/>
          </p15:clr>
        </p15:guide>
        <p15:guide id="12" pos="5450" userDrawn="1">
          <p15:clr>
            <a:srgbClr val="FBAE40"/>
          </p15:clr>
        </p15:guide>
        <p15:guide id="13" orient="horz" pos="377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MT_Präsentation // Organigramm 5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B824E6A8-E759-6244-8A14-22EACE3B05AC}"/>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9" name="Textplatzhalter 4">
            <a:extLst>
              <a:ext uri="{FF2B5EF4-FFF2-40B4-BE49-F238E27FC236}">
                <a16:creationId xmlns:a16="http://schemas.microsoft.com/office/drawing/2014/main" id="{3B3AD157-3097-B94B-8B4F-93D92D84DADE}"/>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0" name="Rechteck 19">
            <a:extLst>
              <a:ext uri="{FF2B5EF4-FFF2-40B4-BE49-F238E27FC236}">
                <a16:creationId xmlns:a16="http://schemas.microsoft.com/office/drawing/2014/main" id="{A0AD0E32-CD37-B242-A293-35D876572343}"/>
              </a:ext>
            </a:extLst>
          </p:cNvPr>
          <p:cNvSpPr/>
          <p:nvPr userDrawn="1"/>
        </p:nvSpPr>
        <p:spPr>
          <a:xfrm>
            <a:off x="334960" y="-744620"/>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1" name="Rechteck 20">
            <a:extLst>
              <a:ext uri="{FF2B5EF4-FFF2-40B4-BE49-F238E27FC236}">
                <a16:creationId xmlns:a16="http://schemas.microsoft.com/office/drawing/2014/main" id="{ED4B0FFD-9D36-4E4C-996B-32AAEF3540FC}"/>
              </a:ext>
            </a:extLst>
          </p:cNvPr>
          <p:cNvSpPr/>
          <p:nvPr userDrawn="1"/>
        </p:nvSpPr>
        <p:spPr>
          <a:xfrm>
            <a:off x="2566988" y="-749506"/>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2" name="Rechteck 21">
            <a:extLst>
              <a:ext uri="{FF2B5EF4-FFF2-40B4-BE49-F238E27FC236}">
                <a16:creationId xmlns:a16="http://schemas.microsoft.com/office/drawing/2014/main" id="{E47BBFDB-6C37-7E43-8398-293C6D67AA98}"/>
              </a:ext>
            </a:extLst>
          </p:cNvPr>
          <p:cNvSpPr/>
          <p:nvPr userDrawn="1"/>
        </p:nvSpPr>
        <p:spPr>
          <a:xfrm>
            <a:off x="4806421" y="-75146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4" name="Rechteck 23">
            <a:extLst>
              <a:ext uri="{FF2B5EF4-FFF2-40B4-BE49-F238E27FC236}">
                <a16:creationId xmlns:a16="http://schemas.microsoft.com/office/drawing/2014/main" id="{BCEC317E-12E9-EA45-A2D8-9A472B7A3B94}"/>
              </a:ext>
            </a:extLst>
          </p:cNvPr>
          <p:cNvSpPr/>
          <p:nvPr userDrawn="1"/>
        </p:nvSpPr>
        <p:spPr>
          <a:xfrm>
            <a:off x="7037387" y="-75146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6" name="Rechteck 25">
            <a:extLst>
              <a:ext uri="{FF2B5EF4-FFF2-40B4-BE49-F238E27FC236}">
                <a16:creationId xmlns:a16="http://schemas.microsoft.com/office/drawing/2014/main" id="{51C6CBEE-1464-424E-BCF5-E682120A6AD1}"/>
              </a:ext>
            </a:extLst>
          </p:cNvPr>
          <p:cNvSpPr/>
          <p:nvPr userDrawn="1"/>
        </p:nvSpPr>
        <p:spPr>
          <a:xfrm>
            <a:off x="9264120" y="-74461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5" name="Fußzeilenplatzhalter 4">
            <a:extLst>
              <a:ext uri="{FF2B5EF4-FFF2-40B4-BE49-F238E27FC236}">
                <a16:creationId xmlns:a16="http://schemas.microsoft.com/office/drawing/2014/main" id="{F02CE312-C013-B944-847C-B7BC52DDF786}"/>
              </a:ext>
            </a:extLst>
          </p:cNvPr>
          <p:cNvSpPr>
            <a:spLocks noGrp="1"/>
          </p:cNvSpPr>
          <p:nvPr>
            <p:ph type="ftr" sz="quarter" idx="32"/>
          </p:nvPr>
        </p:nvSpPr>
        <p:spPr/>
        <p:txBody>
          <a:bodyPr/>
          <a:lstStyle/>
          <a:p>
            <a:r>
              <a:rPr lang="de-DE"/>
              <a:t>Hochschule Karlsruhe</a:t>
            </a:r>
          </a:p>
        </p:txBody>
      </p:sp>
      <p:pic>
        <p:nvPicPr>
          <p:cNvPr id="23" name="Grafik 22">
            <a:extLst>
              <a:ext uri="{FF2B5EF4-FFF2-40B4-BE49-F238E27FC236}">
                <a16:creationId xmlns:a16="http://schemas.microsoft.com/office/drawing/2014/main" id="{D09695DD-E40F-FD4A-8C91-617AB5806E79}"/>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F96A7003-49E0-2846-9672-C857D8C45E91}"/>
              </a:ext>
            </a:extLst>
          </p:cNvPr>
          <p:cNvSpPr>
            <a:spLocks noGrp="1"/>
          </p:cNvSpPr>
          <p:nvPr>
            <p:ph type="dt" sz="half" idx="33"/>
          </p:nvPr>
        </p:nvSpPr>
        <p:spPr/>
        <p:txBody>
          <a:bodyPr/>
          <a:lstStyle/>
          <a:p>
            <a:r>
              <a:rPr lang="de-DE" dirty="0"/>
              <a:t>FuE-Projekt Sommersemester 2026 | 30.09.2026</a:t>
            </a:r>
          </a:p>
        </p:txBody>
      </p:sp>
      <p:sp>
        <p:nvSpPr>
          <p:cNvPr id="28" name="Textplatzhalter 2">
            <a:extLst>
              <a:ext uri="{FF2B5EF4-FFF2-40B4-BE49-F238E27FC236}">
                <a16:creationId xmlns:a16="http://schemas.microsoft.com/office/drawing/2014/main" id="{434AD662-A540-404E-9022-C1BE7465883A}"/>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9" name="Grafik 28">
            <a:extLst>
              <a:ext uri="{FF2B5EF4-FFF2-40B4-BE49-F238E27FC236}">
                <a16:creationId xmlns:a16="http://schemas.microsoft.com/office/drawing/2014/main" id="{3D9EAD9D-E600-2044-9062-B1FE5C0CD9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30" name="Bildplatzhalter 4">
            <a:extLst>
              <a:ext uri="{FF2B5EF4-FFF2-40B4-BE49-F238E27FC236}">
                <a16:creationId xmlns:a16="http://schemas.microsoft.com/office/drawing/2014/main" id="{0874B803-122E-8343-8DC2-6DC5DA76A20B}"/>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251249825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2865" userDrawn="1">
          <p15:clr>
            <a:srgbClr val="FBAE40"/>
          </p15:clr>
        </p15:guide>
        <p15:guide id="4" pos="1617" userDrawn="1">
          <p15:clr>
            <a:srgbClr val="FBAE40"/>
          </p15:clr>
        </p15:guide>
        <p15:guide id="9" pos="4271" userDrawn="1">
          <p15:clr>
            <a:srgbClr val="FBAE40"/>
          </p15:clr>
        </p15:guide>
        <p15:guide id="10" pos="1459" userDrawn="1">
          <p15:clr>
            <a:srgbClr val="FBAE40"/>
          </p15:clr>
        </p15:guide>
        <p15:guide id="11" pos="5677" userDrawn="1">
          <p15:clr>
            <a:srgbClr val="FBAE40"/>
          </p15:clr>
        </p15:guide>
        <p15:guide id="12" pos="5836" userDrawn="1">
          <p15:clr>
            <a:srgbClr val="FBAE40"/>
          </p15:clr>
        </p15:guide>
        <p15:guide id="13" pos="3024" userDrawn="1">
          <p15:clr>
            <a:srgbClr val="FBAE40"/>
          </p15:clr>
        </p15:guide>
        <p15:guide id="14" pos="4430" userDrawn="1">
          <p15:clr>
            <a:srgbClr val="FBAE40"/>
          </p15:clr>
        </p15:guide>
        <p15:guide id="15" orient="horz" pos="377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MT_Präsentation // Headline + Diagramm">
    <p:spTree>
      <p:nvGrpSpPr>
        <p:cNvPr id="1" name=""/>
        <p:cNvGrpSpPr/>
        <p:nvPr/>
      </p:nvGrpSpPr>
      <p:grpSpPr>
        <a:xfrm>
          <a:off x="0" y="0"/>
          <a:ext cx="0" cy="0"/>
          <a:chOff x="0" y="0"/>
          <a:chExt cx="0" cy="0"/>
        </a:xfrm>
      </p:grpSpPr>
      <p:sp>
        <p:nvSpPr>
          <p:cNvPr id="11" name="Textfeld 10">
            <a:extLst>
              <a:ext uri="{FF2B5EF4-FFF2-40B4-BE49-F238E27FC236}">
                <a16:creationId xmlns:a16="http://schemas.microsoft.com/office/drawing/2014/main" id="{FA7170FA-0038-7C4E-A4FB-C173887BFA2E}"/>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Diagrammplatzhalter 2">
            <a:extLst>
              <a:ext uri="{FF2B5EF4-FFF2-40B4-BE49-F238E27FC236}">
                <a16:creationId xmlns:a16="http://schemas.microsoft.com/office/drawing/2014/main" id="{42095016-343E-9F41-9667-439DBD5A4FE3}"/>
              </a:ext>
            </a:extLst>
          </p:cNvPr>
          <p:cNvSpPr>
            <a:spLocks noGrp="1"/>
          </p:cNvSpPr>
          <p:nvPr>
            <p:ph type="chart" sz="quarter" idx="12"/>
          </p:nvPr>
        </p:nvSpPr>
        <p:spPr>
          <a:xfrm>
            <a:off x="334799" y="1206000"/>
            <a:ext cx="10908000" cy="4599488"/>
          </a:xfrm>
          <a:prstGeom prst="rect">
            <a:avLst/>
          </a:prstGeom>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9" name="Textfeld 8">
            <a:extLst>
              <a:ext uri="{FF2B5EF4-FFF2-40B4-BE49-F238E27FC236}">
                <a16:creationId xmlns:a16="http://schemas.microsoft.com/office/drawing/2014/main" id="{BA17D5FD-3098-BE4A-BC03-5C5E4757314B}"/>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0" name="Textfeld 9">
            <a:extLst>
              <a:ext uri="{FF2B5EF4-FFF2-40B4-BE49-F238E27FC236}">
                <a16:creationId xmlns:a16="http://schemas.microsoft.com/office/drawing/2014/main" id="{05FE3E8C-A0FB-E642-875B-D21B77EE2E67}"/>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142EDB2F-DB65-1848-A88B-75BF04491EBC}"/>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7" name="Textplatzhalter 4">
            <a:extLst>
              <a:ext uri="{FF2B5EF4-FFF2-40B4-BE49-F238E27FC236}">
                <a16:creationId xmlns:a16="http://schemas.microsoft.com/office/drawing/2014/main" id="{7724FF67-4A9F-AA4F-BB06-B96E2E6C9E4A}"/>
              </a:ext>
            </a:extLst>
          </p:cNvPr>
          <p:cNvSpPr>
            <a:spLocks noGrp="1"/>
          </p:cNvSpPr>
          <p:nvPr>
            <p:ph type="body" sz="quarter" idx="30" hasCustomPrompt="1"/>
          </p:nvPr>
        </p:nvSpPr>
        <p:spPr>
          <a:xfrm>
            <a:off x="334800" y="5886899"/>
            <a:ext cx="10635267"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5177FC00-58D2-AC4E-A5AB-8C5A174521C7}"/>
              </a:ext>
            </a:extLst>
          </p:cNvPr>
          <p:cNvSpPr>
            <a:spLocks noGrp="1"/>
          </p:cNvSpPr>
          <p:nvPr>
            <p:ph type="ftr" sz="quarter" idx="32"/>
          </p:nvPr>
        </p:nvSpPr>
        <p:spPr/>
        <p:txBody>
          <a:bodyPr/>
          <a:lstStyle/>
          <a:p>
            <a:r>
              <a:rPr lang="de-DE"/>
              <a:t>Hochschule Karlsruhe</a:t>
            </a:r>
          </a:p>
        </p:txBody>
      </p:sp>
      <p:pic>
        <p:nvPicPr>
          <p:cNvPr id="13" name="Grafik 12">
            <a:extLst>
              <a:ext uri="{FF2B5EF4-FFF2-40B4-BE49-F238E27FC236}">
                <a16:creationId xmlns:a16="http://schemas.microsoft.com/office/drawing/2014/main" id="{EFEA509C-16C9-7F4E-A006-4B4A69FBABF5}"/>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4" name="Datumsplatzhalter 3">
            <a:extLst>
              <a:ext uri="{FF2B5EF4-FFF2-40B4-BE49-F238E27FC236}">
                <a16:creationId xmlns:a16="http://schemas.microsoft.com/office/drawing/2014/main" id="{100179CD-2DFE-FE48-88FA-99A080006606}"/>
              </a:ext>
            </a:extLst>
          </p:cNvPr>
          <p:cNvSpPr>
            <a:spLocks noGrp="1"/>
          </p:cNvSpPr>
          <p:nvPr>
            <p:ph type="dt" sz="half" idx="33"/>
          </p:nvPr>
        </p:nvSpPr>
        <p:spPr/>
        <p:txBody>
          <a:bodyPr/>
          <a:lstStyle/>
          <a:p>
            <a:r>
              <a:rPr lang="de-DE" dirty="0"/>
              <a:t>FuE-Projekt Sommersemester 2026 | 30.09.2026</a:t>
            </a:r>
          </a:p>
        </p:txBody>
      </p:sp>
      <p:sp>
        <p:nvSpPr>
          <p:cNvPr id="14" name="Textplatzhalter 2">
            <a:extLst>
              <a:ext uri="{FF2B5EF4-FFF2-40B4-BE49-F238E27FC236}">
                <a16:creationId xmlns:a16="http://schemas.microsoft.com/office/drawing/2014/main" id="{69714213-985D-F049-AC24-0011BCAE291F}"/>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5" name="Grafik 14">
            <a:extLst>
              <a:ext uri="{FF2B5EF4-FFF2-40B4-BE49-F238E27FC236}">
                <a16:creationId xmlns:a16="http://schemas.microsoft.com/office/drawing/2014/main" id="{62AFD8BD-1B68-074D-9599-F2383776A48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20" name="Bildplatzhalter 4">
            <a:extLst>
              <a:ext uri="{FF2B5EF4-FFF2-40B4-BE49-F238E27FC236}">
                <a16:creationId xmlns:a16="http://schemas.microsoft.com/office/drawing/2014/main" id="{86B49C55-F108-3C42-B547-CC4E75AAC7BF}"/>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449698238"/>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MT_Präsentation // 1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6" name="Bildplatzhalter 5">
            <a:extLst>
              <a:ext uri="{FF2B5EF4-FFF2-40B4-BE49-F238E27FC236}">
                <a16:creationId xmlns:a16="http://schemas.microsoft.com/office/drawing/2014/main" id="{CA76EEEE-53F6-9642-B1ED-C868DA1F3452}"/>
              </a:ext>
            </a:extLst>
          </p:cNvPr>
          <p:cNvSpPr>
            <a:spLocks noGrp="1"/>
          </p:cNvSpPr>
          <p:nvPr>
            <p:ph type="pic" sz="quarter" idx="12"/>
          </p:nvPr>
        </p:nvSpPr>
        <p:spPr>
          <a:xfrm>
            <a:off x="334800" y="1206001"/>
            <a:ext cx="11520000" cy="4599488"/>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3" name="Foliennummernplatzhalter 2">
            <a:extLst>
              <a:ext uri="{FF2B5EF4-FFF2-40B4-BE49-F238E27FC236}">
                <a16:creationId xmlns:a16="http://schemas.microsoft.com/office/drawing/2014/main" id="{C50F89A5-3C39-F749-B805-46E3C20CDDDB}"/>
              </a:ext>
            </a:extLst>
          </p:cNvPr>
          <p:cNvSpPr>
            <a:spLocks noGrp="1"/>
          </p:cNvSpPr>
          <p:nvPr>
            <p:ph type="sldNum" sz="quarter" idx="17"/>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0" name="Textfeld 9">
            <a:extLst>
              <a:ext uri="{FF2B5EF4-FFF2-40B4-BE49-F238E27FC236}">
                <a16:creationId xmlns:a16="http://schemas.microsoft.com/office/drawing/2014/main" id="{0885C8D8-7D67-274F-AD1B-6EB7E2AD03FE}"/>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1" name="Textfeld 10">
            <a:extLst>
              <a:ext uri="{FF2B5EF4-FFF2-40B4-BE49-F238E27FC236}">
                <a16:creationId xmlns:a16="http://schemas.microsoft.com/office/drawing/2014/main" id="{2FD4C86A-1273-9243-B646-482137D81FC4}"/>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14" name="Textplatzhalter 4">
            <a:extLst>
              <a:ext uri="{FF2B5EF4-FFF2-40B4-BE49-F238E27FC236}">
                <a16:creationId xmlns:a16="http://schemas.microsoft.com/office/drawing/2014/main" id="{F54E956C-C25B-424C-A798-CFAB5A0744CE}"/>
              </a:ext>
            </a:extLst>
          </p:cNvPr>
          <p:cNvSpPr>
            <a:spLocks noGrp="1"/>
          </p:cNvSpPr>
          <p:nvPr>
            <p:ph type="body" sz="quarter" idx="29" hasCustomPrompt="1"/>
          </p:nvPr>
        </p:nvSpPr>
        <p:spPr>
          <a:xfrm>
            <a:off x="334800" y="5886899"/>
            <a:ext cx="10608733"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5CC11AC0-5E95-6446-A63C-B54CF66E1A7D}"/>
              </a:ext>
            </a:extLst>
          </p:cNvPr>
          <p:cNvSpPr>
            <a:spLocks noGrp="1"/>
          </p:cNvSpPr>
          <p:nvPr>
            <p:ph type="ftr" sz="quarter" idx="30"/>
          </p:nvPr>
        </p:nvSpPr>
        <p:spPr/>
        <p:txBody>
          <a:bodyPr/>
          <a:lstStyle/>
          <a:p>
            <a:r>
              <a:rPr lang="de-DE"/>
              <a:t>Hochschule Karlsruhe</a:t>
            </a:r>
          </a:p>
        </p:txBody>
      </p:sp>
      <p:pic>
        <p:nvPicPr>
          <p:cNvPr id="15" name="Grafik 14">
            <a:extLst>
              <a:ext uri="{FF2B5EF4-FFF2-40B4-BE49-F238E27FC236}">
                <a16:creationId xmlns:a16="http://schemas.microsoft.com/office/drawing/2014/main" id="{C964A4A2-ACC1-3A4D-B3DF-04B8BE3230FD}"/>
              </a:ext>
            </a:extLst>
          </p:cNvPr>
          <p:cNvPicPr>
            <a:picLocks noChangeAspect="1"/>
          </p:cNvPicPr>
          <p:nvPr userDrawn="1"/>
        </p:nvPicPr>
        <p:blipFill>
          <a:blip r:embed="rId2">
            <a:alphaModFix amt="49000"/>
          </a:blip>
          <a:srcRect/>
          <a:stretch/>
        </p:blipFill>
        <p:spPr>
          <a:xfrm>
            <a:off x="12521184" y="7129"/>
            <a:ext cx="12191999" cy="6843741"/>
          </a:xfrm>
          <a:prstGeom prst="rect">
            <a:avLst/>
          </a:prstGeom>
        </p:spPr>
      </p:pic>
      <p:sp>
        <p:nvSpPr>
          <p:cNvPr id="4" name="Datumsplatzhalter 3">
            <a:extLst>
              <a:ext uri="{FF2B5EF4-FFF2-40B4-BE49-F238E27FC236}">
                <a16:creationId xmlns:a16="http://schemas.microsoft.com/office/drawing/2014/main" id="{73B06E7E-E9A1-9840-A9E1-79686DE197B3}"/>
              </a:ext>
            </a:extLst>
          </p:cNvPr>
          <p:cNvSpPr>
            <a:spLocks noGrp="1"/>
          </p:cNvSpPr>
          <p:nvPr>
            <p:ph type="dt" sz="half" idx="31"/>
          </p:nvPr>
        </p:nvSpPr>
        <p:spPr/>
        <p:txBody>
          <a:bodyPr/>
          <a:lstStyle/>
          <a:p>
            <a:r>
              <a:rPr lang="de-DE" dirty="0"/>
              <a:t>FuE-Projekt Sommersemester 2026 | 30.09.2026</a:t>
            </a:r>
          </a:p>
        </p:txBody>
      </p:sp>
      <p:sp>
        <p:nvSpPr>
          <p:cNvPr id="16" name="Textplatzhalter 2">
            <a:extLst>
              <a:ext uri="{FF2B5EF4-FFF2-40B4-BE49-F238E27FC236}">
                <a16:creationId xmlns:a16="http://schemas.microsoft.com/office/drawing/2014/main" id="{5CEB99C0-EF74-E74F-B415-AC2BCEF5C1D1}"/>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7" name="Grafik 16">
            <a:extLst>
              <a:ext uri="{FF2B5EF4-FFF2-40B4-BE49-F238E27FC236}">
                <a16:creationId xmlns:a16="http://schemas.microsoft.com/office/drawing/2014/main" id="{C1C382A7-D6AD-AB42-8366-09637EA67B7C}"/>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19" name="Bildplatzhalter 4">
            <a:extLst>
              <a:ext uri="{FF2B5EF4-FFF2-40B4-BE49-F238E27FC236}">
                <a16:creationId xmlns:a16="http://schemas.microsoft.com/office/drawing/2014/main" id="{2CB2A227-4716-6A4A-8272-F88DB2FFFBEE}"/>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1087756823"/>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MT_Präsentation // 2 Bilder">
    <p:spTree>
      <p:nvGrpSpPr>
        <p:cNvPr id="1" name=""/>
        <p:cNvGrpSpPr/>
        <p:nvPr/>
      </p:nvGrpSpPr>
      <p:grpSpPr>
        <a:xfrm>
          <a:off x="0" y="0"/>
          <a:ext cx="0" cy="0"/>
          <a:chOff x="0" y="0"/>
          <a:chExt cx="0" cy="0"/>
        </a:xfrm>
      </p:grpSpPr>
      <p:sp>
        <p:nvSpPr>
          <p:cNvPr id="14" name="Bildplatzhalter 5">
            <a:extLst>
              <a:ext uri="{FF2B5EF4-FFF2-40B4-BE49-F238E27FC236}">
                <a16:creationId xmlns:a16="http://schemas.microsoft.com/office/drawing/2014/main" id="{35C83EAB-0D4D-FF4D-BD7D-83582A1D3C01}"/>
              </a:ext>
            </a:extLst>
          </p:cNvPr>
          <p:cNvSpPr>
            <a:spLocks noGrp="1"/>
          </p:cNvSpPr>
          <p:nvPr>
            <p:ph type="pic" sz="quarter" idx="12"/>
          </p:nvPr>
        </p:nvSpPr>
        <p:spPr>
          <a:xfrm>
            <a:off x="334962" y="864000"/>
            <a:ext cx="5617105" cy="46080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Bildplatzhalter 5">
            <a:extLst>
              <a:ext uri="{FF2B5EF4-FFF2-40B4-BE49-F238E27FC236}">
                <a16:creationId xmlns:a16="http://schemas.microsoft.com/office/drawing/2014/main" id="{562226A8-783C-944D-805D-729AE9D7328B}"/>
              </a:ext>
            </a:extLst>
          </p:cNvPr>
          <p:cNvSpPr>
            <a:spLocks noGrp="1"/>
          </p:cNvSpPr>
          <p:nvPr>
            <p:ph type="pic" sz="quarter" idx="17"/>
          </p:nvPr>
        </p:nvSpPr>
        <p:spPr>
          <a:xfrm>
            <a:off x="6239933" y="864000"/>
            <a:ext cx="5617105" cy="46080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r>
              <a:rPr lang="de-DE"/>
              <a:t>Bild</a:t>
            </a:r>
          </a:p>
        </p:txBody>
      </p:sp>
      <p:sp>
        <p:nvSpPr>
          <p:cNvPr id="5" name="Foliennummernplatzhalter 4">
            <a:extLst>
              <a:ext uri="{FF2B5EF4-FFF2-40B4-BE49-F238E27FC236}">
                <a16:creationId xmlns:a16="http://schemas.microsoft.com/office/drawing/2014/main" id="{1895EFD5-E76A-D946-BC26-AD901858F228}"/>
              </a:ext>
            </a:extLst>
          </p:cNvPr>
          <p:cNvSpPr>
            <a:spLocks noGrp="1"/>
          </p:cNvSpPr>
          <p:nvPr>
            <p:ph type="sldNum" sz="quarter" idx="19"/>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0" name="Textfeld 9">
            <a:extLst>
              <a:ext uri="{FF2B5EF4-FFF2-40B4-BE49-F238E27FC236}">
                <a16:creationId xmlns:a16="http://schemas.microsoft.com/office/drawing/2014/main" id="{0C0CF17D-51BF-164A-AC97-07E21B06BA05}"/>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2" name="Textfeld 11">
            <a:extLst>
              <a:ext uri="{FF2B5EF4-FFF2-40B4-BE49-F238E27FC236}">
                <a16:creationId xmlns:a16="http://schemas.microsoft.com/office/drawing/2014/main" id="{31F91C5D-F634-9644-87D6-699DB093E3DE}"/>
              </a:ext>
            </a:extLst>
          </p:cNvPr>
          <p:cNvSpPr txBox="1"/>
          <p:nvPr userDrawn="1"/>
        </p:nvSpPr>
        <p:spPr>
          <a:xfrm>
            <a:off x="4148529" y="-263968"/>
            <a:ext cx="1815553" cy="148380"/>
          </a:xfrm>
          <a:prstGeom prst="rect">
            <a:avLst/>
          </a:prstGeom>
          <a:ln>
            <a:noFill/>
          </a:ln>
        </p:spPr>
        <p:txBody>
          <a:bodyPr wrap="square" lIns="0" tIns="0" rIns="0" bIns="0" rtlCol="0" anchor="b">
            <a:noAutofit/>
          </a:bodyPr>
          <a:lstStyle/>
          <a:p>
            <a:pPr algn="r"/>
            <a:r>
              <a:rPr lang="de-DE" sz="726" b="0" i="0" baseline="0">
                <a:solidFill>
                  <a:schemeClr val="tx2">
                    <a:lumMod val="50000"/>
                  </a:schemeClr>
                </a:solidFill>
                <a:latin typeface="Calibri" panose="020F0502020204030204" pitchFamily="34" charset="0"/>
              </a:rPr>
              <a:t>Rechter Bildrand</a:t>
            </a:r>
          </a:p>
        </p:txBody>
      </p:sp>
      <p:sp>
        <p:nvSpPr>
          <p:cNvPr id="15" name="Textfeld 14">
            <a:extLst>
              <a:ext uri="{FF2B5EF4-FFF2-40B4-BE49-F238E27FC236}">
                <a16:creationId xmlns:a16="http://schemas.microsoft.com/office/drawing/2014/main" id="{3B5C2419-4BDD-B44C-B359-47312BEFFA1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8" name="Textfeld 17">
            <a:extLst>
              <a:ext uri="{FF2B5EF4-FFF2-40B4-BE49-F238E27FC236}">
                <a16:creationId xmlns:a16="http://schemas.microsoft.com/office/drawing/2014/main" id="{BCDA3237-D4E2-544E-B93D-836F94639626}"/>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3" name="Textplatzhalter 4">
            <a:extLst>
              <a:ext uri="{FF2B5EF4-FFF2-40B4-BE49-F238E27FC236}">
                <a16:creationId xmlns:a16="http://schemas.microsoft.com/office/drawing/2014/main" id="{54E92864-A0E0-314A-8C49-29B1171014A4}"/>
              </a:ext>
            </a:extLst>
          </p:cNvPr>
          <p:cNvSpPr>
            <a:spLocks noGrp="1"/>
          </p:cNvSpPr>
          <p:nvPr>
            <p:ph type="body" sz="quarter" idx="22" hasCustomPrompt="1"/>
          </p:nvPr>
        </p:nvSpPr>
        <p:spPr>
          <a:xfrm>
            <a:off x="6239934" y="5886899"/>
            <a:ext cx="4751917"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4" name="Textplatzhalter 4">
            <a:extLst>
              <a:ext uri="{FF2B5EF4-FFF2-40B4-BE49-F238E27FC236}">
                <a16:creationId xmlns:a16="http://schemas.microsoft.com/office/drawing/2014/main" id="{88AA7485-A9F3-004C-AE34-E8AC9C45BF7A}"/>
              </a:ext>
            </a:extLst>
          </p:cNvPr>
          <p:cNvSpPr>
            <a:spLocks noGrp="1"/>
          </p:cNvSpPr>
          <p:nvPr>
            <p:ph type="body" sz="quarter" idx="29" hasCustomPrompt="1"/>
          </p:nvPr>
        </p:nvSpPr>
        <p:spPr>
          <a:xfrm>
            <a:off x="334800" y="5886899"/>
            <a:ext cx="5580964"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4013B5A4-26D9-8740-ACBB-09F01B228133}"/>
              </a:ext>
            </a:extLst>
          </p:cNvPr>
          <p:cNvSpPr>
            <a:spLocks noGrp="1"/>
          </p:cNvSpPr>
          <p:nvPr>
            <p:ph type="ftr" sz="quarter" idx="30"/>
          </p:nvPr>
        </p:nvSpPr>
        <p:spPr/>
        <p:txBody>
          <a:bodyPr/>
          <a:lstStyle/>
          <a:p>
            <a:r>
              <a:rPr lang="de-DE"/>
              <a:t>Hochschule Karlsruhe</a:t>
            </a:r>
          </a:p>
        </p:txBody>
      </p:sp>
      <p:pic>
        <p:nvPicPr>
          <p:cNvPr id="17" name="Grafik 16">
            <a:extLst>
              <a:ext uri="{FF2B5EF4-FFF2-40B4-BE49-F238E27FC236}">
                <a16:creationId xmlns:a16="http://schemas.microsoft.com/office/drawing/2014/main" id="{37AB9DCE-9E10-3E4C-857C-B8C27D76AED5}"/>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3" name="Datumsplatzhalter 2">
            <a:extLst>
              <a:ext uri="{FF2B5EF4-FFF2-40B4-BE49-F238E27FC236}">
                <a16:creationId xmlns:a16="http://schemas.microsoft.com/office/drawing/2014/main" id="{439B1BBC-665F-AF4B-8F72-7AB1B40FEBE5}"/>
              </a:ext>
            </a:extLst>
          </p:cNvPr>
          <p:cNvSpPr>
            <a:spLocks noGrp="1"/>
          </p:cNvSpPr>
          <p:nvPr>
            <p:ph type="dt" sz="half" idx="31"/>
          </p:nvPr>
        </p:nvSpPr>
        <p:spPr/>
        <p:txBody>
          <a:bodyPr/>
          <a:lstStyle/>
          <a:p>
            <a:r>
              <a:rPr lang="de-DE" dirty="0"/>
              <a:t>FuE-Projekt Sommersemester 2026 | 30.09.2026</a:t>
            </a:r>
          </a:p>
        </p:txBody>
      </p:sp>
      <p:sp>
        <p:nvSpPr>
          <p:cNvPr id="19" name="Textplatzhalter 2">
            <a:extLst>
              <a:ext uri="{FF2B5EF4-FFF2-40B4-BE49-F238E27FC236}">
                <a16:creationId xmlns:a16="http://schemas.microsoft.com/office/drawing/2014/main" id="{110A617E-8FCC-244D-8AD5-BF151B15A758}"/>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0" name="Grafik 19">
            <a:extLst>
              <a:ext uri="{FF2B5EF4-FFF2-40B4-BE49-F238E27FC236}">
                <a16:creationId xmlns:a16="http://schemas.microsoft.com/office/drawing/2014/main" id="{AB143B38-D55C-EA4D-B6F2-C2894CCA347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97C1D262-E95A-0065-C749-40B46F05450E}"/>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421266352"/>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9" orient="horz" pos="377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MT_Präsentation // Text +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Bildplatzhalter 5">
            <a:extLst>
              <a:ext uri="{FF2B5EF4-FFF2-40B4-BE49-F238E27FC236}">
                <a16:creationId xmlns:a16="http://schemas.microsoft.com/office/drawing/2014/main" id="{17EFA53D-6FD1-6F45-B98B-1BBDAA8A36B0}"/>
              </a:ext>
            </a:extLst>
          </p:cNvPr>
          <p:cNvSpPr>
            <a:spLocks noGrp="1"/>
          </p:cNvSpPr>
          <p:nvPr>
            <p:ph type="pic" sz="quarter" idx="19"/>
          </p:nvPr>
        </p:nvSpPr>
        <p:spPr>
          <a:xfrm>
            <a:off x="6239934" y="1205999"/>
            <a:ext cx="5617104" cy="46008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5" name="Foliennummernplatzhalter 4">
            <a:extLst>
              <a:ext uri="{FF2B5EF4-FFF2-40B4-BE49-F238E27FC236}">
                <a16:creationId xmlns:a16="http://schemas.microsoft.com/office/drawing/2014/main" id="{C1F7B6FB-B0F6-3341-BCCD-5EA90FA33301}"/>
              </a:ext>
            </a:extLst>
          </p:cNvPr>
          <p:cNvSpPr>
            <a:spLocks noGrp="1"/>
          </p:cNvSpPr>
          <p:nvPr>
            <p:ph type="sldNum" sz="quarter" idx="21"/>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1" name="Textfeld 10">
            <a:extLst>
              <a:ext uri="{FF2B5EF4-FFF2-40B4-BE49-F238E27FC236}">
                <a16:creationId xmlns:a16="http://schemas.microsoft.com/office/drawing/2014/main" id="{5CC2644F-FCE1-1048-B810-F35855B30C08}"/>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5" name="Textfeld 14">
            <a:extLst>
              <a:ext uri="{FF2B5EF4-FFF2-40B4-BE49-F238E27FC236}">
                <a16:creationId xmlns:a16="http://schemas.microsoft.com/office/drawing/2014/main" id="{09A680A6-80A5-3A40-89EC-AFFBA5113207}"/>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0" name="Textfeld 19">
            <a:extLst>
              <a:ext uri="{FF2B5EF4-FFF2-40B4-BE49-F238E27FC236}">
                <a16:creationId xmlns:a16="http://schemas.microsoft.com/office/drawing/2014/main" id="{5FEA65F3-E022-8A40-99FF-39D64B823CCE}"/>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9" name="Textplatzhalter 4">
            <a:extLst>
              <a:ext uri="{FF2B5EF4-FFF2-40B4-BE49-F238E27FC236}">
                <a16:creationId xmlns:a16="http://schemas.microsoft.com/office/drawing/2014/main" id="{47C19FD3-313A-D64E-9440-4A82499E3D53}"/>
              </a:ext>
            </a:extLst>
          </p:cNvPr>
          <p:cNvSpPr>
            <a:spLocks noGrp="1"/>
          </p:cNvSpPr>
          <p:nvPr>
            <p:ph type="body" sz="quarter" idx="22" hasCustomPrompt="1"/>
          </p:nvPr>
        </p:nvSpPr>
        <p:spPr>
          <a:xfrm>
            <a:off x="6239934" y="5886000"/>
            <a:ext cx="4796724"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18" name="Textplatzhalter 2">
            <a:extLst>
              <a:ext uri="{FF2B5EF4-FFF2-40B4-BE49-F238E27FC236}">
                <a16:creationId xmlns:a16="http://schemas.microsoft.com/office/drawing/2014/main" id="{EB2B3229-4766-F845-8CCB-5DC95F2708B6}"/>
              </a:ext>
            </a:extLst>
          </p:cNvPr>
          <p:cNvSpPr>
            <a:spLocks noGrp="1"/>
          </p:cNvSpPr>
          <p:nvPr>
            <p:ph type="body" sz="quarter" idx="18" hasCustomPrompt="1"/>
          </p:nvPr>
        </p:nvSpPr>
        <p:spPr>
          <a:xfrm>
            <a:off x="334963" y="1206000"/>
            <a:ext cx="5617106" cy="4608513"/>
          </a:xfrm>
          <a:prstGeom prst="rect">
            <a:avLst/>
          </a:prstGeom>
        </p:spPr>
        <p:txBody>
          <a:bodyPr lIns="0" tIns="0" rIns="0" bIns="0" numCol="1" spcCol="720000"/>
          <a:lstStyle>
            <a:lvl1pPr marL="0" indent="0">
              <a:lnSpc>
                <a:spcPts val="2100"/>
              </a:lnSpc>
              <a:spcBef>
                <a:spcPts val="1350"/>
              </a:spcBef>
              <a:spcAft>
                <a:spcPts val="0"/>
              </a:spcAft>
              <a:buSzPct val="90000"/>
              <a:buFontTx/>
              <a:buNone/>
              <a:defRPr sz="1800" b="0" i="0" baseline="0">
                <a:latin typeface="Calibri" panose="020F0502020204030204" pitchFamily="34" charset="0"/>
                <a:cs typeface="Calibri" panose="020F0502020204030204" pitchFamily="34" charset="0"/>
              </a:defRPr>
            </a:lvl1pPr>
            <a:lvl2pPr marL="252000" indent="-252000">
              <a:lnSpc>
                <a:spcPts val="2250"/>
              </a:lnSpc>
              <a:spcBef>
                <a:spcPts val="350"/>
              </a:spcBef>
              <a:spcAft>
                <a:spcPts val="200"/>
              </a:spcAft>
              <a:buFontTx/>
              <a:buBlip>
                <a:blip r:embed="rId2"/>
              </a:buBlip>
              <a:defRPr sz="1800" b="0" i="0" baseline="0">
                <a:latin typeface="Calibri" panose="020F0502020204030204" pitchFamily="34" charset="0"/>
                <a:cs typeface="Calibri" panose="020F0502020204030204" pitchFamily="34" charset="0"/>
              </a:defRPr>
            </a:lvl2pPr>
            <a:lvl3pPr marL="504000" indent="-252000">
              <a:lnSpc>
                <a:spcPts val="2250"/>
              </a:lnSpc>
              <a:spcBef>
                <a:spcPts val="350"/>
              </a:spcBef>
              <a:spcAft>
                <a:spcPts val="0"/>
              </a:spcAft>
              <a:buSzPct val="100000"/>
              <a:buFontTx/>
              <a:buBlip>
                <a:blip r:embed="rId2"/>
              </a:buBlip>
              <a:defRPr sz="1800" b="0" i="0" baseline="0">
                <a:latin typeface="Calibri" panose="020F0502020204030204" pitchFamily="34" charset="0"/>
                <a:cs typeface="Calibri" panose="020F0502020204030204" pitchFamily="34" charset="0"/>
              </a:defRPr>
            </a:lvl3pPr>
            <a:lvl4pPr marL="504000" indent="-234000">
              <a:lnSpc>
                <a:spcPts val="2250"/>
              </a:lnSpc>
              <a:spcBef>
                <a:spcPts val="350"/>
              </a:spcBef>
              <a:spcAft>
                <a:spcPts val="0"/>
              </a:spcAft>
              <a:buSzPct val="90000"/>
              <a:buFont typeface="Arial" pitchFamily="2" charset="2"/>
              <a:buChar char="-"/>
              <a:defRPr sz="1800" b="0" i="0" baseline="0">
                <a:latin typeface="Calibri" panose="020F0502020204030204" pitchFamily="34" charset="0"/>
                <a:cs typeface="Calibri" panose="020F0502020204030204" pitchFamily="34" charset="0"/>
              </a:defRPr>
            </a:lvl4pPr>
            <a:lvl5pPr marL="504000" indent="0">
              <a:lnSpc>
                <a:spcPts val="1800"/>
              </a:lnSpc>
              <a:spcBef>
                <a:spcPts val="350"/>
              </a:spcBef>
              <a:spcAft>
                <a:spcPts val="0"/>
              </a:spcAft>
              <a:buNone/>
              <a:defRPr sz="1452" b="0" i="0">
                <a:latin typeface="Calibri" panose="020F0502020204030204" pitchFamily="34" charset="0"/>
                <a:cs typeface="Calibri" panose="020F0502020204030204" pitchFamily="34" charset="0"/>
              </a:defRPr>
            </a:lvl5pPr>
          </a:lstStyle>
          <a:p>
            <a:pPr lvl="0"/>
            <a:r>
              <a:rPr lang="de-DE"/>
              <a:t>Mastertextformat bearbeiten 18pt</a:t>
            </a:r>
          </a:p>
          <a:p>
            <a:pPr lvl="1"/>
            <a:r>
              <a:rPr lang="de-DE"/>
              <a:t>Zweite Ebene 18pt</a:t>
            </a:r>
          </a:p>
          <a:p>
            <a:pPr lvl="2"/>
            <a:r>
              <a:rPr lang="de-DE"/>
              <a:t>Dritte Ebene 18pt</a:t>
            </a:r>
          </a:p>
          <a:p>
            <a:pPr lvl="3"/>
            <a:r>
              <a:rPr lang="de-DE"/>
              <a:t>Vierte Ebene 18pt</a:t>
            </a:r>
          </a:p>
          <a:p>
            <a:pPr lvl="4"/>
            <a:r>
              <a:rPr lang="de-DE"/>
              <a:t>Fünfte Ebene 14,5pt</a:t>
            </a:r>
          </a:p>
        </p:txBody>
      </p:sp>
      <p:sp>
        <p:nvSpPr>
          <p:cNvPr id="2" name="Fußzeilenplatzhalter 1">
            <a:extLst>
              <a:ext uri="{FF2B5EF4-FFF2-40B4-BE49-F238E27FC236}">
                <a16:creationId xmlns:a16="http://schemas.microsoft.com/office/drawing/2014/main" id="{7CB36594-3440-4A40-8496-8A327EE58A6B}"/>
              </a:ext>
            </a:extLst>
          </p:cNvPr>
          <p:cNvSpPr>
            <a:spLocks noGrp="1"/>
          </p:cNvSpPr>
          <p:nvPr>
            <p:ph type="ftr" sz="quarter" idx="27"/>
          </p:nvPr>
        </p:nvSpPr>
        <p:spPr/>
        <p:txBody>
          <a:bodyPr/>
          <a:lstStyle/>
          <a:p>
            <a:r>
              <a:rPr lang="de-DE"/>
              <a:t>Hochschule Karlsruhe</a:t>
            </a:r>
          </a:p>
        </p:txBody>
      </p:sp>
      <p:pic>
        <p:nvPicPr>
          <p:cNvPr id="14" name="Grafik 13">
            <a:extLst>
              <a:ext uri="{FF2B5EF4-FFF2-40B4-BE49-F238E27FC236}">
                <a16:creationId xmlns:a16="http://schemas.microsoft.com/office/drawing/2014/main" id="{3E86A0B5-4B53-424B-84C2-14958884B15B}"/>
              </a:ext>
            </a:extLst>
          </p:cNvPr>
          <p:cNvPicPr>
            <a:picLocks noChangeAspect="1"/>
          </p:cNvPicPr>
          <p:nvPr userDrawn="1"/>
        </p:nvPicPr>
        <p:blipFill>
          <a:blip r:embed="rId3">
            <a:alphaModFix amt="50000"/>
          </a:blip>
          <a:srcRect/>
          <a:stretch/>
        </p:blipFill>
        <p:spPr>
          <a:xfrm>
            <a:off x="12521184" y="7129"/>
            <a:ext cx="12191999" cy="6843741"/>
          </a:xfrm>
          <a:prstGeom prst="rect">
            <a:avLst/>
          </a:prstGeom>
        </p:spPr>
      </p:pic>
      <p:sp>
        <p:nvSpPr>
          <p:cNvPr id="3" name="Datumsplatzhalter 2">
            <a:extLst>
              <a:ext uri="{FF2B5EF4-FFF2-40B4-BE49-F238E27FC236}">
                <a16:creationId xmlns:a16="http://schemas.microsoft.com/office/drawing/2014/main" id="{33D1ADDF-8F4C-BC48-B65C-59B0BEC4AA8D}"/>
              </a:ext>
            </a:extLst>
          </p:cNvPr>
          <p:cNvSpPr>
            <a:spLocks noGrp="1"/>
          </p:cNvSpPr>
          <p:nvPr>
            <p:ph type="dt" sz="half" idx="28"/>
          </p:nvPr>
        </p:nvSpPr>
        <p:spPr/>
        <p:txBody>
          <a:bodyPr/>
          <a:lstStyle/>
          <a:p>
            <a:r>
              <a:rPr lang="de-DE" dirty="0"/>
              <a:t>FuE-Projekt Sommersemester 2026 | 30.09.2026</a:t>
            </a:r>
          </a:p>
        </p:txBody>
      </p:sp>
      <p:sp>
        <p:nvSpPr>
          <p:cNvPr id="16" name="Textplatzhalter 2">
            <a:extLst>
              <a:ext uri="{FF2B5EF4-FFF2-40B4-BE49-F238E27FC236}">
                <a16:creationId xmlns:a16="http://schemas.microsoft.com/office/drawing/2014/main" id="{2E6B334F-49E0-7249-9A77-6189C78F5C94}"/>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7" name="Grafik 16">
            <a:extLst>
              <a:ext uri="{FF2B5EF4-FFF2-40B4-BE49-F238E27FC236}">
                <a16:creationId xmlns:a16="http://schemas.microsoft.com/office/drawing/2014/main" id="{03A27012-D968-1444-9A3B-CE3015362944}"/>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19331F61-C3A5-8FDF-5395-CA528D43D612}"/>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505848889"/>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10" orient="horz" pos="377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MT_Präsentation // Text klein +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Bildplatzhalter 5">
            <a:extLst>
              <a:ext uri="{FF2B5EF4-FFF2-40B4-BE49-F238E27FC236}">
                <a16:creationId xmlns:a16="http://schemas.microsoft.com/office/drawing/2014/main" id="{17EFA53D-6FD1-6F45-B98B-1BBDAA8A36B0}"/>
              </a:ext>
            </a:extLst>
          </p:cNvPr>
          <p:cNvSpPr>
            <a:spLocks noGrp="1"/>
          </p:cNvSpPr>
          <p:nvPr>
            <p:ph type="pic" sz="quarter" idx="19"/>
          </p:nvPr>
        </p:nvSpPr>
        <p:spPr>
          <a:xfrm>
            <a:off x="6239934" y="1206000"/>
            <a:ext cx="5617104" cy="4599488"/>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5" name="Foliennummernplatzhalter 4">
            <a:extLst>
              <a:ext uri="{FF2B5EF4-FFF2-40B4-BE49-F238E27FC236}">
                <a16:creationId xmlns:a16="http://schemas.microsoft.com/office/drawing/2014/main" id="{52130442-AFCC-A34B-846F-B4148DBD901E}"/>
              </a:ext>
            </a:extLst>
          </p:cNvPr>
          <p:cNvSpPr>
            <a:spLocks noGrp="1"/>
          </p:cNvSpPr>
          <p:nvPr>
            <p:ph type="sldNum" sz="quarter" idx="21"/>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5" name="Textfeld 14">
            <a:extLst>
              <a:ext uri="{FF2B5EF4-FFF2-40B4-BE49-F238E27FC236}">
                <a16:creationId xmlns:a16="http://schemas.microsoft.com/office/drawing/2014/main" id="{A5A3B40C-54E9-AB4D-8AC7-E38CD18B5B70}"/>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6" name="Textfeld 15">
            <a:extLst>
              <a:ext uri="{FF2B5EF4-FFF2-40B4-BE49-F238E27FC236}">
                <a16:creationId xmlns:a16="http://schemas.microsoft.com/office/drawing/2014/main" id="{B671DC39-E545-5E4C-B503-4F1AA64CC520}"/>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7" name="Textfeld 16">
            <a:extLst>
              <a:ext uri="{FF2B5EF4-FFF2-40B4-BE49-F238E27FC236}">
                <a16:creationId xmlns:a16="http://schemas.microsoft.com/office/drawing/2014/main" id="{370F38C7-64DE-D04A-B7C6-B8A2D35BC9D5}"/>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2" name="Textplatzhalter 4">
            <a:extLst>
              <a:ext uri="{FF2B5EF4-FFF2-40B4-BE49-F238E27FC236}">
                <a16:creationId xmlns:a16="http://schemas.microsoft.com/office/drawing/2014/main" id="{E7E246A2-CC15-8343-93B1-CFDABB587BDA}"/>
              </a:ext>
            </a:extLst>
          </p:cNvPr>
          <p:cNvSpPr>
            <a:spLocks noGrp="1"/>
          </p:cNvSpPr>
          <p:nvPr>
            <p:ph type="body" sz="quarter" idx="22" hasCustomPrompt="1"/>
          </p:nvPr>
        </p:nvSpPr>
        <p:spPr>
          <a:xfrm>
            <a:off x="6239934" y="5885299"/>
            <a:ext cx="4751917"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1" name="Textplatzhalter 2" descr="te " title="text">
            <a:extLst>
              <a:ext uri="{FF2B5EF4-FFF2-40B4-BE49-F238E27FC236}">
                <a16:creationId xmlns:a16="http://schemas.microsoft.com/office/drawing/2014/main" id="{CAAED048-28A8-8940-B7A5-3D4D92B767D6}"/>
              </a:ext>
            </a:extLst>
          </p:cNvPr>
          <p:cNvSpPr>
            <a:spLocks noGrp="1"/>
          </p:cNvSpPr>
          <p:nvPr>
            <p:ph type="body" sz="quarter" idx="18" hasCustomPrompt="1"/>
          </p:nvPr>
        </p:nvSpPr>
        <p:spPr>
          <a:xfrm>
            <a:off x="334963" y="1206001"/>
            <a:ext cx="5617106" cy="4599488"/>
          </a:xfrm>
          <a:prstGeom prst="rect">
            <a:avLst/>
          </a:prstGeom>
        </p:spPr>
        <p:txBody>
          <a:bodyPr lIns="0" tIns="0" rIns="0" bIns="0" numCol="1" spcCol="360000"/>
          <a:lstStyle>
            <a:lvl1pPr marL="0" indent="0">
              <a:lnSpc>
                <a:spcPts val="1700"/>
              </a:lnSpc>
              <a:spcBef>
                <a:spcPts val="1200"/>
              </a:spcBef>
              <a:spcAft>
                <a:spcPts val="0"/>
              </a:spcAft>
              <a:buSzPct val="90000"/>
              <a:buFontTx/>
              <a:buNone/>
              <a:defRPr sz="1452" b="0" i="0" baseline="0">
                <a:latin typeface="Calibri" panose="020F0502020204030204" pitchFamily="34" charset="0"/>
                <a:cs typeface="Calibri" panose="020F0502020204030204" pitchFamily="34" charset="0"/>
              </a:defRPr>
            </a:lvl1pPr>
            <a:lvl2pPr marL="252000" indent="-252000">
              <a:lnSpc>
                <a:spcPts val="1800"/>
              </a:lnSpc>
              <a:spcBef>
                <a:spcPts val="350"/>
              </a:spcBef>
              <a:spcAft>
                <a:spcPts val="200"/>
              </a:spcAft>
              <a:buFontTx/>
              <a:buBlip>
                <a:blip r:embed="rId2"/>
              </a:buBlip>
              <a:defRPr sz="1452" b="0" i="0" baseline="0">
                <a:latin typeface="Calibri" panose="020F0502020204030204" pitchFamily="34" charset="0"/>
                <a:cs typeface="Calibri" panose="020F0502020204030204" pitchFamily="34" charset="0"/>
              </a:defRPr>
            </a:lvl2pPr>
            <a:lvl3pPr marL="504000" indent="-252000">
              <a:lnSpc>
                <a:spcPts val="1800"/>
              </a:lnSpc>
              <a:spcBef>
                <a:spcPts val="350"/>
              </a:spcBef>
              <a:spcAft>
                <a:spcPts val="0"/>
              </a:spcAft>
              <a:buFontTx/>
              <a:buBlip>
                <a:blip r:embed="rId2"/>
              </a:buBlip>
              <a:defRPr sz="1452" b="0" i="0" baseline="0">
                <a:latin typeface="Calibri" panose="020F0502020204030204" pitchFamily="34" charset="0"/>
                <a:cs typeface="Calibri" panose="020F0502020204030204" pitchFamily="34" charset="0"/>
              </a:defRPr>
            </a:lvl3pPr>
            <a:lvl4pPr marL="504000" indent="-234000">
              <a:lnSpc>
                <a:spcPts val="1800"/>
              </a:lnSpc>
              <a:spcBef>
                <a:spcPts val="350"/>
              </a:spcBef>
              <a:spcAft>
                <a:spcPts val="0"/>
              </a:spcAft>
              <a:buSzPct val="90000"/>
              <a:buFont typeface="Arial" pitchFamily="2" charset="2"/>
              <a:buChar char="-"/>
              <a:defRPr sz="1452" b="0" i="0" baseline="0">
                <a:latin typeface="Calibri" panose="020F0502020204030204" pitchFamily="34" charset="0"/>
                <a:cs typeface="Calibri" panose="020F0502020204030204" pitchFamily="34" charset="0"/>
              </a:defRPr>
            </a:lvl4pPr>
            <a:lvl5pPr marL="504000" indent="0">
              <a:lnSpc>
                <a:spcPts val="1800"/>
              </a:lnSpc>
              <a:spcBef>
                <a:spcPts val="500"/>
              </a:spcBef>
              <a:spcAft>
                <a:spcPts val="0"/>
              </a:spcAft>
              <a:buNone/>
              <a:defRPr sz="1450" b="0" i="0">
                <a:latin typeface="Calibri" panose="020F0502020204030204" pitchFamily="34" charset="0"/>
                <a:cs typeface="Calibri" panose="020F0502020204030204" pitchFamily="34" charset="0"/>
              </a:defRPr>
            </a:lvl5pPr>
          </a:lstStyle>
          <a:p>
            <a:pPr lvl="0"/>
            <a:r>
              <a:rPr lang="de-DE"/>
              <a:t>Mastertextformat bearbeiten 14,5pt</a:t>
            </a:r>
          </a:p>
          <a:p>
            <a:pPr lvl="1"/>
            <a:r>
              <a:rPr lang="de-DE"/>
              <a:t>Zweite Ebene 14,5pt</a:t>
            </a:r>
          </a:p>
          <a:p>
            <a:pPr lvl="2"/>
            <a:r>
              <a:rPr lang="de-DE"/>
              <a:t>Dritte Ebene 14,5pt</a:t>
            </a:r>
          </a:p>
          <a:p>
            <a:pPr lvl="3"/>
            <a:r>
              <a:rPr lang="de-DE"/>
              <a:t>Vierte Ebene 14,5pt</a:t>
            </a:r>
          </a:p>
          <a:p>
            <a:pPr lvl="4"/>
            <a:r>
              <a:rPr lang="de-DE"/>
              <a:t>Fünfte Ebene 14,5pt</a:t>
            </a:r>
          </a:p>
        </p:txBody>
      </p:sp>
      <p:sp>
        <p:nvSpPr>
          <p:cNvPr id="3" name="Fußzeilenplatzhalter 2">
            <a:extLst>
              <a:ext uri="{FF2B5EF4-FFF2-40B4-BE49-F238E27FC236}">
                <a16:creationId xmlns:a16="http://schemas.microsoft.com/office/drawing/2014/main" id="{4431D2AF-8FEB-7841-B7CE-8E7D120E0BD5}"/>
              </a:ext>
            </a:extLst>
          </p:cNvPr>
          <p:cNvSpPr>
            <a:spLocks noGrp="1"/>
          </p:cNvSpPr>
          <p:nvPr>
            <p:ph type="ftr" sz="quarter" idx="27"/>
          </p:nvPr>
        </p:nvSpPr>
        <p:spPr/>
        <p:txBody>
          <a:bodyPr/>
          <a:lstStyle/>
          <a:p>
            <a:r>
              <a:rPr lang="de-DE"/>
              <a:t>Hochschule Karlsruhe</a:t>
            </a:r>
          </a:p>
        </p:txBody>
      </p:sp>
      <p:pic>
        <p:nvPicPr>
          <p:cNvPr id="14" name="Grafik 13">
            <a:extLst>
              <a:ext uri="{FF2B5EF4-FFF2-40B4-BE49-F238E27FC236}">
                <a16:creationId xmlns:a16="http://schemas.microsoft.com/office/drawing/2014/main" id="{47B87EDE-89CA-8D42-9DC8-E7B7769EDC6F}"/>
              </a:ext>
            </a:extLst>
          </p:cNvPr>
          <p:cNvPicPr>
            <a:picLocks noChangeAspect="1"/>
          </p:cNvPicPr>
          <p:nvPr userDrawn="1"/>
        </p:nvPicPr>
        <p:blipFill>
          <a:blip r:embed="rId3">
            <a:alphaModFix amt="50000"/>
          </a:blip>
          <a:srcRect/>
          <a:stretch/>
        </p:blipFill>
        <p:spPr>
          <a:xfrm>
            <a:off x="12521185" y="7129"/>
            <a:ext cx="12191997" cy="6843741"/>
          </a:xfrm>
          <a:prstGeom prst="rect">
            <a:avLst/>
          </a:prstGeom>
        </p:spPr>
      </p:pic>
      <p:sp>
        <p:nvSpPr>
          <p:cNvPr id="2" name="Datumsplatzhalter 1">
            <a:extLst>
              <a:ext uri="{FF2B5EF4-FFF2-40B4-BE49-F238E27FC236}">
                <a16:creationId xmlns:a16="http://schemas.microsoft.com/office/drawing/2014/main" id="{5F268177-AE4A-684B-8FE0-98F4DB068ECA}"/>
              </a:ext>
            </a:extLst>
          </p:cNvPr>
          <p:cNvSpPr>
            <a:spLocks noGrp="1"/>
          </p:cNvSpPr>
          <p:nvPr>
            <p:ph type="dt" sz="half" idx="28"/>
          </p:nvPr>
        </p:nvSpPr>
        <p:spPr/>
        <p:txBody>
          <a:bodyPr/>
          <a:lstStyle/>
          <a:p>
            <a:r>
              <a:rPr lang="de-DE"/>
              <a:t>20. Januar 2021</a:t>
            </a:r>
            <a:endParaRPr lang="de-DE" sz="1000"/>
          </a:p>
        </p:txBody>
      </p:sp>
      <p:sp>
        <p:nvSpPr>
          <p:cNvPr id="18" name="Textplatzhalter 2">
            <a:extLst>
              <a:ext uri="{FF2B5EF4-FFF2-40B4-BE49-F238E27FC236}">
                <a16:creationId xmlns:a16="http://schemas.microsoft.com/office/drawing/2014/main" id="{70E987E8-E4E5-1C47-B903-44A3B86ED491}"/>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9" name="Grafik 18">
            <a:extLst>
              <a:ext uri="{FF2B5EF4-FFF2-40B4-BE49-F238E27FC236}">
                <a16:creationId xmlns:a16="http://schemas.microsoft.com/office/drawing/2014/main" id="{486D69A4-9E2A-FB4E-8DF6-21FBA6291503}"/>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F18CA808-2419-8B08-FCF6-E5D4AC5D4902}"/>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710503795"/>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9" orient="horz" pos="377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MT_Präsentation // 1 Bild Vollformat">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7" name="Bildplatzhalter 5">
            <a:extLst>
              <a:ext uri="{FF2B5EF4-FFF2-40B4-BE49-F238E27FC236}">
                <a16:creationId xmlns:a16="http://schemas.microsoft.com/office/drawing/2014/main" id="{CC0E7EA5-5642-534B-A54D-23A7A42F6655}"/>
              </a:ext>
            </a:extLst>
          </p:cNvPr>
          <p:cNvSpPr>
            <a:spLocks noGrp="1"/>
          </p:cNvSpPr>
          <p:nvPr>
            <p:ph type="pic" sz="quarter" idx="13" hasCustomPrompt="1"/>
          </p:nvPr>
        </p:nvSpPr>
        <p:spPr>
          <a:xfrm>
            <a:off x="0" y="0"/>
            <a:ext cx="12192000" cy="5805488"/>
          </a:xfrm>
          <a:prstGeom prst="rect">
            <a:avLst/>
          </a:prstGeom>
          <a:solidFill>
            <a:schemeClr val="bg1">
              <a:lumMod val="95000"/>
            </a:schemeClr>
          </a:solidFill>
        </p:spPr>
        <p:txBody>
          <a:bodyPr/>
          <a:lstStyle>
            <a:lvl1pPr marL="0" indent="0">
              <a:buFontTx/>
              <a:buNone/>
              <a:defRPr sz="2000" b="0" i="0" baseline="0">
                <a:latin typeface="Calibri" panose="020F0502020204030204" pitchFamily="34" charset="0"/>
                <a:cs typeface="Calibri" panose="020F0502020204030204" pitchFamily="34" charset="0"/>
              </a:defRPr>
            </a:lvl1pPr>
          </a:lstStyle>
          <a:p>
            <a:r>
              <a:rPr lang="de-DE"/>
              <a:t>Bild Vollformat</a:t>
            </a:r>
          </a:p>
        </p:txBody>
      </p:sp>
      <p:sp>
        <p:nvSpPr>
          <p:cNvPr id="8" name="Textplatzhalter 4">
            <a:extLst>
              <a:ext uri="{FF2B5EF4-FFF2-40B4-BE49-F238E27FC236}">
                <a16:creationId xmlns:a16="http://schemas.microsoft.com/office/drawing/2014/main" id="{9ED79333-D2FE-4149-A558-6ACD9C9F3994}"/>
              </a:ext>
            </a:extLst>
          </p:cNvPr>
          <p:cNvSpPr>
            <a:spLocks noGrp="1"/>
          </p:cNvSpPr>
          <p:nvPr>
            <p:ph type="body" sz="quarter" idx="22"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4" name="Datumsplatzhalter 3">
            <a:extLst>
              <a:ext uri="{FF2B5EF4-FFF2-40B4-BE49-F238E27FC236}">
                <a16:creationId xmlns:a16="http://schemas.microsoft.com/office/drawing/2014/main" id="{48B3E935-DC8B-EE4A-A835-A6B75AB07EE4}"/>
              </a:ext>
            </a:extLst>
          </p:cNvPr>
          <p:cNvSpPr>
            <a:spLocks noGrp="1"/>
          </p:cNvSpPr>
          <p:nvPr>
            <p:ph type="dt" sz="half" idx="29"/>
          </p:nvPr>
        </p:nvSpPr>
        <p:spPr/>
        <p:txBody>
          <a:bodyPr/>
          <a:lstStyle/>
          <a:p>
            <a:r>
              <a:rPr lang="de-DE" dirty="0"/>
              <a:t>FuE-Projekt Sommersemester 2026 | 30.09.2026</a:t>
            </a:r>
          </a:p>
        </p:txBody>
      </p:sp>
      <p:sp>
        <p:nvSpPr>
          <p:cNvPr id="6" name="Fußzeilenplatzhalter 5">
            <a:extLst>
              <a:ext uri="{FF2B5EF4-FFF2-40B4-BE49-F238E27FC236}">
                <a16:creationId xmlns:a16="http://schemas.microsoft.com/office/drawing/2014/main" id="{84284B28-82C0-7D4A-B3DD-7BF6E2000D6C}"/>
              </a:ext>
            </a:extLst>
          </p:cNvPr>
          <p:cNvSpPr>
            <a:spLocks noGrp="1"/>
          </p:cNvSpPr>
          <p:nvPr>
            <p:ph type="ftr" sz="quarter" idx="30"/>
          </p:nvPr>
        </p:nvSpPr>
        <p:spPr/>
        <p:txBody>
          <a:bodyPr/>
          <a:lstStyle/>
          <a:p>
            <a:r>
              <a:rPr lang="de-DE"/>
              <a:t>Hochschule Karlsruhe</a:t>
            </a:r>
          </a:p>
        </p:txBody>
      </p:sp>
      <p:sp>
        <p:nvSpPr>
          <p:cNvPr id="10" name="Foliennummernplatzhalter 9">
            <a:extLst>
              <a:ext uri="{FF2B5EF4-FFF2-40B4-BE49-F238E27FC236}">
                <a16:creationId xmlns:a16="http://schemas.microsoft.com/office/drawing/2014/main" id="{A291B1AC-EAF4-764A-B143-A5E022AB5170}"/>
              </a:ext>
            </a:extLst>
          </p:cNvPr>
          <p:cNvSpPr>
            <a:spLocks noGrp="1"/>
          </p:cNvSpPr>
          <p:nvPr>
            <p:ph type="sldNum" sz="quarter" idx="31"/>
          </p:nvPr>
        </p:nvSpPr>
        <p:spPr/>
        <p:txBody>
          <a:bodyPr/>
          <a:lstStyle/>
          <a:p>
            <a:fld id="{13005BA2-ABF8-0A46-8B15-84F2660EFA6C}" type="slidenum">
              <a:rPr lang="de-DE" smtClean="0"/>
              <a:pPr/>
              <a:t>‹Nr.›</a:t>
            </a:fld>
            <a:endParaRPr lang="de-DE"/>
          </a:p>
        </p:txBody>
      </p:sp>
      <p:pic>
        <p:nvPicPr>
          <p:cNvPr id="12" name="Grafik 11">
            <a:extLst>
              <a:ext uri="{FF2B5EF4-FFF2-40B4-BE49-F238E27FC236}">
                <a16:creationId xmlns:a16="http://schemas.microsoft.com/office/drawing/2014/main" id="{A0E61C0F-3B73-384B-8065-6D982FD45D4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44769" y="299812"/>
            <a:ext cx="665997" cy="448986"/>
          </a:xfrm>
          <a:prstGeom prst="rect">
            <a:avLst/>
          </a:prstGeom>
        </p:spPr>
      </p:pic>
      <p:sp>
        <p:nvSpPr>
          <p:cNvPr id="13" name="Bildplatzhalter 4">
            <a:extLst>
              <a:ext uri="{FF2B5EF4-FFF2-40B4-BE49-F238E27FC236}">
                <a16:creationId xmlns:a16="http://schemas.microsoft.com/office/drawing/2014/main" id="{48C0BA75-FEC2-B143-96A7-7F0A36612E73}"/>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pic>
        <p:nvPicPr>
          <p:cNvPr id="11" name="Grafik 10">
            <a:extLst>
              <a:ext uri="{FF2B5EF4-FFF2-40B4-BE49-F238E27FC236}">
                <a16:creationId xmlns:a16="http://schemas.microsoft.com/office/drawing/2014/main" id="{208CB54A-796D-8146-ADB4-80A2698D9328}"/>
              </a:ext>
            </a:extLst>
          </p:cNvPr>
          <p:cNvPicPr>
            <a:picLocks noChangeAspect="1"/>
          </p:cNvPicPr>
          <p:nvPr userDrawn="1"/>
        </p:nvPicPr>
        <p:blipFill>
          <a:blip r:embed="rId4">
            <a:alphaModFix amt="50000"/>
          </a:blip>
          <a:stretch>
            <a:fillRect/>
          </a:stretch>
        </p:blipFill>
        <p:spPr>
          <a:xfrm>
            <a:off x="12533858" y="7129"/>
            <a:ext cx="12166650" cy="6843741"/>
          </a:xfrm>
          <a:prstGeom prst="rect">
            <a:avLst/>
          </a:prstGeom>
        </p:spPr>
      </p:pic>
    </p:spTree>
    <p:extLst>
      <p:ext uri="{BB962C8B-B14F-4D97-AF65-F5344CB8AC3E}">
        <p14:creationId xmlns:p14="http://schemas.microsoft.com/office/powerpoint/2010/main" val="2306951066"/>
      </p:ext>
    </p:extLst>
  </p:cSld>
  <p:clrMapOvr>
    <a:masterClrMapping/>
  </p:clrMapOvr>
  <p:extLst>
    <p:ext uri="{DCECCB84-F9BA-43D5-87BE-67443E8EF086}">
      <p15:sldGuideLst xmlns:p15="http://schemas.microsoft.com/office/powerpoint/2012/main">
        <p15:guide id="1" orient="horz" pos="377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MT_Präsentation // Video vollformat">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7" name="Medienplatzhalter 6">
            <a:extLst>
              <a:ext uri="{FF2B5EF4-FFF2-40B4-BE49-F238E27FC236}">
                <a16:creationId xmlns:a16="http://schemas.microsoft.com/office/drawing/2014/main" id="{33974690-2F6E-0244-AD72-14E5E6162FC5}"/>
              </a:ext>
            </a:extLst>
          </p:cNvPr>
          <p:cNvSpPr>
            <a:spLocks noGrp="1"/>
          </p:cNvSpPr>
          <p:nvPr>
            <p:ph type="media" sz="quarter" idx="29"/>
          </p:nvPr>
        </p:nvSpPr>
        <p:spPr>
          <a:xfrm>
            <a:off x="0" y="7129"/>
            <a:ext cx="12192000" cy="6843741"/>
          </a:xfrm>
          <a:prstGeom prst="rect">
            <a:avLst/>
          </a:prstGeom>
        </p:spPr>
        <p:txBody>
          <a:bodyPr/>
          <a:lstStyle>
            <a:lvl1pPr>
              <a:buNone/>
              <a:defRPr sz="2000"/>
            </a:lvl1pPr>
          </a:lstStyle>
          <a:p>
            <a:endParaRPr lang="de-DE"/>
          </a:p>
        </p:txBody>
      </p:sp>
      <p:pic>
        <p:nvPicPr>
          <p:cNvPr id="15" name="Grafik 14">
            <a:extLst>
              <a:ext uri="{FF2B5EF4-FFF2-40B4-BE49-F238E27FC236}">
                <a16:creationId xmlns:a16="http://schemas.microsoft.com/office/drawing/2014/main" id="{C143E493-6FF6-CA40-BAA4-1659EEE48D74}"/>
              </a:ext>
            </a:extLst>
          </p:cNvPr>
          <p:cNvPicPr>
            <a:picLocks noChangeAspect="1"/>
          </p:cNvPicPr>
          <p:nvPr userDrawn="1"/>
        </p:nvPicPr>
        <p:blipFill>
          <a:blip r:embed="rId2">
            <a:alphaModFix amt="50000"/>
          </a:blip>
          <a:srcRect/>
          <a:stretch/>
        </p:blipFill>
        <p:spPr>
          <a:xfrm>
            <a:off x="12521185" y="7129"/>
            <a:ext cx="12191997" cy="6843741"/>
          </a:xfrm>
          <a:prstGeom prst="rect">
            <a:avLst/>
          </a:prstGeom>
        </p:spPr>
      </p:pic>
      <p:pic>
        <p:nvPicPr>
          <p:cNvPr id="16" name="Grafik 15">
            <a:extLst>
              <a:ext uri="{FF2B5EF4-FFF2-40B4-BE49-F238E27FC236}">
                <a16:creationId xmlns:a16="http://schemas.microsoft.com/office/drawing/2014/main" id="{3CD7396E-618B-1D42-9491-D3E42AB8C86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17" name="Bildplatzhalter 4">
            <a:extLst>
              <a:ext uri="{FF2B5EF4-FFF2-40B4-BE49-F238E27FC236}">
                <a16:creationId xmlns:a16="http://schemas.microsoft.com/office/drawing/2014/main" id="{21F34162-D4E3-FD41-8C92-098D0E9599D4}"/>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503823666"/>
      </p:ext>
    </p:extLst>
  </p:cSld>
  <p:clrMapOvr>
    <a:masterClrMapping/>
  </p:clrMapOvr>
  <p:extLst>
    <p:ext uri="{DCECCB84-F9BA-43D5-87BE-67443E8EF086}">
      <p15:sldGuideLst xmlns:p15="http://schemas.microsoft.com/office/powerpoint/2012/main">
        <p15:guide id="1" pos="3727">
          <p15:clr>
            <a:srgbClr val="FBAE40"/>
          </p15:clr>
        </p15:guide>
        <p15:guide id="2" pos="3545">
          <p15:clr>
            <a:srgbClr val="FBAE40"/>
          </p15:clr>
        </p15:guide>
        <p15:guide id="3" orient="horz" pos="754">
          <p15:clr>
            <a:srgbClr val="FBAE40"/>
          </p15:clr>
        </p15:guide>
        <p15:guide id="4" orient="horz" pos="18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MT_Präsentation // Video klein">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7" name="Medienplatzhalter 6">
            <a:extLst>
              <a:ext uri="{FF2B5EF4-FFF2-40B4-BE49-F238E27FC236}">
                <a16:creationId xmlns:a16="http://schemas.microsoft.com/office/drawing/2014/main" id="{33974690-2F6E-0244-AD72-14E5E6162FC5}"/>
              </a:ext>
            </a:extLst>
          </p:cNvPr>
          <p:cNvSpPr>
            <a:spLocks noGrp="1"/>
          </p:cNvSpPr>
          <p:nvPr>
            <p:ph type="media" sz="quarter" idx="29"/>
          </p:nvPr>
        </p:nvSpPr>
        <p:spPr>
          <a:xfrm>
            <a:off x="334963" y="1196975"/>
            <a:ext cx="10909300" cy="4608513"/>
          </a:xfrm>
          <a:prstGeom prst="rect">
            <a:avLst/>
          </a:prstGeom>
        </p:spPr>
        <p:txBody>
          <a:bodyPr/>
          <a:lstStyle>
            <a:lvl1pPr>
              <a:buNone/>
              <a:defRPr sz="2000"/>
            </a:lvl1pPr>
          </a:lstStyle>
          <a:p>
            <a:endParaRPr lang="de-DE"/>
          </a:p>
        </p:txBody>
      </p:sp>
      <p:sp>
        <p:nvSpPr>
          <p:cNvPr id="3" name="Datumsplatzhalter 2">
            <a:extLst>
              <a:ext uri="{FF2B5EF4-FFF2-40B4-BE49-F238E27FC236}">
                <a16:creationId xmlns:a16="http://schemas.microsoft.com/office/drawing/2014/main" id="{0FADD80C-69BF-394C-8E09-B1E69D9AF17E}"/>
              </a:ext>
            </a:extLst>
          </p:cNvPr>
          <p:cNvSpPr>
            <a:spLocks noGrp="1"/>
          </p:cNvSpPr>
          <p:nvPr>
            <p:ph type="dt" sz="half" idx="30"/>
          </p:nvPr>
        </p:nvSpPr>
        <p:spPr/>
        <p:txBody>
          <a:bodyPr/>
          <a:lstStyle/>
          <a:p>
            <a:r>
              <a:rPr lang="de-DE" dirty="0"/>
              <a:t>FuE-Projekt Sommersemester 2026 | 30.09.2026</a:t>
            </a:r>
          </a:p>
        </p:txBody>
      </p:sp>
      <p:sp>
        <p:nvSpPr>
          <p:cNvPr id="4" name="Fußzeilenplatzhalter 3">
            <a:extLst>
              <a:ext uri="{FF2B5EF4-FFF2-40B4-BE49-F238E27FC236}">
                <a16:creationId xmlns:a16="http://schemas.microsoft.com/office/drawing/2014/main" id="{1EE67E46-D097-D54C-821F-7C2BC5595539}"/>
              </a:ext>
            </a:extLst>
          </p:cNvPr>
          <p:cNvSpPr>
            <a:spLocks noGrp="1"/>
          </p:cNvSpPr>
          <p:nvPr>
            <p:ph type="ftr" sz="quarter" idx="31"/>
          </p:nvPr>
        </p:nvSpPr>
        <p:spPr/>
        <p:txBody>
          <a:bodyPr/>
          <a:lstStyle/>
          <a:p>
            <a:r>
              <a:rPr lang="de-DE"/>
              <a:t>Hochschule Karlsruhe</a:t>
            </a:r>
          </a:p>
        </p:txBody>
      </p:sp>
      <p:sp>
        <p:nvSpPr>
          <p:cNvPr id="5" name="Foliennummernplatzhalter 4">
            <a:extLst>
              <a:ext uri="{FF2B5EF4-FFF2-40B4-BE49-F238E27FC236}">
                <a16:creationId xmlns:a16="http://schemas.microsoft.com/office/drawing/2014/main" id="{58DFF2F0-219B-604D-8A04-4A0A5184148D}"/>
              </a:ext>
            </a:extLst>
          </p:cNvPr>
          <p:cNvSpPr>
            <a:spLocks noGrp="1"/>
          </p:cNvSpPr>
          <p:nvPr>
            <p:ph type="sldNum" sz="quarter" idx="32"/>
          </p:nvPr>
        </p:nvSpPr>
        <p:spPr/>
        <p:txBody>
          <a:bodyPr/>
          <a:lstStyle/>
          <a:p>
            <a:fld id="{13005BA2-ABF8-0A46-8B15-84F2660EFA6C}" type="slidenum">
              <a:rPr lang="de-DE" smtClean="0"/>
              <a:pPr/>
              <a:t>‹Nr.›</a:t>
            </a:fld>
            <a:endParaRPr lang="de-DE"/>
          </a:p>
        </p:txBody>
      </p:sp>
      <p:sp>
        <p:nvSpPr>
          <p:cNvPr id="14" name="Textplatzhalter 2">
            <a:extLst>
              <a:ext uri="{FF2B5EF4-FFF2-40B4-BE49-F238E27FC236}">
                <a16:creationId xmlns:a16="http://schemas.microsoft.com/office/drawing/2014/main" id="{E4E504BD-D8EC-5C4C-B753-4E75542C93AA}"/>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6" name="Grafik 15">
            <a:extLst>
              <a:ext uri="{FF2B5EF4-FFF2-40B4-BE49-F238E27FC236}">
                <a16:creationId xmlns:a16="http://schemas.microsoft.com/office/drawing/2014/main" id="{91032B5D-DEF2-5F42-8B82-27D1F1CF1FF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44769" y="299812"/>
            <a:ext cx="665997" cy="448986"/>
          </a:xfrm>
          <a:prstGeom prst="rect">
            <a:avLst/>
          </a:prstGeom>
        </p:spPr>
      </p:pic>
      <p:sp>
        <p:nvSpPr>
          <p:cNvPr id="17" name="Bildplatzhalter 4">
            <a:extLst>
              <a:ext uri="{FF2B5EF4-FFF2-40B4-BE49-F238E27FC236}">
                <a16:creationId xmlns:a16="http://schemas.microsoft.com/office/drawing/2014/main" id="{CB6F7CC5-BB04-744D-AC90-D1C2F3CD6617}"/>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pic>
        <p:nvPicPr>
          <p:cNvPr id="21" name="Grafik 20">
            <a:extLst>
              <a:ext uri="{FF2B5EF4-FFF2-40B4-BE49-F238E27FC236}">
                <a16:creationId xmlns:a16="http://schemas.microsoft.com/office/drawing/2014/main" id="{D3370869-6FB1-0545-9436-445EB7325BF9}"/>
              </a:ext>
            </a:extLst>
          </p:cNvPr>
          <p:cNvPicPr>
            <a:picLocks noChangeAspect="1"/>
          </p:cNvPicPr>
          <p:nvPr userDrawn="1"/>
        </p:nvPicPr>
        <p:blipFill>
          <a:blip r:embed="rId4">
            <a:alphaModFix amt="50000"/>
          </a:blip>
          <a:srcRect/>
          <a:stretch/>
        </p:blipFill>
        <p:spPr>
          <a:xfrm>
            <a:off x="12521185" y="7129"/>
            <a:ext cx="12191997" cy="6843740"/>
          </a:xfrm>
          <a:prstGeom prst="rect">
            <a:avLst/>
          </a:prstGeom>
        </p:spPr>
      </p:pic>
    </p:spTree>
    <p:extLst>
      <p:ext uri="{BB962C8B-B14F-4D97-AF65-F5344CB8AC3E}">
        <p14:creationId xmlns:p14="http://schemas.microsoft.com/office/powerpoint/2010/main" val="2574526683"/>
      </p:ext>
    </p:extLst>
  </p:cSld>
  <p:clrMapOvr>
    <a:masterClrMapping/>
  </p:clrMapOvr>
  <p:extLst>
    <p:ext uri="{DCECCB84-F9BA-43D5-87BE-67443E8EF086}">
      <p15:sldGuideLst xmlns:p15="http://schemas.microsoft.com/office/powerpoint/2012/main">
        <p15:guide id="1" pos="3727">
          <p15:clr>
            <a:srgbClr val="FBAE40"/>
          </p15:clr>
        </p15:guide>
        <p15:guide id="2" pos="3545">
          <p15:clr>
            <a:srgbClr val="FBAE40"/>
          </p15:clr>
        </p15:guide>
        <p15:guide id="3" orient="horz" pos="754">
          <p15:clr>
            <a:srgbClr val="FBAE40"/>
          </p15:clr>
        </p15:guide>
        <p15:guide id="4" orient="horz" pos="18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67537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W_Präsentation // ENDE_V1">
    <p:spTree>
      <p:nvGrpSpPr>
        <p:cNvPr id="1" name=""/>
        <p:cNvGrpSpPr/>
        <p:nvPr/>
      </p:nvGrpSpPr>
      <p:grpSpPr>
        <a:xfrm>
          <a:off x="0" y="0"/>
          <a:ext cx="0" cy="0"/>
          <a:chOff x="0" y="0"/>
          <a:chExt cx="0" cy="0"/>
        </a:xfrm>
      </p:grpSpPr>
      <p:sp>
        <p:nvSpPr>
          <p:cNvPr id="18" name="Bildplatzhalter 8">
            <a:extLst>
              <a:ext uri="{FF2B5EF4-FFF2-40B4-BE49-F238E27FC236}">
                <a16:creationId xmlns:a16="http://schemas.microsoft.com/office/drawing/2014/main" id="{151CC415-D610-164F-8212-19D930A4FE18}"/>
              </a:ext>
            </a:extLst>
          </p:cNvPr>
          <p:cNvSpPr>
            <a:spLocks noGrp="1"/>
          </p:cNvSpPr>
          <p:nvPr>
            <p:ph type="pic" sz="quarter" idx="12"/>
          </p:nvPr>
        </p:nvSpPr>
        <p:spPr>
          <a:xfrm>
            <a:off x="0" y="1878014"/>
            <a:ext cx="12192000" cy="4979987"/>
          </a:xfrm>
          <a:prstGeom prst="rect">
            <a:avLst/>
          </a:prstGeom>
          <a:solidFill>
            <a:schemeClr val="bg1">
              <a:lumMod val="95000"/>
            </a:schemeClr>
          </a:solidFill>
        </p:spPr>
        <p:txBody>
          <a:bodyPr lIns="0" tIns="0" rIns="0" bIns="0"/>
          <a:lstStyle>
            <a:lvl1pPr marL="0" indent="0">
              <a:buFontTx/>
              <a:buNone/>
              <a:defRPr sz="2000" b="0" i="0">
                <a:latin typeface="Calibri" panose="020F0502020204030204" pitchFamily="34" charset="0"/>
                <a:cs typeface="Calibri" panose="020F0502020204030204" pitchFamily="34" charset="0"/>
              </a:defRPr>
            </a:lvl1pPr>
          </a:lstStyle>
          <a:p>
            <a:endParaRPr lang="de-DE"/>
          </a:p>
        </p:txBody>
      </p:sp>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pic>
        <p:nvPicPr>
          <p:cNvPr id="11" name="Grafik 10">
            <a:extLst>
              <a:ext uri="{FF2B5EF4-FFF2-40B4-BE49-F238E27FC236}">
                <a16:creationId xmlns:a16="http://schemas.microsoft.com/office/drawing/2014/main" id="{F3E5D8AC-DBDD-8042-8A9E-253E12704B2C}"/>
              </a:ext>
            </a:extLst>
          </p:cNvPr>
          <p:cNvPicPr>
            <a:picLocks noChangeAspect="1"/>
          </p:cNvPicPr>
          <p:nvPr userDrawn="1"/>
        </p:nvPicPr>
        <p:blipFill>
          <a:blip r:embed="rId2"/>
          <a:srcRect/>
          <a:stretch/>
        </p:blipFill>
        <p:spPr>
          <a:xfrm>
            <a:off x="10085222" y="399917"/>
            <a:ext cx="1734897" cy="880228"/>
          </a:xfrm>
          <a:prstGeom prst="rect">
            <a:avLst/>
          </a:prstGeom>
        </p:spPr>
      </p:pic>
      <p:sp>
        <p:nvSpPr>
          <p:cNvPr id="15" name="Textfeld 14">
            <a:extLst>
              <a:ext uri="{FF2B5EF4-FFF2-40B4-BE49-F238E27FC236}">
                <a16:creationId xmlns:a16="http://schemas.microsoft.com/office/drawing/2014/main" id="{A9BEB07F-910E-0E46-BDFE-125F07CADA4E}"/>
              </a:ext>
            </a:extLst>
          </p:cNvPr>
          <p:cNvSpPr txBox="1"/>
          <p:nvPr userDrawn="1"/>
        </p:nvSpPr>
        <p:spPr>
          <a:xfrm>
            <a:off x="13390384" y="3850088"/>
            <a:ext cx="0" cy="0"/>
          </a:xfrm>
          <a:prstGeom prst="rect">
            <a:avLst/>
          </a:prstGeom>
          <a:ln>
            <a:solidFill>
              <a:schemeClr val="accent1"/>
            </a:solidFill>
          </a:ln>
        </p:spPr>
        <p:txBody>
          <a:bodyPr wrap="none" rtlCol="0" anchor="b">
            <a:noAutofit/>
          </a:bodyPr>
          <a:lstStyle/>
          <a:p>
            <a:pPr algn="l"/>
            <a:endParaRPr lang="de-DE" sz="1540" err="1"/>
          </a:p>
        </p:txBody>
      </p:sp>
      <p:sp>
        <p:nvSpPr>
          <p:cNvPr id="19" name="Textplatzhalter 5">
            <a:extLst>
              <a:ext uri="{FF2B5EF4-FFF2-40B4-BE49-F238E27FC236}">
                <a16:creationId xmlns:a16="http://schemas.microsoft.com/office/drawing/2014/main" id="{A73AD921-16F2-3B46-9FDD-5415DE1C05DA}"/>
              </a:ext>
            </a:extLst>
          </p:cNvPr>
          <p:cNvSpPr>
            <a:spLocks noGrp="1"/>
          </p:cNvSpPr>
          <p:nvPr>
            <p:ph type="body" sz="quarter" idx="10" hasCustomPrompt="1"/>
          </p:nvPr>
        </p:nvSpPr>
        <p:spPr>
          <a:xfrm>
            <a:off x="334800" y="6385020"/>
            <a:ext cx="9013364" cy="284888"/>
          </a:xfrm>
          <a:prstGeom prst="rect">
            <a:avLst/>
          </a:prstGeom>
        </p:spPr>
        <p:txBody>
          <a:bodyPr lIns="0" tIns="0" rIns="0" bIns="0" anchor="b"/>
          <a:lstStyle>
            <a:lvl1pPr marL="0" indent="0">
              <a:buNone/>
              <a:defRPr sz="3200" baseline="0">
                <a:solidFill>
                  <a:schemeClr val="accent5"/>
                </a:solidFill>
                <a:latin typeface="Calibri" panose="020F0502020204030204" pitchFamily="34" charset="0"/>
                <a:cs typeface="Calibri" panose="020F0502020204030204" pitchFamily="34" charset="0"/>
              </a:defRPr>
            </a:lvl1pPr>
          </a:lstStyle>
          <a:p>
            <a:pPr lvl="0"/>
            <a:r>
              <a:rPr lang="de-DE" err="1"/>
              <a:t>www.h-ka.de</a:t>
            </a:r>
            <a:endParaRPr lang="de-DE"/>
          </a:p>
        </p:txBody>
      </p:sp>
      <p:sp>
        <p:nvSpPr>
          <p:cNvPr id="13" name="Textfeld 12">
            <a:extLst>
              <a:ext uri="{FF2B5EF4-FFF2-40B4-BE49-F238E27FC236}">
                <a16:creationId xmlns:a16="http://schemas.microsoft.com/office/drawing/2014/main" id="{CAF26BDA-907D-2E47-B1CD-6C22CA6027FD}"/>
              </a:ext>
            </a:extLst>
          </p:cNvPr>
          <p:cNvSpPr txBox="1"/>
          <p:nvPr userDrawn="1"/>
        </p:nvSpPr>
        <p:spPr>
          <a:xfrm>
            <a:off x="-2356645" y="182249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a:t>
            </a:r>
          </a:p>
        </p:txBody>
      </p:sp>
      <p:sp>
        <p:nvSpPr>
          <p:cNvPr id="20" name="Textfeld 19">
            <a:extLst>
              <a:ext uri="{FF2B5EF4-FFF2-40B4-BE49-F238E27FC236}">
                <a16:creationId xmlns:a16="http://schemas.microsoft.com/office/drawing/2014/main" id="{08575FA1-3AA5-F649-816C-2E0662725254}"/>
              </a:ext>
            </a:extLst>
          </p:cNvPr>
          <p:cNvSpPr txBox="1"/>
          <p:nvPr userDrawn="1"/>
        </p:nvSpPr>
        <p:spPr>
          <a:xfrm>
            <a:off x="-2356646" y="6527464"/>
            <a:ext cx="1915971"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Domain/sonstige Info</a:t>
            </a:r>
          </a:p>
        </p:txBody>
      </p:sp>
      <p:sp>
        <p:nvSpPr>
          <p:cNvPr id="21" name="Bildplatzhalter 3">
            <a:extLst>
              <a:ext uri="{FF2B5EF4-FFF2-40B4-BE49-F238E27FC236}">
                <a16:creationId xmlns:a16="http://schemas.microsoft.com/office/drawing/2014/main" id="{A0983EF8-6907-9B4B-9370-19CC69B038EB}"/>
              </a:ext>
            </a:extLst>
          </p:cNvPr>
          <p:cNvSpPr>
            <a:spLocks noGrp="1"/>
          </p:cNvSpPr>
          <p:nvPr>
            <p:ph type="pic" sz="quarter" idx="14"/>
          </p:nvPr>
        </p:nvSpPr>
        <p:spPr>
          <a:xfrm>
            <a:off x="10663200" y="1198800"/>
            <a:ext cx="1319153" cy="222568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aseline="0">
                <a:solidFill>
                  <a:schemeClr val="bg1"/>
                </a:solidFill>
              </a:defRPr>
            </a:lvl1pPr>
          </a:lstStyle>
          <a:p>
            <a:endParaRPr lang="de-DE"/>
          </a:p>
        </p:txBody>
      </p:sp>
      <p:pic>
        <p:nvPicPr>
          <p:cNvPr id="14" name="Grafik 13">
            <a:extLst>
              <a:ext uri="{FF2B5EF4-FFF2-40B4-BE49-F238E27FC236}">
                <a16:creationId xmlns:a16="http://schemas.microsoft.com/office/drawing/2014/main" id="{2873CCAF-E7C6-2047-9734-90C61A6AEC89}"/>
              </a:ext>
            </a:extLst>
          </p:cNvPr>
          <p:cNvPicPr>
            <a:picLocks noChangeAspect="1"/>
          </p:cNvPicPr>
          <p:nvPr userDrawn="1"/>
        </p:nvPicPr>
        <p:blipFill>
          <a:blip r:embed="rId4">
            <a:alphaModFix amt="50000"/>
          </a:blip>
          <a:srcRect/>
          <a:stretch/>
        </p:blipFill>
        <p:spPr>
          <a:xfrm>
            <a:off x="12521185" y="7129"/>
            <a:ext cx="12191997" cy="6843741"/>
          </a:xfrm>
          <a:prstGeom prst="rect">
            <a:avLst/>
          </a:prstGeom>
        </p:spPr>
      </p:pic>
      <p:pic>
        <p:nvPicPr>
          <p:cNvPr id="17" name="Grafik 16">
            <a:extLst>
              <a:ext uri="{FF2B5EF4-FFF2-40B4-BE49-F238E27FC236}">
                <a16:creationId xmlns:a16="http://schemas.microsoft.com/office/drawing/2014/main" id="{07941B59-A3C9-3D41-BCD5-6E217D5D9468}"/>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0663200" y="295200"/>
            <a:ext cx="1356360" cy="914400"/>
          </a:xfrm>
          <a:prstGeom prst="rect">
            <a:avLst/>
          </a:prstGeom>
        </p:spPr>
      </p:pic>
      <p:pic>
        <p:nvPicPr>
          <p:cNvPr id="16" name="Grafik 15">
            <a:extLst>
              <a:ext uri="{FF2B5EF4-FFF2-40B4-BE49-F238E27FC236}">
                <a16:creationId xmlns:a16="http://schemas.microsoft.com/office/drawing/2014/main" id="{360A417A-6251-5F4A-B9DF-8CD21F0B17EC}"/>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334965" y="296864"/>
            <a:ext cx="1737356" cy="967737"/>
          </a:xfrm>
          <a:prstGeom prst="rect">
            <a:avLst/>
          </a:prstGeom>
        </p:spPr>
      </p:pic>
    </p:spTree>
    <p:extLst>
      <p:ext uri="{BB962C8B-B14F-4D97-AF65-F5344CB8AC3E}">
        <p14:creationId xmlns:p14="http://schemas.microsoft.com/office/powerpoint/2010/main" val="2790810357"/>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MT_Präsentation // ENDE_V2">
    <p:bg>
      <p:bgPr>
        <a:solidFill>
          <a:schemeClr val="accent5"/>
        </a:solidFill>
        <a:effectLst/>
      </p:bgPr>
    </p:b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6" name="Textplatzhalter 5">
            <a:extLst>
              <a:ext uri="{FF2B5EF4-FFF2-40B4-BE49-F238E27FC236}">
                <a16:creationId xmlns:a16="http://schemas.microsoft.com/office/drawing/2014/main" id="{2E7EBA15-E6DE-9944-99E0-ABDB4E5D71B7}"/>
              </a:ext>
            </a:extLst>
          </p:cNvPr>
          <p:cNvSpPr>
            <a:spLocks noGrp="1"/>
          </p:cNvSpPr>
          <p:nvPr>
            <p:ph type="body" sz="quarter" idx="10" hasCustomPrompt="1"/>
          </p:nvPr>
        </p:nvSpPr>
        <p:spPr>
          <a:xfrm>
            <a:off x="334963" y="6372000"/>
            <a:ext cx="9013364" cy="284888"/>
          </a:xfrm>
          <a:prstGeom prst="rect">
            <a:avLst/>
          </a:prstGeom>
        </p:spPr>
        <p:txBody>
          <a:bodyPr lIns="0" tIns="0" rIns="0" bIns="0" anchor="b"/>
          <a:lstStyle>
            <a:lvl1pPr marL="0" indent="0">
              <a:buNone/>
              <a:defRPr sz="3200" baseline="0">
                <a:solidFill>
                  <a:schemeClr val="bg1"/>
                </a:solidFill>
                <a:latin typeface="Calibri" panose="020F0502020204030204" pitchFamily="34" charset="0"/>
                <a:cs typeface="Calibri" panose="020F0502020204030204" pitchFamily="34" charset="0"/>
              </a:defRPr>
            </a:lvl1pPr>
          </a:lstStyle>
          <a:p>
            <a:pPr lvl="0"/>
            <a:r>
              <a:rPr lang="de-DE" err="1"/>
              <a:t>www.h-ka.de</a:t>
            </a:r>
            <a:endParaRPr lang="de-DE"/>
          </a:p>
        </p:txBody>
      </p:sp>
      <p:sp>
        <p:nvSpPr>
          <p:cNvPr id="15" name="Textfeld 14">
            <a:extLst>
              <a:ext uri="{FF2B5EF4-FFF2-40B4-BE49-F238E27FC236}">
                <a16:creationId xmlns:a16="http://schemas.microsoft.com/office/drawing/2014/main" id="{A9BEB07F-910E-0E46-BDFE-125F07CADA4E}"/>
              </a:ext>
            </a:extLst>
          </p:cNvPr>
          <p:cNvSpPr txBox="1"/>
          <p:nvPr userDrawn="1"/>
        </p:nvSpPr>
        <p:spPr>
          <a:xfrm>
            <a:off x="13390384" y="3850088"/>
            <a:ext cx="0" cy="0"/>
          </a:xfrm>
          <a:prstGeom prst="rect">
            <a:avLst/>
          </a:prstGeom>
          <a:ln>
            <a:solidFill>
              <a:schemeClr val="accent1"/>
            </a:solidFill>
          </a:ln>
        </p:spPr>
        <p:txBody>
          <a:bodyPr wrap="none" rtlCol="0" anchor="b">
            <a:noAutofit/>
          </a:bodyPr>
          <a:lstStyle/>
          <a:p>
            <a:pPr algn="l"/>
            <a:endParaRPr lang="de-DE" sz="1540" err="1"/>
          </a:p>
        </p:txBody>
      </p:sp>
      <p:sp>
        <p:nvSpPr>
          <p:cNvPr id="10" name="Bildplatzhalter 3">
            <a:extLst>
              <a:ext uri="{FF2B5EF4-FFF2-40B4-BE49-F238E27FC236}">
                <a16:creationId xmlns:a16="http://schemas.microsoft.com/office/drawing/2014/main" id="{AB5ACA4C-4F39-604A-9FE7-667DCEBC134A}"/>
              </a:ext>
            </a:extLst>
          </p:cNvPr>
          <p:cNvSpPr>
            <a:spLocks noGrp="1"/>
          </p:cNvSpPr>
          <p:nvPr>
            <p:ph type="pic" sz="quarter" idx="12"/>
          </p:nvPr>
        </p:nvSpPr>
        <p:spPr>
          <a:xfrm>
            <a:off x="10663200" y="1206000"/>
            <a:ext cx="1355294"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marL="0" indent="0">
              <a:buNone/>
              <a:defRPr sz="100" baseline="0">
                <a:solidFill>
                  <a:srgbClr val="D72305"/>
                </a:solidFill>
              </a:defRPr>
            </a:lvl1pPr>
          </a:lstStyle>
          <a:p>
            <a:endParaRPr lang="de-DE"/>
          </a:p>
        </p:txBody>
      </p:sp>
      <p:pic>
        <p:nvPicPr>
          <p:cNvPr id="11" name="Grafik 10">
            <a:extLst>
              <a:ext uri="{FF2B5EF4-FFF2-40B4-BE49-F238E27FC236}">
                <a16:creationId xmlns:a16="http://schemas.microsoft.com/office/drawing/2014/main" id="{5D27FEBF-F841-9845-B6A8-6D30973528B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663200" y="302305"/>
            <a:ext cx="1356360" cy="914400"/>
          </a:xfrm>
          <a:prstGeom prst="rect">
            <a:avLst/>
          </a:prstGeom>
        </p:spPr>
      </p:pic>
      <p:pic>
        <p:nvPicPr>
          <p:cNvPr id="9" name="Grafik 8">
            <a:extLst>
              <a:ext uri="{FF2B5EF4-FFF2-40B4-BE49-F238E27FC236}">
                <a16:creationId xmlns:a16="http://schemas.microsoft.com/office/drawing/2014/main" id="{2231604B-8620-CA4A-AC7F-053FE140E4C4}"/>
              </a:ext>
            </a:extLst>
          </p:cNvPr>
          <p:cNvPicPr>
            <a:picLocks noChangeAspect="1"/>
          </p:cNvPicPr>
          <p:nvPr userDrawn="1"/>
        </p:nvPicPr>
        <p:blipFill>
          <a:blip r:embed="rId4">
            <a:alphaModFix amt="50000"/>
          </a:blip>
          <a:srcRect/>
          <a:stretch/>
        </p:blipFill>
        <p:spPr>
          <a:xfrm>
            <a:off x="12521185" y="7129"/>
            <a:ext cx="12191997" cy="6843741"/>
          </a:xfrm>
          <a:prstGeom prst="rect">
            <a:avLst/>
          </a:prstGeom>
        </p:spPr>
      </p:pic>
      <p:pic>
        <p:nvPicPr>
          <p:cNvPr id="14" name="Grafik 13">
            <a:extLst>
              <a:ext uri="{FF2B5EF4-FFF2-40B4-BE49-F238E27FC236}">
                <a16:creationId xmlns:a16="http://schemas.microsoft.com/office/drawing/2014/main" id="{090F77C6-D65A-F143-9A41-DAF0395F2A6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3"/>
            <a:ext cx="1737356" cy="967737"/>
          </a:xfrm>
          <a:prstGeom prst="rect">
            <a:avLst/>
          </a:prstGeom>
        </p:spPr>
      </p:pic>
    </p:spTree>
    <p:extLst>
      <p:ext uri="{BB962C8B-B14F-4D97-AF65-F5344CB8AC3E}">
        <p14:creationId xmlns:p14="http://schemas.microsoft.com/office/powerpoint/2010/main" val="363716741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sv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6" Type="http://schemas.openxmlformats.org/officeDocument/2006/relationships/theme" Target="../theme/theme2.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slideLayout" Target="../slideLayouts/slideLayout1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8286D881-C191-674F-A26E-410BBB8FC623}"/>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4"/>
            <a:ext cx="1737356" cy="967737"/>
          </a:xfrm>
          <a:prstGeom prst="rect">
            <a:avLst/>
          </a:prstGeom>
        </p:spPr>
      </p:pic>
      <p:pic>
        <p:nvPicPr>
          <p:cNvPr id="5" name="Grafik 4">
            <a:extLst>
              <a:ext uri="{FF2B5EF4-FFF2-40B4-BE49-F238E27FC236}">
                <a16:creationId xmlns:a16="http://schemas.microsoft.com/office/drawing/2014/main" id="{C2A008FA-65D3-0E47-AEB5-37D11E17DB0B}"/>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0663200" y="295200"/>
            <a:ext cx="1356360" cy="914400"/>
          </a:xfrm>
          <a:prstGeom prst="rect">
            <a:avLst/>
          </a:prstGeom>
        </p:spPr>
      </p:pic>
    </p:spTree>
    <p:extLst>
      <p:ext uri="{BB962C8B-B14F-4D97-AF65-F5344CB8AC3E}">
        <p14:creationId xmlns:p14="http://schemas.microsoft.com/office/powerpoint/2010/main" val="921850606"/>
      </p:ext>
    </p:extLst>
  </p:cSld>
  <p:clrMap bg1="lt1" tx1="dk1" bg2="lt2" tx2="dk2" accent1="accent1" accent2="accent2" accent3="accent3" accent4="accent4" accent5="accent5" accent6="accent6" hlink="hlink" folHlink="folHlink"/>
  <p:sldLayoutIdLst>
    <p:sldLayoutId id="2147483824" r:id="rId1"/>
    <p:sldLayoutId id="2147483870" r:id="rId2"/>
    <p:sldLayoutId id="2147483825" r:id="rId3"/>
  </p:sldLayoutIdLst>
  <p:hf hdr="0"/>
  <p:txStyles>
    <p:titleStyle>
      <a:lvl1pPr algn="l" defTabSz="9144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3" indent="-228613" algn="l" defTabSz="9144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0" indent="-228613" algn="l" defTabSz="9144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67" indent="-228613" algn="l" defTabSz="9144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94"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21"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48"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75"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02"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29"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54" rtl="0" eaLnBrk="1" latinLnBrk="0" hangingPunct="1">
        <a:defRPr sz="1800" kern="1200">
          <a:solidFill>
            <a:schemeClr val="tx1"/>
          </a:solidFill>
          <a:latin typeface="+mn-lt"/>
          <a:ea typeface="+mn-ea"/>
          <a:cs typeface="+mn-cs"/>
        </a:defRPr>
      </a:lvl1pPr>
      <a:lvl2pPr marL="457227" algn="l" defTabSz="914454" rtl="0" eaLnBrk="1" latinLnBrk="0" hangingPunct="1">
        <a:defRPr sz="1800" kern="1200">
          <a:solidFill>
            <a:schemeClr val="tx1"/>
          </a:solidFill>
          <a:latin typeface="+mn-lt"/>
          <a:ea typeface="+mn-ea"/>
          <a:cs typeface="+mn-cs"/>
        </a:defRPr>
      </a:lvl2pPr>
      <a:lvl3pPr marL="914454" algn="l" defTabSz="914454" rtl="0" eaLnBrk="1" latinLnBrk="0" hangingPunct="1">
        <a:defRPr sz="1800" kern="1200">
          <a:solidFill>
            <a:schemeClr val="tx1"/>
          </a:solidFill>
          <a:latin typeface="+mn-lt"/>
          <a:ea typeface="+mn-ea"/>
          <a:cs typeface="+mn-cs"/>
        </a:defRPr>
      </a:lvl3pPr>
      <a:lvl4pPr marL="1371681" algn="l" defTabSz="914454" rtl="0" eaLnBrk="1" latinLnBrk="0" hangingPunct="1">
        <a:defRPr sz="1800" kern="1200">
          <a:solidFill>
            <a:schemeClr val="tx1"/>
          </a:solidFill>
          <a:latin typeface="+mn-lt"/>
          <a:ea typeface="+mn-ea"/>
          <a:cs typeface="+mn-cs"/>
        </a:defRPr>
      </a:lvl4pPr>
      <a:lvl5pPr marL="1828907" algn="l" defTabSz="914454" rtl="0" eaLnBrk="1" latinLnBrk="0" hangingPunct="1">
        <a:defRPr sz="1800" kern="1200">
          <a:solidFill>
            <a:schemeClr val="tx1"/>
          </a:solidFill>
          <a:latin typeface="+mn-lt"/>
          <a:ea typeface="+mn-ea"/>
          <a:cs typeface="+mn-cs"/>
        </a:defRPr>
      </a:lvl5pPr>
      <a:lvl6pPr marL="2286134" algn="l" defTabSz="914454" rtl="0" eaLnBrk="1" latinLnBrk="0" hangingPunct="1">
        <a:defRPr sz="1800" kern="1200">
          <a:solidFill>
            <a:schemeClr val="tx1"/>
          </a:solidFill>
          <a:latin typeface="+mn-lt"/>
          <a:ea typeface="+mn-ea"/>
          <a:cs typeface="+mn-cs"/>
        </a:defRPr>
      </a:lvl6pPr>
      <a:lvl7pPr marL="2743361" algn="l" defTabSz="914454" rtl="0" eaLnBrk="1" latinLnBrk="0" hangingPunct="1">
        <a:defRPr sz="1800" kern="1200">
          <a:solidFill>
            <a:schemeClr val="tx1"/>
          </a:solidFill>
          <a:latin typeface="+mn-lt"/>
          <a:ea typeface="+mn-ea"/>
          <a:cs typeface="+mn-cs"/>
        </a:defRPr>
      </a:lvl7pPr>
      <a:lvl8pPr marL="3200588" algn="l" defTabSz="914454" rtl="0" eaLnBrk="1" latinLnBrk="0" hangingPunct="1">
        <a:defRPr sz="1800" kern="1200">
          <a:solidFill>
            <a:schemeClr val="tx1"/>
          </a:solidFill>
          <a:latin typeface="+mn-lt"/>
          <a:ea typeface="+mn-ea"/>
          <a:cs typeface="+mn-cs"/>
        </a:defRPr>
      </a:lvl8pPr>
      <a:lvl9pPr marL="3657815" algn="l" defTabSz="9144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87" userDrawn="1">
          <p15:clr>
            <a:srgbClr val="F26B43"/>
          </p15:clr>
        </p15:guide>
        <p15:guide id="5" pos="211" userDrawn="1">
          <p15:clr>
            <a:srgbClr val="F26B43"/>
          </p15:clr>
        </p15:guide>
        <p15:guide id="6" pos="7469" userDrawn="1">
          <p15:clr>
            <a:srgbClr val="F26B43"/>
          </p15:clr>
        </p15:guide>
        <p15:guide id="7" pos="6289" userDrawn="1">
          <p15:clr>
            <a:srgbClr val="F26B43"/>
          </p15:clr>
        </p15:guide>
        <p15:guide id="10" pos="6440" userDrawn="1">
          <p15:clr>
            <a:srgbClr val="F26B43"/>
          </p15:clr>
        </p15:guide>
        <p15:guide id="11" orient="horz" pos="4042" userDrawn="1">
          <p15:clr>
            <a:srgbClr val="F26B43"/>
          </p15:clr>
        </p15:guide>
        <p15:guide id="12" orient="horz" pos="4197" userDrawn="1">
          <p15:clr>
            <a:srgbClr val="F26B43"/>
          </p15:clr>
        </p15:guide>
        <p15:guide id="14" orient="horz" pos="4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Textfeld 19">
            <a:extLst>
              <a:ext uri="{FF2B5EF4-FFF2-40B4-BE49-F238E27FC236}">
                <a16:creationId xmlns:a16="http://schemas.microsoft.com/office/drawing/2014/main" id="{71B0FBC3-4352-044E-8291-90541ABE6965}"/>
              </a:ext>
            </a:extLst>
          </p:cNvPr>
          <p:cNvSpPr txBox="1"/>
          <p:nvPr userDrawn="1"/>
        </p:nvSpPr>
        <p:spPr>
          <a:xfrm>
            <a:off x="-2356645" y="6194089"/>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Navigation</a:t>
            </a:r>
          </a:p>
        </p:txBody>
      </p:sp>
      <p:sp>
        <p:nvSpPr>
          <p:cNvPr id="21" name="Textfeld 20">
            <a:extLst>
              <a:ext uri="{FF2B5EF4-FFF2-40B4-BE49-F238E27FC236}">
                <a16:creationId xmlns:a16="http://schemas.microsoft.com/office/drawing/2014/main" id="{E037490B-ECC9-B74B-97A2-DEB675E2D160}"/>
              </a:ext>
            </a:extLst>
          </p:cNvPr>
          <p:cNvSpPr txBox="1"/>
          <p:nvPr userDrawn="1"/>
        </p:nvSpPr>
        <p:spPr>
          <a:xfrm>
            <a:off x="-2356645" y="565710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Inhalt</a:t>
            </a:r>
          </a:p>
        </p:txBody>
      </p:sp>
      <p:sp>
        <p:nvSpPr>
          <p:cNvPr id="24" name="Textfeld 23">
            <a:extLst>
              <a:ext uri="{FF2B5EF4-FFF2-40B4-BE49-F238E27FC236}">
                <a16:creationId xmlns:a16="http://schemas.microsoft.com/office/drawing/2014/main" id="{5AB5AF7D-3C45-1849-B0BB-6B0935832BBC}"/>
              </a:ext>
            </a:extLst>
          </p:cNvPr>
          <p:cNvSpPr txBox="1"/>
          <p:nvPr userDrawn="1"/>
        </p:nvSpPr>
        <p:spPr>
          <a:xfrm>
            <a:off x="383118" y="6996029"/>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 Kante Navigation</a:t>
            </a:r>
          </a:p>
        </p:txBody>
      </p:sp>
      <p:sp>
        <p:nvSpPr>
          <p:cNvPr id="8" name="Foliennummernplatzhalter 3">
            <a:extLst>
              <a:ext uri="{FF2B5EF4-FFF2-40B4-BE49-F238E27FC236}">
                <a16:creationId xmlns:a16="http://schemas.microsoft.com/office/drawing/2014/main" id="{E840325F-7756-0149-8183-117E8A6BED25}"/>
              </a:ext>
            </a:extLst>
          </p:cNvPr>
          <p:cNvSpPr>
            <a:spLocks noGrp="1"/>
          </p:cNvSpPr>
          <p:nvPr>
            <p:ph type="sldNum" sz="quarter" idx="4"/>
          </p:nvPr>
        </p:nvSpPr>
        <p:spPr>
          <a:xfrm>
            <a:off x="334963" y="6431336"/>
            <a:ext cx="2742936" cy="97976"/>
          </a:xfrm>
          <a:prstGeom prst="rect">
            <a:avLst/>
          </a:prstGeom>
        </p:spPr>
        <p:txBody>
          <a:bodyPr vert="horz" lIns="0" tIns="0" rIns="0" bIns="0" rtlCol="0" anchor="t" anchorCtr="0"/>
          <a:lstStyle>
            <a:lvl1pPr algn="l">
              <a:defRPr sz="1000" baseline="0">
                <a:solidFill>
                  <a:schemeClr val="accent5"/>
                </a:solidFill>
                <a:latin typeface="Calibri" panose="020F0502020204030204" pitchFamily="34" charset="0"/>
                <a:cs typeface="Calibri" panose="020F0502020204030204" pitchFamily="34" charset="0"/>
              </a:defRPr>
            </a:lvl1pPr>
          </a:lstStyle>
          <a:p>
            <a:fld id="{13005BA2-ABF8-0A46-8B15-84F2660EFA6C}" type="slidenum">
              <a:rPr lang="de-DE" smtClean="0"/>
              <a:pPr/>
              <a:t>‹Nr.›</a:t>
            </a:fld>
            <a:endParaRPr lang="de-DE"/>
          </a:p>
        </p:txBody>
      </p:sp>
      <p:sp>
        <p:nvSpPr>
          <p:cNvPr id="11" name="Fußzeilenplatzhalter 1">
            <a:extLst>
              <a:ext uri="{FF2B5EF4-FFF2-40B4-BE49-F238E27FC236}">
                <a16:creationId xmlns:a16="http://schemas.microsoft.com/office/drawing/2014/main" id="{30392229-6F47-7741-914D-5DBE643205A5}"/>
              </a:ext>
            </a:extLst>
          </p:cNvPr>
          <p:cNvSpPr>
            <a:spLocks noGrp="1"/>
          </p:cNvSpPr>
          <p:nvPr>
            <p:ph type="ftr" sz="quarter" idx="3"/>
          </p:nvPr>
        </p:nvSpPr>
        <p:spPr>
          <a:xfrm>
            <a:off x="334963" y="6153519"/>
            <a:ext cx="10909299" cy="138941"/>
          </a:xfrm>
          <a:prstGeom prst="rect">
            <a:avLst/>
          </a:prstGeom>
        </p:spPr>
        <p:txBody>
          <a:bodyPr vert="horz" lIns="0" tIns="0" rIns="0" bIns="0" rtlCol="0" anchor="t" anchorCtr="0"/>
          <a:lstStyle>
            <a:lvl1pPr algn="l">
              <a:lnSpc>
                <a:spcPts val="839"/>
              </a:lnSpc>
              <a:defRPr sz="1000" baseline="0">
                <a:solidFill>
                  <a:schemeClr val="accent5"/>
                </a:solidFill>
                <a:latin typeface="Calibri" panose="020F0502020204030204" pitchFamily="34" charset="0"/>
                <a:cs typeface="Calibri" panose="020F0502020204030204" pitchFamily="34" charset="0"/>
              </a:defRPr>
            </a:lvl1pPr>
          </a:lstStyle>
          <a:p>
            <a:r>
              <a:rPr lang="de-DE"/>
              <a:t>Hochschule Karlsruhe</a:t>
            </a:r>
          </a:p>
        </p:txBody>
      </p:sp>
      <p:sp>
        <p:nvSpPr>
          <p:cNvPr id="10" name="Datumsplatzhalter 3">
            <a:extLst>
              <a:ext uri="{FF2B5EF4-FFF2-40B4-BE49-F238E27FC236}">
                <a16:creationId xmlns:a16="http://schemas.microsoft.com/office/drawing/2014/main" id="{90108F2C-E92D-444D-A4AF-D5EFEA52A791}"/>
              </a:ext>
            </a:extLst>
          </p:cNvPr>
          <p:cNvSpPr>
            <a:spLocks noGrp="1"/>
          </p:cNvSpPr>
          <p:nvPr>
            <p:ph type="dt" sz="half" idx="2"/>
          </p:nvPr>
        </p:nvSpPr>
        <p:spPr>
          <a:xfrm>
            <a:off x="334699" y="6274088"/>
            <a:ext cx="2743200" cy="133575"/>
          </a:xfrm>
          <a:prstGeom prst="rect">
            <a:avLst/>
          </a:prstGeom>
        </p:spPr>
        <p:txBody>
          <a:bodyPr lIns="0" tIns="0" rIns="0" bIns="0"/>
          <a:lstStyle>
            <a:lvl1pPr>
              <a:defRPr sz="1000">
                <a:solidFill>
                  <a:schemeClr val="accent5"/>
                </a:solidFill>
              </a:defRPr>
            </a:lvl1pPr>
          </a:lstStyle>
          <a:p>
            <a:r>
              <a:rPr lang="de-DE"/>
              <a:t>20. Januar 2021</a:t>
            </a:r>
          </a:p>
        </p:txBody>
      </p:sp>
    </p:spTree>
    <p:extLst>
      <p:ext uri="{BB962C8B-B14F-4D97-AF65-F5344CB8AC3E}">
        <p14:creationId xmlns:p14="http://schemas.microsoft.com/office/powerpoint/2010/main" val="2534388412"/>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71" r:id="rId15"/>
  </p:sldLayoutIdLst>
  <p:hf hdr="0"/>
  <p:txStyles>
    <p:titleStyle>
      <a:lvl1pPr algn="l" defTabSz="9144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3" indent="-228613" algn="l" defTabSz="9144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0" indent="-228613" algn="l" defTabSz="9144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67" indent="-228613" algn="l" defTabSz="9144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94"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21"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48"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75"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02"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29"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54" rtl="0" eaLnBrk="1" latinLnBrk="0" hangingPunct="1">
        <a:defRPr sz="1800" kern="1200">
          <a:solidFill>
            <a:schemeClr val="tx1"/>
          </a:solidFill>
          <a:latin typeface="+mn-lt"/>
          <a:ea typeface="+mn-ea"/>
          <a:cs typeface="+mn-cs"/>
        </a:defRPr>
      </a:lvl1pPr>
      <a:lvl2pPr marL="457227" algn="l" defTabSz="914454" rtl="0" eaLnBrk="1" latinLnBrk="0" hangingPunct="1">
        <a:defRPr sz="1800" kern="1200">
          <a:solidFill>
            <a:schemeClr val="tx1"/>
          </a:solidFill>
          <a:latin typeface="+mn-lt"/>
          <a:ea typeface="+mn-ea"/>
          <a:cs typeface="+mn-cs"/>
        </a:defRPr>
      </a:lvl2pPr>
      <a:lvl3pPr marL="914454" algn="l" defTabSz="914454" rtl="0" eaLnBrk="1" latinLnBrk="0" hangingPunct="1">
        <a:defRPr sz="1800" kern="1200">
          <a:solidFill>
            <a:schemeClr val="tx1"/>
          </a:solidFill>
          <a:latin typeface="+mn-lt"/>
          <a:ea typeface="+mn-ea"/>
          <a:cs typeface="+mn-cs"/>
        </a:defRPr>
      </a:lvl3pPr>
      <a:lvl4pPr marL="1371681" algn="l" defTabSz="914454" rtl="0" eaLnBrk="1" latinLnBrk="0" hangingPunct="1">
        <a:defRPr sz="1800" kern="1200">
          <a:solidFill>
            <a:schemeClr val="tx1"/>
          </a:solidFill>
          <a:latin typeface="+mn-lt"/>
          <a:ea typeface="+mn-ea"/>
          <a:cs typeface="+mn-cs"/>
        </a:defRPr>
      </a:lvl4pPr>
      <a:lvl5pPr marL="1828907" algn="l" defTabSz="914454" rtl="0" eaLnBrk="1" latinLnBrk="0" hangingPunct="1">
        <a:defRPr sz="1800" kern="1200">
          <a:solidFill>
            <a:schemeClr val="tx1"/>
          </a:solidFill>
          <a:latin typeface="+mn-lt"/>
          <a:ea typeface="+mn-ea"/>
          <a:cs typeface="+mn-cs"/>
        </a:defRPr>
      </a:lvl5pPr>
      <a:lvl6pPr marL="2286134" algn="l" defTabSz="914454" rtl="0" eaLnBrk="1" latinLnBrk="0" hangingPunct="1">
        <a:defRPr sz="1800" kern="1200">
          <a:solidFill>
            <a:schemeClr val="tx1"/>
          </a:solidFill>
          <a:latin typeface="+mn-lt"/>
          <a:ea typeface="+mn-ea"/>
          <a:cs typeface="+mn-cs"/>
        </a:defRPr>
      </a:lvl6pPr>
      <a:lvl7pPr marL="2743361" algn="l" defTabSz="914454" rtl="0" eaLnBrk="1" latinLnBrk="0" hangingPunct="1">
        <a:defRPr sz="1800" kern="1200">
          <a:solidFill>
            <a:schemeClr val="tx1"/>
          </a:solidFill>
          <a:latin typeface="+mn-lt"/>
          <a:ea typeface="+mn-ea"/>
          <a:cs typeface="+mn-cs"/>
        </a:defRPr>
      </a:lvl7pPr>
      <a:lvl8pPr marL="3200588" algn="l" defTabSz="914454" rtl="0" eaLnBrk="1" latinLnBrk="0" hangingPunct="1">
        <a:defRPr sz="1800" kern="1200">
          <a:solidFill>
            <a:schemeClr val="tx1"/>
          </a:solidFill>
          <a:latin typeface="+mn-lt"/>
          <a:ea typeface="+mn-ea"/>
          <a:cs typeface="+mn-cs"/>
        </a:defRPr>
      </a:lvl8pPr>
      <a:lvl9pPr marL="3657815" algn="l" defTabSz="9144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861" userDrawn="1">
          <p15:clr>
            <a:srgbClr val="F26B43"/>
          </p15:clr>
        </p15:guide>
        <p15:guide id="5" pos="211" userDrawn="1">
          <p15:clr>
            <a:srgbClr val="F26B43"/>
          </p15:clr>
        </p15:guide>
        <p15:guide id="6" pos="7469" userDrawn="1">
          <p15:clr>
            <a:srgbClr val="F26B43"/>
          </p15:clr>
        </p15:guide>
        <p15:guide id="7" orient="horz" pos="4133" userDrawn="1">
          <p15:clr>
            <a:srgbClr val="F26B43"/>
          </p15:clr>
        </p15:guide>
        <p15:guide id="11" orient="horz" pos="4292" userDrawn="1">
          <p15:clr>
            <a:srgbClr val="F26B43"/>
          </p15:clr>
        </p15:guide>
        <p15:guide id="13" pos="7083"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83717"/>
      </p:ext>
    </p:extLst>
  </p:cSld>
  <p:clrMap bg1="lt1" tx1="dk1" bg2="lt2" tx2="dk2" accent1="accent1" accent2="accent2" accent3="accent3" accent4="accent4" accent5="accent5" accent6="accent6" hlink="hlink" folHlink="folHlink"/>
  <p:sldLayoutIdLst>
    <p:sldLayoutId id="2147483842" r:id="rId1"/>
    <p:sldLayoutId id="2147483843" r:id="rId2"/>
  </p:sldLayoutIdLst>
  <p:hf hdr="0"/>
  <p:txStyles>
    <p:titleStyle>
      <a:lvl1pPr algn="l" defTabSz="414772" rtl="0" eaLnBrk="1" latinLnBrk="0" hangingPunct="1">
        <a:lnSpc>
          <a:spcPct val="90000"/>
        </a:lnSpc>
        <a:spcBef>
          <a:spcPct val="0"/>
        </a:spcBef>
        <a:buNone/>
        <a:defRPr sz="2948" kern="1200" baseline="0">
          <a:solidFill>
            <a:schemeClr val="tx1"/>
          </a:solidFill>
          <a:latin typeface="Calibri Bold" pitchFamily="2" charset="77"/>
          <a:ea typeface="+mj-ea"/>
          <a:cs typeface="+mj-cs"/>
        </a:defRPr>
      </a:lvl1pPr>
    </p:titleStyle>
    <p:bodyStyle>
      <a:lvl1pPr marL="103693" indent="-103693" algn="l" defTabSz="414772" rtl="0" eaLnBrk="1" latinLnBrk="0" hangingPunct="1">
        <a:lnSpc>
          <a:spcPct val="90000"/>
        </a:lnSpc>
        <a:spcBef>
          <a:spcPts val="454"/>
        </a:spcBef>
        <a:buFont typeface="Arial" panose="020B0604020202020204" pitchFamily="34" charset="0"/>
        <a:buChar char="•"/>
        <a:defRPr sz="1270" kern="1200">
          <a:solidFill>
            <a:schemeClr val="tx1"/>
          </a:solidFill>
          <a:latin typeface="+mn-lt"/>
          <a:ea typeface="+mn-ea"/>
          <a:cs typeface="+mn-cs"/>
        </a:defRPr>
      </a:lvl1pPr>
      <a:lvl2pPr marL="311079" indent="-103693" algn="l" defTabSz="414772" rtl="0" eaLnBrk="1" latinLnBrk="0" hangingPunct="1">
        <a:lnSpc>
          <a:spcPct val="90000"/>
        </a:lnSpc>
        <a:spcBef>
          <a:spcPts val="227"/>
        </a:spcBef>
        <a:buFont typeface="Arial" panose="020B0604020202020204" pitchFamily="34" charset="0"/>
        <a:buChar char="•"/>
        <a:defRPr sz="1089" kern="1200">
          <a:solidFill>
            <a:schemeClr val="tx1"/>
          </a:solidFill>
          <a:latin typeface="+mn-lt"/>
          <a:ea typeface="+mn-ea"/>
          <a:cs typeface="+mn-cs"/>
        </a:defRPr>
      </a:lvl2pPr>
      <a:lvl3pPr marL="518465" indent="-103693" algn="l" defTabSz="414772" rtl="0" eaLnBrk="1" latinLnBrk="0" hangingPunct="1">
        <a:lnSpc>
          <a:spcPct val="90000"/>
        </a:lnSpc>
        <a:spcBef>
          <a:spcPts val="227"/>
        </a:spcBef>
        <a:buFont typeface="Arial" panose="020B0604020202020204" pitchFamily="34" charset="0"/>
        <a:buChar char="•"/>
        <a:defRPr sz="907" kern="1200">
          <a:solidFill>
            <a:schemeClr val="tx1"/>
          </a:solidFill>
          <a:latin typeface="+mn-lt"/>
          <a:ea typeface="+mn-ea"/>
          <a:cs typeface="+mn-cs"/>
        </a:defRPr>
      </a:lvl3pPr>
      <a:lvl4pPr marL="725851"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4pPr>
      <a:lvl5pPr marL="933237"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5pPr>
      <a:lvl6pPr marL="1140623"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6pPr>
      <a:lvl7pPr marL="1348008"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7pPr>
      <a:lvl8pPr marL="1555394"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8pPr>
      <a:lvl9pPr marL="1762780"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9pPr>
    </p:bodyStyle>
    <p:otherStyle>
      <a:defPPr>
        <a:defRPr lang="de-DE"/>
      </a:defPPr>
      <a:lvl1pPr marL="0" algn="l" defTabSz="414772" rtl="0" eaLnBrk="1" latinLnBrk="0" hangingPunct="1">
        <a:defRPr sz="816" kern="1200">
          <a:solidFill>
            <a:schemeClr val="tx1"/>
          </a:solidFill>
          <a:latin typeface="+mn-lt"/>
          <a:ea typeface="+mn-ea"/>
          <a:cs typeface="+mn-cs"/>
        </a:defRPr>
      </a:lvl1pPr>
      <a:lvl2pPr marL="207386" algn="l" defTabSz="414772" rtl="0" eaLnBrk="1" latinLnBrk="0" hangingPunct="1">
        <a:defRPr sz="816" kern="1200">
          <a:solidFill>
            <a:schemeClr val="tx1"/>
          </a:solidFill>
          <a:latin typeface="+mn-lt"/>
          <a:ea typeface="+mn-ea"/>
          <a:cs typeface="+mn-cs"/>
        </a:defRPr>
      </a:lvl2pPr>
      <a:lvl3pPr marL="414772" algn="l" defTabSz="414772" rtl="0" eaLnBrk="1" latinLnBrk="0" hangingPunct="1">
        <a:defRPr sz="816" kern="1200">
          <a:solidFill>
            <a:schemeClr val="tx1"/>
          </a:solidFill>
          <a:latin typeface="+mn-lt"/>
          <a:ea typeface="+mn-ea"/>
          <a:cs typeface="+mn-cs"/>
        </a:defRPr>
      </a:lvl3pPr>
      <a:lvl4pPr marL="622158" algn="l" defTabSz="414772" rtl="0" eaLnBrk="1" latinLnBrk="0" hangingPunct="1">
        <a:defRPr sz="816" kern="1200">
          <a:solidFill>
            <a:schemeClr val="tx1"/>
          </a:solidFill>
          <a:latin typeface="+mn-lt"/>
          <a:ea typeface="+mn-ea"/>
          <a:cs typeface="+mn-cs"/>
        </a:defRPr>
      </a:lvl4pPr>
      <a:lvl5pPr marL="829544" algn="l" defTabSz="414772" rtl="0" eaLnBrk="1" latinLnBrk="0" hangingPunct="1">
        <a:defRPr sz="816" kern="1200">
          <a:solidFill>
            <a:schemeClr val="tx1"/>
          </a:solidFill>
          <a:latin typeface="+mn-lt"/>
          <a:ea typeface="+mn-ea"/>
          <a:cs typeface="+mn-cs"/>
        </a:defRPr>
      </a:lvl5pPr>
      <a:lvl6pPr marL="1036930" algn="l" defTabSz="414772" rtl="0" eaLnBrk="1" latinLnBrk="0" hangingPunct="1">
        <a:defRPr sz="816" kern="1200">
          <a:solidFill>
            <a:schemeClr val="tx1"/>
          </a:solidFill>
          <a:latin typeface="+mn-lt"/>
          <a:ea typeface="+mn-ea"/>
          <a:cs typeface="+mn-cs"/>
        </a:defRPr>
      </a:lvl6pPr>
      <a:lvl7pPr marL="1244316" algn="l" defTabSz="414772" rtl="0" eaLnBrk="1" latinLnBrk="0" hangingPunct="1">
        <a:defRPr sz="816" kern="1200">
          <a:solidFill>
            <a:schemeClr val="tx1"/>
          </a:solidFill>
          <a:latin typeface="+mn-lt"/>
          <a:ea typeface="+mn-ea"/>
          <a:cs typeface="+mn-cs"/>
        </a:defRPr>
      </a:lvl7pPr>
      <a:lvl8pPr marL="1451701" algn="l" defTabSz="414772" rtl="0" eaLnBrk="1" latinLnBrk="0" hangingPunct="1">
        <a:defRPr sz="816" kern="1200">
          <a:solidFill>
            <a:schemeClr val="tx1"/>
          </a:solidFill>
          <a:latin typeface="+mn-lt"/>
          <a:ea typeface="+mn-ea"/>
          <a:cs typeface="+mn-cs"/>
        </a:defRPr>
      </a:lvl8pPr>
      <a:lvl9pPr marL="1659087" algn="l" defTabSz="414772" rtl="0" eaLnBrk="1" latinLnBrk="0" hangingPunct="1">
        <a:defRPr sz="81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userDrawn="1">
          <p15:clr>
            <a:srgbClr val="F26B43"/>
          </p15:clr>
        </p15:guide>
        <p15:guide id="2" orient="horz" pos="187" userDrawn="1">
          <p15:clr>
            <a:srgbClr val="F26B43"/>
          </p15:clr>
        </p15:guide>
        <p15:guide id="3" pos="7469" userDrawn="1">
          <p15:clr>
            <a:srgbClr val="F26B43"/>
          </p15:clr>
        </p15:guide>
        <p15:guide id="4" orient="horz" pos="4133" userDrawn="1">
          <p15:clr>
            <a:srgbClr val="F26B43"/>
          </p15:clr>
        </p15:guide>
        <p15:guide id="5" orient="horz" pos="118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8.jpeg"/><Relationship Id="rId7" Type="http://schemas.openxmlformats.org/officeDocument/2006/relationships/hyperlink" Target="mailto:bjoern.hein@h-ka.d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hosi1025@h-ka.de" TargetMode="External"/><Relationship Id="rId5" Type="http://schemas.openxmlformats.org/officeDocument/2006/relationships/hyperlink" Target="mailto:nolu1012@h-ka.de" TargetMode="External"/><Relationship Id="rId4" Type="http://schemas.openxmlformats.org/officeDocument/2006/relationships/hyperlink" Target="mailto:unto1011@h-ka.de"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23590-2731-3D69-EBD3-B725AE176D58}"/>
            </a:ext>
          </a:extLst>
        </p:cNvPr>
        <p:cNvGrpSpPr/>
        <p:nvPr/>
      </p:nvGrpSpPr>
      <p:grpSpPr>
        <a:xfrm>
          <a:off x="0" y="0"/>
          <a:ext cx="0" cy="0"/>
          <a:chOff x="0" y="0"/>
          <a:chExt cx="0" cy="0"/>
        </a:xfrm>
      </p:grpSpPr>
      <p:sp>
        <p:nvSpPr>
          <p:cNvPr id="2" name="Bildplatzhalter 1">
            <a:extLst>
              <a:ext uri="{FF2B5EF4-FFF2-40B4-BE49-F238E27FC236}">
                <a16:creationId xmlns:a16="http://schemas.microsoft.com/office/drawing/2014/main" id="{13C243C5-59C3-0C50-277A-7D93A49711B1}"/>
              </a:ext>
            </a:extLst>
          </p:cNvPr>
          <p:cNvSpPr>
            <a:spLocks noGrp="1"/>
          </p:cNvSpPr>
          <p:nvPr>
            <p:ph type="pic" sz="quarter" idx="12"/>
          </p:nvPr>
        </p:nvSpPr>
        <p:spPr>
          <a:xfrm>
            <a:off x="0" y="3108958"/>
            <a:ext cx="12192000" cy="3308356"/>
          </a:xfrm>
        </p:spPr>
        <p:txBody>
          <a:bodyPr/>
          <a:lstStyle/>
          <a:p>
            <a:r>
              <a:rPr lang="de-DE" sz="1600" dirty="0"/>
              <a:t>	</a:t>
            </a:r>
          </a:p>
          <a:p>
            <a:endParaRPr lang="de-DE" sz="1600" dirty="0"/>
          </a:p>
        </p:txBody>
      </p:sp>
      <p:sp>
        <p:nvSpPr>
          <p:cNvPr id="4" name="Bildplatzhalter 3">
            <a:extLst>
              <a:ext uri="{FF2B5EF4-FFF2-40B4-BE49-F238E27FC236}">
                <a16:creationId xmlns:a16="http://schemas.microsoft.com/office/drawing/2014/main" id="{87EC586E-E418-3EDD-0740-709B37BD9729}"/>
              </a:ext>
            </a:extLst>
          </p:cNvPr>
          <p:cNvSpPr>
            <a:spLocks noGrp="1"/>
          </p:cNvSpPr>
          <p:nvPr>
            <p:ph type="pic" sz="quarter" idx="14"/>
          </p:nvPr>
        </p:nvSpPr>
        <p:spPr/>
        <p:txBody>
          <a:bodyPr/>
          <a:lstStyle/>
          <a:p>
            <a:endParaRPr lang="de-DE"/>
          </a:p>
        </p:txBody>
      </p:sp>
      <p:sp>
        <p:nvSpPr>
          <p:cNvPr id="5" name="Textplatzhalter 4">
            <a:extLst>
              <a:ext uri="{FF2B5EF4-FFF2-40B4-BE49-F238E27FC236}">
                <a16:creationId xmlns:a16="http://schemas.microsoft.com/office/drawing/2014/main" id="{A3D23DA7-473F-2E99-6799-85294DE4E1E5}"/>
              </a:ext>
            </a:extLst>
          </p:cNvPr>
          <p:cNvSpPr>
            <a:spLocks noGrp="1"/>
          </p:cNvSpPr>
          <p:nvPr>
            <p:ph type="body" sz="quarter" idx="15"/>
          </p:nvPr>
        </p:nvSpPr>
        <p:spPr/>
        <p:txBody>
          <a:bodyPr/>
          <a:lstStyle/>
          <a:p>
            <a:r>
              <a:rPr lang="de-DE" dirty="0"/>
              <a:t>FuE-Projekt Sommersemester 2026 | 09.10.2026</a:t>
            </a:r>
          </a:p>
          <a:p>
            <a:endParaRPr lang="de-DE" dirty="0"/>
          </a:p>
          <a:p>
            <a:endParaRPr lang="de-DE" dirty="0"/>
          </a:p>
        </p:txBody>
      </p:sp>
      <p:sp>
        <p:nvSpPr>
          <p:cNvPr id="11" name="cover-title">
            <a:extLst>
              <a:ext uri="{FF2B5EF4-FFF2-40B4-BE49-F238E27FC236}">
                <a16:creationId xmlns:a16="http://schemas.microsoft.com/office/drawing/2014/main" id="{2D9FE467-C161-26CE-EF15-9FCAD5AAE477}"/>
              </a:ext>
            </a:extLst>
          </p:cNvPr>
          <p:cNvSpPr>
            <a:spLocks noGrp="1"/>
          </p:cNvSpPr>
          <p:nvPr/>
        </p:nvSpPr>
        <p:spPr>
          <a:xfrm>
            <a:off x="333375" y="1423345"/>
            <a:ext cx="9620250" cy="12763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4000" b="0">
                <a:solidFill>
                  <a:srgbClr val="2869AF"/>
                </a:solidFill>
                <a:latin typeface="Calibri"/>
                <a:ea typeface="Calibri"/>
                <a:cs typeface="Calibri"/>
              </a:defRPr>
            </a:pPr>
            <a:r>
              <a:rPr sz="4000" b="0">
                <a:solidFill>
                  <a:srgbClr val="2869AF"/>
                </a:solidFill>
                <a:latin typeface="Calibri"/>
                <a:ea typeface="Calibri"/>
                <a:cs typeface="Calibri"/>
              </a:rPr>
              <a:t>Inverses „Tetris“</a:t>
            </a:r>
          </a:p>
          <a:p>
            <a:pPr algn="l">
              <a:lnSpc>
                <a:spcPct val="105000"/>
              </a:lnSpc>
              <a:spcBef>
                <a:spcPts val="0"/>
              </a:spcBef>
              <a:spcAft>
                <a:spcPts val="0"/>
              </a:spcAft>
              <a:buNone/>
              <a:defRPr sz="4000" b="0">
                <a:solidFill>
                  <a:srgbClr val="2869AF"/>
                </a:solidFill>
                <a:latin typeface="Calibri"/>
                <a:ea typeface="Calibri"/>
                <a:cs typeface="Calibri"/>
              </a:defRPr>
            </a:pPr>
            <a:r>
              <a:rPr sz="4000" b="0">
                <a:solidFill>
                  <a:srgbClr val="2869AF"/>
                </a:solidFill>
                <a:latin typeface="Calibri"/>
                <a:ea typeface="Calibri"/>
                <a:cs typeface="Calibri"/>
              </a:rPr>
              <a:t>für Roboter</a:t>
            </a:r>
          </a:p>
        </p:txBody>
      </p:sp>
      <p:sp>
        <p:nvSpPr>
          <p:cNvPr id="13" name="cover-subtitle">
            <a:extLst>
              <a:ext uri="{FF2B5EF4-FFF2-40B4-BE49-F238E27FC236}">
                <a16:creationId xmlns:a16="http://schemas.microsoft.com/office/drawing/2014/main" id="{7A81D016-7E82-513B-D471-5C6769554CBD}"/>
              </a:ext>
            </a:extLst>
          </p:cNvPr>
          <p:cNvSpPr>
            <a:spLocks noGrp="1"/>
          </p:cNvSpPr>
          <p:nvPr/>
        </p:nvSpPr>
        <p:spPr>
          <a:xfrm>
            <a:off x="333375" y="2699695"/>
            <a:ext cx="10191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2869AF"/>
                </a:solidFill>
                <a:latin typeface="Calibri"/>
                <a:ea typeface="Calibri"/>
                <a:cs typeface="Calibri"/>
              </a:defRPr>
            </a:pPr>
            <a:r>
              <a:rPr sz="2200" b="0" dirty="0">
                <a:solidFill>
                  <a:srgbClr val="2869AF"/>
                </a:solidFill>
                <a:latin typeface="Calibri"/>
                <a:ea typeface="Calibri"/>
                <a:cs typeface="Calibri"/>
              </a:rPr>
              <a:t>„On the Fly“-Picking </a:t>
            </a:r>
            <a:r>
              <a:rPr sz="2200" b="0" dirty="0" err="1">
                <a:solidFill>
                  <a:srgbClr val="2869AF"/>
                </a:solidFill>
                <a:latin typeface="Calibri"/>
                <a:ea typeface="Calibri"/>
                <a:cs typeface="Calibri"/>
              </a:rPr>
              <a:t>bei</a:t>
            </a:r>
            <a:r>
              <a:rPr sz="2200" b="0" dirty="0">
                <a:solidFill>
                  <a:srgbClr val="2869AF"/>
                </a:solidFill>
                <a:latin typeface="Calibri"/>
                <a:ea typeface="Calibri"/>
                <a:cs typeface="Calibri"/>
              </a:rPr>
              <a:t> </a:t>
            </a:r>
            <a:r>
              <a:rPr sz="2200" b="0" dirty="0" err="1">
                <a:solidFill>
                  <a:srgbClr val="2869AF"/>
                </a:solidFill>
                <a:latin typeface="Calibri"/>
                <a:ea typeface="Calibri"/>
                <a:cs typeface="Calibri"/>
              </a:rPr>
              <a:t>verschiedenen</a:t>
            </a:r>
            <a:r>
              <a:rPr sz="2200" b="0" dirty="0">
                <a:solidFill>
                  <a:srgbClr val="2869AF"/>
                </a:solidFill>
                <a:latin typeface="Calibri"/>
                <a:ea typeface="Calibri"/>
                <a:cs typeface="Calibri"/>
              </a:rPr>
              <a:t> </a:t>
            </a:r>
            <a:r>
              <a:rPr sz="2200" b="0" dirty="0" err="1">
                <a:solidFill>
                  <a:srgbClr val="2869AF"/>
                </a:solidFill>
                <a:latin typeface="Calibri"/>
                <a:ea typeface="Calibri"/>
                <a:cs typeface="Calibri"/>
              </a:rPr>
              <a:t>Bandgeschwindigkeiten</a:t>
            </a:r>
            <a:endParaRPr sz="2200" b="0" dirty="0">
              <a:solidFill>
                <a:srgbClr val="2869AF"/>
              </a:solidFill>
              <a:latin typeface="Calibri"/>
              <a:ea typeface="Calibri"/>
              <a:cs typeface="Calibri"/>
            </a:endParaRPr>
          </a:p>
        </p:txBody>
      </p:sp>
      <p:pic>
        <p:nvPicPr>
          <p:cNvPr id="6" name="Grafik 5">
            <a:extLst>
              <a:ext uri="{FF2B5EF4-FFF2-40B4-BE49-F238E27FC236}">
                <a16:creationId xmlns:a16="http://schemas.microsoft.com/office/drawing/2014/main" id="{EAA52DF4-48FF-B3FA-448C-20CB292F4EBD}"/>
              </a:ext>
            </a:extLst>
          </p:cNvPr>
          <p:cNvPicPr>
            <a:picLocks noChangeAspect="1"/>
          </p:cNvPicPr>
          <p:nvPr/>
        </p:nvPicPr>
        <p:blipFill>
          <a:blip r:embed="rId3"/>
          <a:srcRect t="1283" b="-63"/>
          <a:stretch>
            <a:fillRect/>
          </a:stretch>
        </p:blipFill>
        <p:spPr>
          <a:xfrm>
            <a:off x="6023979" y="3108961"/>
            <a:ext cx="4465562" cy="3308356"/>
          </a:xfrm>
          <a:prstGeom prst="rect">
            <a:avLst/>
          </a:prstGeom>
        </p:spPr>
      </p:pic>
      <p:sp>
        <p:nvSpPr>
          <p:cNvPr id="3" name="Textfeld 2">
            <a:extLst>
              <a:ext uri="{FF2B5EF4-FFF2-40B4-BE49-F238E27FC236}">
                <a16:creationId xmlns:a16="http://schemas.microsoft.com/office/drawing/2014/main" id="{7A771CDB-B4DE-DAA3-20B8-E54914C6565E}"/>
              </a:ext>
            </a:extLst>
          </p:cNvPr>
          <p:cNvSpPr txBox="1"/>
          <p:nvPr/>
        </p:nvSpPr>
        <p:spPr>
          <a:xfrm>
            <a:off x="333375" y="3108958"/>
            <a:ext cx="5461944" cy="3308355"/>
          </a:xfrm>
          <a:prstGeom prst="rect">
            <a:avLst/>
          </a:prstGeom>
          <a:ln>
            <a:noFill/>
          </a:ln>
        </p:spPr>
        <p:txBody>
          <a:bodyPr wrap="square" rtlCol="0" anchor="ctr">
            <a:noAutofit/>
          </a:bodyPr>
          <a:lstStyle/>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Tobias Unger; Matr.-Nr. 67328	</a:t>
            </a: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4"/>
              </a:rPr>
              <a:t>unto1011@h-ka.de</a:t>
            </a: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Lukas Norz	; Matr.-Nr. </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72779	</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5"/>
              </a:rPr>
              <a:t>nolu1012@h-ka.de</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endPar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Simon Hoess; Matr.-Nr. </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79911	</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6"/>
              </a:rPr>
              <a:t>hosi1025@h-ka.de</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endPar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de-DE" sz="16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Betreuer: </a:t>
            </a: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Prof. Björn Hein		</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7"/>
              </a:rPr>
              <a:t>bjoern.hein@h-ka.de</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p>
        </p:txBody>
      </p:sp>
    </p:spTree>
    <p:extLst>
      <p:ext uri="{BB962C8B-B14F-4D97-AF65-F5344CB8AC3E}">
        <p14:creationId xmlns:p14="http://schemas.microsoft.com/office/powerpoint/2010/main" val="1504766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3E1F8F8B-5F68-3654-A01F-7E77247A395A}"/>
              </a:ext>
            </a:extLst>
          </p:cNvPr>
          <p:cNvSpPr>
            <a:spLocks noGrp="1"/>
          </p:cNvSpPr>
          <p:nvPr>
            <p:ph type="body" sz="quarter" idx="18"/>
          </p:nvPr>
        </p:nvSpPr>
        <p:spPr/>
        <p:txBody>
          <a:bodyPr/>
          <a:lstStyle/>
          <a:p>
            <a:pPr marL="285750" indent="-285750">
              <a:lnSpc>
                <a:spcPct val="100000"/>
              </a:lnSpc>
              <a:buFont typeface="Arial" panose="020B0604020202020204" pitchFamily="34" charset="0"/>
              <a:buChar char="•"/>
            </a:pPr>
            <a:r>
              <a:rPr lang="de-DE" sz="2000" dirty="0">
                <a:solidFill>
                  <a:srgbClr val="2869AF"/>
                </a:solidFill>
                <a:latin typeface="Calibri"/>
                <a:ea typeface="Calibri"/>
                <a:cs typeface="Calibri"/>
              </a:rPr>
              <a:t>Aufgabenstellung</a:t>
            </a:r>
          </a:p>
          <a:p>
            <a:pPr marL="285750" indent="-285750">
              <a:lnSpc>
                <a:spcPct val="100000"/>
              </a:lnSpc>
              <a:buFont typeface="Arial" panose="020B0604020202020204" pitchFamily="34" charset="0"/>
              <a:buChar char="•"/>
            </a:pPr>
            <a:r>
              <a:rPr lang="de-DE" sz="2000" dirty="0">
                <a:solidFill>
                  <a:srgbClr val="2869AF"/>
                </a:solidFill>
                <a:latin typeface="Calibri"/>
                <a:ea typeface="Calibri"/>
                <a:cs typeface="Calibri"/>
              </a:rPr>
              <a:t>Versuchsaufbau </a:t>
            </a:r>
          </a:p>
          <a:p>
            <a:pPr marL="285750" indent="-285750">
              <a:lnSpc>
                <a:spcPct val="100000"/>
              </a:lnSpc>
              <a:buFont typeface="Arial" panose="020B0604020202020204" pitchFamily="34" charset="0"/>
              <a:buChar char="•"/>
            </a:pPr>
            <a:r>
              <a:rPr lang="de-DE" sz="2000" dirty="0">
                <a:solidFill>
                  <a:srgbClr val="2869AF"/>
                </a:solidFill>
                <a:latin typeface="Calibri"/>
                <a:ea typeface="Calibri"/>
                <a:cs typeface="Calibri"/>
              </a:rPr>
              <a:t>Kalibrierung mit der Roboterkamera</a:t>
            </a:r>
          </a:p>
          <a:p>
            <a:pPr marL="285750" indent="-285750">
              <a:lnSpc>
                <a:spcPct val="100000"/>
              </a:lnSpc>
              <a:buFont typeface="Arial" panose="020B0604020202020204" pitchFamily="34" charset="0"/>
              <a:buChar char="•"/>
            </a:pPr>
            <a:r>
              <a:rPr lang="de-DE" sz="2000" dirty="0">
                <a:solidFill>
                  <a:srgbClr val="2869AF"/>
                </a:solidFill>
                <a:latin typeface="Calibri"/>
                <a:ea typeface="Calibri"/>
                <a:cs typeface="Calibri"/>
              </a:rPr>
              <a:t>Kalibrierung mit der Basiskamera</a:t>
            </a:r>
          </a:p>
          <a:p>
            <a:pPr marL="285750" indent="-285750">
              <a:lnSpc>
                <a:spcPct val="100000"/>
              </a:lnSpc>
              <a:buFont typeface="Arial" panose="020B0604020202020204" pitchFamily="34" charset="0"/>
              <a:buChar char="•"/>
            </a:pPr>
            <a:r>
              <a:rPr lang="de-DE" sz="2000" dirty="0">
                <a:solidFill>
                  <a:srgbClr val="2869AF"/>
                </a:solidFill>
                <a:latin typeface="Calibri"/>
                <a:ea typeface="Calibri"/>
                <a:cs typeface="Calibri"/>
              </a:rPr>
              <a:t>Detektion und Identifikation der Greifobjekte</a:t>
            </a:r>
          </a:p>
          <a:p>
            <a:pPr marL="285750" indent="-285750">
              <a:lnSpc>
                <a:spcPct val="100000"/>
              </a:lnSpc>
              <a:buFont typeface="Arial" panose="020B0604020202020204" pitchFamily="34" charset="0"/>
              <a:buChar char="•"/>
            </a:pPr>
            <a:r>
              <a:rPr lang="de-DE" sz="2000" dirty="0">
                <a:solidFill>
                  <a:srgbClr val="2869AF"/>
                </a:solidFill>
                <a:latin typeface="Calibri"/>
                <a:ea typeface="Calibri"/>
                <a:cs typeface="Calibri"/>
              </a:rPr>
              <a:t>Bewegungsschätzung und Vorhersage</a:t>
            </a:r>
          </a:p>
          <a:p>
            <a:pPr marL="285750" indent="-285750">
              <a:lnSpc>
                <a:spcPct val="100000"/>
              </a:lnSpc>
              <a:buFont typeface="Arial" panose="020B0604020202020204" pitchFamily="34" charset="0"/>
              <a:buChar char="•"/>
            </a:pPr>
            <a:r>
              <a:rPr lang="de-DE" sz="2000" dirty="0">
                <a:solidFill>
                  <a:srgbClr val="2869AF"/>
                </a:solidFill>
                <a:latin typeface="Calibri"/>
                <a:ea typeface="Calibri"/>
                <a:cs typeface="Calibri"/>
              </a:rPr>
              <a:t>Zielauswahl und Erreichbarkeit</a:t>
            </a:r>
          </a:p>
          <a:p>
            <a:pPr marL="285750" indent="-285750">
              <a:lnSpc>
                <a:spcPct val="100000"/>
              </a:lnSpc>
              <a:buFont typeface="Arial" panose="020B0604020202020204" pitchFamily="34" charset="0"/>
              <a:buChar char="•"/>
            </a:pPr>
            <a:r>
              <a:rPr lang="en-US" sz="2000" dirty="0" err="1">
                <a:solidFill>
                  <a:srgbClr val="2869AF"/>
                </a:solidFill>
                <a:latin typeface="Calibri"/>
                <a:ea typeface="Calibri"/>
                <a:cs typeface="Calibri"/>
              </a:rPr>
              <a:t>Umsetzung</a:t>
            </a:r>
            <a:r>
              <a:rPr lang="en-US" sz="2000" dirty="0">
                <a:solidFill>
                  <a:srgbClr val="2869AF"/>
                </a:solidFill>
                <a:latin typeface="Calibri"/>
                <a:ea typeface="Calibri"/>
                <a:cs typeface="Calibri"/>
              </a:rPr>
              <a:t> „On the Fly“-Picking</a:t>
            </a:r>
          </a:p>
          <a:p>
            <a:pPr marL="285750" indent="-285750">
              <a:lnSpc>
                <a:spcPct val="100000"/>
              </a:lnSpc>
              <a:buFont typeface="Arial" panose="020B0604020202020204" pitchFamily="34" charset="0"/>
              <a:buChar char="•"/>
            </a:pPr>
            <a:r>
              <a:rPr lang="de-DE" sz="2000" dirty="0">
                <a:solidFill>
                  <a:srgbClr val="2869AF"/>
                </a:solidFill>
                <a:latin typeface="Calibri"/>
                <a:ea typeface="Calibri"/>
                <a:cs typeface="Calibri"/>
              </a:rPr>
              <a:t>Fazit und Ausblick</a:t>
            </a:r>
          </a:p>
          <a:p>
            <a:pPr marL="285750" indent="-285750">
              <a:buFont typeface="Arial" panose="020B0604020202020204" pitchFamily="34" charset="0"/>
              <a:buChar char="•"/>
            </a:pPr>
            <a:endParaRPr lang="de-DE" dirty="0"/>
          </a:p>
        </p:txBody>
      </p:sp>
      <p:sp>
        <p:nvSpPr>
          <p:cNvPr id="3" name="Datumsplatzhalter 2">
            <a:extLst>
              <a:ext uri="{FF2B5EF4-FFF2-40B4-BE49-F238E27FC236}">
                <a16:creationId xmlns:a16="http://schemas.microsoft.com/office/drawing/2014/main" id="{B839886C-34FE-9AF2-7D3C-4FCF293C6D35}"/>
              </a:ext>
            </a:extLst>
          </p:cNvPr>
          <p:cNvSpPr>
            <a:spLocks noGrp="1"/>
          </p:cNvSpPr>
          <p:nvPr>
            <p:ph type="dt" sz="half" idx="28"/>
          </p:nvPr>
        </p:nvSpPr>
        <p:spPr/>
        <p:txBody>
          <a:bodyPr/>
          <a:lstStyle/>
          <a:p>
            <a:r>
              <a:rPr lang="de-DE" dirty="0"/>
              <a:t>FuE-Projekt Sommersemester 2026 | 09.10.2026</a:t>
            </a:r>
          </a:p>
        </p:txBody>
      </p:sp>
      <p:sp>
        <p:nvSpPr>
          <p:cNvPr id="4" name="Fußzeilenplatzhalter 3">
            <a:extLst>
              <a:ext uri="{FF2B5EF4-FFF2-40B4-BE49-F238E27FC236}">
                <a16:creationId xmlns:a16="http://schemas.microsoft.com/office/drawing/2014/main" id="{5C2996B9-B178-A422-D173-9391298BEE51}"/>
              </a:ext>
            </a:extLst>
          </p:cNvPr>
          <p:cNvSpPr>
            <a:spLocks noGrp="1"/>
          </p:cNvSpPr>
          <p:nvPr>
            <p:ph type="ftr" sz="quarter" idx="29"/>
          </p:nvPr>
        </p:nvSpPr>
        <p:spPr/>
        <p:txBody>
          <a:bodyPr/>
          <a:lstStyle/>
          <a:p>
            <a:r>
              <a:rPr lang="de-DE"/>
              <a:t>Hochschule Karlsruhe</a:t>
            </a:r>
          </a:p>
        </p:txBody>
      </p:sp>
      <p:sp>
        <p:nvSpPr>
          <p:cNvPr id="5" name="Foliennummernplatzhalter 4">
            <a:extLst>
              <a:ext uri="{FF2B5EF4-FFF2-40B4-BE49-F238E27FC236}">
                <a16:creationId xmlns:a16="http://schemas.microsoft.com/office/drawing/2014/main" id="{7A7BFAD8-C163-52C6-442B-A4A952FEF57E}"/>
              </a:ext>
            </a:extLst>
          </p:cNvPr>
          <p:cNvSpPr>
            <a:spLocks noGrp="1"/>
          </p:cNvSpPr>
          <p:nvPr>
            <p:ph type="sldNum" sz="quarter" idx="30"/>
          </p:nvPr>
        </p:nvSpPr>
        <p:spPr/>
        <p:txBody>
          <a:bodyPr/>
          <a:lstStyle/>
          <a:p>
            <a:fld id="{13005BA2-ABF8-0A46-8B15-84F2660EFA6C}" type="slidenum">
              <a:rPr lang="de-DE" smtClean="0"/>
              <a:pPr/>
              <a:t>2</a:t>
            </a:fld>
            <a:endParaRPr lang="de-DE"/>
          </a:p>
        </p:txBody>
      </p:sp>
      <p:sp>
        <p:nvSpPr>
          <p:cNvPr id="6" name="Textplatzhalter 5">
            <a:extLst>
              <a:ext uri="{FF2B5EF4-FFF2-40B4-BE49-F238E27FC236}">
                <a16:creationId xmlns:a16="http://schemas.microsoft.com/office/drawing/2014/main" id="{B26DCF44-216A-852D-3EA8-AAB95A15B15E}"/>
              </a:ext>
            </a:extLst>
          </p:cNvPr>
          <p:cNvSpPr>
            <a:spLocks noGrp="1"/>
          </p:cNvSpPr>
          <p:nvPr>
            <p:ph type="body" sz="quarter" idx="24"/>
          </p:nvPr>
        </p:nvSpPr>
        <p:spPr/>
        <p:txBody>
          <a:bodyPr/>
          <a:lstStyle/>
          <a:p>
            <a:r>
              <a:rPr lang="de-DE" dirty="0"/>
              <a:t>Agenda</a:t>
            </a:r>
          </a:p>
        </p:txBody>
      </p:sp>
      <p:pic>
        <p:nvPicPr>
          <p:cNvPr id="8" name="Grafik 7">
            <a:extLst>
              <a:ext uri="{FF2B5EF4-FFF2-40B4-BE49-F238E27FC236}">
                <a16:creationId xmlns:a16="http://schemas.microsoft.com/office/drawing/2014/main" id="{957AD6C6-FBB7-744E-738F-A066035B846A}"/>
              </a:ext>
            </a:extLst>
          </p:cNvPr>
          <p:cNvPicPr>
            <a:picLocks noChangeAspect="1"/>
          </p:cNvPicPr>
          <p:nvPr/>
        </p:nvPicPr>
        <p:blipFill>
          <a:blip r:embed="rId3"/>
          <a:srcRect t="1283" b="-63"/>
          <a:stretch>
            <a:fillRect/>
          </a:stretch>
        </p:blipFill>
        <p:spPr>
          <a:xfrm>
            <a:off x="6023979" y="1578476"/>
            <a:ext cx="4465562" cy="3308356"/>
          </a:xfrm>
          <a:prstGeom prst="rect">
            <a:avLst/>
          </a:prstGeom>
        </p:spPr>
      </p:pic>
    </p:spTree>
    <p:extLst>
      <p:ext uri="{BB962C8B-B14F-4D97-AF65-F5344CB8AC3E}">
        <p14:creationId xmlns:p14="http://schemas.microsoft.com/office/powerpoint/2010/main" val="2927472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 name="slide-title">
            <a:extLst>
              <a:ext uri="{FF2B5EF4-FFF2-40B4-BE49-F238E27FC236}">
                <a16:creationId xmlns:a16="http://schemas.microsoft.com/office/drawing/2014/main" id="{654AAF4C-2050-496F-AAF7-038B44B42FA3}"/>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dirty="0" err="1">
                <a:solidFill>
                  <a:srgbClr val="2869AF"/>
                </a:solidFill>
                <a:latin typeface="Calibri"/>
                <a:ea typeface="Calibri"/>
                <a:cs typeface="Calibri"/>
              </a:rPr>
              <a:t>Aufgabenstellung</a:t>
            </a:r>
            <a:endParaRPr sz="3200" b="0" dirty="0">
              <a:solidFill>
                <a:srgbClr val="2869AF"/>
              </a:solidFill>
              <a:latin typeface="Calibri"/>
              <a:ea typeface="Calibri"/>
              <a:cs typeface="Calibri"/>
            </a:endParaRPr>
          </a:p>
        </p:txBody>
      </p:sp>
      <p:sp>
        <p:nvSpPr>
          <p:cNvPr id="1003" name="task-bullets-0">
            <a:extLst>
              <a:ext uri="{FF2B5EF4-FFF2-40B4-BE49-F238E27FC236}">
                <a16:creationId xmlns:a16="http://schemas.microsoft.com/office/drawing/2014/main" id="{48B2B4A5-063B-4328-96F5-4AEB73B55B5E}"/>
              </a:ext>
            </a:extLst>
          </p:cNvPr>
          <p:cNvSpPr>
            <a:spLocks noGrp="1"/>
          </p:cNvSpPr>
          <p:nvPr/>
        </p:nvSpPr>
        <p:spPr>
          <a:xfrm>
            <a:off x="565015" y="1576286"/>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dirty="0" err="1"/>
              <a:t>Greifen</a:t>
            </a:r>
            <a:r>
              <a:rPr dirty="0"/>
              <a:t> </a:t>
            </a:r>
            <a:r>
              <a:rPr dirty="0" err="1"/>
              <a:t>im</a:t>
            </a:r>
            <a:r>
              <a:rPr dirty="0"/>
              <a:t> Lauf</a:t>
            </a:r>
          </a:p>
        </p:txBody>
      </p:sp>
      <p:sp>
        <p:nvSpPr>
          <p:cNvPr id="1004" name="task-bullets-1">
            <a:extLst>
              <a:ext uri="{FF2B5EF4-FFF2-40B4-BE49-F238E27FC236}">
                <a16:creationId xmlns:a16="http://schemas.microsoft.com/office/drawing/2014/main" id="{808922D0-6143-4374-A754-175AF22DCFBD}"/>
              </a:ext>
            </a:extLst>
          </p:cNvPr>
          <p:cNvSpPr>
            <a:spLocks noGrp="1"/>
          </p:cNvSpPr>
          <p:nvPr/>
        </p:nvSpPr>
        <p:spPr>
          <a:xfrm>
            <a:off x="565015" y="2090636"/>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dirty="0" err="1"/>
              <a:t>Mehrere</a:t>
            </a:r>
            <a:r>
              <a:rPr dirty="0"/>
              <a:t> </a:t>
            </a:r>
            <a:r>
              <a:rPr dirty="0" err="1"/>
              <a:t>Objekte</a:t>
            </a:r>
            <a:r>
              <a:rPr lang="de-DE" dirty="0"/>
              <a:t> &amp;</a:t>
            </a:r>
            <a:r>
              <a:rPr dirty="0"/>
              <a:t> </a:t>
            </a:r>
            <a:r>
              <a:rPr dirty="0" err="1"/>
              <a:t>Priorisierung</a:t>
            </a:r>
            <a:endParaRPr lang="de-DE" dirty="0"/>
          </a:p>
        </p:txBody>
      </p:sp>
      <p:sp>
        <p:nvSpPr>
          <p:cNvPr id="1005" name="task-bullets-2">
            <a:extLst>
              <a:ext uri="{FF2B5EF4-FFF2-40B4-BE49-F238E27FC236}">
                <a16:creationId xmlns:a16="http://schemas.microsoft.com/office/drawing/2014/main" id="{544D7FC6-0737-4BC6-8229-329EC8686B51}"/>
              </a:ext>
            </a:extLst>
          </p:cNvPr>
          <p:cNvSpPr>
            <a:spLocks noGrp="1"/>
          </p:cNvSpPr>
          <p:nvPr/>
        </p:nvSpPr>
        <p:spPr>
          <a:xfrm>
            <a:off x="565015" y="2604986"/>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dirty="0" err="1"/>
              <a:t>Bildbasierte</a:t>
            </a:r>
            <a:r>
              <a:rPr dirty="0"/>
              <a:t> </a:t>
            </a:r>
            <a:r>
              <a:rPr dirty="0" err="1"/>
              <a:t>Bewegungsschätzung</a:t>
            </a:r>
            <a:endParaRPr dirty="0"/>
          </a:p>
        </p:txBody>
      </p:sp>
      <p:sp>
        <p:nvSpPr>
          <p:cNvPr id="1006" name="task-bullets-3">
            <a:extLst>
              <a:ext uri="{FF2B5EF4-FFF2-40B4-BE49-F238E27FC236}">
                <a16:creationId xmlns:a16="http://schemas.microsoft.com/office/drawing/2014/main" id="{01353B30-97F6-4963-B45B-DC86A6F2DEA7}"/>
              </a:ext>
            </a:extLst>
          </p:cNvPr>
          <p:cNvSpPr>
            <a:spLocks noGrp="1"/>
          </p:cNvSpPr>
          <p:nvPr/>
        </p:nvSpPr>
        <p:spPr>
          <a:xfrm>
            <a:off x="565015" y="3119336"/>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lang="de-DE" dirty="0"/>
              <a:t>Echtzeitsteuerung</a:t>
            </a:r>
            <a:r>
              <a:rPr dirty="0"/>
              <a:t> </a:t>
            </a:r>
            <a:r>
              <a:rPr dirty="0" err="1"/>
              <a:t>mit</a:t>
            </a:r>
            <a:r>
              <a:rPr dirty="0"/>
              <a:t> AICA</a:t>
            </a:r>
          </a:p>
        </p:txBody>
      </p:sp>
      <p:sp>
        <p:nvSpPr>
          <p:cNvPr id="1007" name="task-bullets-4">
            <a:extLst>
              <a:ext uri="{FF2B5EF4-FFF2-40B4-BE49-F238E27FC236}">
                <a16:creationId xmlns:a16="http://schemas.microsoft.com/office/drawing/2014/main" id="{D6D9CA20-BCA5-48C8-90E0-E5FC12C745F2}"/>
              </a:ext>
            </a:extLst>
          </p:cNvPr>
          <p:cNvSpPr>
            <a:spLocks noGrp="1"/>
          </p:cNvSpPr>
          <p:nvPr/>
        </p:nvSpPr>
        <p:spPr>
          <a:xfrm>
            <a:off x="565015" y="3633686"/>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lang="de-DE" dirty="0"/>
              <a:t>Automatische</a:t>
            </a:r>
            <a:r>
              <a:rPr dirty="0"/>
              <a:t> </a:t>
            </a:r>
            <a:r>
              <a:rPr dirty="0" err="1"/>
              <a:t>Kamerakalibrierung</a:t>
            </a:r>
            <a:endParaRPr dirty="0"/>
          </a:p>
        </p:txBody>
      </p:sp>
      <p:sp>
        <p:nvSpPr>
          <p:cNvPr id="1008" name="task-bullets-5">
            <a:extLst>
              <a:ext uri="{FF2B5EF4-FFF2-40B4-BE49-F238E27FC236}">
                <a16:creationId xmlns:a16="http://schemas.microsoft.com/office/drawing/2014/main" id="{AF36FEEE-0838-4125-8575-9EC4D9B38050}"/>
              </a:ext>
            </a:extLst>
          </p:cNvPr>
          <p:cNvSpPr>
            <a:spLocks noGrp="1"/>
          </p:cNvSpPr>
          <p:nvPr/>
        </p:nvSpPr>
        <p:spPr>
          <a:xfrm>
            <a:off x="565015" y="4148036"/>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dirty="0" err="1"/>
              <a:t>Verschiedene</a:t>
            </a:r>
            <a:r>
              <a:rPr dirty="0"/>
              <a:t> </a:t>
            </a:r>
            <a:r>
              <a:rPr dirty="0" err="1"/>
              <a:t>Bandgeschwindigkeiten</a:t>
            </a:r>
            <a:endParaRPr dirty="0"/>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09.10.2026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3</a:t>
            </a:fld>
            <a:endParaRPr lang="de-DE"/>
          </a:p>
        </p:txBody>
      </p:sp>
      <p:pic>
        <p:nvPicPr>
          <p:cNvPr id="3" name="Grafik 2">
            <a:extLst>
              <a:ext uri="{FF2B5EF4-FFF2-40B4-BE49-F238E27FC236}">
                <a16:creationId xmlns:a16="http://schemas.microsoft.com/office/drawing/2014/main" id="{A58BCCDA-507F-DBC4-E1A2-165DB7DBCC30}"/>
              </a:ext>
            </a:extLst>
          </p:cNvPr>
          <p:cNvPicPr>
            <a:picLocks noChangeAspect="1"/>
          </p:cNvPicPr>
          <p:nvPr/>
        </p:nvPicPr>
        <p:blipFill>
          <a:blip r:embed="rId3"/>
          <a:srcRect t="1283" b="-63"/>
          <a:stretch>
            <a:fillRect/>
          </a:stretch>
        </p:blipFill>
        <p:spPr>
          <a:xfrm>
            <a:off x="6023979" y="1578476"/>
            <a:ext cx="4465562" cy="3308356"/>
          </a:xfrm>
          <a:prstGeom prst="rect">
            <a:avLst/>
          </a:prstGeom>
        </p:spPr>
      </p:pic>
      <p:sp>
        <p:nvSpPr>
          <p:cNvPr id="7" name="Textfeld 6">
            <a:extLst>
              <a:ext uri="{FF2B5EF4-FFF2-40B4-BE49-F238E27FC236}">
                <a16:creationId xmlns:a16="http://schemas.microsoft.com/office/drawing/2014/main" id="{8D137DF7-CCF5-B254-F1C0-714D1F5BFF33}"/>
              </a:ext>
            </a:extLst>
          </p:cNvPr>
          <p:cNvSpPr txBox="1"/>
          <p:nvPr/>
        </p:nvSpPr>
        <p:spPr>
          <a:xfrm>
            <a:off x="259404" y="1024647"/>
            <a:ext cx="0" cy="0"/>
          </a:xfrm>
          <a:prstGeom prst="rect">
            <a:avLst/>
          </a:prstGeom>
          <a:ln>
            <a:noFill/>
          </a:ln>
        </p:spPr>
        <p:txBody>
          <a:bodyPr wrap="none" lIns="0" tIns="0" rIns="0" bIns="0" rtlCol="0" anchor="t" anchorCtr="0">
            <a:noAutofit/>
          </a:bodyPr>
          <a:lstStyle/>
          <a:p>
            <a:pPr algn="l"/>
            <a:endParaRPr lang="de-DE" sz="2500" dirty="0" err="1">
              <a:latin typeface="Calibri" pitchFamily="2" charset="77"/>
            </a:endParaRPr>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3" name="belt-surface">
            <a:extLst>
              <a:ext uri="{FF2B5EF4-FFF2-40B4-BE49-F238E27FC236}">
                <a16:creationId xmlns:a16="http://schemas.microsoft.com/office/drawing/2014/main" id="{D58D17F3-0311-4B4F-B183-278E4BBBD64F}"/>
              </a:ext>
            </a:extLst>
          </p:cNvPr>
          <p:cNvSpPr>
            <a:spLocks noGrp="1"/>
          </p:cNvSpPr>
          <p:nvPr/>
        </p:nvSpPr>
        <p:spPr>
          <a:xfrm>
            <a:off x="3143250" y="1666875"/>
            <a:ext cx="2271712" cy="4286250"/>
          </a:xfrm>
          <a:prstGeom prst="rect">
            <a:avLst/>
          </a:prstGeom>
          <a:solidFill>
            <a:srgbClr val="E7EEF4"/>
          </a:solidFill>
          <a:ln w="19050">
            <a:solidFill>
              <a:srgbClr val="305B78"/>
            </a:solidFill>
            <a:prstDash val="solid"/>
          </a:ln>
        </p:spPr>
        <p:txBody>
          <a:bodyPr/>
          <a:lstStyle/>
          <a:p>
            <a:endParaRPr lang="de-DE"/>
          </a:p>
        </p:txBody>
      </p:sp>
      <p:sp>
        <p:nvSpPr>
          <p:cNvPr id="2002" name="upstream-roller">
            <a:extLst>
              <a:ext uri="{FF2B5EF4-FFF2-40B4-BE49-F238E27FC236}">
                <a16:creationId xmlns:a16="http://schemas.microsoft.com/office/drawing/2014/main" id="{60E19211-7C6B-4F19-8BC1-1F5ECAA7A7D0}"/>
              </a:ext>
            </a:extLst>
          </p:cNvPr>
          <p:cNvSpPr>
            <a:spLocks noGrp="1"/>
          </p:cNvSpPr>
          <p:nvPr/>
        </p:nvSpPr>
        <p:spPr>
          <a:xfrm>
            <a:off x="3143250" y="1590675"/>
            <a:ext cx="2271712" cy="76200"/>
          </a:xfrm>
          <a:prstGeom prst="roundRect">
            <a:avLst>
              <a:gd name="adj" fmla="val 50000"/>
            </a:avLst>
          </a:prstGeom>
          <a:solidFill>
            <a:srgbClr val="D6DCE1"/>
          </a:solidFill>
          <a:ln w="7620">
            <a:solidFill>
              <a:srgbClr val="4B5563"/>
            </a:solidFill>
            <a:prstDash val="solid"/>
          </a:ln>
        </p:spPr>
      </p:sp>
      <p:sp>
        <p:nvSpPr>
          <p:cNvPr id="2003" name="downstream-roller">
            <a:extLst>
              <a:ext uri="{FF2B5EF4-FFF2-40B4-BE49-F238E27FC236}">
                <a16:creationId xmlns:a16="http://schemas.microsoft.com/office/drawing/2014/main" id="{BE10B9B5-635B-4E77-8AD5-D794741886A0}"/>
              </a:ext>
            </a:extLst>
          </p:cNvPr>
          <p:cNvSpPr>
            <a:spLocks noGrp="1"/>
          </p:cNvSpPr>
          <p:nvPr/>
        </p:nvSpPr>
        <p:spPr>
          <a:xfrm>
            <a:off x="3143250" y="5953125"/>
            <a:ext cx="2271712" cy="76200"/>
          </a:xfrm>
          <a:prstGeom prst="roundRect">
            <a:avLst>
              <a:gd name="adj" fmla="val 50000"/>
            </a:avLst>
          </a:prstGeom>
          <a:solidFill>
            <a:srgbClr val="D6DCE1"/>
          </a:solidFill>
          <a:ln w="7620">
            <a:solidFill>
              <a:srgbClr val="4B5563"/>
            </a:solidFill>
            <a:prstDash val="solid"/>
          </a:ln>
        </p:spPr>
      </p:sp>
      <p:sp>
        <p:nvSpPr>
          <p:cNvPr id="2004" name="grasp-zone">
            <a:extLst>
              <a:ext uri="{FF2B5EF4-FFF2-40B4-BE49-F238E27FC236}">
                <a16:creationId xmlns:a16="http://schemas.microsoft.com/office/drawing/2014/main" id="{B438DC57-03C6-4618-B74F-08F545CDB36C}"/>
              </a:ext>
            </a:extLst>
          </p:cNvPr>
          <p:cNvSpPr>
            <a:spLocks noGrp="1"/>
          </p:cNvSpPr>
          <p:nvPr/>
        </p:nvSpPr>
        <p:spPr>
          <a:xfrm>
            <a:off x="3929063" y="3652837"/>
            <a:ext cx="1485899" cy="2185988"/>
          </a:xfrm>
          <a:prstGeom prst="rect">
            <a:avLst/>
          </a:prstGeom>
          <a:solidFill>
            <a:srgbClr val="EEF5FA"/>
          </a:solidFill>
          <a:ln w="17145">
            <a:solidFill>
              <a:srgbClr val="1D70B8"/>
            </a:solidFill>
            <a:prstDash val="dash"/>
          </a:ln>
        </p:spPr>
        <p:txBody>
          <a:bodyPr/>
          <a:lstStyle/>
          <a:p>
            <a:endParaRPr lang="de-DE"/>
          </a:p>
        </p:txBody>
      </p:sp>
      <p:sp>
        <p:nvSpPr>
          <p:cNvPr id="2005" name="belt-label">
            <a:extLst>
              <a:ext uri="{FF2B5EF4-FFF2-40B4-BE49-F238E27FC236}">
                <a16:creationId xmlns:a16="http://schemas.microsoft.com/office/drawing/2014/main" id="{D10F0381-63E4-4121-941A-774A8C7A85D5}"/>
              </a:ext>
            </a:extLst>
          </p:cNvPr>
          <p:cNvSpPr>
            <a:spLocks noGrp="1"/>
          </p:cNvSpPr>
          <p:nvPr/>
        </p:nvSpPr>
        <p:spPr>
          <a:xfrm>
            <a:off x="3371850" y="2571750"/>
            <a:ext cx="1571625" cy="285750"/>
          </a:xfrm>
          <a:prstGeom prst="rect">
            <a:avLst/>
          </a:prstGeom>
          <a:noFill/>
          <a:ln w="0">
            <a:noFill/>
          </a:ln>
        </p:spPr>
        <p:txBody>
          <a:bodyPr wrap="none" lIns="0" tIns="0" rIns="0" bIns="0" anchor="t">
            <a:noAutofit/>
          </a:bodyPr>
          <a:lstStyle/>
          <a:p>
            <a:pPr algn="l">
              <a:spcBef>
                <a:spcPts val="0"/>
              </a:spcBef>
              <a:spcAft>
                <a:spcPts val="0"/>
              </a:spcAft>
              <a:defRPr sz="1600" b="1">
                <a:solidFill>
                  <a:srgbClr val="17212B"/>
                </a:solidFill>
                <a:latin typeface="Arial"/>
                <a:ea typeface="Arial"/>
                <a:cs typeface="Arial"/>
              </a:defRPr>
            </a:pPr>
            <a:r>
              <a:rPr sz="1600" b="1">
                <a:solidFill>
                  <a:srgbClr val="17212B"/>
                </a:solidFill>
                <a:latin typeface="Arial"/>
                <a:ea typeface="Arial"/>
                <a:cs typeface="Arial"/>
              </a:rPr>
              <a:t>Förderband</a:t>
            </a:r>
          </a:p>
        </p:txBody>
      </p:sp>
      <p:sp>
        <p:nvSpPr>
          <p:cNvPr id="2006" name="direction-label">
            <a:extLst>
              <a:ext uri="{FF2B5EF4-FFF2-40B4-BE49-F238E27FC236}">
                <a16:creationId xmlns:a16="http://schemas.microsoft.com/office/drawing/2014/main" id="{1E6B5DC8-372B-475B-B057-73C826B77A9D}"/>
              </a:ext>
            </a:extLst>
          </p:cNvPr>
          <p:cNvSpPr>
            <a:spLocks noGrp="1"/>
          </p:cNvSpPr>
          <p:nvPr/>
        </p:nvSpPr>
        <p:spPr>
          <a:xfrm>
            <a:off x="3371850" y="2924175"/>
            <a:ext cx="1571625" cy="266700"/>
          </a:xfrm>
          <a:prstGeom prst="rect">
            <a:avLst/>
          </a:prstGeom>
          <a:noFill/>
          <a:ln w="0">
            <a:noFill/>
          </a:ln>
        </p:spPr>
        <p:txBody>
          <a:bodyPr wrap="none" lIns="0" tIns="0" rIns="0" bIns="0" anchor="t">
            <a:noAutofit/>
          </a:bodyPr>
          <a:lstStyle/>
          <a:p>
            <a:pPr algn="l">
              <a:spcBef>
                <a:spcPts val="0"/>
              </a:spcBef>
              <a:spcAft>
                <a:spcPts val="0"/>
              </a:spcAft>
              <a:defRPr sz="1350" b="0">
                <a:solidFill>
                  <a:srgbClr val="4B5563"/>
                </a:solidFill>
                <a:latin typeface="Arial"/>
                <a:ea typeface="Arial"/>
                <a:cs typeface="Arial"/>
              </a:defRPr>
            </a:pPr>
            <a:r>
              <a:rPr sz="1350" b="0">
                <a:solidFill>
                  <a:srgbClr val="4B5563"/>
                </a:solidFill>
                <a:latin typeface="Arial"/>
                <a:ea typeface="Arial"/>
                <a:cs typeface="Arial"/>
              </a:rPr>
              <a:t>Bandrichtung</a:t>
            </a:r>
          </a:p>
        </p:txBody>
      </p:sp>
      <p:sp>
        <p:nvSpPr>
          <p:cNvPr id="2007" name="belt-direction-shaft">
            <a:extLst>
              <a:ext uri="{FF2B5EF4-FFF2-40B4-BE49-F238E27FC236}">
                <a16:creationId xmlns:a16="http://schemas.microsoft.com/office/drawing/2014/main" id="{1A6D3BF0-B487-448B-8B61-7BF5DEB9FCEE}"/>
              </a:ext>
            </a:extLst>
          </p:cNvPr>
          <p:cNvSpPr>
            <a:spLocks noGrp="1"/>
          </p:cNvSpPr>
          <p:nvPr/>
        </p:nvSpPr>
        <p:spPr>
          <a:xfrm>
            <a:off x="5162550" y="2495550"/>
            <a:ext cx="953" cy="866775"/>
          </a:xfrm>
          <a:custGeom>
            <a:avLst/>
            <a:gdLst/>
            <a:ahLst/>
            <a:cxnLst/>
            <a:rect l="0" t="0" r="0" b="0"/>
            <a:pathLst>
              <a:path w="953" h="866775">
                <a:moveTo>
                  <a:pt x="0" y="0"/>
                </a:moveTo>
                <a:lnTo>
                  <a:pt x="0" y="866775"/>
                </a:lnTo>
              </a:path>
            </a:pathLst>
          </a:custGeom>
          <a:noFill/>
          <a:ln w="36195">
            <a:solidFill>
              <a:srgbClr val="E87520"/>
            </a:solidFill>
            <a:prstDash val="solid"/>
          </a:ln>
        </p:spPr>
      </p:sp>
      <p:sp>
        <p:nvSpPr>
          <p:cNvPr id="2008" name="belt-direction-tip">
            <a:extLst>
              <a:ext uri="{FF2B5EF4-FFF2-40B4-BE49-F238E27FC236}">
                <a16:creationId xmlns:a16="http://schemas.microsoft.com/office/drawing/2014/main" id="{A113DC17-F842-46B2-B4F6-685171C4748D}"/>
              </a:ext>
            </a:extLst>
          </p:cNvPr>
          <p:cNvSpPr>
            <a:spLocks noGrp="1"/>
          </p:cNvSpPr>
          <p:nvPr/>
        </p:nvSpPr>
        <p:spPr>
          <a:xfrm>
            <a:off x="5098542" y="3209925"/>
            <a:ext cx="128016" cy="152400"/>
          </a:xfrm>
          <a:custGeom>
            <a:avLst/>
            <a:gdLst/>
            <a:ahLst/>
            <a:cxnLst/>
            <a:rect l="0" t="0" r="0" b="0"/>
            <a:pathLst>
              <a:path w="128016" h="152400">
                <a:moveTo>
                  <a:pt x="64008" y="152400"/>
                </a:moveTo>
                <a:lnTo>
                  <a:pt x="0" y="0"/>
                </a:lnTo>
                <a:lnTo>
                  <a:pt x="128016" y="0"/>
                </a:lnTo>
                <a:close/>
              </a:path>
            </a:pathLst>
          </a:custGeom>
          <a:solidFill>
            <a:srgbClr val="E87520"/>
          </a:solidFill>
          <a:ln w="0">
            <a:noFill/>
          </a:ln>
        </p:spPr>
      </p:sp>
      <p:sp>
        <p:nvSpPr>
          <p:cNvPr id="2009" name="zone-label">
            <a:extLst>
              <a:ext uri="{FF2B5EF4-FFF2-40B4-BE49-F238E27FC236}">
                <a16:creationId xmlns:a16="http://schemas.microsoft.com/office/drawing/2014/main" id="{E91F0A9C-963F-48AE-AF47-98E7BEE6179A}"/>
              </a:ext>
            </a:extLst>
          </p:cNvPr>
          <p:cNvSpPr>
            <a:spLocks noGrp="1"/>
          </p:cNvSpPr>
          <p:nvPr/>
        </p:nvSpPr>
        <p:spPr>
          <a:xfrm>
            <a:off x="4172903" y="4638675"/>
            <a:ext cx="1057275" cy="285750"/>
          </a:xfrm>
          <a:prstGeom prst="rect">
            <a:avLst/>
          </a:prstGeom>
          <a:noFill/>
          <a:ln w="0">
            <a:noFill/>
          </a:ln>
        </p:spPr>
        <p:txBody>
          <a:bodyPr wrap="none" lIns="0" tIns="0" rIns="0" bIns="0" anchor="t">
            <a:noAutofit/>
          </a:bodyPr>
          <a:lstStyle/>
          <a:p>
            <a:pPr algn="ctr">
              <a:spcBef>
                <a:spcPts val="0"/>
              </a:spcBef>
              <a:spcAft>
                <a:spcPts val="0"/>
              </a:spcAft>
              <a:defRPr sz="1550" b="1">
                <a:solidFill>
                  <a:srgbClr val="1D70B8"/>
                </a:solidFill>
                <a:latin typeface="Arial"/>
                <a:ea typeface="Arial"/>
                <a:cs typeface="Arial"/>
              </a:defRPr>
            </a:pPr>
            <a:r>
              <a:rPr sz="1550" b="1" dirty="0" err="1">
                <a:solidFill>
                  <a:srgbClr val="1D70B8"/>
                </a:solidFill>
                <a:latin typeface="Arial"/>
                <a:ea typeface="Arial"/>
                <a:cs typeface="Arial"/>
              </a:rPr>
              <a:t>Greifzone</a:t>
            </a:r>
            <a:endParaRPr sz="1550" b="1" dirty="0">
              <a:solidFill>
                <a:srgbClr val="1D70B8"/>
              </a:solidFill>
              <a:latin typeface="Arial"/>
              <a:ea typeface="Arial"/>
              <a:cs typeface="Arial"/>
            </a:endParaRPr>
          </a:p>
        </p:txBody>
      </p:sp>
      <p:sp>
        <p:nvSpPr>
          <p:cNvPr id="2010" name="base-camera">
            <a:extLst>
              <a:ext uri="{FF2B5EF4-FFF2-40B4-BE49-F238E27FC236}">
                <a16:creationId xmlns:a16="http://schemas.microsoft.com/office/drawing/2014/main" id="{14DFED24-40DC-4306-B4D1-2EBFF2B606DC}"/>
              </a:ext>
            </a:extLst>
          </p:cNvPr>
          <p:cNvSpPr>
            <a:spLocks noGrp="1"/>
          </p:cNvSpPr>
          <p:nvPr/>
        </p:nvSpPr>
        <p:spPr>
          <a:xfrm>
            <a:off x="3993356" y="1381125"/>
            <a:ext cx="571500" cy="171450"/>
          </a:xfrm>
          <a:prstGeom prst="roundRect">
            <a:avLst>
              <a:gd name="adj" fmla="val 44444"/>
            </a:avLst>
          </a:prstGeom>
          <a:solidFill>
            <a:srgbClr val="D6DCE1"/>
          </a:solidFill>
          <a:ln w="13335">
            <a:solidFill>
              <a:srgbClr val="4B5563"/>
            </a:solidFill>
            <a:prstDash val="solid"/>
          </a:ln>
        </p:spPr>
      </p:sp>
      <p:sp>
        <p:nvSpPr>
          <p:cNvPr id="2011" name="camera-projection">
            <a:extLst>
              <a:ext uri="{FF2B5EF4-FFF2-40B4-BE49-F238E27FC236}">
                <a16:creationId xmlns:a16="http://schemas.microsoft.com/office/drawing/2014/main" id="{91A1EAD8-BE9B-492B-BE8F-C4CA6F9FC1EE}"/>
              </a:ext>
            </a:extLst>
          </p:cNvPr>
          <p:cNvSpPr>
            <a:spLocks noGrp="1"/>
          </p:cNvSpPr>
          <p:nvPr/>
        </p:nvSpPr>
        <p:spPr>
          <a:xfrm>
            <a:off x="4279106" y="1552575"/>
            <a:ext cx="953" cy="114300"/>
          </a:xfrm>
          <a:custGeom>
            <a:avLst/>
            <a:gdLst/>
            <a:ahLst/>
            <a:cxnLst/>
            <a:rect l="0" t="0" r="0" b="0"/>
            <a:pathLst>
              <a:path w="953" h="114300">
                <a:moveTo>
                  <a:pt x="0" y="0"/>
                </a:moveTo>
                <a:lnTo>
                  <a:pt x="0" y="114300"/>
                </a:lnTo>
              </a:path>
            </a:pathLst>
          </a:custGeom>
          <a:noFill/>
          <a:ln w="9525">
            <a:solidFill>
              <a:srgbClr val="4B5563"/>
            </a:solidFill>
            <a:prstDash val="solid"/>
          </a:ln>
        </p:spPr>
      </p:sp>
      <p:sp>
        <p:nvSpPr>
          <p:cNvPr id="2012" name="camera-label">
            <a:extLst>
              <a:ext uri="{FF2B5EF4-FFF2-40B4-BE49-F238E27FC236}">
                <a16:creationId xmlns:a16="http://schemas.microsoft.com/office/drawing/2014/main" id="{7D803F9F-5898-4437-82D5-53B8D2C71347}"/>
              </a:ext>
            </a:extLst>
          </p:cNvPr>
          <p:cNvSpPr>
            <a:spLocks noGrp="1"/>
          </p:cNvSpPr>
          <p:nvPr/>
        </p:nvSpPr>
        <p:spPr>
          <a:xfrm>
            <a:off x="5715000" y="1219200"/>
            <a:ext cx="3048000" cy="285750"/>
          </a:xfrm>
          <a:prstGeom prst="rect">
            <a:avLst/>
          </a:prstGeom>
          <a:noFill/>
          <a:ln w="0">
            <a:noFill/>
          </a:ln>
        </p:spPr>
        <p:txBody>
          <a:bodyPr wrap="none" lIns="0" tIns="0" rIns="0" bIns="0" anchor="t">
            <a:noAutofit/>
          </a:bodyPr>
          <a:lstStyle/>
          <a:p>
            <a:pPr algn="l">
              <a:spcBef>
                <a:spcPts val="0"/>
              </a:spcBef>
              <a:spcAft>
                <a:spcPts val="0"/>
              </a:spcAft>
              <a:defRPr sz="1600" b="1">
                <a:solidFill>
                  <a:srgbClr val="17212B"/>
                </a:solidFill>
                <a:latin typeface="Arial"/>
                <a:ea typeface="Arial"/>
                <a:cs typeface="Arial"/>
              </a:defRPr>
            </a:pPr>
            <a:r>
              <a:rPr sz="1600" b="1">
                <a:solidFill>
                  <a:srgbClr val="17212B"/>
                </a:solidFill>
                <a:latin typeface="Arial"/>
                <a:ea typeface="Arial"/>
                <a:cs typeface="Arial"/>
              </a:rPr>
              <a:t>Basiskamera L515</a:t>
            </a:r>
          </a:p>
        </p:txBody>
      </p:sp>
      <p:sp>
        <p:nvSpPr>
          <p:cNvPr id="2013" name="camera-height">
            <a:extLst>
              <a:ext uri="{FF2B5EF4-FFF2-40B4-BE49-F238E27FC236}">
                <a16:creationId xmlns:a16="http://schemas.microsoft.com/office/drawing/2014/main" id="{A7255FFC-22BF-4B59-BC49-B489F81C8717}"/>
              </a:ext>
            </a:extLst>
          </p:cNvPr>
          <p:cNvSpPr>
            <a:spLocks noGrp="1"/>
          </p:cNvSpPr>
          <p:nvPr/>
        </p:nvSpPr>
        <p:spPr>
          <a:xfrm>
            <a:off x="5715000" y="1514475"/>
            <a:ext cx="3048000" cy="238125"/>
          </a:xfrm>
          <a:prstGeom prst="rect">
            <a:avLst/>
          </a:prstGeom>
          <a:noFill/>
          <a:ln w="0">
            <a:noFill/>
          </a:ln>
        </p:spPr>
        <p:txBody>
          <a:bodyPr wrap="none" lIns="0" tIns="0" rIns="0" bIns="0" anchor="t">
            <a:noAutofit/>
          </a:bodyPr>
          <a:lstStyle/>
          <a:p>
            <a:pPr algn="l">
              <a:spcBef>
                <a:spcPts val="0"/>
              </a:spcBef>
              <a:spcAft>
                <a:spcPts val="0"/>
              </a:spcAft>
              <a:defRPr sz="1300" b="0">
                <a:solidFill>
                  <a:srgbClr val="4B5563"/>
                </a:solidFill>
                <a:latin typeface="Arial"/>
                <a:ea typeface="Arial"/>
                <a:cs typeface="Arial"/>
              </a:defRPr>
            </a:pPr>
            <a:r>
              <a:rPr sz="1300" b="0">
                <a:solidFill>
                  <a:srgbClr val="4B5563"/>
                </a:solidFill>
                <a:latin typeface="Arial"/>
                <a:ea typeface="Arial"/>
                <a:cs typeface="Arial"/>
              </a:rPr>
              <a:t>ca. 0,85 m über dem Band</a:t>
            </a:r>
          </a:p>
        </p:txBody>
      </p:sp>
      <p:sp>
        <p:nvSpPr>
          <p:cNvPr id="2014" name="camera-leader">
            <a:extLst>
              <a:ext uri="{FF2B5EF4-FFF2-40B4-BE49-F238E27FC236}">
                <a16:creationId xmlns:a16="http://schemas.microsoft.com/office/drawing/2014/main" id="{8EA1ADC0-5F08-4B9C-ACD1-105745F3E2C7}"/>
              </a:ext>
            </a:extLst>
          </p:cNvPr>
          <p:cNvSpPr>
            <a:spLocks noGrp="1"/>
          </p:cNvSpPr>
          <p:nvPr/>
        </p:nvSpPr>
        <p:spPr>
          <a:xfrm>
            <a:off x="4583906" y="1457325"/>
            <a:ext cx="997744" cy="953"/>
          </a:xfrm>
          <a:custGeom>
            <a:avLst/>
            <a:gdLst/>
            <a:ahLst/>
            <a:cxnLst/>
            <a:rect l="0" t="0" r="0" b="0"/>
            <a:pathLst>
              <a:path w="997744" h="953">
                <a:moveTo>
                  <a:pt x="0" y="0"/>
                </a:moveTo>
                <a:lnTo>
                  <a:pt x="997744" y="0"/>
                </a:lnTo>
              </a:path>
            </a:pathLst>
          </a:custGeom>
          <a:noFill/>
          <a:ln w="9525">
            <a:solidFill>
              <a:srgbClr val="4B5563"/>
            </a:solidFill>
            <a:prstDash val="solid"/>
          </a:ln>
        </p:spPr>
      </p:sp>
      <p:sp>
        <p:nvSpPr>
          <p:cNvPr id="2015" name="conveyor-x-shaft">
            <a:extLst>
              <a:ext uri="{FF2B5EF4-FFF2-40B4-BE49-F238E27FC236}">
                <a16:creationId xmlns:a16="http://schemas.microsoft.com/office/drawing/2014/main" id="{B5BC95E8-7F97-4447-893E-C82912CBE381}"/>
              </a:ext>
            </a:extLst>
          </p:cNvPr>
          <p:cNvSpPr>
            <a:spLocks noGrp="1"/>
          </p:cNvSpPr>
          <p:nvPr/>
        </p:nvSpPr>
        <p:spPr>
          <a:xfrm>
            <a:off x="3650456" y="1666875"/>
            <a:ext cx="628650" cy="953"/>
          </a:xfrm>
          <a:custGeom>
            <a:avLst/>
            <a:gdLst/>
            <a:ahLst/>
            <a:cxnLst/>
            <a:rect l="0" t="0" r="0" b="0"/>
            <a:pathLst>
              <a:path w="628650" h="953">
                <a:moveTo>
                  <a:pt x="628650" y="0"/>
                </a:moveTo>
                <a:lnTo>
                  <a:pt x="0" y="0"/>
                </a:lnTo>
              </a:path>
            </a:pathLst>
          </a:custGeom>
          <a:noFill/>
          <a:ln w="17145">
            <a:solidFill>
              <a:srgbClr val="1D70B8"/>
            </a:solidFill>
            <a:prstDash val="solid"/>
          </a:ln>
        </p:spPr>
      </p:sp>
      <p:sp>
        <p:nvSpPr>
          <p:cNvPr id="2016" name="conveyor-x-tip">
            <a:extLst>
              <a:ext uri="{FF2B5EF4-FFF2-40B4-BE49-F238E27FC236}">
                <a16:creationId xmlns:a16="http://schemas.microsoft.com/office/drawing/2014/main" id="{ACF61AD1-603D-4CCC-A5CD-C2A267593D28}"/>
              </a:ext>
            </a:extLst>
          </p:cNvPr>
          <p:cNvSpPr>
            <a:spLocks noGrp="1"/>
          </p:cNvSpPr>
          <p:nvPr/>
        </p:nvSpPr>
        <p:spPr>
          <a:xfrm>
            <a:off x="3650456" y="1626870"/>
            <a:ext cx="95250" cy="80010"/>
          </a:xfrm>
          <a:custGeom>
            <a:avLst/>
            <a:gdLst/>
            <a:ahLst/>
            <a:cxnLst/>
            <a:rect l="0" t="0" r="0" b="0"/>
            <a:pathLst>
              <a:path w="95250" h="80010">
                <a:moveTo>
                  <a:pt x="0" y="40005"/>
                </a:moveTo>
                <a:lnTo>
                  <a:pt x="95250" y="0"/>
                </a:lnTo>
                <a:lnTo>
                  <a:pt x="95250" y="80010"/>
                </a:lnTo>
                <a:close/>
              </a:path>
            </a:pathLst>
          </a:custGeom>
          <a:solidFill>
            <a:srgbClr val="1D70B8"/>
          </a:solidFill>
          <a:ln w="0">
            <a:noFill/>
          </a:ln>
        </p:spPr>
      </p:sp>
      <p:sp>
        <p:nvSpPr>
          <p:cNvPr id="2017" name="conveyor-y-shaft">
            <a:extLst>
              <a:ext uri="{FF2B5EF4-FFF2-40B4-BE49-F238E27FC236}">
                <a16:creationId xmlns:a16="http://schemas.microsoft.com/office/drawing/2014/main" id="{F9BFCA3B-6138-4DFD-9853-5355408A9306}"/>
              </a:ext>
            </a:extLst>
          </p:cNvPr>
          <p:cNvSpPr>
            <a:spLocks noGrp="1"/>
          </p:cNvSpPr>
          <p:nvPr/>
        </p:nvSpPr>
        <p:spPr>
          <a:xfrm>
            <a:off x="4279106" y="1666875"/>
            <a:ext cx="953" cy="647700"/>
          </a:xfrm>
          <a:custGeom>
            <a:avLst/>
            <a:gdLst/>
            <a:ahLst/>
            <a:cxnLst/>
            <a:rect l="0" t="0" r="0" b="0"/>
            <a:pathLst>
              <a:path w="953" h="647700">
                <a:moveTo>
                  <a:pt x="0" y="0"/>
                </a:moveTo>
                <a:lnTo>
                  <a:pt x="0" y="647700"/>
                </a:lnTo>
              </a:path>
            </a:pathLst>
          </a:custGeom>
          <a:noFill/>
          <a:ln w="17145">
            <a:solidFill>
              <a:srgbClr val="1D70B8"/>
            </a:solidFill>
            <a:prstDash val="solid"/>
          </a:ln>
        </p:spPr>
      </p:sp>
      <p:sp>
        <p:nvSpPr>
          <p:cNvPr id="2018" name="conveyor-y-tip">
            <a:extLst>
              <a:ext uri="{FF2B5EF4-FFF2-40B4-BE49-F238E27FC236}">
                <a16:creationId xmlns:a16="http://schemas.microsoft.com/office/drawing/2014/main" id="{7478A6E9-4B1F-478E-8CA1-89068BFBB4C3}"/>
              </a:ext>
            </a:extLst>
          </p:cNvPr>
          <p:cNvSpPr>
            <a:spLocks noGrp="1"/>
          </p:cNvSpPr>
          <p:nvPr/>
        </p:nvSpPr>
        <p:spPr>
          <a:xfrm>
            <a:off x="4239101" y="2219325"/>
            <a:ext cx="80010" cy="95250"/>
          </a:xfrm>
          <a:custGeom>
            <a:avLst/>
            <a:gdLst/>
            <a:ahLst/>
            <a:cxnLst/>
            <a:rect l="0" t="0" r="0" b="0"/>
            <a:pathLst>
              <a:path w="80010" h="95250">
                <a:moveTo>
                  <a:pt x="40005" y="95250"/>
                </a:moveTo>
                <a:lnTo>
                  <a:pt x="0" y="0"/>
                </a:lnTo>
                <a:lnTo>
                  <a:pt x="80010" y="0"/>
                </a:lnTo>
                <a:close/>
              </a:path>
            </a:pathLst>
          </a:custGeom>
          <a:solidFill>
            <a:srgbClr val="1D70B8"/>
          </a:solidFill>
          <a:ln w="0">
            <a:noFill/>
          </a:ln>
        </p:spPr>
        <p:txBody>
          <a:bodyPr/>
          <a:lstStyle/>
          <a:p>
            <a:endParaRPr lang="de-DE"/>
          </a:p>
        </p:txBody>
      </p:sp>
      <p:sp>
        <p:nvSpPr>
          <p:cNvPr id="2019" name="conveyor-x-label">
            <a:extLst>
              <a:ext uri="{FF2B5EF4-FFF2-40B4-BE49-F238E27FC236}">
                <a16:creationId xmlns:a16="http://schemas.microsoft.com/office/drawing/2014/main" id="{9DEC428C-2D64-4223-9443-083FB392613D}"/>
              </a:ext>
            </a:extLst>
          </p:cNvPr>
          <p:cNvSpPr>
            <a:spLocks noGrp="1"/>
          </p:cNvSpPr>
          <p:nvPr/>
        </p:nvSpPr>
        <p:spPr>
          <a:xfrm>
            <a:off x="3488531" y="1343025"/>
            <a:ext cx="419100" cy="285750"/>
          </a:xfrm>
          <a:prstGeom prst="rect">
            <a:avLst/>
          </a:prstGeom>
          <a:noFill/>
          <a:ln w="0">
            <a:noFill/>
          </a:ln>
        </p:spPr>
        <p:txBody>
          <a:bodyPr wrap="none" lIns="0" tIns="0" rIns="0" bIns="0" anchor="t">
            <a:noAutofit/>
          </a:bodyPr>
          <a:lstStyle/>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X+</a:t>
            </a:r>
          </a:p>
        </p:txBody>
      </p:sp>
      <p:sp>
        <p:nvSpPr>
          <p:cNvPr id="2020" name="conveyor-y-label">
            <a:extLst>
              <a:ext uri="{FF2B5EF4-FFF2-40B4-BE49-F238E27FC236}">
                <a16:creationId xmlns:a16="http://schemas.microsoft.com/office/drawing/2014/main" id="{1219C61A-1195-4FE4-B46A-9ACFA167D638}"/>
              </a:ext>
            </a:extLst>
          </p:cNvPr>
          <p:cNvSpPr>
            <a:spLocks noGrp="1"/>
          </p:cNvSpPr>
          <p:nvPr/>
        </p:nvSpPr>
        <p:spPr>
          <a:xfrm>
            <a:off x="4393406" y="2133600"/>
            <a:ext cx="457200" cy="285750"/>
          </a:xfrm>
          <a:prstGeom prst="rect">
            <a:avLst/>
          </a:prstGeom>
          <a:noFill/>
          <a:ln w="0">
            <a:noFill/>
          </a:ln>
        </p:spPr>
        <p:txBody>
          <a:bodyPr wrap="none" lIns="0" tIns="0" rIns="0" bIns="0" anchor="t">
            <a:noAutofit/>
          </a:bodyPr>
          <a:lstStyle/>
          <a:p>
            <a:pPr algn="l">
              <a:spcBef>
                <a:spcPts val="0"/>
              </a:spcBef>
              <a:spcAft>
                <a:spcPts val="0"/>
              </a:spcAft>
              <a:defRPr sz="1600" b="0">
                <a:solidFill>
                  <a:srgbClr val="1D70B8"/>
                </a:solidFill>
                <a:latin typeface="Arial"/>
                <a:ea typeface="Arial"/>
                <a:cs typeface="Arial"/>
              </a:defRPr>
            </a:pPr>
            <a:r>
              <a:rPr sz="1600" b="0" dirty="0">
                <a:solidFill>
                  <a:srgbClr val="1D70B8"/>
                </a:solidFill>
                <a:latin typeface="Arial"/>
                <a:ea typeface="Arial"/>
                <a:cs typeface="Arial"/>
              </a:rPr>
              <a:t>Y+</a:t>
            </a:r>
          </a:p>
        </p:txBody>
      </p:sp>
      <p:sp>
        <p:nvSpPr>
          <p:cNvPr id="2021" name="conveyor-frame-label">
            <a:extLst>
              <a:ext uri="{FF2B5EF4-FFF2-40B4-BE49-F238E27FC236}">
                <a16:creationId xmlns:a16="http://schemas.microsoft.com/office/drawing/2014/main" id="{519A44DB-B549-4055-8705-073C80A1EAC4}"/>
              </a:ext>
            </a:extLst>
          </p:cNvPr>
          <p:cNvSpPr>
            <a:spLocks noGrp="1"/>
          </p:cNvSpPr>
          <p:nvPr/>
        </p:nvSpPr>
        <p:spPr>
          <a:xfrm>
            <a:off x="5715000" y="2000250"/>
            <a:ext cx="2571750" cy="285750"/>
          </a:xfrm>
          <a:prstGeom prst="rect">
            <a:avLst/>
          </a:prstGeom>
          <a:noFill/>
          <a:ln w="0">
            <a:noFill/>
          </a:ln>
        </p:spPr>
        <p:txBody>
          <a:bodyPr wrap="none" lIns="0" tIns="0" rIns="0" bIns="0" anchor="t">
            <a:noAutofit/>
          </a:bodyPr>
          <a:lstStyle/>
          <a:p>
            <a:pPr algn="l">
              <a:spcBef>
                <a:spcPts val="0"/>
              </a:spcBef>
              <a:spcAft>
                <a:spcPts val="0"/>
              </a:spcAft>
              <a:defRPr sz="1550" b="0">
                <a:solidFill>
                  <a:srgbClr val="1D70B8"/>
                </a:solidFill>
                <a:latin typeface="Arial"/>
                <a:ea typeface="Arial"/>
                <a:cs typeface="Arial"/>
              </a:defRPr>
            </a:pPr>
            <a:r>
              <a:rPr sz="1550" b="0">
                <a:solidFill>
                  <a:srgbClr val="1D70B8"/>
                </a:solidFill>
                <a:latin typeface="Arial"/>
                <a:ea typeface="Arial"/>
                <a:cs typeface="Arial"/>
              </a:rPr>
              <a:t>conveyor_frame</a:t>
            </a:r>
          </a:p>
        </p:txBody>
      </p:sp>
      <p:sp>
        <p:nvSpPr>
          <p:cNvPr id="2022" name="drop-box">
            <a:extLst>
              <a:ext uri="{FF2B5EF4-FFF2-40B4-BE49-F238E27FC236}">
                <a16:creationId xmlns:a16="http://schemas.microsoft.com/office/drawing/2014/main" id="{A86A593B-69AB-46EB-B4DA-636357F58BCA}"/>
              </a:ext>
            </a:extLst>
          </p:cNvPr>
          <p:cNvSpPr>
            <a:spLocks noGrp="1"/>
          </p:cNvSpPr>
          <p:nvPr/>
        </p:nvSpPr>
        <p:spPr>
          <a:xfrm>
            <a:off x="5502592" y="3297555"/>
            <a:ext cx="762000" cy="533400"/>
          </a:xfrm>
          <a:prstGeom prst="roundRect">
            <a:avLst>
              <a:gd name="adj" fmla="val 14286"/>
            </a:avLst>
          </a:prstGeom>
          <a:solidFill>
            <a:srgbClr val="F5DFBD"/>
          </a:solidFill>
          <a:ln w="14288">
            <a:solidFill>
              <a:srgbClr val="9B6622"/>
            </a:solidFill>
            <a:prstDash val="solid"/>
          </a:ln>
        </p:spPr>
      </p:sp>
      <p:sp>
        <p:nvSpPr>
          <p:cNvPr id="2023" name="drop-box-label">
            <a:extLst>
              <a:ext uri="{FF2B5EF4-FFF2-40B4-BE49-F238E27FC236}">
                <a16:creationId xmlns:a16="http://schemas.microsoft.com/office/drawing/2014/main" id="{693654C8-3FEE-44D6-A4DB-63854325249C}"/>
              </a:ext>
            </a:extLst>
          </p:cNvPr>
          <p:cNvSpPr>
            <a:spLocks noGrp="1"/>
          </p:cNvSpPr>
          <p:nvPr/>
        </p:nvSpPr>
        <p:spPr>
          <a:xfrm>
            <a:off x="5569267" y="2945130"/>
            <a:ext cx="1952625" cy="285750"/>
          </a:xfrm>
          <a:prstGeom prst="rect">
            <a:avLst/>
          </a:prstGeom>
          <a:noFill/>
          <a:ln w="0">
            <a:noFill/>
          </a:ln>
        </p:spPr>
        <p:txBody>
          <a:bodyPr wrap="none" lIns="0" tIns="0" rIns="0" bIns="0" anchor="t">
            <a:noAutofit/>
          </a:bodyPr>
          <a:lstStyle/>
          <a:p>
            <a:pPr algn="l">
              <a:spcBef>
                <a:spcPts val="0"/>
              </a:spcBef>
              <a:spcAft>
                <a:spcPts val="0"/>
              </a:spcAft>
              <a:defRPr sz="1600" b="1">
                <a:solidFill>
                  <a:srgbClr val="17212B"/>
                </a:solidFill>
                <a:latin typeface="Arial"/>
                <a:ea typeface="Arial"/>
                <a:cs typeface="Arial"/>
              </a:defRPr>
            </a:pPr>
            <a:r>
              <a:rPr sz="1600" b="1">
                <a:solidFill>
                  <a:srgbClr val="17212B"/>
                </a:solidFill>
                <a:latin typeface="Arial"/>
                <a:ea typeface="Arial"/>
                <a:cs typeface="Arial"/>
              </a:rPr>
              <a:t>Ablagekiste</a:t>
            </a:r>
          </a:p>
        </p:txBody>
      </p:sp>
      <p:sp>
        <p:nvSpPr>
          <p:cNvPr id="2024" name="drop-position">
            <a:extLst>
              <a:ext uri="{FF2B5EF4-FFF2-40B4-BE49-F238E27FC236}">
                <a16:creationId xmlns:a16="http://schemas.microsoft.com/office/drawing/2014/main" id="{A25470CA-365F-470F-A616-D8D69B03E983}"/>
              </a:ext>
            </a:extLst>
          </p:cNvPr>
          <p:cNvSpPr>
            <a:spLocks noGrp="1"/>
          </p:cNvSpPr>
          <p:nvPr/>
        </p:nvSpPr>
        <p:spPr>
          <a:xfrm>
            <a:off x="5826442" y="3507105"/>
            <a:ext cx="114300" cy="114300"/>
          </a:xfrm>
          <a:prstGeom prst="ellipse">
            <a:avLst/>
          </a:prstGeom>
          <a:solidFill>
            <a:srgbClr val="9B6622"/>
          </a:solidFill>
          <a:ln w="12383">
            <a:solidFill>
              <a:srgbClr val="FFFFFF"/>
            </a:solidFill>
          </a:ln>
        </p:spPr>
      </p:sp>
      <p:sp>
        <p:nvSpPr>
          <p:cNvPr id="2025" name="drop-position-leader">
            <a:extLst>
              <a:ext uri="{FF2B5EF4-FFF2-40B4-BE49-F238E27FC236}">
                <a16:creationId xmlns:a16="http://schemas.microsoft.com/office/drawing/2014/main" id="{32015599-7A0B-4655-9E69-F929EFB599EB}"/>
              </a:ext>
            </a:extLst>
          </p:cNvPr>
          <p:cNvSpPr>
            <a:spLocks noGrp="1"/>
          </p:cNvSpPr>
          <p:nvPr/>
        </p:nvSpPr>
        <p:spPr>
          <a:xfrm>
            <a:off x="5969317" y="3564255"/>
            <a:ext cx="447675" cy="953"/>
          </a:xfrm>
          <a:custGeom>
            <a:avLst/>
            <a:gdLst/>
            <a:ahLst/>
            <a:cxnLst/>
            <a:rect l="0" t="0" r="0" b="0"/>
            <a:pathLst>
              <a:path w="447675" h="953">
                <a:moveTo>
                  <a:pt x="0" y="0"/>
                </a:moveTo>
                <a:lnTo>
                  <a:pt x="447675" y="0"/>
                </a:lnTo>
              </a:path>
            </a:pathLst>
          </a:custGeom>
          <a:noFill/>
          <a:ln w="11430">
            <a:solidFill>
              <a:srgbClr val="9B6622"/>
            </a:solidFill>
            <a:prstDash val="solid"/>
          </a:ln>
        </p:spPr>
      </p:sp>
      <p:sp>
        <p:nvSpPr>
          <p:cNvPr id="2026" name="drop-position-id">
            <a:extLst>
              <a:ext uri="{FF2B5EF4-FFF2-40B4-BE49-F238E27FC236}">
                <a16:creationId xmlns:a16="http://schemas.microsoft.com/office/drawing/2014/main" id="{63B74C32-229E-4F15-A9F1-A0615C8D48B8}"/>
              </a:ext>
            </a:extLst>
          </p:cNvPr>
          <p:cNvSpPr>
            <a:spLocks noGrp="1"/>
          </p:cNvSpPr>
          <p:nvPr/>
        </p:nvSpPr>
        <p:spPr>
          <a:xfrm>
            <a:off x="6493192" y="3430905"/>
            <a:ext cx="361950" cy="285750"/>
          </a:xfrm>
          <a:prstGeom prst="rect">
            <a:avLst/>
          </a:prstGeom>
          <a:noFill/>
          <a:ln w="0">
            <a:noFill/>
          </a:ln>
        </p:spPr>
        <p:txBody>
          <a:bodyPr wrap="none" lIns="0" tIns="0" rIns="0" bIns="0" anchor="t">
            <a:noAutofit/>
          </a:bodyPr>
          <a:lstStyle/>
          <a:p>
            <a:pPr algn="l">
              <a:spcBef>
                <a:spcPts val="0"/>
              </a:spcBef>
              <a:spcAft>
                <a:spcPts val="0"/>
              </a:spcAft>
              <a:defRPr sz="1700" b="1">
                <a:solidFill>
                  <a:srgbClr val="9B6622"/>
                </a:solidFill>
                <a:latin typeface="Arial"/>
                <a:ea typeface="Arial"/>
                <a:cs typeface="Arial"/>
              </a:defRPr>
            </a:pPr>
            <a:r>
              <a:rPr sz="1700" b="1">
                <a:solidFill>
                  <a:srgbClr val="9B6622"/>
                </a:solidFill>
                <a:latin typeface="Arial"/>
                <a:ea typeface="Arial"/>
                <a:cs typeface="Arial"/>
              </a:rPr>
              <a:t>A</a:t>
            </a:r>
          </a:p>
        </p:txBody>
      </p:sp>
      <p:sp>
        <p:nvSpPr>
          <p:cNvPr id="2027" name="robot-base">
            <a:extLst>
              <a:ext uri="{FF2B5EF4-FFF2-40B4-BE49-F238E27FC236}">
                <a16:creationId xmlns:a16="http://schemas.microsoft.com/office/drawing/2014/main" id="{55C61188-2BAF-4B46-BECA-05C8EA0867F0}"/>
              </a:ext>
            </a:extLst>
          </p:cNvPr>
          <p:cNvSpPr>
            <a:spLocks noGrp="1"/>
          </p:cNvSpPr>
          <p:nvPr/>
        </p:nvSpPr>
        <p:spPr>
          <a:xfrm>
            <a:off x="6357938" y="4495800"/>
            <a:ext cx="857250" cy="857250"/>
          </a:xfrm>
          <a:prstGeom prst="ellipse">
            <a:avLst/>
          </a:prstGeom>
          <a:solidFill>
            <a:srgbClr val="DBE7D4"/>
          </a:solidFill>
          <a:ln w="19050">
            <a:solidFill>
              <a:srgbClr val="47774A"/>
            </a:solidFill>
          </a:ln>
        </p:spPr>
      </p:sp>
      <p:sp>
        <p:nvSpPr>
          <p:cNvPr id="2028" name="world-x-shaft">
            <a:extLst>
              <a:ext uri="{FF2B5EF4-FFF2-40B4-BE49-F238E27FC236}">
                <a16:creationId xmlns:a16="http://schemas.microsoft.com/office/drawing/2014/main" id="{2A4AB25E-B14F-4F4B-8A55-A59943511C7C}"/>
              </a:ext>
            </a:extLst>
          </p:cNvPr>
          <p:cNvSpPr>
            <a:spLocks noGrp="1"/>
          </p:cNvSpPr>
          <p:nvPr/>
        </p:nvSpPr>
        <p:spPr>
          <a:xfrm>
            <a:off x="6786563" y="4924425"/>
            <a:ext cx="790575" cy="953"/>
          </a:xfrm>
          <a:custGeom>
            <a:avLst/>
            <a:gdLst/>
            <a:ahLst/>
            <a:cxnLst/>
            <a:rect l="0" t="0" r="0" b="0"/>
            <a:pathLst>
              <a:path w="790575" h="953">
                <a:moveTo>
                  <a:pt x="0" y="0"/>
                </a:moveTo>
                <a:lnTo>
                  <a:pt x="790575" y="0"/>
                </a:lnTo>
              </a:path>
            </a:pathLst>
          </a:custGeom>
          <a:noFill/>
          <a:ln w="17145">
            <a:solidFill>
              <a:srgbClr val="1D70B8"/>
            </a:solidFill>
            <a:prstDash val="solid"/>
          </a:ln>
        </p:spPr>
      </p:sp>
      <p:sp>
        <p:nvSpPr>
          <p:cNvPr id="2029" name="world-x-tip">
            <a:extLst>
              <a:ext uri="{FF2B5EF4-FFF2-40B4-BE49-F238E27FC236}">
                <a16:creationId xmlns:a16="http://schemas.microsoft.com/office/drawing/2014/main" id="{F05F1DF8-28BB-460F-995F-859C5F7494D0}"/>
              </a:ext>
            </a:extLst>
          </p:cNvPr>
          <p:cNvSpPr>
            <a:spLocks noGrp="1"/>
          </p:cNvSpPr>
          <p:nvPr/>
        </p:nvSpPr>
        <p:spPr>
          <a:xfrm>
            <a:off x="7481888" y="4884420"/>
            <a:ext cx="95250" cy="80010"/>
          </a:xfrm>
          <a:custGeom>
            <a:avLst/>
            <a:gdLst/>
            <a:ahLst/>
            <a:cxnLst/>
            <a:rect l="0" t="0" r="0" b="0"/>
            <a:pathLst>
              <a:path w="95250" h="80010">
                <a:moveTo>
                  <a:pt x="95250" y="40005"/>
                </a:moveTo>
                <a:lnTo>
                  <a:pt x="0" y="80010"/>
                </a:lnTo>
                <a:lnTo>
                  <a:pt x="0" y="0"/>
                </a:lnTo>
                <a:close/>
              </a:path>
            </a:pathLst>
          </a:custGeom>
          <a:solidFill>
            <a:srgbClr val="1D70B8"/>
          </a:solidFill>
          <a:ln w="0">
            <a:noFill/>
          </a:ln>
        </p:spPr>
      </p:sp>
      <p:sp>
        <p:nvSpPr>
          <p:cNvPr id="2030" name="world-y-shaft">
            <a:extLst>
              <a:ext uri="{FF2B5EF4-FFF2-40B4-BE49-F238E27FC236}">
                <a16:creationId xmlns:a16="http://schemas.microsoft.com/office/drawing/2014/main" id="{3894A5A2-C628-4097-8C2E-96DA614A76B6}"/>
              </a:ext>
            </a:extLst>
          </p:cNvPr>
          <p:cNvSpPr>
            <a:spLocks noGrp="1"/>
          </p:cNvSpPr>
          <p:nvPr/>
        </p:nvSpPr>
        <p:spPr>
          <a:xfrm>
            <a:off x="6786563" y="4181475"/>
            <a:ext cx="953" cy="742950"/>
          </a:xfrm>
          <a:custGeom>
            <a:avLst/>
            <a:gdLst/>
            <a:ahLst/>
            <a:cxnLst/>
            <a:rect l="0" t="0" r="0" b="0"/>
            <a:pathLst>
              <a:path w="953" h="742950">
                <a:moveTo>
                  <a:pt x="0" y="742950"/>
                </a:moveTo>
                <a:lnTo>
                  <a:pt x="0" y="0"/>
                </a:lnTo>
              </a:path>
            </a:pathLst>
          </a:custGeom>
          <a:noFill/>
          <a:ln w="17145">
            <a:solidFill>
              <a:srgbClr val="1D70B8"/>
            </a:solidFill>
            <a:prstDash val="solid"/>
          </a:ln>
        </p:spPr>
      </p:sp>
      <p:sp>
        <p:nvSpPr>
          <p:cNvPr id="2031" name="world-y-tip">
            <a:extLst>
              <a:ext uri="{FF2B5EF4-FFF2-40B4-BE49-F238E27FC236}">
                <a16:creationId xmlns:a16="http://schemas.microsoft.com/office/drawing/2014/main" id="{FC8D275A-6C7B-4EFC-8F79-2B31427F087C}"/>
              </a:ext>
            </a:extLst>
          </p:cNvPr>
          <p:cNvSpPr>
            <a:spLocks noGrp="1"/>
          </p:cNvSpPr>
          <p:nvPr/>
        </p:nvSpPr>
        <p:spPr>
          <a:xfrm>
            <a:off x="6746558" y="4181475"/>
            <a:ext cx="80010" cy="95250"/>
          </a:xfrm>
          <a:custGeom>
            <a:avLst/>
            <a:gdLst/>
            <a:ahLst/>
            <a:cxnLst/>
            <a:rect l="0" t="0" r="0" b="0"/>
            <a:pathLst>
              <a:path w="80010" h="95250">
                <a:moveTo>
                  <a:pt x="40005" y="0"/>
                </a:moveTo>
                <a:lnTo>
                  <a:pt x="80010" y="95250"/>
                </a:lnTo>
                <a:lnTo>
                  <a:pt x="0" y="95250"/>
                </a:lnTo>
                <a:close/>
              </a:path>
            </a:pathLst>
          </a:custGeom>
          <a:solidFill>
            <a:srgbClr val="1D70B8"/>
          </a:solidFill>
          <a:ln w="0">
            <a:noFill/>
          </a:ln>
        </p:spPr>
      </p:sp>
      <p:sp>
        <p:nvSpPr>
          <p:cNvPr id="2032" name="world-origin">
            <a:extLst>
              <a:ext uri="{FF2B5EF4-FFF2-40B4-BE49-F238E27FC236}">
                <a16:creationId xmlns:a16="http://schemas.microsoft.com/office/drawing/2014/main" id="{3AF878DC-3E98-4959-93FB-76FB884E0056}"/>
              </a:ext>
            </a:extLst>
          </p:cNvPr>
          <p:cNvSpPr>
            <a:spLocks noGrp="1"/>
          </p:cNvSpPr>
          <p:nvPr/>
        </p:nvSpPr>
        <p:spPr>
          <a:xfrm>
            <a:off x="6757988" y="4895850"/>
            <a:ext cx="57150" cy="57150"/>
          </a:xfrm>
          <a:prstGeom prst="ellipse">
            <a:avLst/>
          </a:prstGeom>
          <a:solidFill>
            <a:srgbClr val="1D70B8"/>
          </a:solidFill>
          <a:ln w="12383">
            <a:solidFill>
              <a:srgbClr val="FFFFFF"/>
            </a:solidFill>
          </a:ln>
        </p:spPr>
      </p:sp>
      <p:sp>
        <p:nvSpPr>
          <p:cNvPr id="2033" name="world-x-label">
            <a:extLst>
              <a:ext uri="{FF2B5EF4-FFF2-40B4-BE49-F238E27FC236}">
                <a16:creationId xmlns:a16="http://schemas.microsoft.com/office/drawing/2014/main" id="{E308BF95-BEB0-4416-BD37-97085B94559D}"/>
              </a:ext>
            </a:extLst>
          </p:cNvPr>
          <p:cNvSpPr>
            <a:spLocks noGrp="1"/>
          </p:cNvSpPr>
          <p:nvPr/>
        </p:nvSpPr>
        <p:spPr>
          <a:xfrm>
            <a:off x="7681913" y="4772025"/>
            <a:ext cx="476250" cy="285750"/>
          </a:xfrm>
          <a:prstGeom prst="rect">
            <a:avLst/>
          </a:prstGeom>
          <a:noFill/>
          <a:ln w="0">
            <a:noFill/>
          </a:ln>
        </p:spPr>
        <p:txBody>
          <a:bodyPr wrap="none" lIns="0" tIns="0" rIns="0" bIns="0" anchor="t">
            <a:noAutofit/>
          </a:bodyPr>
          <a:lstStyle/>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X+</a:t>
            </a:r>
          </a:p>
        </p:txBody>
      </p:sp>
      <p:sp>
        <p:nvSpPr>
          <p:cNvPr id="2034" name="world-y-label">
            <a:extLst>
              <a:ext uri="{FF2B5EF4-FFF2-40B4-BE49-F238E27FC236}">
                <a16:creationId xmlns:a16="http://schemas.microsoft.com/office/drawing/2014/main" id="{18AFD7E0-39FC-4170-A06C-177AAED5F9E5}"/>
              </a:ext>
            </a:extLst>
          </p:cNvPr>
          <p:cNvSpPr>
            <a:spLocks noGrp="1"/>
          </p:cNvSpPr>
          <p:nvPr/>
        </p:nvSpPr>
        <p:spPr>
          <a:xfrm>
            <a:off x="6986588" y="3981450"/>
            <a:ext cx="476250" cy="285750"/>
          </a:xfrm>
          <a:prstGeom prst="rect">
            <a:avLst/>
          </a:prstGeom>
          <a:noFill/>
          <a:ln w="0">
            <a:noFill/>
          </a:ln>
        </p:spPr>
        <p:txBody>
          <a:bodyPr wrap="none" lIns="0" tIns="0" rIns="0" bIns="0" anchor="t">
            <a:noAutofit/>
          </a:bodyPr>
          <a:lstStyle/>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Y+</a:t>
            </a:r>
          </a:p>
        </p:txBody>
      </p:sp>
      <p:sp>
        <p:nvSpPr>
          <p:cNvPr id="2035" name="world-label">
            <a:extLst>
              <a:ext uri="{FF2B5EF4-FFF2-40B4-BE49-F238E27FC236}">
                <a16:creationId xmlns:a16="http://schemas.microsoft.com/office/drawing/2014/main" id="{789B88B3-3B4D-40E3-981F-249E0E69005B}"/>
              </a:ext>
            </a:extLst>
          </p:cNvPr>
          <p:cNvSpPr>
            <a:spLocks noGrp="1"/>
          </p:cNvSpPr>
          <p:nvPr/>
        </p:nvSpPr>
        <p:spPr>
          <a:xfrm>
            <a:off x="7548563" y="5210175"/>
            <a:ext cx="1238250" cy="285750"/>
          </a:xfrm>
          <a:prstGeom prst="rect">
            <a:avLst/>
          </a:prstGeom>
          <a:noFill/>
          <a:ln w="0">
            <a:noFill/>
          </a:ln>
        </p:spPr>
        <p:txBody>
          <a:bodyPr wrap="none" lIns="0" tIns="0" rIns="0" bIns="0" anchor="t">
            <a:noAutofit/>
          </a:bodyPr>
          <a:lstStyle/>
          <a:p>
            <a:pPr algn="l">
              <a:spcBef>
                <a:spcPts val="0"/>
              </a:spcBef>
              <a:spcAft>
                <a:spcPts val="0"/>
              </a:spcAft>
              <a:defRPr sz="1550" b="0">
                <a:solidFill>
                  <a:srgbClr val="1D70B8"/>
                </a:solidFill>
                <a:latin typeface="Arial"/>
                <a:ea typeface="Arial"/>
                <a:cs typeface="Arial"/>
              </a:defRPr>
            </a:pPr>
            <a:r>
              <a:rPr sz="1550" b="0">
                <a:solidFill>
                  <a:srgbClr val="1D70B8"/>
                </a:solidFill>
                <a:latin typeface="Arial"/>
                <a:ea typeface="Arial"/>
                <a:cs typeface="Arial"/>
              </a:rPr>
              <a:t>world</a:t>
            </a:r>
          </a:p>
        </p:txBody>
      </p:sp>
      <p:sp>
        <p:nvSpPr>
          <p:cNvPr id="2036" name="robot-label">
            <a:extLst>
              <a:ext uri="{FF2B5EF4-FFF2-40B4-BE49-F238E27FC236}">
                <a16:creationId xmlns:a16="http://schemas.microsoft.com/office/drawing/2014/main" id="{44E02571-BAFB-4ED7-9DE4-575B9146A5B3}"/>
              </a:ext>
            </a:extLst>
          </p:cNvPr>
          <p:cNvSpPr>
            <a:spLocks noGrp="1"/>
          </p:cNvSpPr>
          <p:nvPr/>
        </p:nvSpPr>
        <p:spPr>
          <a:xfrm>
            <a:off x="6348413" y="5476875"/>
            <a:ext cx="1047750" cy="304800"/>
          </a:xfrm>
          <a:prstGeom prst="rect">
            <a:avLst/>
          </a:prstGeom>
          <a:noFill/>
          <a:ln w="0">
            <a:noFill/>
          </a:ln>
        </p:spPr>
        <p:txBody>
          <a:bodyPr wrap="none" lIns="0" tIns="0" rIns="0" bIns="0" anchor="t">
            <a:noAutofit/>
          </a:bodyPr>
          <a:lstStyle/>
          <a:p>
            <a:pPr algn="l">
              <a:spcBef>
                <a:spcPts val="0"/>
              </a:spcBef>
              <a:spcAft>
                <a:spcPts val="0"/>
              </a:spcAft>
              <a:defRPr sz="1700" b="1">
                <a:solidFill>
                  <a:srgbClr val="17212B"/>
                </a:solidFill>
                <a:latin typeface="Arial"/>
                <a:ea typeface="Arial"/>
                <a:cs typeface="Arial"/>
              </a:defRPr>
            </a:pPr>
            <a:r>
              <a:rPr sz="1700" b="1">
                <a:solidFill>
                  <a:srgbClr val="17212B"/>
                </a:solidFill>
                <a:latin typeface="Arial"/>
                <a:ea typeface="Arial"/>
                <a:cs typeface="Arial"/>
              </a:rPr>
              <a:t>UR10e</a:t>
            </a:r>
          </a:p>
        </p:txBody>
      </p:sp>
      <p:sp>
        <p:nvSpPr>
          <p:cNvPr id="2037" name="wait-position">
            <a:extLst>
              <a:ext uri="{FF2B5EF4-FFF2-40B4-BE49-F238E27FC236}">
                <a16:creationId xmlns:a16="http://schemas.microsoft.com/office/drawing/2014/main" id="{3A033156-5AB9-4A92-8AEE-943BF6B112F0}"/>
              </a:ext>
            </a:extLst>
          </p:cNvPr>
          <p:cNvSpPr>
            <a:spLocks noGrp="1"/>
          </p:cNvSpPr>
          <p:nvPr/>
        </p:nvSpPr>
        <p:spPr>
          <a:xfrm>
            <a:off x="4397693" y="3867150"/>
            <a:ext cx="114300" cy="114300"/>
          </a:xfrm>
          <a:prstGeom prst="ellipse">
            <a:avLst/>
          </a:prstGeom>
          <a:solidFill>
            <a:srgbClr val="1D70B8"/>
          </a:solidFill>
          <a:ln w="12383">
            <a:solidFill>
              <a:srgbClr val="FFFFFF"/>
            </a:solidFill>
          </a:ln>
        </p:spPr>
      </p:sp>
      <p:sp>
        <p:nvSpPr>
          <p:cNvPr id="2038" name="wait-position-id">
            <a:extLst>
              <a:ext uri="{FF2B5EF4-FFF2-40B4-BE49-F238E27FC236}">
                <a16:creationId xmlns:a16="http://schemas.microsoft.com/office/drawing/2014/main" id="{7D847214-1F8D-4182-BFDC-F8F8D3FCE193}"/>
              </a:ext>
            </a:extLst>
          </p:cNvPr>
          <p:cNvSpPr>
            <a:spLocks noGrp="1"/>
          </p:cNvSpPr>
          <p:nvPr/>
        </p:nvSpPr>
        <p:spPr>
          <a:xfrm>
            <a:off x="4607243" y="3781425"/>
            <a:ext cx="419100" cy="285750"/>
          </a:xfrm>
          <a:prstGeom prst="rect">
            <a:avLst/>
          </a:prstGeom>
          <a:noFill/>
          <a:ln w="0">
            <a:noFill/>
          </a:ln>
        </p:spPr>
        <p:txBody>
          <a:bodyPr wrap="none" lIns="0" tIns="0" rIns="0" bIns="0" anchor="t">
            <a:noAutofit/>
          </a:bodyPr>
          <a:lstStyle/>
          <a:p>
            <a:pPr algn="l">
              <a:spcBef>
                <a:spcPts val="0"/>
              </a:spcBef>
              <a:spcAft>
                <a:spcPts val="0"/>
              </a:spcAft>
              <a:defRPr sz="1700" b="1">
                <a:solidFill>
                  <a:srgbClr val="1D70B8"/>
                </a:solidFill>
                <a:latin typeface="Arial"/>
                <a:ea typeface="Arial"/>
                <a:cs typeface="Arial"/>
              </a:defRPr>
            </a:pPr>
            <a:r>
              <a:rPr sz="1700" b="1">
                <a:solidFill>
                  <a:srgbClr val="1D70B8"/>
                </a:solidFill>
                <a:latin typeface="Arial"/>
                <a:ea typeface="Arial"/>
                <a:cs typeface="Arial"/>
              </a:rPr>
              <a:t>W</a:t>
            </a:r>
          </a:p>
        </p:txBody>
      </p:sp>
      <p:sp>
        <p:nvSpPr>
          <p:cNvPr id="2039" name="belt-length-top">
            <a:extLst>
              <a:ext uri="{FF2B5EF4-FFF2-40B4-BE49-F238E27FC236}">
                <a16:creationId xmlns:a16="http://schemas.microsoft.com/office/drawing/2014/main" id="{0498BF39-3180-42EF-92EA-4B7327CD280E}"/>
              </a:ext>
            </a:extLst>
          </p:cNvPr>
          <p:cNvSpPr>
            <a:spLocks noGrp="1"/>
          </p:cNvSpPr>
          <p:nvPr/>
        </p:nvSpPr>
        <p:spPr>
          <a:xfrm>
            <a:off x="1600200" y="1666875"/>
            <a:ext cx="1476375" cy="953"/>
          </a:xfrm>
          <a:custGeom>
            <a:avLst/>
            <a:gdLst/>
            <a:ahLst/>
            <a:cxnLst/>
            <a:rect l="0" t="0" r="0" b="0"/>
            <a:pathLst>
              <a:path w="1476375" h="953">
                <a:moveTo>
                  <a:pt x="0" y="0"/>
                </a:moveTo>
                <a:lnTo>
                  <a:pt x="1476375" y="0"/>
                </a:lnTo>
              </a:path>
            </a:pathLst>
          </a:custGeom>
          <a:noFill/>
          <a:ln w="9525">
            <a:solidFill>
              <a:srgbClr val="305B78"/>
            </a:solidFill>
            <a:prstDash val="solid"/>
          </a:ln>
        </p:spPr>
      </p:sp>
      <p:sp>
        <p:nvSpPr>
          <p:cNvPr id="2040" name="belt-length-bottom">
            <a:extLst>
              <a:ext uri="{FF2B5EF4-FFF2-40B4-BE49-F238E27FC236}">
                <a16:creationId xmlns:a16="http://schemas.microsoft.com/office/drawing/2014/main" id="{EDF5B9DC-6F52-4438-BADB-1CA879AA568A}"/>
              </a:ext>
            </a:extLst>
          </p:cNvPr>
          <p:cNvSpPr>
            <a:spLocks noGrp="1"/>
          </p:cNvSpPr>
          <p:nvPr/>
        </p:nvSpPr>
        <p:spPr>
          <a:xfrm>
            <a:off x="1600200" y="5953125"/>
            <a:ext cx="1476375" cy="953"/>
          </a:xfrm>
          <a:custGeom>
            <a:avLst/>
            <a:gdLst/>
            <a:ahLst/>
            <a:cxnLst/>
            <a:rect l="0" t="0" r="0" b="0"/>
            <a:pathLst>
              <a:path w="1476375" h="953">
                <a:moveTo>
                  <a:pt x="0" y="0"/>
                </a:moveTo>
                <a:lnTo>
                  <a:pt x="1476375" y="0"/>
                </a:lnTo>
              </a:path>
            </a:pathLst>
          </a:custGeom>
          <a:noFill/>
          <a:ln w="9525">
            <a:solidFill>
              <a:srgbClr val="305B78"/>
            </a:solidFill>
            <a:prstDash val="solid"/>
          </a:ln>
        </p:spPr>
      </p:sp>
      <p:sp>
        <p:nvSpPr>
          <p:cNvPr id="2041" name="belt-length-shaft">
            <a:extLst>
              <a:ext uri="{FF2B5EF4-FFF2-40B4-BE49-F238E27FC236}">
                <a16:creationId xmlns:a16="http://schemas.microsoft.com/office/drawing/2014/main" id="{FCCE29A6-2E4D-49AD-9FD3-773FCDFB29BD}"/>
              </a:ext>
            </a:extLst>
          </p:cNvPr>
          <p:cNvSpPr>
            <a:spLocks noGrp="1"/>
          </p:cNvSpPr>
          <p:nvPr/>
        </p:nvSpPr>
        <p:spPr>
          <a:xfrm>
            <a:off x="1600200" y="1666875"/>
            <a:ext cx="953" cy="4286250"/>
          </a:xfrm>
          <a:custGeom>
            <a:avLst/>
            <a:gdLst/>
            <a:ahLst/>
            <a:cxnLst/>
            <a:rect l="0" t="0" r="0" b="0"/>
            <a:pathLst>
              <a:path w="953" h="4286250">
                <a:moveTo>
                  <a:pt x="0" y="0"/>
                </a:moveTo>
                <a:lnTo>
                  <a:pt x="0" y="4286250"/>
                </a:lnTo>
              </a:path>
            </a:pathLst>
          </a:custGeom>
          <a:noFill/>
          <a:ln w="11430">
            <a:solidFill>
              <a:srgbClr val="305B78"/>
            </a:solidFill>
            <a:prstDash val="solid"/>
          </a:ln>
        </p:spPr>
      </p:sp>
      <p:sp>
        <p:nvSpPr>
          <p:cNvPr id="2042" name="belt-length-tip">
            <a:extLst>
              <a:ext uri="{FF2B5EF4-FFF2-40B4-BE49-F238E27FC236}">
                <a16:creationId xmlns:a16="http://schemas.microsoft.com/office/drawing/2014/main" id="{137747BA-83F7-4F5D-ADCD-DCB9737B58E2}"/>
              </a:ext>
            </a:extLst>
          </p:cNvPr>
          <p:cNvSpPr>
            <a:spLocks noGrp="1"/>
          </p:cNvSpPr>
          <p:nvPr/>
        </p:nvSpPr>
        <p:spPr>
          <a:xfrm>
            <a:off x="1572197" y="5886450"/>
            <a:ext cx="56007" cy="66675"/>
          </a:xfrm>
          <a:custGeom>
            <a:avLst/>
            <a:gdLst/>
            <a:ahLst/>
            <a:cxnLst/>
            <a:rect l="0" t="0" r="0" b="0"/>
            <a:pathLst>
              <a:path w="56007" h="66675">
                <a:moveTo>
                  <a:pt x="28003" y="66675"/>
                </a:moveTo>
                <a:lnTo>
                  <a:pt x="0" y="0"/>
                </a:lnTo>
                <a:lnTo>
                  <a:pt x="56007" y="0"/>
                </a:lnTo>
                <a:close/>
              </a:path>
            </a:pathLst>
          </a:custGeom>
          <a:solidFill>
            <a:srgbClr val="305B78"/>
          </a:solidFill>
          <a:ln w="0">
            <a:noFill/>
          </a:ln>
        </p:spPr>
      </p:sp>
      <p:sp>
        <p:nvSpPr>
          <p:cNvPr id="2043" name="belt-length-start">
            <a:extLst>
              <a:ext uri="{FF2B5EF4-FFF2-40B4-BE49-F238E27FC236}">
                <a16:creationId xmlns:a16="http://schemas.microsoft.com/office/drawing/2014/main" id="{E8BD2978-5A8A-4A8E-A668-9E986D3742CB}"/>
              </a:ext>
            </a:extLst>
          </p:cNvPr>
          <p:cNvSpPr>
            <a:spLocks noGrp="1"/>
          </p:cNvSpPr>
          <p:nvPr/>
        </p:nvSpPr>
        <p:spPr>
          <a:xfrm>
            <a:off x="1572197" y="1666875"/>
            <a:ext cx="56007" cy="66675"/>
          </a:xfrm>
          <a:custGeom>
            <a:avLst/>
            <a:gdLst/>
            <a:ahLst/>
            <a:cxnLst/>
            <a:rect l="0" t="0" r="0" b="0"/>
            <a:pathLst>
              <a:path w="56007" h="66675">
                <a:moveTo>
                  <a:pt x="28003" y="0"/>
                </a:moveTo>
                <a:lnTo>
                  <a:pt x="0" y="66675"/>
                </a:lnTo>
                <a:lnTo>
                  <a:pt x="56007" y="66675"/>
                </a:lnTo>
                <a:close/>
              </a:path>
            </a:pathLst>
          </a:custGeom>
          <a:solidFill>
            <a:srgbClr val="305B78"/>
          </a:solidFill>
          <a:ln w="0">
            <a:noFill/>
          </a:ln>
        </p:spPr>
      </p:sp>
      <p:sp>
        <p:nvSpPr>
          <p:cNvPr id="2044" name="belt-length-label">
            <a:extLst>
              <a:ext uri="{FF2B5EF4-FFF2-40B4-BE49-F238E27FC236}">
                <a16:creationId xmlns:a16="http://schemas.microsoft.com/office/drawing/2014/main" id="{614A7CB1-AB66-4127-8CF7-B9059DAB52C9}"/>
              </a:ext>
            </a:extLst>
          </p:cNvPr>
          <p:cNvSpPr>
            <a:spLocks noGrp="1"/>
          </p:cNvSpPr>
          <p:nvPr/>
        </p:nvSpPr>
        <p:spPr>
          <a:xfrm>
            <a:off x="171450" y="4210050"/>
            <a:ext cx="1314450" cy="885825"/>
          </a:xfrm>
          <a:prstGeom prst="rect">
            <a:avLst/>
          </a:prstGeom>
          <a:noFill/>
          <a:ln w="0">
            <a:noFill/>
          </a:ln>
        </p:spPr>
        <p:txBody>
          <a:bodyPr wrap="none" lIns="0" tIns="0" rIns="0" bIns="0" anchor="t">
            <a:noAutofit/>
          </a:bodyPr>
          <a:lstStyle/>
          <a:p>
            <a:pPr algn="r">
              <a:spcBef>
                <a:spcPts val="0"/>
              </a:spcBef>
              <a:spcAft>
                <a:spcPts val="0"/>
              </a:spcAft>
              <a:defRPr sz="1350" b="0">
                <a:solidFill>
                  <a:srgbClr val="4B5563"/>
                </a:solidFill>
                <a:latin typeface="Arial"/>
                <a:ea typeface="Arial"/>
                <a:cs typeface="Arial"/>
              </a:defRPr>
            </a:pPr>
            <a:r>
              <a:rPr sz="1350" b="0">
                <a:solidFill>
                  <a:srgbClr val="4B5563"/>
                </a:solidFill>
                <a:latin typeface="Arial"/>
                <a:ea typeface="Arial"/>
                <a:cs typeface="Arial"/>
              </a:rPr>
              <a:t>Nutzbare</a:t>
            </a:r>
          </a:p>
          <a:p>
            <a:pPr algn="r">
              <a:spcBef>
                <a:spcPts val="0"/>
              </a:spcBef>
              <a:spcAft>
                <a:spcPts val="0"/>
              </a:spcAft>
              <a:defRPr sz="1350" b="0">
                <a:solidFill>
                  <a:srgbClr val="4B5563"/>
                </a:solidFill>
                <a:latin typeface="Arial"/>
                <a:ea typeface="Arial"/>
                <a:cs typeface="Arial"/>
              </a:defRPr>
            </a:pPr>
            <a:r>
              <a:rPr sz="1350" b="0">
                <a:solidFill>
                  <a:srgbClr val="4B5563"/>
                </a:solidFill>
                <a:latin typeface="Arial"/>
                <a:ea typeface="Arial"/>
                <a:cs typeface="Arial"/>
              </a:rPr>
              <a:t>Förderstrecke</a:t>
            </a:r>
          </a:p>
          <a:p>
            <a:pPr algn="r">
              <a:spcBef>
                <a:spcPts val="0"/>
              </a:spcBef>
              <a:spcAft>
                <a:spcPts val="0"/>
              </a:spcAft>
              <a:defRPr sz="1350" b="0">
                <a:solidFill>
                  <a:srgbClr val="4B5563"/>
                </a:solidFill>
                <a:latin typeface="Arial"/>
                <a:ea typeface="Arial"/>
                <a:cs typeface="Arial"/>
              </a:defRPr>
            </a:pPr>
            <a:r>
              <a:rPr sz="1350" b="0">
                <a:solidFill>
                  <a:srgbClr val="4B5563"/>
                </a:solidFill>
                <a:latin typeface="Arial"/>
                <a:ea typeface="Arial"/>
                <a:cs typeface="Arial"/>
              </a:rPr>
              <a:t>ca. 1,50 m</a:t>
            </a:r>
          </a:p>
        </p:txBody>
      </p:sp>
      <p:sp>
        <p:nvSpPr>
          <p:cNvPr id="2045" name="offset-top">
            <a:extLst>
              <a:ext uri="{FF2B5EF4-FFF2-40B4-BE49-F238E27FC236}">
                <a16:creationId xmlns:a16="http://schemas.microsoft.com/office/drawing/2014/main" id="{70141331-77A0-49A4-96DD-F35863B861BE}"/>
              </a:ext>
            </a:extLst>
          </p:cNvPr>
          <p:cNvSpPr>
            <a:spLocks noGrp="1"/>
          </p:cNvSpPr>
          <p:nvPr/>
        </p:nvSpPr>
        <p:spPr>
          <a:xfrm>
            <a:off x="2667000" y="1666875"/>
            <a:ext cx="409575" cy="953"/>
          </a:xfrm>
          <a:custGeom>
            <a:avLst/>
            <a:gdLst/>
            <a:ahLst/>
            <a:cxnLst/>
            <a:rect l="0" t="0" r="0" b="0"/>
            <a:pathLst>
              <a:path w="409575" h="953">
                <a:moveTo>
                  <a:pt x="0" y="0"/>
                </a:moveTo>
                <a:lnTo>
                  <a:pt x="409575" y="0"/>
                </a:lnTo>
              </a:path>
            </a:pathLst>
          </a:custGeom>
          <a:noFill/>
          <a:ln w="9525">
            <a:solidFill>
              <a:srgbClr val="305B78"/>
            </a:solidFill>
            <a:prstDash val="solid"/>
          </a:ln>
        </p:spPr>
      </p:sp>
      <p:sp>
        <p:nvSpPr>
          <p:cNvPr id="2046" name="zone-top-extension">
            <a:extLst>
              <a:ext uri="{FF2B5EF4-FFF2-40B4-BE49-F238E27FC236}">
                <a16:creationId xmlns:a16="http://schemas.microsoft.com/office/drawing/2014/main" id="{7CC468C2-2DB1-449A-91D0-2EE51492E393}"/>
              </a:ext>
            </a:extLst>
          </p:cNvPr>
          <p:cNvSpPr>
            <a:spLocks noGrp="1"/>
          </p:cNvSpPr>
          <p:nvPr/>
        </p:nvSpPr>
        <p:spPr>
          <a:xfrm>
            <a:off x="2667000" y="3652837"/>
            <a:ext cx="1195388" cy="953"/>
          </a:xfrm>
          <a:custGeom>
            <a:avLst/>
            <a:gdLst/>
            <a:ahLst/>
            <a:cxnLst/>
            <a:rect l="0" t="0" r="0" b="0"/>
            <a:pathLst>
              <a:path w="1195388" h="953">
                <a:moveTo>
                  <a:pt x="0" y="0"/>
                </a:moveTo>
                <a:lnTo>
                  <a:pt x="1195388" y="0"/>
                </a:lnTo>
              </a:path>
            </a:pathLst>
          </a:custGeom>
          <a:noFill/>
          <a:ln w="9525">
            <a:solidFill>
              <a:srgbClr val="1D70B8"/>
            </a:solidFill>
            <a:prstDash val="solid"/>
          </a:ln>
        </p:spPr>
      </p:sp>
      <p:sp>
        <p:nvSpPr>
          <p:cNvPr id="2047" name="zone-bottom-extension">
            <a:extLst>
              <a:ext uri="{FF2B5EF4-FFF2-40B4-BE49-F238E27FC236}">
                <a16:creationId xmlns:a16="http://schemas.microsoft.com/office/drawing/2014/main" id="{B6549447-899A-4E61-88BD-72D35DF65B2E}"/>
              </a:ext>
            </a:extLst>
          </p:cNvPr>
          <p:cNvSpPr>
            <a:spLocks noGrp="1"/>
          </p:cNvSpPr>
          <p:nvPr/>
        </p:nvSpPr>
        <p:spPr>
          <a:xfrm>
            <a:off x="2667000" y="5838825"/>
            <a:ext cx="1195388" cy="953"/>
          </a:xfrm>
          <a:custGeom>
            <a:avLst/>
            <a:gdLst/>
            <a:ahLst/>
            <a:cxnLst/>
            <a:rect l="0" t="0" r="0" b="0"/>
            <a:pathLst>
              <a:path w="1195388" h="953">
                <a:moveTo>
                  <a:pt x="0" y="0"/>
                </a:moveTo>
                <a:lnTo>
                  <a:pt x="1195388" y="0"/>
                </a:lnTo>
              </a:path>
            </a:pathLst>
          </a:custGeom>
          <a:noFill/>
          <a:ln w="9525">
            <a:solidFill>
              <a:srgbClr val="1D70B8"/>
            </a:solidFill>
            <a:prstDash val="solid"/>
          </a:ln>
        </p:spPr>
      </p:sp>
      <p:sp>
        <p:nvSpPr>
          <p:cNvPr id="2048" name="zone-start-offset-shaft">
            <a:extLst>
              <a:ext uri="{FF2B5EF4-FFF2-40B4-BE49-F238E27FC236}">
                <a16:creationId xmlns:a16="http://schemas.microsoft.com/office/drawing/2014/main" id="{F871CF3B-C306-4FFD-B80C-D25ACF6571AD}"/>
              </a:ext>
            </a:extLst>
          </p:cNvPr>
          <p:cNvSpPr>
            <a:spLocks noGrp="1"/>
          </p:cNvSpPr>
          <p:nvPr/>
        </p:nvSpPr>
        <p:spPr>
          <a:xfrm>
            <a:off x="2667000" y="1666875"/>
            <a:ext cx="953" cy="1985962"/>
          </a:xfrm>
          <a:custGeom>
            <a:avLst/>
            <a:gdLst/>
            <a:ahLst/>
            <a:cxnLst/>
            <a:rect l="0" t="0" r="0" b="0"/>
            <a:pathLst>
              <a:path w="953" h="1985962">
                <a:moveTo>
                  <a:pt x="0" y="0"/>
                </a:moveTo>
                <a:lnTo>
                  <a:pt x="0" y="1985962"/>
                </a:lnTo>
              </a:path>
            </a:pathLst>
          </a:custGeom>
          <a:noFill/>
          <a:ln w="11430">
            <a:solidFill>
              <a:srgbClr val="305B78"/>
            </a:solidFill>
            <a:prstDash val="solid"/>
          </a:ln>
        </p:spPr>
      </p:sp>
      <p:sp>
        <p:nvSpPr>
          <p:cNvPr id="2049" name="zone-start-offset-tip">
            <a:extLst>
              <a:ext uri="{FF2B5EF4-FFF2-40B4-BE49-F238E27FC236}">
                <a16:creationId xmlns:a16="http://schemas.microsoft.com/office/drawing/2014/main" id="{7AB2DE9B-D695-42E9-B6C6-282E332C98C2}"/>
              </a:ext>
            </a:extLst>
          </p:cNvPr>
          <p:cNvSpPr>
            <a:spLocks noGrp="1"/>
          </p:cNvSpPr>
          <p:nvPr/>
        </p:nvSpPr>
        <p:spPr>
          <a:xfrm>
            <a:off x="2638997" y="3586162"/>
            <a:ext cx="56007" cy="66675"/>
          </a:xfrm>
          <a:custGeom>
            <a:avLst/>
            <a:gdLst/>
            <a:ahLst/>
            <a:cxnLst/>
            <a:rect l="0" t="0" r="0" b="0"/>
            <a:pathLst>
              <a:path w="56007" h="66675">
                <a:moveTo>
                  <a:pt x="28003" y="66675"/>
                </a:moveTo>
                <a:lnTo>
                  <a:pt x="0" y="0"/>
                </a:lnTo>
                <a:lnTo>
                  <a:pt x="56007" y="0"/>
                </a:lnTo>
                <a:close/>
              </a:path>
            </a:pathLst>
          </a:custGeom>
          <a:solidFill>
            <a:srgbClr val="305B78"/>
          </a:solidFill>
          <a:ln w="0">
            <a:noFill/>
          </a:ln>
        </p:spPr>
      </p:sp>
      <p:sp>
        <p:nvSpPr>
          <p:cNvPr id="2050" name="zone-start-offset-start">
            <a:extLst>
              <a:ext uri="{FF2B5EF4-FFF2-40B4-BE49-F238E27FC236}">
                <a16:creationId xmlns:a16="http://schemas.microsoft.com/office/drawing/2014/main" id="{3D703818-71CA-4EE2-8CE7-13EB00DD4AF1}"/>
              </a:ext>
            </a:extLst>
          </p:cNvPr>
          <p:cNvSpPr>
            <a:spLocks noGrp="1"/>
          </p:cNvSpPr>
          <p:nvPr/>
        </p:nvSpPr>
        <p:spPr>
          <a:xfrm>
            <a:off x="2638997" y="1666875"/>
            <a:ext cx="56007" cy="66675"/>
          </a:xfrm>
          <a:custGeom>
            <a:avLst/>
            <a:gdLst/>
            <a:ahLst/>
            <a:cxnLst/>
            <a:rect l="0" t="0" r="0" b="0"/>
            <a:pathLst>
              <a:path w="56007" h="66675">
                <a:moveTo>
                  <a:pt x="28003" y="0"/>
                </a:moveTo>
                <a:lnTo>
                  <a:pt x="0" y="66675"/>
                </a:lnTo>
                <a:lnTo>
                  <a:pt x="56007" y="66675"/>
                </a:lnTo>
                <a:close/>
              </a:path>
            </a:pathLst>
          </a:custGeom>
          <a:solidFill>
            <a:srgbClr val="305B78"/>
          </a:solidFill>
          <a:ln w="0">
            <a:noFill/>
          </a:ln>
        </p:spPr>
      </p:sp>
      <p:sp>
        <p:nvSpPr>
          <p:cNvPr id="2051" name="zone-start-offset-label">
            <a:extLst>
              <a:ext uri="{FF2B5EF4-FFF2-40B4-BE49-F238E27FC236}">
                <a16:creationId xmlns:a16="http://schemas.microsoft.com/office/drawing/2014/main" id="{0D016B24-3C0C-4A30-8A3D-1A8DD4D46AF4}"/>
              </a:ext>
            </a:extLst>
          </p:cNvPr>
          <p:cNvSpPr>
            <a:spLocks noGrp="1"/>
          </p:cNvSpPr>
          <p:nvPr/>
        </p:nvSpPr>
        <p:spPr>
          <a:xfrm>
            <a:off x="1704975" y="2514600"/>
            <a:ext cx="885825" cy="285750"/>
          </a:xfrm>
          <a:prstGeom prst="rect">
            <a:avLst/>
          </a:prstGeom>
          <a:noFill/>
          <a:ln w="0">
            <a:noFill/>
          </a:ln>
        </p:spPr>
        <p:txBody>
          <a:bodyPr wrap="none" lIns="0" tIns="0" rIns="0" bIns="0" anchor="t">
            <a:noAutofit/>
          </a:bodyPr>
          <a:lstStyle/>
          <a:p>
            <a:pPr algn="l">
              <a:spcBef>
                <a:spcPts val="0"/>
              </a:spcBef>
              <a:spcAft>
                <a:spcPts val="0"/>
              </a:spcAft>
              <a:defRPr sz="1250" b="0">
                <a:solidFill>
                  <a:srgbClr val="4B5563"/>
                </a:solidFill>
                <a:latin typeface="Arial"/>
                <a:ea typeface="Arial"/>
                <a:cs typeface="Arial"/>
              </a:defRPr>
            </a:pPr>
            <a:r>
              <a:rPr sz="1250" b="0">
                <a:solidFill>
                  <a:srgbClr val="4B5563"/>
                </a:solidFill>
                <a:latin typeface="Arial"/>
                <a:ea typeface="Arial"/>
                <a:cs typeface="Arial"/>
              </a:rPr>
              <a:t>ca. 0,695 m</a:t>
            </a:r>
          </a:p>
        </p:txBody>
      </p:sp>
      <p:sp>
        <p:nvSpPr>
          <p:cNvPr id="2052" name="zone-length-shaft">
            <a:extLst>
              <a:ext uri="{FF2B5EF4-FFF2-40B4-BE49-F238E27FC236}">
                <a16:creationId xmlns:a16="http://schemas.microsoft.com/office/drawing/2014/main" id="{35A7A724-F905-4219-83F5-BEDBDAAF17AA}"/>
              </a:ext>
            </a:extLst>
          </p:cNvPr>
          <p:cNvSpPr>
            <a:spLocks noGrp="1"/>
          </p:cNvSpPr>
          <p:nvPr/>
        </p:nvSpPr>
        <p:spPr>
          <a:xfrm>
            <a:off x="2667000" y="3652837"/>
            <a:ext cx="953" cy="2185988"/>
          </a:xfrm>
          <a:custGeom>
            <a:avLst/>
            <a:gdLst/>
            <a:ahLst/>
            <a:cxnLst/>
            <a:rect l="0" t="0" r="0" b="0"/>
            <a:pathLst>
              <a:path w="953" h="2185988">
                <a:moveTo>
                  <a:pt x="0" y="0"/>
                </a:moveTo>
                <a:lnTo>
                  <a:pt x="0" y="2185988"/>
                </a:lnTo>
              </a:path>
            </a:pathLst>
          </a:custGeom>
          <a:noFill/>
          <a:ln w="11430">
            <a:solidFill>
              <a:srgbClr val="1D70B8"/>
            </a:solidFill>
            <a:prstDash val="solid"/>
          </a:ln>
        </p:spPr>
      </p:sp>
      <p:sp>
        <p:nvSpPr>
          <p:cNvPr id="2053" name="zone-length-tip">
            <a:extLst>
              <a:ext uri="{FF2B5EF4-FFF2-40B4-BE49-F238E27FC236}">
                <a16:creationId xmlns:a16="http://schemas.microsoft.com/office/drawing/2014/main" id="{31BAE3DF-F004-44A9-BC88-8F16675A409D}"/>
              </a:ext>
            </a:extLst>
          </p:cNvPr>
          <p:cNvSpPr>
            <a:spLocks noGrp="1"/>
          </p:cNvSpPr>
          <p:nvPr/>
        </p:nvSpPr>
        <p:spPr>
          <a:xfrm>
            <a:off x="2638997" y="5772150"/>
            <a:ext cx="56007" cy="66675"/>
          </a:xfrm>
          <a:custGeom>
            <a:avLst/>
            <a:gdLst/>
            <a:ahLst/>
            <a:cxnLst/>
            <a:rect l="0" t="0" r="0" b="0"/>
            <a:pathLst>
              <a:path w="56007" h="66675">
                <a:moveTo>
                  <a:pt x="28003" y="66675"/>
                </a:moveTo>
                <a:lnTo>
                  <a:pt x="0" y="0"/>
                </a:lnTo>
                <a:lnTo>
                  <a:pt x="56007" y="0"/>
                </a:lnTo>
                <a:close/>
              </a:path>
            </a:pathLst>
          </a:custGeom>
          <a:solidFill>
            <a:srgbClr val="1D70B8"/>
          </a:solidFill>
          <a:ln w="0">
            <a:noFill/>
          </a:ln>
        </p:spPr>
      </p:sp>
      <p:sp>
        <p:nvSpPr>
          <p:cNvPr id="2054" name="zone-length-start">
            <a:extLst>
              <a:ext uri="{FF2B5EF4-FFF2-40B4-BE49-F238E27FC236}">
                <a16:creationId xmlns:a16="http://schemas.microsoft.com/office/drawing/2014/main" id="{3389FC17-63E8-46EE-9773-CF5AAC29D243}"/>
              </a:ext>
            </a:extLst>
          </p:cNvPr>
          <p:cNvSpPr>
            <a:spLocks noGrp="1"/>
          </p:cNvSpPr>
          <p:nvPr/>
        </p:nvSpPr>
        <p:spPr>
          <a:xfrm>
            <a:off x="2638997" y="3652837"/>
            <a:ext cx="56007" cy="66675"/>
          </a:xfrm>
          <a:custGeom>
            <a:avLst/>
            <a:gdLst/>
            <a:ahLst/>
            <a:cxnLst/>
            <a:rect l="0" t="0" r="0" b="0"/>
            <a:pathLst>
              <a:path w="56007" h="66675">
                <a:moveTo>
                  <a:pt x="28003" y="0"/>
                </a:moveTo>
                <a:lnTo>
                  <a:pt x="0" y="66675"/>
                </a:lnTo>
                <a:lnTo>
                  <a:pt x="56007" y="66675"/>
                </a:lnTo>
                <a:close/>
              </a:path>
            </a:pathLst>
          </a:custGeom>
          <a:solidFill>
            <a:srgbClr val="1D70B8"/>
          </a:solidFill>
          <a:ln w="0">
            <a:noFill/>
          </a:ln>
        </p:spPr>
      </p:sp>
      <p:sp>
        <p:nvSpPr>
          <p:cNvPr id="2055" name="zone-length-label">
            <a:extLst>
              <a:ext uri="{FF2B5EF4-FFF2-40B4-BE49-F238E27FC236}">
                <a16:creationId xmlns:a16="http://schemas.microsoft.com/office/drawing/2014/main" id="{E05C9EB0-B2DF-4DE0-A2ED-C92B87DED4B5}"/>
              </a:ext>
            </a:extLst>
          </p:cNvPr>
          <p:cNvSpPr>
            <a:spLocks noGrp="1"/>
          </p:cNvSpPr>
          <p:nvPr/>
        </p:nvSpPr>
        <p:spPr>
          <a:xfrm>
            <a:off x="1762125" y="4819650"/>
            <a:ext cx="819150" cy="285750"/>
          </a:xfrm>
          <a:prstGeom prst="rect">
            <a:avLst/>
          </a:prstGeom>
          <a:noFill/>
          <a:ln w="0">
            <a:noFill/>
          </a:ln>
        </p:spPr>
        <p:txBody>
          <a:bodyPr wrap="none" lIns="0" tIns="0" rIns="0" bIns="0" anchor="t">
            <a:noAutofit/>
          </a:bodyPr>
          <a:lstStyle/>
          <a:p>
            <a:pPr algn="l">
              <a:spcBef>
                <a:spcPts val="0"/>
              </a:spcBef>
              <a:spcAft>
                <a:spcPts val="0"/>
              </a:spcAft>
              <a:defRPr sz="1400" b="0">
                <a:solidFill>
                  <a:srgbClr val="1D70B8"/>
                </a:solidFill>
                <a:latin typeface="Arial"/>
                <a:ea typeface="Arial"/>
                <a:cs typeface="Arial"/>
              </a:defRPr>
            </a:pPr>
            <a:r>
              <a:rPr sz="1400" b="0">
                <a:solidFill>
                  <a:srgbClr val="1D70B8"/>
                </a:solidFill>
                <a:latin typeface="Arial"/>
                <a:ea typeface="Arial"/>
                <a:cs typeface="Arial"/>
              </a:rPr>
              <a:t>0,765 m</a:t>
            </a:r>
          </a:p>
        </p:txBody>
      </p:sp>
      <p:sp>
        <p:nvSpPr>
          <p:cNvPr id="2056" name="zone-width-shaft">
            <a:extLst>
              <a:ext uri="{FF2B5EF4-FFF2-40B4-BE49-F238E27FC236}">
                <a16:creationId xmlns:a16="http://schemas.microsoft.com/office/drawing/2014/main" id="{52DF7028-76CA-450F-AA97-5A0170257198}"/>
              </a:ext>
            </a:extLst>
          </p:cNvPr>
          <p:cNvSpPr>
            <a:spLocks noGrp="1"/>
          </p:cNvSpPr>
          <p:nvPr/>
        </p:nvSpPr>
        <p:spPr>
          <a:xfrm>
            <a:off x="3938588" y="5638800"/>
            <a:ext cx="1476374" cy="84772"/>
          </a:xfrm>
          <a:custGeom>
            <a:avLst/>
            <a:gdLst/>
            <a:ahLst/>
            <a:cxnLst/>
            <a:rect l="0" t="0" r="0" b="0"/>
            <a:pathLst>
              <a:path w="1323975" h="953">
                <a:moveTo>
                  <a:pt x="0" y="0"/>
                </a:moveTo>
                <a:lnTo>
                  <a:pt x="1323975" y="0"/>
                </a:lnTo>
              </a:path>
            </a:pathLst>
          </a:custGeom>
          <a:noFill/>
          <a:ln w="11430">
            <a:solidFill>
              <a:srgbClr val="1D70B8"/>
            </a:solidFill>
            <a:prstDash val="solid"/>
          </a:ln>
        </p:spPr>
        <p:txBody>
          <a:bodyPr/>
          <a:lstStyle/>
          <a:p>
            <a:endParaRPr lang="de-DE"/>
          </a:p>
        </p:txBody>
      </p:sp>
      <p:sp>
        <p:nvSpPr>
          <p:cNvPr id="2057" name="zone-width-tip">
            <a:extLst>
              <a:ext uri="{FF2B5EF4-FFF2-40B4-BE49-F238E27FC236}">
                <a16:creationId xmlns:a16="http://schemas.microsoft.com/office/drawing/2014/main" id="{03C835A5-EFA0-4914-ABED-35125E9981C8}"/>
              </a:ext>
            </a:extLst>
          </p:cNvPr>
          <p:cNvSpPr>
            <a:spLocks noGrp="1"/>
          </p:cNvSpPr>
          <p:nvPr/>
        </p:nvSpPr>
        <p:spPr>
          <a:xfrm>
            <a:off x="5358448" y="5610796"/>
            <a:ext cx="66675" cy="56007"/>
          </a:xfrm>
          <a:custGeom>
            <a:avLst/>
            <a:gdLst/>
            <a:ahLst/>
            <a:cxnLst/>
            <a:rect l="0" t="0" r="0" b="0"/>
            <a:pathLst>
              <a:path w="66675" h="56007">
                <a:moveTo>
                  <a:pt x="66675" y="28004"/>
                </a:moveTo>
                <a:lnTo>
                  <a:pt x="0" y="56007"/>
                </a:lnTo>
                <a:lnTo>
                  <a:pt x="0" y="0"/>
                </a:lnTo>
                <a:close/>
              </a:path>
            </a:pathLst>
          </a:custGeom>
          <a:solidFill>
            <a:srgbClr val="1D70B8"/>
          </a:solidFill>
          <a:ln w="0">
            <a:noFill/>
          </a:ln>
        </p:spPr>
        <p:txBody>
          <a:bodyPr/>
          <a:lstStyle/>
          <a:p>
            <a:endParaRPr lang="de-DE"/>
          </a:p>
        </p:txBody>
      </p:sp>
      <p:sp>
        <p:nvSpPr>
          <p:cNvPr id="2058" name="zone-width-start">
            <a:extLst>
              <a:ext uri="{FF2B5EF4-FFF2-40B4-BE49-F238E27FC236}">
                <a16:creationId xmlns:a16="http://schemas.microsoft.com/office/drawing/2014/main" id="{A0E5A7EC-008C-47B6-9CB1-E04E80014FFB}"/>
              </a:ext>
            </a:extLst>
          </p:cNvPr>
          <p:cNvSpPr>
            <a:spLocks noGrp="1"/>
          </p:cNvSpPr>
          <p:nvPr/>
        </p:nvSpPr>
        <p:spPr>
          <a:xfrm>
            <a:off x="3938588" y="5610796"/>
            <a:ext cx="66675" cy="56007"/>
          </a:xfrm>
          <a:custGeom>
            <a:avLst/>
            <a:gdLst/>
            <a:ahLst/>
            <a:cxnLst/>
            <a:rect l="0" t="0" r="0" b="0"/>
            <a:pathLst>
              <a:path w="66675" h="56007">
                <a:moveTo>
                  <a:pt x="0" y="28004"/>
                </a:moveTo>
                <a:lnTo>
                  <a:pt x="66675" y="56007"/>
                </a:lnTo>
                <a:lnTo>
                  <a:pt x="66675" y="0"/>
                </a:lnTo>
                <a:close/>
              </a:path>
            </a:pathLst>
          </a:custGeom>
          <a:solidFill>
            <a:srgbClr val="1D70B8"/>
          </a:solidFill>
          <a:ln w="0">
            <a:noFill/>
          </a:ln>
        </p:spPr>
      </p:sp>
      <p:sp>
        <p:nvSpPr>
          <p:cNvPr id="2059" name="zone-width-label">
            <a:extLst>
              <a:ext uri="{FF2B5EF4-FFF2-40B4-BE49-F238E27FC236}">
                <a16:creationId xmlns:a16="http://schemas.microsoft.com/office/drawing/2014/main" id="{D6BFB37F-621E-4911-A224-E805246EE6F5}"/>
              </a:ext>
            </a:extLst>
          </p:cNvPr>
          <p:cNvSpPr>
            <a:spLocks noGrp="1"/>
          </p:cNvSpPr>
          <p:nvPr/>
        </p:nvSpPr>
        <p:spPr>
          <a:xfrm>
            <a:off x="4224338" y="5343525"/>
            <a:ext cx="1000125" cy="266700"/>
          </a:xfrm>
          <a:prstGeom prst="rect">
            <a:avLst/>
          </a:prstGeom>
          <a:noFill/>
          <a:ln w="0">
            <a:noFill/>
          </a:ln>
        </p:spPr>
        <p:txBody>
          <a:bodyPr wrap="none" lIns="0" tIns="0" rIns="0" bIns="0" anchor="t">
            <a:noAutofit/>
          </a:bodyPr>
          <a:lstStyle/>
          <a:p>
            <a:pPr algn="ctr">
              <a:spcBef>
                <a:spcPts val="0"/>
              </a:spcBef>
              <a:spcAft>
                <a:spcPts val="0"/>
              </a:spcAft>
              <a:defRPr sz="1400" b="0">
                <a:solidFill>
                  <a:srgbClr val="1D70B8"/>
                </a:solidFill>
                <a:latin typeface="Arial"/>
                <a:ea typeface="Arial"/>
                <a:cs typeface="Arial"/>
              </a:defRPr>
            </a:pPr>
            <a:r>
              <a:rPr sz="1400" b="0" dirty="0">
                <a:solidFill>
                  <a:srgbClr val="1D70B8"/>
                </a:solidFill>
                <a:latin typeface="Arial"/>
                <a:ea typeface="Arial"/>
                <a:cs typeface="Arial"/>
              </a:rPr>
              <a:t>0,470 m</a:t>
            </a:r>
          </a:p>
        </p:txBody>
      </p:sp>
      <p:sp>
        <p:nvSpPr>
          <p:cNvPr id="2060" name="belt-width-left">
            <a:extLst>
              <a:ext uri="{FF2B5EF4-FFF2-40B4-BE49-F238E27FC236}">
                <a16:creationId xmlns:a16="http://schemas.microsoft.com/office/drawing/2014/main" id="{16E12CFC-E1B5-4090-BD3A-560426DB1392}"/>
              </a:ext>
            </a:extLst>
          </p:cNvPr>
          <p:cNvSpPr>
            <a:spLocks noGrp="1"/>
          </p:cNvSpPr>
          <p:nvPr/>
        </p:nvSpPr>
        <p:spPr>
          <a:xfrm>
            <a:off x="3143250" y="6057900"/>
            <a:ext cx="953" cy="200025"/>
          </a:xfrm>
          <a:custGeom>
            <a:avLst/>
            <a:gdLst/>
            <a:ahLst/>
            <a:cxnLst/>
            <a:rect l="0" t="0" r="0" b="0"/>
            <a:pathLst>
              <a:path w="953" h="200025">
                <a:moveTo>
                  <a:pt x="0" y="0"/>
                </a:moveTo>
                <a:lnTo>
                  <a:pt x="0" y="200025"/>
                </a:lnTo>
              </a:path>
            </a:pathLst>
          </a:custGeom>
          <a:noFill/>
          <a:ln w="9525">
            <a:solidFill>
              <a:srgbClr val="305B78"/>
            </a:solidFill>
            <a:prstDash val="solid"/>
          </a:ln>
        </p:spPr>
      </p:sp>
      <p:sp>
        <p:nvSpPr>
          <p:cNvPr id="2061" name="belt-width-right">
            <a:extLst>
              <a:ext uri="{FF2B5EF4-FFF2-40B4-BE49-F238E27FC236}">
                <a16:creationId xmlns:a16="http://schemas.microsoft.com/office/drawing/2014/main" id="{1B919153-F691-45EC-B6A8-CA9A708291E5}"/>
              </a:ext>
            </a:extLst>
          </p:cNvPr>
          <p:cNvSpPr>
            <a:spLocks noGrp="1"/>
          </p:cNvSpPr>
          <p:nvPr/>
        </p:nvSpPr>
        <p:spPr>
          <a:xfrm>
            <a:off x="5414963" y="6057900"/>
            <a:ext cx="953" cy="200025"/>
          </a:xfrm>
          <a:custGeom>
            <a:avLst/>
            <a:gdLst/>
            <a:ahLst/>
            <a:cxnLst/>
            <a:rect l="0" t="0" r="0" b="0"/>
            <a:pathLst>
              <a:path w="953" h="200025">
                <a:moveTo>
                  <a:pt x="0" y="0"/>
                </a:moveTo>
                <a:lnTo>
                  <a:pt x="0" y="200025"/>
                </a:lnTo>
              </a:path>
            </a:pathLst>
          </a:custGeom>
          <a:noFill/>
          <a:ln w="9525">
            <a:solidFill>
              <a:srgbClr val="305B78"/>
            </a:solidFill>
            <a:prstDash val="solid"/>
          </a:ln>
        </p:spPr>
      </p:sp>
      <p:sp>
        <p:nvSpPr>
          <p:cNvPr id="2062" name="belt-width-shaft">
            <a:extLst>
              <a:ext uri="{FF2B5EF4-FFF2-40B4-BE49-F238E27FC236}">
                <a16:creationId xmlns:a16="http://schemas.microsoft.com/office/drawing/2014/main" id="{14BB81E1-F583-448A-878E-8F957D6DF887}"/>
              </a:ext>
            </a:extLst>
          </p:cNvPr>
          <p:cNvSpPr>
            <a:spLocks noGrp="1"/>
          </p:cNvSpPr>
          <p:nvPr/>
        </p:nvSpPr>
        <p:spPr>
          <a:xfrm>
            <a:off x="3143250" y="6200775"/>
            <a:ext cx="2271713" cy="953"/>
          </a:xfrm>
          <a:custGeom>
            <a:avLst/>
            <a:gdLst/>
            <a:ahLst/>
            <a:cxnLst/>
            <a:rect l="0" t="0" r="0" b="0"/>
            <a:pathLst>
              <a:path w="2271713" h="953">
                <a:moveTo>
                  <a:pt x="0" y="0"/>
                </a:moveTo>
                <a:lnTo>
                  <a:pt x="2271713" y="0"/>
                </a:lnTo>
              </a:path>
            </a:pathLst>
          </a:custGeom>
          <a:noFill/>
          <a:ln w="11430">
            <a:solidFill>
              <a:srgbClr val="305B78"/>
            </a:solidFill>
            <a:prstDash val="solid"/>
          </a:ln>
        </p:spPr>
      </p:sp>
      <p:sp>
        <p:nvSpPr>
          <p:cNvPr id="2063" name="belt-width-tip">
            <a:extLst>
              <a:ext uri="{FF2B5EF4-FFF2-40B4-BE49-F238E27FC236}">
                <a16:creationId xmlns:a16="http://schemas.microsoft.com/office/drawing/2014/main" id="{B161421C-FBF6-4ED8-9A54-8E40B6E13D20}"/>
              </a:ext>
            </a:extLst>
          </p:cNvPr>
          <p:cNvSpPr>
            <a:spLocks noGrp="1"/>
          </p:cNvSpPr>
          <p:nvPr/>
        </p:nvSpPr>
        <p:spPr>
          <a:xfrm>
            <a:off x="5348288" y="6172771"/>
            <a:ext cx="66675" cy="56007"/>
          </a:xfrm>
          <a:custGeom>
            <a:avLst/>
            <a:gdLst/>
            <a:ahLst/>
            <a:cxnLst/>
            <a:rect l="0" t="0" r="0" b="0"/>
            <a:pathLst>
              <a:path w="66675" h="56007">
                <a:moveTo>
                  <a:pt x="66675" y="28004"/>
                </a:moveTo>
                <a:lnTo>
                  <a:pt x="0" y="56007"/>
                </a:lnTo>
                <a:lnTo>
                  <a:pt x="0" y="0"/>
                </a:lnTo>
                <a:close/>
              </a:path>
            </a:pathLst>
          </a:custGeom>
          <a:solidFill>
            <a:srgbClr val="305B78"/>
          </a:solidFill>
          <a:ln w="0">
            <a:noFill/>
          </a:ln>
        </p:spPr>
      </p:sp>
      <p:sp>
        <p:nvSpPr>
          <p:cNvPr id="2064" name="belt-width-start">
            <a:extLst>
              <a:ext uri="{FF2B5EF4-FFF2-40B4-BE49-F238E27FC236}">
                <a16:creationId xmlns:a16="http://schemas.microsoft.com/office/drawing/2014/main" id="{064573ED-B6C0-4464-9091-0EE573FE3B6B}"/>
              </a:ext>
            </a:extLst>
          </p:cNvPr>
          <p:cNvSpPr>
            <a:spLocks noGrp="1"/>
          </p:cNvSpPr>
          <p:nvPr/>
        </p:nvSpPr>
        <p:spPr>
          <a:xfrm>
            <a:off x="3143250" y="6172771"/>
            <a:ext cx="66675" cy="56007"/>
          </a:xfrm>
          <a:custGeom>
            <a:avLst/>
            <a:gdLst/>
            <a:ahLst/>
            <a:cxnLst/>
            <a:rect l="0" t="0" r="0" b="0"/>
            <a:pathLst>
              <a:path w="66675" h="56007">
                <a:moveTo>
                  <a:pt x="0" y="28004"/>
                </a:moveTo>
                <a:lnTo>
                  <a:pt x="66675" y="56007"/>
                </a:lnTo>
                <a:lnTo>
                  <a:pt x="66675" y="0"/>
                </a:lnTo>
                <a:close/>
              </a:path>
            </a:pathLst>
          </a:custGeom>
          <a:solidFill>
            <a:srgbClr val="305B78"/>
          </a:solidFill>
          <a:ln w="0">
            <a:noFill/>
          </a:ln>
        </p:spPr>
      </p:sp>
      <p:sp>
        <p:nvSpPr>
          <p:cNvPr id="2065" name="belt-width-label">
            <a:extLst>
              <a:ext uri="{FF2B5EF4-FFF2-40B4-BE49-F238E27FC236}">
                <a16:creationId xmlns:a16="http://schemas.microsoft.com/office/drawing/2014/main" id="{43E87D9A-957E-4DA7-940E-6ADEF6114021}"/>
              </a:ext>
            </a:extLst>
          </p:cNvPr>
          <p:cNvSpPr>
            <a:spLocks noGrp="1"/>
          </p:cNvSpPr>
          <p:nvPr/>
        </p:nvSpPr>
        <p:spPr>
          <a:xfrm>
            <a:off x="2952750" y="6334125"/>
            <a:ext cx="3143250" cy="266700"/>
          </a:xfrm>
          <a:prstGeom prst="rect">
            <a:avLst/>
          </a:prstGeom>
          <a:noFill/>
          <a:ln w="0">
            <a:noFill/>
          </a:ln>
        </p:spPr>
        <p:txBody>
          <a:bodyPr wrap="none" lIns="0" tIns="0" rIns="0" bIns="0" anchor="t">
            <a:noAutofit/>
          </a:bodyPr>
          <a:lstStyle/>
          <a:p>
            <a:pPr algn="l">
              <a:spcBef>
                <a:spcPts val="0"/>
              </a:spcBef>
              <a:spcAft>
                <a:spcPts val="0"/>
              </a:spcAft>
              <a:defRPr sz="1400" b="0">
                <a:solidFill>
                  <a:srgbClr val="4B5563"/>
                </a:solidFill>
                <a:latin typeface="Arial"/>
                <a:ea typeface="Arial"/>
                <a:cs typeface="Arial"/>
              </a:defRPr>
            </a:pPr>
            <a:r>
              <a:rPr sz="1400" b="0">
                <a:solidFill>
                  <a:srgbClr val="4B5563"/>
                </a:solidFill>
                <a:latin typeface="Arial"/>
                <a:ea typeface="Arial"/>
                <a:cs typeface="Arial"/>
              </a:rPr>
              <a:t>Bandbreite: ca. 0,80 m</a:t>
            </a:r>
          </a:p>
        </p:txBody>
      </p:sp>
      <p:sp>
        <p:nvSpPr>
          <p:cNvPr id="2066" name="zone-heading">
            <a:extLst>
              <a:ext uri="{FF2B5EF4-FFF2-40B4-BE49-F238E27FC236}">
                <a16:creationId xmlns:a16="http://schemas.microsoft.com/office/drawing/2014/main" id="{A5FEF373-9FD7-4A6C-8A46-E95802537177}"/>
              </a:ext>
            </a:extLst>
          </p:cNvPr>
          <p:cNvSpPr>
            <a:spLocks noGrp="1"/>
          </p:cNvSpPr>
          <p:nvPr/>
        </p:nvSpPr>
        <p:spPr>
          <a:xfrm>
            <a:off x="9048750" y="1819275"/>
            <a:ext cx="2809875" cy="304800"/>
          </a:xfrm>
          <a:prstGeom prst="rect">
            <a:avLst/>
          </a:prstGeom>
          <a:noFill/>
          <a:ln w="0">
            <a:noFill/>
          </a:ln>
        </p:spPr>
        <p:txBody>
          <a:bodyPr wrap="none" lIns="0" tIns="0" rIns="0" bIns="0" anchor="t">
            <a:noAutofit/>
          </a:bodyPr>
          <a:lstStyle/>
          <a:p>
            <a:pPr algn="l">
              <a:spcBef>
                <a:spcPts val="0"/>
              </a:spcBef>
              <a:spcAft>
                <a:spcPts val="0"/>
              </a:spcAft>
              <a:defRPr sz="1750" b="1">
                <a:solidFill>
                  <a:srgbClr val="1D70B8"/>
                </a:solidFill>
                <a:latin typeface="Arial"/>
                <a:ea typeface="Arial"/>
                <a:cs typeface="Arial"/>
              </a:defRPr>
            </a:pPr>
            <a:r>
              <a:rPr sz="1750" b="1">
                <a:solidFill>
                  <a:srgbClr val="1D70B8"/>
                </a:solidFill>
                <a:latin typeface="Arial"/>
                <a:ea typeface="Arial"/>
                <a:cs typeface="Arial"/>
              </a:rPr>
              <a:t>Greifzone</a:t>
            </a:r>
          </a:p>
        </p:txBody>
      </p:sp>
      <p:sp>
        <p:nvSpPr>
          <p:cNvPr id="2067" name="zone-coordinates">
            <a:extLst>
              <a:ext uri="{FF2B5EF4-FFF2-40B4-BE49-F238E27FC236}">
                <a16:creationId xmlns:a16="http://schemas.microsoft.com/office/drawing/2014/main" id="{45270204-9028-45B3-91B6-E87D773A2176}"/>
              </a:ext>
            </a:extLst>
          </p:cNvPr>
          <p:cNvSpPr>
            <a:spLocks noGrp="1"/>
          </p:cNvSpPr>
          <p:nvPr/>
        </p:nvSpPr>
        <p:spPr>
          <a:xfrm>
            <a:off x="9048750" y="2219325"/>
            <a:ext cx="2809875" cy="647700"/>
          </a:xfrm>
          <a:prstGeom prst="rect">
            <a:avLst/>
          </a:prstGeom>
          <a:noFill/>
          <a:ln w="0">
            <a:noFill/>
          </a:ln>
        </p:spPr>
        <p:txBody>
          <a:bodyPr wrap="none" lIns="0" tIns="0" rIns="0" bIns="0" anchor="t">
            <a:noAutofit/>
          </a:bodyPr>
          <a:lstStyle/>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x = −1,000 bis −0,530 m</a:t>
            </a:r>
          </a:p>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y = −0,320 bis +0,445 m</a:t>
            </a:r>
          </a:p>
        </p:txBody>
      </p:sp>
      <p:sp>
        <p:nvSpPr>
          <p:cNvPr id="2068" name="wait-heading">
            <a:extLst>
              <a:ext uri="{FF2B5EF4-FFF2-40B4-BE49-F238E27FC236}">
                <a16:creationId xmlns:a16="http://schemas.microsoft.com/office/drawing/2014/main" id="{A6E5FB6A-4198-403F-A9EE-4EAC41318095}"/>
              </a:ext>
            </a:extLst>
          </p:cNvPr>
          <p:cNvSpPr>
            <a:spLocks noGrp="1"/>
          </p:cNvSpPr>
          <p:nvPr/>
        </p:nvSpPr>
        <p:spPr>
          <a:xfrm>
            <a:off x="9048750" y="3314700"/>
            <a:ext cx="2809875" cy="304800"/>
          </a:xfrm>
          <a:prstGeom prst="rect">
            <a:avLst/>
          </a:prstGeom>
          <a:noFill/>
          <a:ln w="0">
            <a:noFill/>
          </a:ln>
        </p:spPr>
        <p:txBody>
          <a:bodyPr wrap="none" lIns="0" tIns="0" rIns="0" bIns="0" anchor="t">
            <a:noAutofit/>
          </a:bodyPr>
          <a:lstStyle/>
          <a:p>
            <a:pPr algn="l">
              <a:spcBef>
                <a:spcPts val="0"/>
              </a:spcBef>
              <a:spcAft>
                <a:spcPts val="0"/>
              </a:spcAft>
              <a:defRPr sz="1750" b="1">
                <a:solidFill>
                  <a:srgbClr val="1D70B8"/>
                </a:solidFill>
                <a:latin typeface="Arial"/>
                <a:ea typeface="Arial"/>
                <a:cs typeface="Arial"/>
              </a:defRPr>
            </a:pPr>
            <a:r>
              <a:rPr sz="1750" b="1">
                <a:solidFill>
                  <a:srgbClr val="1D70B8"/>
                </a:solidFill>
                <a:latin typeface="Arial"/>
                <a:ea typeface="Arial"/>
                <a:cs typeface="Arial"/>
              </a:rPr>
              <a:t>W  Warteposition</a:t>
            </a:r>
          </a:p>
        </p:txBody>
      </p:sp>
      <p:sp>
        <p:nvSpPr>
          <p:cNvPr id="2069" name="wait-coordinates">
            <a:extLst>
              <a:ext uri="{FF2B5EF4-FFF2-40B4-BE49-F238E27FC236}">
                <a16:creationId xmlns:a16="http://schemas.microsoft.com/office/drawing/2014/main" id="{36EFB695-535C-462D-99A3-3CAAA149730D}"/>
              </a:ext>
            </a:extLst>
          </p:cNvPr>
          <p:cNvSpPr>
            <a:spLocks noGrp="1"/>
          </p:cNvSpPr>
          <p:nvPr/>
        </p:nvSpPr>
        <p:spPr>
          <a:xfrm>
            <a:off x="9048750" y="3705225"/>
            <a:ext cx="2809875" cy="866775"/>
          </a:xfrm>
          <a:prstGeom prst="rect">
            <a:avLst/>
          </a:prstGeom>
          <a:noFill/>
          <a:ln w="0">
            <a:noFill/>
          </a:ln>
        </p:spPr>
        <p:txBody>
          <a:bodyPr wrap="none" lIns="0" tIns="0" rIns="0" bIns="0" anchor="t">
            <a:noAutofit/>
          </a:bodyPr>
          <a:lstStyle/>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x = −0,816 m</a:t>
            </a:r>
          </a:p>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y = +0,350 m</a:t>
            </a:r>
          </a:p>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z = +0,450 m</a:t>
            </a:r>
          </a:p>
        </p:txBody>
      </p:sp>
      <p:sp>
        <p:nvSpPr>
          <p:cNvPr id="2070" name="place-heading">
            <a:extLst>
              <a:ext uri="{FF2B5EF4-FFF2-40B4-BE49-F238E27FC236}">
                <a16:creationId xmlns:a16="http://schemas.microsoft.com/office/drawing/2014/main" id="{C6FC9519-353B-4A3F-84DB-046141AC6B4C}"/>
              </a:ext>
            </a:extLst>
          </p:cNvPr>
          <p:cNvSpPr>
            <a:spLocks noGrp="1"/>
          </p:cNvSpPr>
          <p:nvPr/>
        </p:nvSpPr>
        <p:spPr>
          <a:xfrm>
            <a:off x="9048750" y="4857750"/>
            <a:ext cx="2809875" cy="304800"/>
          </a:xfrm>
          <a:prstGeom prst="rect">
            <a:avLst/>
          </a:prstGeom>
          <a:noFill/>
          <a:ln w="0">
            <a:noFill/>
          </a:ln>
        </p:spPr>
        <p:txBody>
          <a:bodyPr wrap="none" lIns="0" tIns="0" rIns="0" bIns="0" anchor="t">
            <a:noAutofit/>
          </a:bodyPr>
          <a:lstStyle/>
          <a:p>
            <a:pPr algn="l">
              <a:spcBef>
                <a:spcPts val="0"/>
              </a:spcBef>
              <a:spcAft>
                <a:spcPts val="0"/>
              </a:spcAft>
              <a:defRPr sz="1750" b="1">
                <a:solidFill>
                  <a:srgbClr val="9B6622"/>
                </a:solidFill>
                <a:latin typeface="Arial"/>
                <a:ea typeface="Arial"/>
                <a:cs typeface="Arial"/>
              </a:defRPr>
            </a:pPr>
            <a:r>
              <a:rPr sz="1750" b="1">
                <a:solidFill>
                  <a:srgbClr val="9B6622"/>
                </a:solidFill>
                <a:latin typeface="Arial"/>
                <a:ea typeface="Arial"/>
                <a:cs typeface="Arial"/>
              </a:rPr>
              <a:t>A  Ablageposition</a:t>
            </a:r>
          </a:p>
        </p:txBody>
      </p:sp>
      <p:sp>
        <p:nvSpPr>
          <p:cNvPr id="2071" name="place-coordinates">
            <a:extLst>
              <a:ext uri="{FF2B5EF4-FFF2-40B4-BE49-F238E27FC236}">
                <a16:creationId xmlns:a16="http://schemas.microsoft.com/office/drawing/2014/main" id="{095B3130-7042-4D02-AEC5-15C038A78C26}"/>
              </a:ext>
            </a:extLst>
          </p:cNvPr>
          <p:cNvSpPr>
            <a:spLocks noGrp="1"/>
          </p:cNvSpPr>
          <p:nvPr/>
        </p:nvSpPr>
        <p:spPr>
          <a:xfrm>
            <a:off x="9048750" y="5248275"/>
            <a:ext cx="2809875" cy="866775"/>
          </a:xfrm>
          <a:prstGeom prst="rect">
            <a:avLst/>
          </a:prstGeom>
          <a:noFill/>
          <a:ln w="0">
            <a:noFill/>
          </a:ln>
        </p:spPr>
        <p:txBody>
          <a:bodyPr wrap="none" lIns="0" tIns="0" rIns="0" bIns="0" anchor="t">
            <a:noAutofit/>
          </a:bodyPr>
          <a:lstStyle/>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x = −0,316 m</a:t>
            </a:r>
          </a:p>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y = +0,476 m</a:t>
            </a:r>
          </a:p>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z = +0,420 m</a:t>
            </a:r>
          </a:p>
        </p:txBody>
      </p:sp>
      <p:sp>
        <p:nvSpPr>
          <p:cNvPr id="2072" name="geometry-scope">
            <a:extLst>
              <a:ext uri="{FF2B5EF4-FFF2-40B4-BE49-F238E27FC236}">
                <a16:creationId xmlns:a16="http://schemas.microsoft.com/office/drawing/2014/main" id="{ADA41636-F64B-4C2E-BC73-EDA4E277488B}"/>
              </a:ext>
            </a:extLst>
          </p:cNvPr>
          <p:cNvSpPr>
            <a:spLocks noGrp="1"/>
          </p:cNvSpPr>
          <p:nvPr/>
        </p:nvSpPr>
        <p:spPr>
          <a:xfrm>
            <a:off x="609600" y="6648450"/>
            <a:ext cx="11049000" cy="209550"/>
          </a:xfrm>
          <a:prstGeom prst="rect">
            <a:avLst/>
          </a:prstGeom>
          <a:noFill/>
          <a:ln w="0">
            <a:noFill/>
          </a:ln>
        </p:spPr>
        <p:txBody>
          <a:bodyPr wrap="none" lIns="0" tIns="0" rIns="0" bIns="0" anchor="t">
            <a:noAutofit/>
          </a:bodyPr>
          <a:lstStyle/>
          <a:p>
            <a:pPr algn="l">
              <a:spcBef>
                <a:spcPts val="0"/>
              </a:spcBef>
              <a:spcAft>
                <a:spcPts val="0"/>
              </a:spcAft>
              <a:defRPr sz="1050" b="0">
                <a:solidFill>
                  <a:srgbClr val="4B5563"/>
                </a:solidFill>
                <a:latin typeface="Arial"/>
                <a:ea typeface="Arial"/>
                <a:cs typeface="Arial"/>
              </a:defRPr>
            </a:pPr>
            <a:r>
              <a:rPr sz="1050" b="0">
                <a:solidFill>
                  <a:srgbClr val="4B5563"/>
                </a:solidFill>
                <a:latin typeface="Arial"/>
                <a:ea typeface="Arial"/>
                <a:cs typeface="Arial"/>
              </a:rPr>
              <a:t>Band und Greifzone maßstäblich. Roboter und Kiste schematisch. Positionshöhen beziehen sich auf den Flansch.</a:t>
            </a:r>
          </a:p>
        </p:txBody>
      </p:sp>
      <p:sp>
        <p:nvSpPr>
          <p:cNvPr id="2" name="Rechteck 1">
            <a:extLst>
              <a:ext uri="{FF2B5EF4-FFF2-40B4-BE49-F238E27FC236}">
                <a16:creationId xmlns:a16="http://schemas.microsoft.com/office/drawing/2014/main" id="{D520012F-42E0-4875-86F1-0CB0A5068B79}"/>
              </a:ext>
            </a:extLst>
          </p:cNvPr>
          <p:cNvSpPr>
            <a:spLocks noGrp="1"/>
          </p:cNvSpPr>
          <p:nvPr/>
        </p:nvSpPr>
        <p:spPr>
          <a:xfrm>
            <a:off x="609600" y="876300"/>
            <a:ext cx="10668000" cy="266700"/>
          </a:xfrm>
          <a:prstGeom prst="rect">
            <a:avLst/>
          </a:prstGeom>
          <a:noFill/>
          <a:ln w="0">
            <a:noFill/>
          </a:ln>
        </p:spPr>
        <p:txBody>
          <a:bodyPr>
            <a:normAutofit fontScale="97696" lnSpcReduction="10000"/>
          </a:bodyPr>
          <a:lstStyle/>
          <a:p>
            <a:pPr algn="l">
              <a:defRPr sz="1275" b="0">
                <a:solidFill>
                  <a:srgbClr val="4B5563"/>
                </a:solidFill>
                <a:latin typeface="Arial"/>
                <a:ea typeface="Arial"/>
                <a:cs typeface="Arial"/>
              </a:defRPr>
            </a:pPr>
            <a:r>
              <a:rPr sz="1275" b="0" dirty="0" err="1">
                <a:solidFill>
                  <a:srgbClr val="4B5563"/>
                </a:solidFill>
                <a:latin typeface="Arial"/>
                <a:ea typeface="Arial"/>
                <a:cs typeface="Arial"/>
              </a:rPr>
              <a:t>Globale</a:t>
            </a:r>
            <a:r>
              <a:rPr sz="1275" b="0" dirty="0">
                <a:solidFill>
                  <a:srgbClr val="4B5563"/>
                </a:solidFill>
                <a:latin typeface="Arial"/>
                <a:ea typeface="Arial"/>
                <a:cs typeface="Arial"/>
              </a:rPr>
              <a:t> </a:t>
            </a:r>
            <a:r>
              <a:rPr sz="1275" b="0" dirty="0" err="1">
                <a:solidFill>
                  <a:srgbClr val="4B5563"/>
                </a:solidFill>
                <a:latin typeface="Arial"/>
                <a:ea typeface="Arial"/>
                <a:cs typeface="Arial"/>
              </a:rPr>
              <a:t>Koordinaten</a:t>
            </a:r>
            <a:r>
              <a:rPr sz="1275" b="0" dirty="0">
                <a:solidFill>
                  <a:srgbClr val="4B5563"/>
                </a:solidFill>
                <a:latin typeface="Arial"/>
                <a:ea typeface="Arial"/>
                <a:cs typeface="Arial"/>
              </a:rPr>
              <a:t> </a:t>
            </a:r>
            <a:r>
              <a:rPr sz="1275" b="0" dirty="0" err="1">
                <a:solidFill>
                  <a:srgbClr val="4B5563"/>
                </a:solidFill>
                <a:latin typeface="Arial"/>
                <a:ea typeface="Arial"/>
                <a:cs typeface="Arial"/>
              </a:rPr>
              <a:t>im</a:t>
            </a:r>
            <a:r>
              <a:rPr sz="1275" b="0" dirty="0">
                <a:solidFill>
                  <a:srgbClr val="4B5563"/>
                </a:solidFill>
                <a:latin typeface="Arial"/>
                <a:ea typeface="Arial"/>
                <a:cs typeface="Arial"/>
              </a:rPr>
              <a:t> </a:t>
            </a:r>
            <a:r>
              <a:rPr sz="1275" b="0" dirty="0" err="1">
                <a:solidFill>
                  <a:srgbClr val="4B5563"/>
                </a:solidFill>
                <a:latin typeface="Arial"/>
                <a:ea typeface="Arial"/>
                <a:cs typeface="Arial"/>
              </a:rPr>
              <a:t>Bezugssystem</a:t>
            </a:r>
            <a:r>
              <a:rPr sz="1275" b="0" dirty="0">
                <a:solidFill>
                  <a:srgbClr val="4B5563"/>
                </a:solidFill>
                <a:latin typeface="Arial"/>
                <a:ea typeface="Arial"/>
                <a:cs typeface="Arial"/>
              </a:rPr>
              <a:t> world</a:t>
            </a:r>
          </a:p>
        </p:txBody>
      </p:sp>
      <p:sp>
        <p:nvSpPr>
          <p:cNvPr id="4" name="slide-title">
            <a:extLst>
              <a:ext uri="{FF2B5EF4-FFF2-40B4-BE49-F238E27FC236}">
                <a16:creationId xmlns:a16="http://schemas.microsoft.com/office/drawing/2014/main" id="{F4CC5974-EA65-7511-08E8-36F581F89310}"/>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lang="de-DE" sz="3200" b="0" dirty="0">
                <a:solidFill>
                  <a:srgbClr val="2869AF"/>
                </a:solidFill>
                <a:latin typeface="Calibri"/>
                <a:ea typeface="Calibri"/>
                <a:cs typeface="Calibri"/>
              </a:rPr>
              <a:t>Draufsicht des </a:t>
            </a:r>
            <a:r>
              <a:rPr sz="3200" b="0" dirty="0" err="1">
                <a:solidFill>
                  <a:srgbClr val="2869AF"/>
                </a:solidFill>
                <a:latin typeface="Calibri"/>
                <a:ea typeface="Calibri"/>
                <a:cs typeface="Calibri"/>
              </a:rPr>
              <a:t>Versuchsaufbau</a:t>
            </a:r>
            <a:r>
              <a:rPr lang="de-DE" sz="3200" b="0" dirty="0">
                <a:solidFill>
                  <a:srgbClr val="2869AF"/>
                </a:solidFill>
                <a:latin typeface="Calibri"/>
                <a:ea typeface="Calibri"/>
                <a:cs typeface="Calibri"/>
              </a:rPr>
              <a:t>s </a:t>
            </a:r>
            <a:endParaRPr sz="3200" b="0" dirty="0">
              <a:solidFill>
                <a:srgbClr val="2869AF"/>
              </a:solidFill>
              <a:latin typeface="Calibri"/>
              <a:ea typeface="Calibri"/>
              <a:cs typeface="Calibri"/>
            </a:endParaRPr>
          </a:p>
        </p:txBody>
      </p:sp>
    </p:spTree>
    <p:extLst>
      <p:ext uri="{BB962C8B-B14F-4D97-AF65-F5344CB8AC3E}">
        <p14:creationId xmlns:p14="http://schemas.microsoft.com/office/powerpoint/2010/main" val="1021586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 name="slide-title">
            <a:extLst>
              <a:ext uri="{FF2B5EF4-FFF2-40B4-BE49-F238E27FC236}">
                <a16:creationId xmlns:a16="http://schemas.microsoft.com/office/drawing/2014/main" id="{D007A893-B6A3-42C6-83B5-8E7BF7FBAFC7}"/>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dirty="0" err="1">
                <a:solidFill>
                  <a:srgbClr val="2869AF"/>
                </a:solidFill>
                <a:latin typeface="Calibri"/>
                <a:ea typeface="Calibri"/>
                <a:cs typeface="Calibri"/>
              </a:rPr>
              <a:t>Kalibrierung</a:t>
            </a:r>
            <a:r>
              <a:rPr sz="3200" b="0" dirty="0">
                <a:solidFill>
                  <a:srgbClr val="2869AF"/>
                </a:solidFill>
                <a:latin typeface="Calibri"/>
                <a:ea typeface="Calibri"/>
                <a:cs typeface="Calibri"/>
              </a:rPr>
              <a:t> </a:t>
            </a:r>
            <a:r>
              <a:rPr sz="3200" b="0" dirty="0" err="1">
                <a:solidFill>
                  <a:srgbClr val="2869AF"/>
                </a:solidFill>
                <a:latin typeface="Calibri"/>
                <a:ea typeface="Calibri"/>
                <a:cs typeface="Calibri"/>
              </a:rPr>
              <a:t>mit</a:t>
            </a:r>
            <a:r>
              <a:rPr sz="3200" b="0" dirty="0">
                <a:solidFill>
                  <a:srgbClr val="2869AF"/>
                </a:solidFill>
                <a:latin typeface="Calibri"/>
                <a:ea typeface="Calibri"/>
                <a:cs typeface="Calibri"/>
              </a:rPr>
              <a:t> der </a:t>
            </a:r>
            <a:r>
              <a:rPr sz="3200" b="0" dirty="0" err="1">
                <a:solidFill>
                  <a:srgbClr val="2869AF"/>
                </a:solidFill>
                <a:latin typeface="Calibri"/>
                <a:ea typeface="Calibri"/>
                <a:cs typeface="Calibri"/>
              </a:rPr>
              <a:t>Roboterkamera</a:t>
            </a:r>
            <a:endParaRPr sz="3200" b="0" dirty="0">
              <a:solidFill>
                <a:srgbClr val="2869AF"/>
              </a:solidFill>
              <a:latin typeface="Calibri"/>
              <a:ea typeface="Calibri"/>
              <a:cs typeface="Calibri"/>
            </a:endParaRPr>
          </a:p>
        </p:txBody>
      </p:sp>
      <p:pic>
        <p:nvPicPr>
          <p:cNvPr id="1011" name="Grafik 1010"/>
          <p:cNvPicPr>
            <a:picLocks noChangeAspect="1"/>
          </p:cNvPicPr>
          <p:nvPr/>
        </p:nvPicPr>
        <p:blipFill>
          <a:blip r:embed="rId3"/>
          <a:stretch/>
        </p:blipFill>
        <p:spPr>
          <a:xfrm>
            <a:off x="474266" y="1238250"/>
            <a:ext cx="7338219" cy="4095750"/>
          </a:xfrm>
          <a:prstGeom prst="rect">
            <a:avLst/>
          </a:prstGeom>
        </p:spPr>
      </p:pic>
      <p:sp>
        <p:nvSpPr>
          <p:cNvPr id="1003" name="eye-label">
            <a:extLst>
              <a:ext uri="{FF2B5EF4-FFF2-40B4-BE49-F238E27FC236}">
                <a16:creationId xmlns:a16="http://schemas.microsoft.com/office/drawing/2014/main" id="{86607CE0-CAA9-4B6E-BB53-DD018735FD94}"/>
              </a:ext>
            </a:extLst>
          </p:cNvPr>
          <p:cNvSpPr>
            <a:spLocks noGrp="1"/>
          </p:cNvSpPr>
          <p:nvPr/>
        </p:nvSpPr>
        <p:spPr>
          <a:xfrm>
            <a:off x="8239125" y="1390650"/>
            <a:ext cx="2857500" cy="3810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1">
                <a:solidFill>
                  <a:srgbClr val="2869AF"/>
                </a:solidFill>
                <a:latin typeface="Calibri"/>
                <a:ea typeface="Calibri"/>
                <a:cs typeface="Calibri"/>
              </a:defRPr>
            </a:pPr>
            <a:r>
              <a:rPr sz="2400" b="1">
                <a:solidFill>
                  <a:srgbClr val="2869AF"/>
                </a:solidFill>
                <a:latin typeface="Calibri"/>
                <a:ea typeface="Calibri"/>
                <a:cs typeface="Calibri"/>
              </a:rPr>
              <a:t>Eye-in-Hand</a:t>
            </a:r>
          </a:p>
        </p:txBody>
      </p:sp>
      <p:sp>
        <p:nvSpPr>
          <p:cNvPr id="1004" name="eye-points-0">
            <a:extLst>
              <a:ext uri="{FF2B5EF4-FFF2-40B4-BE49-F238E27FC236}">
                <a16:creationId xmlns:a16="http://schemas.microsoft.com/office/drawing/2014/main" id="{CFBDC452-129E-4A91-A9CC-A5E4E2026C42}"/>
              </a:ext>
            </a:extLst>
          </p:cNvPr>
          <p:cNvSpPr>
            <a:spLocks noGrp="1"/>
          </p:cNvSpPr>
          <p:nvPr/>
        </p:nvSpPr>
        <p:spPr>
          <a:xfrm>
            <a:off x="8239125" y="198120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t>Kamera am Flansch</a:t>
            </a:r>
          </a:p>
        </p:txBody>
      </p:sp>
      <p:sp>
        <p:nvSpPr>
          <p:cNvPr id="1005" name="eye-points-1">
            <a:extLst>
              <a:ext uri="{FF2B5EF4-FFF2-40B4-BE49-F238E27FC236}">
                <a16:creationId xmlns:a16="http://schemas.microsoft.com/office/drawing/2014/main" id="{7A01877D-BBEA-4CA2-A5EB-D8DB8FC4B9EA}"/>
              </a:ext>
            </a:extLst>
          </p:cNvPr>
          <p:cNvSpPr>
            <a:spLocks noGrp="1"/>
          </p:cNvSpPr>
          <p:nvPr/>
        </p:nvSpPr>
        <p:spPr>
          <a:xfrm>
            <a:off x="8239125" y="249555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t>ChArUco-Board ortsfest</a:t>
            </a:r>
          </a:p>
        </p:txBody>
      </p:sp>
      <p:sp>
        <p:nvSpPr>
          <p:cNvPr id="1006" name="eye-points-2">
            <a:extLst>
              <a:ext uri="{FF2B5EF4-FFF2-40B4-BE49-F238E27FC236}">
                <a16:creationId xmlns:a16="http://schemas.microsoft.com/office/drawing/2014/main" id="{02AE70C4-3EAB-49B9-ACFA-97EF517BB9DB}"/>
              </a:ext>
            </a:extLst>
          </p:cNvPr>
          <p:cNvSpPr>
            <a:spLocks noGrp="1"/>
          </p:cNvSpPr>
          <p:nvPr/>
        </p:nvSpPr>
        <p:spPr>
          <a:xfrm>
            <a:off x="8239125" y="300990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rPr dirty="0"/>
              <a:t>9 </a:t>
            </a:r>
            <a:r>
              <a:rPr dirty="0" err="1"/>
              <a:t>Wegpunkte</a:t>
            </a:r>
            <a:r>
              <a:rPr lang="de-DE" dirty="0"/>
              <a:t> (einstellbar)</a:t>
            </a:r>
            <a:endParaRPr dirty="0"/>
          </a:p>
        </p:txBody>
      </p:sp>
      <p:sp>
        <p:nvSpPr>
          <p:cNvPr id="1007" name="eye-points-3">
            <a:extLst>
              <a:ext uri="{FF2B5EF4-FFF2-40B4-BE49-F238E27FC236}">
                <a16:creationId xmlns:a16="http://schemas.microsoft.com/office/drawing/2014/main" id="{C0558A57-5817-45E8-9A07-99CAD3A23CB5}"/>
              </a:ext>
            </a:extLst>
          </p:cNvPr>
          <p:cNvSpPr>
            <a:spLocks noGrp="1"/>
          </p:cNvSpPr>
          <p:nvPr/>
        </p:nvSpPr>
        <p:spPr>
          <a:xfrm>
            <a:off x="8239125" y="3524250"/>
            <a:ext cx="2952750" cy="514350"/>
          </a:xfrm>
          <a:prstGeom prst="rect">
            <a:avLst/>
          </a:prstGeom>
          <a:noFill/>
          <a:ln w="0">
            <a:noFill/>
          </a:ln>
        </p:spPr>
        <p:txBody>
          <a:bodyPr wrap="square" lIns="0" tIns="0" rIns="0" bIns="0" anchor="t">
            <a:noAutofit/>
          </a:bodyPr>
          <a:lstStyle/>
          <a:p>
            <a:pPr marL="304800" indent="-177800">
              <a:buChar char="•"/>
              <a:defRPr sz="1900" b="0">
                <a:solidFill>
                  <a:srgbClr val="17232E"/>
                </a:solidFill>
                <a:latin typeface="Calibri"/>
                <a:ea typeface="Calibri"/>
                <a:cs typeface="Calibri"/>
              </a:defRPr>
            </a:pPr>
            <a:r>
              <a:rPr dirty="0"/>
              <a:t>Radius 50 mm</a:t>
            </a:r>
            <a:r>
              <a:rPr lang="de-DE" dirty="0"/>
              <a:t> (einstellbar)</a:t>
            </a:r>
            <a:endParaRPr dirty="0"/>
          </a:p>
        </p:txBody>
      </p:sp>
      <p:sp>
        <p:nvSpPr>
          <p:cNvPr id="1008" name="eye-status">
            <a:extLst>
              <a:ext uri="{FF2B5EF4-FFF2-40B4-BE49-F238E27FC236}">
                <a16:creationId xmlns:a16="http://schemas.microsoft.com/office/drawing/2014/main" id="{A8F086D0-71A6-410A-A54D-6FE62C3F6729}"/>
              </a:ext>
            </a:extLst>
          </p:cNvPr>
          <p:cNvSpPr>
            <a:spLocks noGrp="1"/>
          </p:cNvSpPr>
          <p:nvPr/>
        </p:nvSpPr>
        <p:spPr>
          <a:xfrm>
            <a:off x="8239125" y="4743450"/>
            <a:ext cx="2857500" cy="714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Eigenständige</a:t>
            </a:r>
          </a:p>
          <a:p>
            <a:pPr algn="l">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Kalibrieranwendung</a:t>
            </a:r>
          </a:p>
        </p:txBody>
      </p:sp>
      <p:sp>
        <p:nvSpPr>
          <p:cNvPr id="1009" name="caption-4">
            <a:extLst>
              <a:ext uri="{FF2B5EF4-FFF2-40B4-BE49-F238E27FC236}">
                <a16:creationId xmlns:a16="http://schemas.microsoft.com/office/drawing/2014/main" id="{3A06F77F-D7E6-4E6C-BE2E-0157D1A876A8}"/>
              </a:ext>
            </a:extLst>
          </p:cNvPr>
          <p:cNvSpPr>
            <a:spLocks noGrp="1"/>
          </p:cNvSpPr>
          <p:nvPr/>
        </p:nvSpPr>
        <p:spPr>
          <a:xfrm>
            <a:off x="333375" y="54387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dirty="0">
                <a:solidFill>
                  <a:srgbClr val="61707D"/>
                </a:solidFill>
                <a:latin typeface="Calibri"/>
                <a:ea typeface="Calibri"/>
                <a:cs typeface="Calibri"/>
              </a:rPr>
              <a:t>Orbit-</a:t>
            </a:r>
            <a:r>
              <a:rPr sz="1200" b="0" dirty="0" err="1">
                <a:solidFill>
                  <a:srgbClr val="61707D"/>
                </a:solidFill>
                <a:latin typeface="Calibri"/>
                <a:ea typeface="Calibri"/>
                <a:cs typeface="Calibri"/>
              </a:rPr>
              <a:t>Trajektorie</a:t>
            </a:r>
            <a:r>
              <a:rPr lang="de-DE" sz="1200" b="0" dirty="0">
                <a:solidFill>
                  <a:srgbClr val="61707D"/>
                </a:solidFill>
                <a:latin typeface="Calibri"/>
                <a:ea typeface="Calibri"/>
                <a:cs typeface="Calibri"/>
              </a:rPr>
              <a:t>;</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schematisch</a:t>
            </a:r>
            <a:r>
              <a:rPr sz="1200" b="0" dirty="0">
                <a:solidFill>
                  <a:srgbClr val="61707D"/>
                </a:solidFill>
                <a:latin typeface="Calibri"/>
                <a:ea typeface="Calibri"/>
                <a:cs typeface="Calibri"/>
              </a:rPr>
              <a:t> (KI-</a:t>
            </a:r>
            <a:r>
              <a:rPr sz="1200" b="0" dirty="0" err="1">
                <a:solidFill>
                  <a:srgbClr val="61707D"/>
                </a:solidFill>
                <a:latin typeface="Calibri"/>
                <a:ea typeface="Calibri"/>
                <a:cs typeface="Calibri"/>
              </a:rPr>
              <a:t>generierte</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Darstellung</a:t>
            </a:r>
            <a:r>
              <a:rPr sz="1200" b="0" dirty="0">
                <a:solidFill>
                  <a:srgbClr val="61707D"/>
                </a:solidFill>
                <a:latin typeface="Calibri"/>
                <a:ea typeface="Calibri"/>
                <a:cs typeface="Calibri"/>
              </a:rPr>
              <a:t>)</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09.10.2026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5</a:t>
            </a:fld>
            <a:endParaRPr lang="de-DE"/>
          </a:p>
        </p:txBody>
      </p:sp>
    </p:spTree>
    <p:extLst>
      <p:ext uri="{BB962C8B-B14F-4D97-AF65-F5344CB8AC3E}">
        <p14:creationId xmlns:p14="http://schemas.microsoft.com/office/powerpoint/2010/main" val="217278285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 name="slide-title">
            <a:extLst>
              <a:ext uri="{FF2B5EF4-FFF2-40B4-BE49-F238E27FC236}">
                <a16:creationId xmlns:a16="http://schemas.microsoft.com/office/drawing/2014/main" id="{C40DF51C-6EBA-4B4B-BFFA-81E5AF198577}"/>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dirty="0" err="1">
                <a:solidFill>
                  <a:srgbClr val="2869AF"/>
                </a:solidFill>
                <a:latin typeface="Calibri"/>
                <a:ea typeface="Calibri"/>
                <a:cs typeface="Calibri"/>
              </a:rPr>
              <a:t>Kalibrierung</a:t>
            </a:r>
            <a:r>
              <a:rPr sz="3200" b="0" dirty="0">
                <a:solidFill>
                  <a:srgbClr val="2869AF"/>
                </a:solidFill>
                <a:latin typeface="Calibri"/>
                <a:ea typeface="Calibri"/>
                <a:cs typeface="Calibri"/>
              </a:rPr>
              <a:t> </a:t>
            </a:r>
            <a:r>
              <a:rPr lang="de-DE" sz="3200" b="0" dirty="0">
                <a:solidFill>
                  <a:srgbClr val="2869AF"/>
                </a:solidFill>
                <a:latin typeface="Calibri"/>
                <a:ea typeface="Calibri"/>
                <a:cs typeface="Calibri"/>
              </a:rPr>
              <a:t>mit </a:t>
            </a:r>
            <a:r>
              <a:rPr sz="3200" b="0" dirty="0">
                <a:solidFill>
                  <a:srgbClr val="2869AF"/>
                </a:solidFill>
                <a:latin typeface="Calibri"/>
                <a:ea typeface="Calibri"/>
                <a:cs typeface="Calibri"/>
              </a:rPr>
              <a:t>der Basiskamera</a:t>
            </a:r>
          </a:p>
        </p:txBody>
      </p:sp>
      <p:pic>
        <p:nvPicPr>
          <p:cNvPr id="1011" name="Grafik 1010"/>
          <p:cNvPicPr>
            <a:picLocks noChangeAspect="1"/>
          </p:cNvPicPr>
          <p:nvPr/>
        </p:nvPicPr>
        <p:blipFill>
          <a:blip r:embed="rId3"/>
          <a:stretch/>
        </p:blipFill>
        <p:spPr>
          <a:xfrm>
            <a:off x="333375" y="1305223"/>
            <a:ext cx="6619875" cy="3723680"/>
          </a:xfrm>
          <a:prstGeom prst="rect">
            <a:avLst/>
          </a:prstGeom>
        </p:spPr>
      </p:pic>
      <p:sp>
        <p:nvSpPr>
          <p:cNvPr id="1003" name="basecal-heading">
            <a:extLst>
              <a:ext uri="{FF2B5EF4-FFF2-40B4-BE49-F238E27FC236}">
                <a16:creationId xmlns:a16="http://schemas.microsoft.com/office/drawing/2014/main" id="{8AA161C8-5B09-483E-A440-67C1066E21D0}"/>
              </a:ext>
            </a:extLst>
          </p:cNvPr>
          <p:cNvSpPr>
            <a:spLocks noGrp="1"/>
          </p:cNvSpPr>
          <p:nvPr/>
        </p:nvSpPr>
        <p:spPr>
          <a:xfrm>
            <a:off x="7334250" y="1381125"/>
            <a:ext cx="3905250"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1">
                <a:solidFill>
                  <a:srgbClr val="2869AF"/>
                </a:solidFill>
                <a:latin typeface="Calibri"/>
                <a:ea typeface="Calibri"/>
                <a:cs typeface="Calibri"/>
              </a:defRPr>
            </a:pPr>
            <a:r>
              <a:rPr sz="2400" b="1">
                <a:solidFill>
                  <a:srgbClr val="2869AF"/>
                </a:solidFill>
                <a:latin typeface="Calibri"/>
                <a:ea typeface="Calibri"/>
                <a:cs typeface="Calibri"/>
              </a:rPr>
              <a:t>AprilGrid im Greifer</a:t>
            </a:r>
          </a:p>
        </p:txBody>
      </p:sp>
      <p:sp>
        <p:nvSpPr>
          <p:cNvPr id="1004" name="basecal-poses">
            <a:extLst>
              <a:ext uri="{FF2B5EF4-FFF2-40B4-BE49-F238E27FC236}">
                <a16:creationId xmlns:a16="http://schemas.microsoft.com/office/drawing/2014/main" id="{FACD35A4-CF35-4F4F-9CD0-19CBBA376333}"/>
              </a:ext>
            </a:extLst>
          </p:cNvPr>
          <p:cNvSpPr>
            <a:spLocks noGrp="1"/>
          </p:cNvSpPr>
          <p:nvPr/>
        </p:nvSpPr>
        <p:spPr>
          <a:xfrm>
            <a:off x="7334250" y="2057400"/>
            <a:ext cx="3857625" cy="8382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0">
                <a:solidFill>
                  <a:srgbClr val="17232E"/>
                </a:solidFill>
                <a:latin typeface="Calibri"/>
                <a:ea typeface="Calibri"/>
                <a:cs typeface="Calibri"/>
              </a:defRPr>
            </a:pPr>
            <a:r>
              <a:rPr sz="2400" b="0">
                <a:solidFill>
                  <a:srgbClr val="17232E"/>
                </a:solidFill>
                <a:latin typeface="Calibri"/>
                <a:ea typeface="Calibri"/>
                <a:cs typeface="Calibri"/>
              </a:rPr>
              <a:t>40 Messposen</a:t>
            </a:r>
          </a:p>
          <a:p>
            <a:pPr algn="l">
              <a:lnSpc>
                <a:spcPct val="105000"/>
              </a:lnSpc>
              <a:spcBef>
                <a:spcPts val="0"/>
              </a:spcBef>
              <a:spcAft>
                <a:spcPts val="0"/>
              </a:spcAft>
              <a:buNone/>
              <a:defRPr sz="2400" b="0">
                <a:solidFill>
                  <a:srgbClr val="17232E"/>
                </a:solidFill>
                <a:latin typeface="Calibri"/>
                <a:ea typeface="Calibri"/>
                <a:cs typeface="Calibri"/>
              </a:defRPr>
            </a:pPr>
            <a:r>
              <a:rPr sz="2400" b="0">
                <a:solidFill>
                  <a:srgbClr val="17232E"/>
                </a:solidFill>
                <a:latin typeface="Calibri"/>
                <a:ea typeface="Calibri"/>
                <a:cs typeface="Calibri"/>
              </a:rPr>
              <a:t>4 Prüfposen</a:t>
            </a:r>
          </a:p>
        </p:txBody>
      </p:sp>
      <p:sp>
        <p:nvSpPr>
          <p:cNvPr id="1005" name="basecal-duration">
            <a:extLst>
              <a:ext uri="{FF2B5EF4-FFF2-40B4-BE49-F238E27FC236}">
                <a16:creationId xmlns:a16="http://schemas.microsoft.com/office/drawing/2014/main" id="{8F8540FD-A694-48B2-8D79-9F994A7DAC21}"/>
              </a:ext>
            </a:extLst>
          </p:cNvPr>
          <p:cNvSpPr>
            <a:spLocks noGrp="1"/>
          </p:cNvSpPr>
          <p:nvPr/>
        </p:nvSpPr>
        <p:spPr>
          <a:xfrm>
            <a:off x="7334250" y="3086100"/>
            <a:ext cx="3857625" cy="3619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Rund 4 Minuten</a:t>
            </a:r>
          </a:p>
        </p:txBody>
      </p:sp>
      <p:sp>
        <p:nvSpPr>
          <p:cNvPr id="1006" name="basecal-error-label">
            <a:extLst>
              <a:ext uri="{FF2B5EF4-FFF2-40B4-BE49-F238E27FC236}">
                <a16:creationId xmlns:a16="http://schemas.microsoft.com/office/drawing/2014/main" id="{C5AEA2DB-9B57-4CA5-BF24-9AE12E67F117}"/>
              </a:ext>
            </a:extLst>
          </p:cNvPr>
          <p:cNvSpPr>
            <a:spLocks noGrp="1"/>
          </p:cNvSpPr>
          <p:nvPr/>
        </p:nvSpPr>
        <p:spPr>
          <a:xfrm>
            <a:off x="7334250" y="3676650"/>
            <a:ext cx="3905250"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61707D"/>
                </a:solidFill>
                <a:latin typeface="Calibri"/>
                <a:ea typeface="Calibri"/>
                <a:cs typeface="Calibri"/>
              </a:defRPr>
            </a:pPr>
            <a:r>
              <a:rPr sz="1800" b="0">
                <a:solidFill>
                  <a:srgbClr val="61707D"/>
                </a:solidFill>
                <a:latin typeface="Calibri"/>
                <a:ea typeface="Calibri"/>
                <a:cs typeface="Calibri"/>
              </a:rPr>
              <a:t>Prüfposenabweichung</a:t>
            </a:r>
          </a:p>
        </p:txBody>
      </p:sp>
      <p:sp>
        <p:nvSpPr>
          <p:cNvPr id="1007" name="basecal-error">
            <a:extLst>
              <a:ext uri="{FF2B5EF4-FFF2-40B4-BE49-F238E27FC236}">
                <a16:creationId xmlns:a16="http://schemas.microsoft.com/office/drawing/2014/main" id="{1664A8BC-A3FD-45D2-92C2-99501FF51A7D}"/>
              </a:ext>
            </a:extLst>
          </p:cNvPr>
          <p:cNvSpPr>
            <a:spLocks noGrp="1"/>
          </p:cNvSpPr>
          <p:nvPr/>
        </p:nvSpPr>
        <p:spPr>
          <a:xfrm>
            <a:off x="7334250" y="4038600"/>
            <a:ext cx="3857625" cy="5238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1">
                <a:solidFill>
                  <a:srgbClr val="2869AF"/>
                </a:solidFill>
                <a:latin typeface="Calibri"/>
                <a:ea typeface="Calibri"/>
                <a:cs typeface="Calibri"/>
              </a:defRPr>
            </a:pPr>
            <a:r>
              <a:rPr sz="3200" b="1">
                <a:solidFill>
                  <a:srgbClr val="2869AF"/>
                </a:solidFill>
                <a:latin typeface="Calibri"/>
                <a:ea typeface="Calibri"/>
                <a:cs typeface="Calibri"/>
              </a:rPr>
              <a:t>0,54 mm</a:t>
            </a:r>
          </a:p>
        </p:txBody>
      </p:sp>
      <p:sp>
        <p:nvSpPr>
          <p:cNvPr id="1008" name="basecal-repeat">
            <a:extLst>
              <a:ext uri="{FF2B5EF4-FFF2-40B4-BE49-F238E27FC236}">
                <a16:creationId xmlns:a16="http://schemas.microsoft.com/office/drawing/2014/main" id="{697916DD-60DD-4EAE-A1D0-046226D43033}"/>
              </a:ext>
            </a:extLst>
          </p:cNvPr>
          <p:cNvSpPr>
            <a:spLocks noGrp="1"/>
          </p:cNvSpPr>
          <p:nvPr/>
        </p:nvSpPr>
        <p:spPr>
          <a:xfrm>
            <a:off x="7334250" y="4705350"/>
            <a:ext cx="3857625" cy="6286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Kameralage: unter 1 mm</a:t>
            </a:r>
          </a:p>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Wiederholabweichung</a:t>
            </a:r>
          </a:p>
        </p:txBody>
      </p:sp>
      <p:sp>
        <p:nvSpPr>
          <p:cNvPr id="1009" name="caption-5">
            <a:extLst>
              <a:ext uri="{FF2B5EF4-FFF2-40B4-BE49-F238E27FC236}">
                <a16:creationId xmlns:a16="http://schemas.microsoft.com/office/drawing/2014/main" id="{439011C0-6FFA-49B6-8A8F-8FBE4050D675}"/>
              </a:ext>
            </a:extLst>
          </p:cNvPr>
          <p:cNvSpPr>
            <a:spLocks noGrp="1"/>
          </p:cNvSpPr>
          <p:nvPr/>
        </p:nvSpPr>
        <p:spPr>
          <a:xfrm>
            <a:off x="333375" y="516572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lang="de-DE" sz="1200" b="0" dirty="0">
                <a:solidFill>
                  <a:srgbClr val="61707D"/>
                </a:solidFill>
                <a:latin typeface="Calibri"/>
                <a:ea typeface="Calibri"/>
                <a:cs typeface="Calibri"/>
              </a:rPr>
              <a:t>Kalibrierung über </a:t>
            </a:r>
            <a:r>
              <a:rPr lang="de-DE" sz="1200" b="0" dirty="0" err="1">
                <a:solidFill>
                  <a:srgbClr val="61707D"/>
                </a:solidFill>
                <a:latin typeface="Calibri"/>
                <a:ea typeface="Calibri"/>
                <a:cs typeface="Calibri"/>
              </a:rPr>
              <a:t>AprilGrid</a:t>
            </a:r>
            <a:r>
              <a:rPr lang="de-DE" sz="1200" b="0" dirty="0">
                <a:solidFill>
                  <a:srgbClr val="61707D"/>
                </a:solidFill>
                <a:latin typeface="Calibri"/>
                <a:ea typeface="Calibri"/>
                <a:cs typeface="Calibri"/>
              </a:rPr>
              <a:t> im Greifer; Aufnahme mit Basiskamera</a:t>
            </a:r>
            <a:endParaRPr sz="1200" b="0" dirty="0">
              <a:solidFill>
                <a:srgbClr val="61707D"/>
              </a:solidFill>
              <a:latin typeface="Calibri"/>
              <a:ea typeface="Calibri"/>
              <a:cs typeface="Calibri"/>
            </a:endParaRP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09.10.2026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6</a:t>
            </a:fld>
            <a:endParaRPr lang="de-DE"/>
          </a:p>
        </p:txBody>
      </p:sp>
      <p:sp>
        <p:nvSpPr>
          <p:cNvPr id="2" name="Pfeil: nach rechts 1">
            <a:extLst>
              <a:ext uri="{FF2B5EF4-FFF2-40B4-BE49-F238E27FC236}">
                <a16:creationId xmlns:a16="http://schemas.microsoft.com/office/drawing/2014/main" id="{29634210-5833-9F4A-CCA8-915A59D04268}"/>
              </a:ext>
            </a:extLst>
          </p:cNvPr>
          <p:cNvSpPr/>
          <p:nvPr/>
        </p:nvSpPr>
        <p:spPr>
          <a:xfrm>
            <a:off x="2744980" y="5553970"/>
            <a:ext cx="812303" cy="707185"/>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DE"/>
          </a:p>
        </p:txBody>
      </p:sp>
      <p:sp>
        <p:nvSpPr>
          <p:cNvPr id="7" name="component-2">
            <a:extLst>
              <a:ext uri="{FF2B5EF4-FFF2-40B4-BE49-F238E27FC236}">
                <a16:creationId xmlns:a16="http://schemas.microsoft.com/office/drawing/2014/main" id="{BC15C8A0-EBA0-31BC-AC6C-4592E09E3AE8}"/>
              </a:ext>
            </a:extLst>
          </p:cNvPr>
          <p:cNvSpPr>
            <a:spLocks noGrp="1"/>
          </p:cNvSpPr>
          <p:nvPr/>
        </p:nvSpPr>
        <p:spPr>
          <a:xfrm>
            <a:off x="3602576" y="5583152"/>
            <a:ext cx="5324608" cy="602036"/>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lang="de-DE" sz="1800" b="1" dirty="0">
                <a:solidFill>
                  <a:srgbClr val="17232E"/>
                </a:solidFill>
                <a:latin typeface="Calibri"/>
                <a:ea typeface="Calibri"/>
                <a:cs typeface="Calibri"/>
              </a:rPr>
              <a:t>Kalibrier-Ergebnisse werden in </a:t>
            </a:r>
            <a:r>
              <a:rPr lang="de-DE" sz="1800" b="1" dirty="0" err="1">
                <a:solidFill>
                  <a:srgbClr val="17232E"/>
                </a:solidFill>
                <a:latin typeface="Calibri"/>
                <a:ea typeface="Calibri"/>
                <a:cs typeface="Calibri"/>
              </a:rPr>
              <a:t>json</a:t>
            </a:r>
            <a:r>
              <a:rPr lang="de-DE" sz="1800" b="1" dirty="0">
                <a:solidFill>
                  <a:srgbClr val="17232E"/>
                </a:solidFill>
                <a:latin typeface="Calibri"/>
                <a:ea typeface="Calibri"/>
                <a:cs typeface="Calibri"/>
              </a:rPr>
              <a:t>-Datei gespeichert</a:t>
            </a:r>
            <a:endParaRPr sz="1800" b="1" dirty="0">
              <a:solidFill>
                <a:srgbClr val="17232E"/>
              </a:solidFill>
              <a:latin typeface="Calibri"/>
              <a:ea typeface="Calibri"/>
              <a:cs typeface="Calibri"/>
            </a:endParaRPr>
          </a:p>
        </p:txBody>
      </p:sp>
    </p:spTree>
    <p:extLst>
      <p:ext uri="{BB962C8B-B14F-4D97-AF65-F5344CB8AC3E}">
        <p14:creationId xmlns:p14="http://schemas.microsoft.com/office/powerpoint/2010/main" val="319301414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 name="slide-title">
            <a:extLst>
              <a:ext uri="{FF2B5EF4-FFF2-40B4-BE49-F238E27FC236}">
                <a16:creationId xmlns:a16="http://schemas.microsoft.com/office/drawing/2014/main" id="{B0F69FFD-FDE8-4ADC-AE86-00008AF98F9D}"/>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lang="de-DE" sz="3200" b="0" dirty="0">
                <a:solidFill>
                  <a:srgbClr val="2869AF"/>
                </a:solidFill>
                <a:latin typeface="Calibri"/>
                <a:ea typeface="Calibri"/>
                <a:cs typeface="Calibri"/>
              </a:rPr>
              <a:t>Detektion und Identifikation der Greifobjekte </a:t>
            </a:r>
            <a:endParaRPr sz="3200" b="0" dirty="0">
              <a:solidFill>
                <a:srgbClr val="2869AF"/>
              </a:solidFill>
              <a:latin typeface="Calibri"/>
              <a:ea typeface="Calibri"/>
              <a:cs typeface="Calibri"/>
            </a:endParaRPr>
          </a:p>
        </p:txBody>
      </p:sp>
      <p:pic>
        <p:nvPicPr>
          <p:cNvPr id="1007" name="Grafik 1006"/>
          <p:cNvPicPr>
            <a:picLocks noChangeAspect="1"/>
          </p:cNvPicPr>
          <p:nvPr/>
        </p:nvPicPr>
        <p:blipFill>
          <a:blip r:embed="rId3"/>
          <a:stretch/>
        </p:blipFill>
        <p:spPr>
          <a:xfrm>
            <a:off x="644673" y="1171575"/>
            <a:ext cx="7616529" cy="4286250"/>
          </a:xfrm>
          <a:prstGeom prst="rect">
            <a:avLst/>
          </a:prstGeom>
        </p:spPr>
      </p:pic>
      <p:sp>
        <p:nvSpPr>
          <p:cNvPr id="1003" name="detection-input">
            <a:extLst>
              <a:ext uri="{FF2B5EF4-FFF2-40B4-BE49-F238E27FC236}">
                <a16:creationId xmlns:a16="http://schemas.microsoft.com/office/drawing/2014/main" id="{65724FC6-8B79-4326-A4B2-61A94ADDB466}"/>
              </a:ext>
            </a:extLst>
          </p:cNvPr>
          <p:cNvSpPr>
            <a:spLocks noGrp="1"/>
          </p:cNvSpPr>
          <p:nvPr/>
        </p:nvSpPr>
        <p:spPr>
          <a:xfrm>
            <a:off x="9001125" y="1362075"/>
            <a:ext cx="2238375"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1">
                <a:solidFill>
                  <a:srgbClr val="2869AF"/>
                </a:solidFill>
                <a:latin typeface="Calibri"/>
                <a:ea typeface="Calibri"/>
                <a:cs typeface="Calibri"/>
              </a:defRPr>
            </a:pPr>
            <a:r>
              <a:rPr sz="2400" b="1">
                <a:solidFill>
                  <a:srgbClr val="2869AF"/>
                </a:solidFill>
                <a:latin typeface="Calibri"/>
                <a:ea typeface="Calibri"/>
                <a:cs typeface="Calibri"/>
              </a:rPr>
              <a:t>RGB und Tiefe</a:t>
            </a:r>
          </a:p>
        </p:txBody>
      </p:sp>
      <p:sp>
        <p:nvSpPr>
          <p:cNvPr id="1004" name="detection-outputs">
            <a:extLst>
              <a:ext uri="{FF2B5EF4-FFF2-40B4-BE49-F238E27FC236}">
                <a16:creationId xmlns:a16="http://schemas.microsoft.com/office/drawing/2014/main" id="{FD672616-FA83-481C-A744-5E2B1D881F92}"/>
              </a:ext>
            </a:extLst>
          </p:cNvPr>
          <p:cNvSpPr>
            <a:spLocks noGrp="1"/>
          </p:cNvSpPr>
          <p:nvPr/>
        </p:nvSpPr>
        <p:spPr>
          <a:xfrm>
            <a:off x="9001125" y="2428875"/>
            <a:ext cx="2238375" cy="2533650"/>
          </a:xfrm>
          <a:prstGeom prst="rect">
            <a:avLst/>
          </a:prstGeom>
          <a:noFill/>
          <a:ln w="0">
            <a:noFill/>
          </a:ln>
        </p:spPr>
        <p:txBody>
          <a:bodyPr wrap="square" lIns="0" tIns="0" rIns="0" bIns="0" anchor="t">
            <a:noAutofit/>
          </a:bodyPr>
          <a:lstStyle/>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a:solidFill>
                  <a:srgbClr val="17232E"/>
                </a:solidFill>
                <a:latin typeface="Calibri"/>
                <a:ea typeface="Calibri"/>
                <a:cs typeface="Calibri"/>
              </a:rPr>
              <a:t>ROI</a:t>
            </a:r>
          </a:p>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a:solidFill>
                  <a:srgbClr val="17232E"/>
                </a:solidFill>
                <a:latin typeface="Calibri"/>
                <a:ea typeface="Calibri"/>
                <a:cs typeface="Calibri"/>
              </a:rPr>
              <a:t>ID und </a:t>
            </a:r>
            <a:r>
              <a:rPr sz="2200" b="0" dirty="0" err="1">
                <a:solidFill>
                  <a:srgbClr val="17232E"/>
                </a:solidFill>
                <a:latin typeface="Calibri"/>
                <a:ea typeface="Calibri"/>
                <a:cs typeface="Calibri"/>
              </a:rPr>
              <a:t>Farbe</a:t>
            </a:r>
            <a:endParaRPr sz="2200" b="0" dirty="0">
              <a:solidFill>
                <a:srgbClr val="17232E"/>
              </a:solidFill>
              <a:latin typeface="Calibri"/>
              <a:ea typeface="Calibri"/>
              <a:cs typeface="Calibri"/>
            </a:endParaRPr>
          </a:p>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a:solidFill>
                  <a:srgbClr val="17232E"/>
                </a:solidFill>
                <a:latin typeface="Calibri"/>
                <a:ea typeface="Calibri"/>
                <a:cs typeface="Calibri"/>
              </a:rPr>
              <a:t>Position</a:t>
            </a:r>
          </a:p>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err="1">
                <a:solidFill>
                  <a:srgbClr val="17232E"/>
                </a:solidFill>
                <a:latin typeface="Calibri"/>
                <a:ea typeface="Calibri"/>
                <a:cs typeface="Calibri"/>
              </a:rPr>
              <a:t>Abmessungen</a:t>
            </a:r>
            <a:endParaRPr sz="2200" b="0" dirty="0">
              <a:solidFill>
                <a:srgbClr val="17232E"/>
              </a:solidFill>
              <a:latin typeface="Calibri"/>
              <a:ea typeface="Calibri"/>
              <a:cs typeface="Calibri"/>
            </a:endParaRPr>
          </a:p>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err="1">
                <a:solidFill>
                  <a:srgbClr val="17232E"/>
                </a:solidFill>
                <a:latin typeface="Calibri"/>
                <a:ea typeface="Calibri"/>
                <a:cs typeface="Calibri"/>
              </a:rPr>
              <a:t>Orientierung</a:t>
            </a:r>
            <a:endParaRPr sz="2200" b="0" dirty="0">
              <a:solidFill>
                <a:srgbClr val="17232E"/>
              </a:solidFill>
              <a:latin typeface="Calibri"/>
              <a:ea typeface="Calibri"/>
              <a:cs typeface="Calibri"/>
            </a:endParaRPr>
          </a:p>
        </p:txBody>
      </p:sp>
      <p:sp>
        <p:nvSpPr>
          <p:cNvPr id="1005" name="caption-7">
            <a:extLst>
              <a:ext uri="{FF2B5EF4-FFF2-40B4-BE49-F238E27FC236}">
                <a16:creationId xmlns:a16="http://schemas.microsoft.com/office/drawing/2014/main" id="{A94F0292-CDCF-409E-AA17-21E3E14ADA44}"/>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Objekt-IDs und Farben innerhalb des definierten ROI</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09.10.2026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7</a:t>
            </a:fld>
            <a:endParaRPr lang="de-DE"/>
          </a:p>
        </p:txBody>
      </p:sp>
    </p:spTree>
    <p:extLst>
      <p:ext uri="{BB962C8B-B14F-4D97-AF65-F5344CB8AC3E}">
        <p14:creationId xmlns:p14="http://schemas.microsoft.com/office/powerpoint/2010/main" val="307097139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history-label">
            <a:extLst>
              <a:ext uri="{FF2B5EF4-FFF2-40B4-BE49-F238E27FC236}">
                <a16:creationId xmlns:a16="http://schemas.microsoft.com/office/drawing/2014/main" id="{6DAB1685-A7A7-42AC-8AAE-29708A2C9586}"/>
              </a:ext>
            </a:extLst>
          </p:cNvPr>
          <p:cNvSpPr>
            <a:spLocks noGrp="1"/>
          </p:cNvSpPr>
          <p:nvPr/>
        </p:nvSpPr>
        <p:spPr>
          <a:xfrm>
            <a:off x="333375" y="1200150"/>
            <a:ext cx="6191250" cy="409575"/>
          </a:xfrm>
          <a:prstGeom prst="rect">
            <a:avLst/>
          </a:prstGeom>
          <a:noFill/>
          <a:ln w="0">
            <a:noFill/>
          </a:ln>
        </p:spPr>
        <p:txBody>
          <a:bodyPr wrap="none" lIns="0" tIns="0" rIns="0" bIns="0" anchor="t">
            <a:noAutofit/>
          </a:bodyPr>
          <a:lstStyle/>
          <a:p>
            <a:pPr algn="l">
              <a:spcBef>
                <a:spcPts val="0"/>
              </a:spcBef>
              <a:spcAft>
                <a:spcPts val="0"/>
              </a:spcAft>
              <a:defRPr sz="2200">
                <a:solidFill>
                  <a:srgbClr val="2869AF"/>
                </a:solidFill>
                <a:latin typeface="Calibri"/>
                <a:ea typeface="Calibri"/>
                <a:cs typeface="Calibri"/>
              </a:defRPr>
            </a:pPr>
            <a:r>
              <a:rPr sz="2200" dirty="0" err="1">
                <a:solidFill>
                  <a:srgbClr val="2869AF"/>
                </a:solidFill>
                <a:latin typeface="Calibri"/>
                <a:ea typeface="Calibri"/>
                <a:cs typeface="Calibri"/>
              </a:rPr>
              <a:t>Positionshistorie</a:t>
            </a:r>
            <a:r>
              <a:rPr lang="de-DE" sz="2200" dirty="0">
                <a:solidFill>
                  <a:srgbClr val="2869AF"/>
                </a:solidFill>
                <a:latin typeface="Calibri"/>
                <a:ea typeface="Calibri"/>
                <a:cs typeface="Calibri"/>
              </a:rPr>
              <a:t>; zeitlich einheitliche Abstände </a:t>
            </a:r>
            <a:endParaRPr sz="2200" dirty="0">
              <a:solidFill>
                <a:srgbClr val="2869AF"/>
              </a:solidFill>
              <a:latin typeface="Calibri"/>
              <a:ea typeface="Calibri"/>
              <a:cs typeface="Calibri"/>
            </a:endParaRPr>
          </a:p>
        </p:txBody>
      </p:sp>
      <p:sp>
        <p:nvSpPr>
          <p:cNvPr id="2002" name="x-coordinate">
            <a:extLst>
              <a:ext uri="{FF2B5EF4-FFF2-40B4-BE49-F238E27FC236}">
                <a16:creationId xmlns:a16="http://schemas.microsoft.com/office/drawing/2014/main" id="{D47A8F93-1AD2-4015-9BD6-9131895F5D96}"/>
              </a:ext>
            </a:extLst>
          </p:cNvPr>
          <p:cNvSpPr>
            <a:spLocks noGrp="1"/>
          </p:cNvSpPr>
          <p:nvPr/>
        </p:nvSpPr>
        <p:spPr>
          <a:xfrm>
            <a:off x="1222099" y="1790516"/>
            <a:ext cx="163582"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dirty="0">
                <a:solidFill>
                  <a:srgbClr val="61707D"/>
                </a:solidFill>
                <a:latin typeface="Calibri"/>
                <a:ea typeface="Calibri"/>
                <a:cs typeface="Calibri"/>
              </a:rPr>
              <a:t>x</a:t>
            </a:r>
          </a:p>
        </p:txBody>
      </p:sp>
      <p:sp>
        <p:nvSpPr>
          <p:cNvPr id="2003" name="camera-label">
            <a:extLst>
              <a:ext uri="{FF2B5EF4-FFF2-40B4-BE49-F238E27FC236}">
                <a16:creationId xmlns:a16="http://schemas.microsoft.com/office/drawing/2014/main" id="{66D958DD-4980-41C2-84A1-869C39F69CA4}"/>
              </a:ext>
            </a:extLst>
          </p:cNvPr>
          <p:cNvSpPr>
            <a:spLocks noGrp="1"/>
          </p:cNvSpPr>
          <p:nvPr/>
        </p:nvSpPr>
        <p:spPr>
          <a:xfrm>
            <a:off x="2428875" y="1924050"/>
            <a:ext cx="3143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2869AF"/>
                </a:solidFill>
                <a:latin typeface="Calibri"/>
                <a:ea typeface="Calibri"/>
                <a:cs typeface="Calibri"/>
              </a:defRPr>
            </a:pPr>
            <a:r>
              <a:rPr sz="2000">
                <a:solidFill>
                  <a:srgbClr val="2869AF"/>
                </a:solidFill>
                <a:latin typeface="Calibri"/>
                <a:ea typeface="Calibri"/>
                <a:cs typeface="Calibri"/>
              </a:rPr>
              <a:t>Kamerabereich</a:t>
            </a:r>
          </a:p>
        </p:txBody>
      </p:sp>
      <p:sp>
        <p:nvSpPr>
          <p:cNvPr id="2004" name="prediction-label">
            <a:extLst>
              <a:ext uri="{FF2B5EF4-FFF2-40B4-BE49-F238E27FC236}">
                <a16:creationId xmlns:a16="http://schemas.microsoft.com/office/drawing/2014/main" id="{96E3F936-146C-43AA-BE54-5597F8352E3C}"/>
              </a:ext>
            </a:extLst>
          </p:cNvPr>
          <p:cNvSpPr>
            <a:spLocks noGrp="1"/>
          </p:cNvSpPr>
          <p:nvPr/>
        </p:nvSpPr>
        <p:spPr>
          <a:xfrm>
            <a:off x="7848600" y="1924050"/>
            <a:ext cx="2381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61707D"/>
                </a:solidFill>
                <a:latin typeface="Calibri"/>
                <a:ea typeface="Calibri"/>
                <a:cs typeface="Calibri"/>
              </a:defRPr>
            </a:pPr>
            <a:r>
              <a:rPr sz="2000">
                <a:solidFill>
                  <a:srgbClr val="61707D"/>
                </a:solidFill>
                <a:latin typeface="Calibri"/>
                <a:ea typeface="Calibri"/>
                <a:cs typeface="Calibri"/>
              </a:rPr>
              <a:t>Vorhersage</a:t>
            </a:r>
          </a:p>
        </p:txBody>
      </p:sp>
      <p:sp>
        <p:nvSpPr>
          <p:cNvPr id="2005" name="belt-direction">
            <a:extLst>
              <a:ext uri="{FF2B5EF4-FFF2-40B4-BE49-F238E27FC236}">
                <a16:creationId xmlns:a16="http://schemas.microsoft.com/office/drawing/2014/main" id="{BB2051A6-16B8-4B11-A756-6D5005E366E2}"/>
              </a:ext>
            </a:extLst>
          </p:cNvPr>
          <p:cNvSpPr>
            <a:spLocks noGrp="1"/>
          </p:cNvSpPr>
          <p:nvPr/>
        </p:nvSpPr>
        <p:spPr>
          <a:xfrm>
            <a:off x="6974786" y="1540502"/>
            <a:ext cx="2501723" cy="304800"/>
          </a:xfrm>
          <a:prstGeom prst="rect">
            <a:avLst/>
          </a:prstGeom>
          <a:noFill/>
          <a:ln w="0">
            <a:noFill/>
          </a:ln>
        </p:spPr>
        <p:txBody>
          <a:bodyPr wrap="none" lIns="0" tIns="0" rIns="0" bIns="0" anchor="t">
            <a:noAutofit/>
          </a:bodyPr>
          <a:lstStyle/>
          <a:p>
            <a:pPr algn="r">
              <a:spcBef>
                <a:spcPts val="0"/>
              </a:spcBef>
              <a:spcAft>
                <a:spcPts val="0"/>
              </a:spcAft>
              <a:defRPr sz="1800">
                <a:solidFill>
                  <a:srgbClr val="61707D"/>
                </a:solidFill>
                <a:latin typeface="Calibri"/>
                <a:ea typeface="Calibri"/>
                <a:cs typeface="Calibri"/>
              </a:defRPr>
            </a:pPr>
            <a:r>
              <a:rPr lang="de-DE" sz="1800" dirty="0">
                <a:solidFill>
                  <a:srgbClr val="FF7E29"/>
                </a:solidFill>
                <a:latin typeface="Calibri"/>
                <a:ea typeface="Calibri"/>
                <a:cs typeface="Calibri"/>
              </a:rPr>
              <a:t>vermutete </a:t>
            </a:r>
            <a:r>
              <a:rPr sz="1800" dirty="0" err="1">
                <a:solidFill>
                  <a:srgbClr val="FF7E29"/>
                </a:solidFill>
                <a:latin typeface="Calibri"/>
                <a:ea typeface="Calibri"/>
                <a:cs typeface="Calibri"/>
              </a:rPr>
              <a:t>Bandrichtung</a:t>
            </a:r>
            <a:endParaRPr sz="1800" dirty="0">
              <a:solidFill>
                <a:srgbClr val="FF7E29"/>
              </a:solidFill>
              <a:latin typeface="Calibri"/>
              <a:ea typeface="Calibri"/>
              <a:cs typeface="Calibri"/>
            </a:endParaRPr>
          </a:p>
        </p:txBody>
      </p:sp>
      <p:sp>
        <p:nvSpPr>
          <p:cNvPr id="2008" name="belt-surface">
            <a:extLst>
              <a:ext uri="{FF2B5EF4-FFF2-40B4-BE49-F238E27FC236}">
                <a16:creationId xmlns:a16="http://schemas.microsoft.com/office/drawing/2014/main" id="{494A4E88-2C01-4B97-BE2A-DD2429C337F2}"/>
              </a:ext>
            </a:extLst>
          </p:cNvPr>
          <p:cNvSpPr>
            <a:spLocks noGrp="1"/>
          </p:cNvSpPr>
          <p:nvPr/>
        </p:nvSpPr>
        <p:spPr>
          <a:xfrm>
            <a:off x="1666875" y="2333625"/>
            <a:ext cx="8572500" cy="2952750"/>
          </a:xfrm>
          <a:prstGeom prst="rect">
            <a:avLst/>
          </a:prstGeom>
          <a:solidFill>
            <a:srgbClr val="EFF4F4"/>
          </a:solidFill>
          <a:ln w="0">
            <a:noFill/>
          </a:ln>
        </p:spPr>
      </p:sp>
      <p:sp>
        <p:nvSpPr>
          <p:cNvPr id="2009" name="camera-area">
            <a:extLst>
              <a:ext uri="{FF2B5EF4-FFF2-40B4-BE49-F238E27FC236}">
                <a16:creationId xmlns:a16="http://schemas.microsoft.com/office/drawing/2014/main" id="{94B3DDE9-D65C-403F-8087-58FA6C9F5D50}"/>
              </a:ext>
            </a:extLst>
          </p:cNvPr>
          <p:cNvSpPr>
            <a:spLocks noGrp="1"/>
          </p:cNvSpPr>
          <p:nvPr/>
        </p:nvSpPr>
        <p:spPr>
          <a:xfrm>
            <a:off x="1666875" y="2333625"/>
            <a:ext cx="4905375" cy="2952750"/>
          </a:xfrm>
          <a:prstGeom prst="rect">
            <a:avLst/>
          </a:prstGeom>
          <a:solidFill>
            <a:srgbClr val="E3EFF3"/>
          </a:solidFill>
          <a:ln w="0">
            <a:noFill/>
          </a:ln>
        </p:spPr>
        <p:txBody>
          <a:bodyPr/>
          <a:lstStyle/>
          <a:p>
            <a:endParaRPr lang="de-DE"/>
          </a:p>
        </p:txBody>
      </p:sp>
      <p:sp>
        <p:nvSpPr>
          <p:cNvPr id="2010" name="belt-upper-edge">
            <a:extLst>
              <a:ext uri="{FF2B5EF4-FFF2-40B4-BE49-F238E27FC236}">
                <a16:creationId xmlns:a16="http://schemas.microsoft.com/office/drawing/2014/main" id="{38198B2C-84F8-44C5-8270-AD333621237F}"/>
              </a:ext>
            </a:extLst>
          </p:cNvPr>
          <p:cNvSpPr>
            <a:spLocks noGrp="1"/>
          </p:cNvSpPr>
          <p:nvPr/>
        </p:nvSpPr>
        <p:spPr>
          <a:xfrm>
            <a:off x="1666875" y="233362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2011" name="belt-lower-edge">
            <a:extLst>
              <a:ext uri="{FF2B5EF4-FFF2-40B4-BE49-F238E27FC236}">
                <a16:creationId xmlns:a16="http://schemas.microsoft.com/office/drawing/2014/main" id="{0DE913C9-8CDF-45EA-B263-CE69B733DEBA}"/>
              </a:ext>
            </a:extLst>
          </p:cNvPr>
          <p:cNvSpPr>
            <a:spLocks noGrp="1"/>
          </p:cNvSpPr>
          <p:nvPr/>
        </p:nvSpPr>
        <p:spPr>
          <a:xfrm>
            <a:off x="1666875" y="528637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2012" name="start-axle">
            <a:extLst>
              <a:ext uri="{FF2B5EF4-FFF2-40B4-BE49-F238E27FC236}">
                <a16:creationId xmlns:a16="http://schemas.microsoft.com/office/drawing/2014/main" id="{7A9F18C4-8DDC-4382-932A-BBBA0CA089E8}"/>
              </a:ext>
            </a:extLst>
          </p:cNvPr>
          <p:cNvSpPr>
            <a:spLocks noGrp="1"/>
          </p:cNvSpPr>
          <p:nvPr/>
        </p:nvSpPr>
        <p:spPr>
          <a:xfrm>
            <a:off x="15525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txBody>
          <a:bodyPr/>
          <a:lstStyle/>
          <a:p>
            <a:endParaRPr lang="de-DE"/>
          </a:p>
        </p:txBody>
      </p:sp>
      <p:sp>
        <p:nvSpPr>
          <p:cNvPr id="2013" name="start-roller">
            <a:extLst>
              <a:ext uri="{FF2B5EF4-FFF2-40B4-BE49-F238E27FC236}">
                <a16:creationId xmlns:a16="http://schemas.microsoft.com/office/drawing/2014/main" id="{261AC450-4E0C-4698-B3B4-F52280D90967}"/>
              </a:ext>
            </a:extLst>
          </p:cNvPr>
          <p:cNvSpPr>
            <a:spLocks noGrp="1"/>
          </p:cNvSpPr>
          <p:nvPr/>
        </p:nvSpPr>
        <p:spPr>
          <a:xfrm>
            <a:off x="1438275" y="2257425"/>
            <a:ext cx="228600" cy="3105150"/>
          </a:xfrm>
          <a:prstGeom prst="roundRect">
            <a:avLst>
              <a:gd name="adj" fmla="val 33333"/>
            </a:avLst>
          </a:prstGeom>
          <a:solidFill>
            <a:srgbClr val="C9D2D8"/>
          </a:solidFill>
          <a:ln w="11430">
            <a:solidFill>
              <a:srgbClr val="7B8993"/>
            </a:solidFill>
          </a:ln>
        </p:spPr>
        <p:txBody>
          <a:bodyPr/>
          <a:lstStyle/>
          <a:p>
            <a:endParaRPr lang="de-DE"/>
          </a:p>
        </p:txBody>
      </p:sp>
      <p:sp>
        <p:nvSpPr>
          <p:cNvPr id="2014" name="start-roller-centre">
            <a:extLst>
              <a:ext uri="{FF2B5EF4-FFF2-40B4-BE49-F238E27FC236}">
                <a16:creationId xmlns:a16="http://schemas.microsoft.com/office/drawing/2014/main" id="{F56D2934-C361-42E6-AF49-DF0C9EB1C5C3}"/>
              </a:ext>
            </a:extLst>
          </p:cNvPr>
          <p:cNvSpPr>
            <a:spLocks noGrp="1"/>
          </p:cNvSpPr>
          <p:nvPr/>
        </p:nvSpPr>
        <p:spPr>
          <a:xfrm>
            <a:off x="15525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2015" name="end-axle">
            <a:extLst>
              <a:ext uri="{FF2B5EF4-FFF2-40B4-BE49-F238E27FC236}">
                <a16:creationId xmlns:a16="http://schemas.microsoft.com/office/drawing/2014/main" id="{B5A5F831-B233-4802-95F1-0FFB09FAC1B5}"/>
              </a:ext>
            </a:extLst>
          </p:cNvPr>
          <p:cNvSpPr>
            <a:spLocks noGrp="1"/>
          </p:cNvSpPr>
          <p:nvPr/>
        </p:nvSpPr>
        <p:spPr>
          <a:xfrm>
            <a:off x="103536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2016" name="end-roller">
            <a:extLst>
              <a:ext uri="{FF2B5EF4-FFF2-40B4-BE49-F238E27FC236}">
                <a16:creationId xmlns:a16="http://schemas.microsoft.com/office/drawing/2014/main" id="{4B819461-5F64-4494-8242-5BAF70F48DBE}"/>
              </a:ext>
            </a:extLst>
          </p:cNvPr>
          <p:cNvSpPr>
            <a:spLocks noGrp="1"/>
          </p:cNvSpPr>
          <p:nvPr/>
        </p:nvSpPr>
        <p:spPr>
          <a:xfrm>
            <a:off x="10239375" y="2257425"/>
            <a:ext cx="228600" cy="3105150"/>
          </a:xfrm>
          <a:prstGeom prst="roundRect">
            <a:avLst>
              <a:gd name="adj" fmla="val 33333"/>
            </a:avLst>
          </a:prstGeom>
          <a:solidFill>
            <a:srgbClr val="C9D2D8"/>
          </a:solidFill>
          <a:ln w="11430">
            <a:solidFill>
              <a:srgbClr val="7B8993"/>
            </a:solidFill>
          </a:ln>
        </p:spPr>
      </p:sp>
      <p:sp>
        <p:nvSpPr>
          <p:cNvPr id="2017" name="end-roller-centre">
            <a:extLst>
              <a:ext uri="{FF2B5EF4-FFF2-40B4-BE49-F238E27FC236}">
                <a16:creationId xmlns:a16="http://schemas.microsoft.com/office/drawing/2014/main" id="{DC52FBD5-4F82-4DCD-A224-E9F3DA727B98}"/>
              </a:ext>
            </a:extLst>
          </p:cNvPr>
          <p:cNvSpPr>
            <a:spLocks noGrp="1"/>
          </p:cNvSpPr>
          <p:nvPr/>
        </p:nvSpPr>
        <p:spPr>
          <a:xfrm>
            <a:off x="103536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2018" name="camera-boundary">
            <a:extLst>
              <a:ext uri="{FF2B5EF4-FFF2-40B4-BE49-F238E27FC236}">
                <a16:creationId xmlns:a16="http://schemas.microsoft.com/office/drawing/2014/main" id="{7ACC7BF5-4E2A-4EFF-BD39-D062EE812A8A}"/>
              </a:ext>
            </a:extLst>
          </p:cNvPr>
          <p:cNvSpPr>
            <a:spLocks noGrp="1"/>
          </p:cNvSpPr>
          <p:nvPr/>
        </p:nvSpPr>
        <p:spPr>
          <a:xfrm>
            <a:off x="6572250" y="2333625"/>
            <a:ext cx="953" cy="2952750"/>
          </a:xfrm>
          <a:custGeom>
            <a:avLst/>
            <a:gdLst/>
            <a:ahLst/>
            <a:cxnLst/>
            <a:rect l="0" t="0" r="0" b="0"/>
            <a:pathLst>
              <a:path w="953" h="2952750">
                <a:moveTo>
                  <a:pt x="0" y="0"/>
                </a:moveTo>
                <a:lnTo>
                  <a:pt x="0" y="2952750"/>
                </a:lnTo>
              </a:path>
            </a:pathLst>
          </a:custGeom>
          <a:noFill/>
          <a:ln w="17145">
            <a:solidFill>
              <a:srgbClr val="61707D"/>
            </a:solidFill>
            <a:prstDash val="dash"/>
          </a:ln>
        </p:spPr>
      </p:sp>
      <p:sp>
        <p:nvSpPr>
          <p:cNvPr id="2019" name="object-1-fit">
            <a:extLst>
              <a:ext uri="{FF2B5EF4-FFF2-40B4-BE49-F238E27FC236}">
                <a16:creationId xmlns:a16="http://schemas.microsoft.com/office/drawing/2014/main" id="{2CD2B820-CEE1-4101-95E0-9FBCE4CF905F}"/>
              </a:ext>
            </a:extLst>
          </p:cNvPr>
          <p:cNvSpPr>
            <a:spLocks noGrp="1"/>
          </p:cNvSpPr>
          <p:nvPr/>
        </p:nvSpPr>
        <p:spPr>
          <a:xfrm>
            <a:off x="1762125" y="2520768"/>
            <a:ext cx="8905875" cy="1386441"/>
          </a:xfrm>
          <a:custGeom>
            <a:avLst/>
            <a:gdLst/>
            <a:ahLst/>
            <a:cxnLst/>
            <a:rect l="0" t="0" r="0" b="0"/>
            <a:pathLst>
              <a:path w="8905875" h="1386441">
                <a:moveTo>
                  <a:pt x="0" y="1386441"/>
                </a:moveTo>
                <a:lnTo>
                  <a:pt x="8905875" y="0"/>
                </a:lnTo>
              </a:path>
            </a:pathLst>
          </a:custGeom>
          <a:noFill/>
          <a:ln w="22860">
            <a:solidFill>
              <a:srgbClr val="2869AF"/>
            </a:solidFill>
            <a:prstDash val="dash"/>
          </a:ln>
        </p:spPr>
      </p:sp>
      <p:sp>
        <p:nvSpPr>
          <p:cNvPr id="2020" name="object-2-fit">
            <a:extLst>
              <a:ext uri="{FF2B5EF4-FFF2-40B4-BE49-F238E27FC236}">
                <a16:creationId xmlns:a16="http://schemas.microsoft.com/office/drawing/2014/main" id="{887AD399-32AA-48CE-BCBF-53CA2CCAF4F2}"/>
              </a:ext>
            </a:extLst>
          </p:cNvPr>
          <p:cNvSpPr>
            <a:spLocks noGrp="1"/>
          </p:cNvSpPr>
          <p:nvPr/>
        </p:nvSpPr>
        <p:spPr>
          <a:xfrm>
            <a:off x="1762125" y="4044875"/>
            <a:ext cx="8905875" cy="829377"/>
          </a:xfrm>
          <a:custGeom>
            <a:avLst/>
            <a:gdLst/>
            <a:ahLst/>
            <a:cxnLst/>
            <a:rect l="0" t="0" r="0" b="0"/>
            <a:pathLst>
              <a:path w="8905875" h="829377">
                <a:moveTo>
                  <a:pt x="0" y="829377"/>
                </a:moveTo>
                <a:lnTo>
                  <a:pt x="8905875" y="0"/>
                </a:lnTo>
              </a:path>
            </a:pathLst>
          </a:custGeom>
          <a:noFill/>
          <a:ln w="22860">
            <a:solidFill>
              <a:srgbClr val="237D7A"/>
            </a:solidFill>
            <a:prstDash val="dash"/>
          </a:ln>
        </p:spPr>
      </p:sp>
      <p:sp>
        <p:nvSpPr>
          <p:cNvPr id="2021" name="common-direction">
            <a:extLst>
              <a:ext uri="{FF2B5EF4-FFF2-40B4-BE49-F238E27FC236}">
                <a16:creationId xmlns:a16="http://schemas.microsoft.com/office/drawing/2014/main" id="{CD684C86-430B-4DD6-A9BF-11C923519E9B}"/>
              </a:ext>
            </a:extLst>
          </p:cNvPr>
          <p:cNvSpPr>
            <a:spLocks noGrp="1"/>
          </p:cNvSpPr>
          <p:nvPr/>
        </p:nvSpPr>
        <p:spPr>
          <a:xfrm>
            <a:off x="1762125" y="3282821"/>
            <a:ext cx="8905875" cy="1107909"/>
          </a:xfrm>
          <a:custGeom>
            <a:avLst/>
            <a:gdLst/>
            <a:ahLst/>
            <a:cxnLst/>
            <a:rect l="0" t="0" r="0" b="0"/>
            <a:pathLst>
              <a:path w="8905875" h="1107909">
                <a:moveTo>
                  <a:pt x="0" y="1107909"/>
                </a:moveTo>
                <a:lnTo>
                  <a:pt x="8905875" y="0"/>
                </a:lnTo>
              </a:path>
            </a:pathLst>
          </a:custGeom>
          <a:noFill/>
          <a:ln w="28575">
            <a:solidFill>
              <a:srgbClr val="C72C32"/>
            </a:solidFill>
            <a:prstDash val="solid"/>
          </a:ln>
        </p:spPr>
      </p:sp>
      <p:sp>
        <p:nvSpPr>
          <p:cNvPr id="2022" name="object-1-measurement-0">
            <a:extLst>
              <a:ext uri="{FF2B5EF4-FFF2-40B4-BE49-F238E27FC236}">
                <a16:creationId xmlns:a16="http://schemas.microsoft.com/office/drawing/2014/main" id="{BB0EC378-AC42-4AFD-BFF6-BF1AA914F29A}"/>
              </a:ext>
            </a:extLst>
          </p:cNvPr>
          <p:cNvSpPr>
            <a:spLocks noGrp="1"/>
          </p:cNvSpPr>
          <p:nvPr/>
        </p:nvSpPr>
        <p:spPr>
          <a:xfrm>
            <a:off x="2043113" y="3899106"/>
            <a:ext cx="104775" cy="104775"/>
          </a:xfrm>
          <a:prstGeom prst="ellipse">
            <a:avLst/>
          </a:prstGeom>
          <a:solidFill>
            <a:srgbClr val="2869AF"/>
          </a:solidFill>
          <a:ln w="11430">
            <a:solidFill>
              <a:srgbClr val="FFFFFF"/>
            </a:solidFill>
          </a:ln>
        </p:spPr>
      </p:sp>
      <p:sp>
        <p:nvSpPr>
          <p:cNvPr id="2023" name="object-1-measurement-1">
            <a:extLst>
              <a:ext uri="{FF2B5EF4-FFF2-40B4-BE49-F238E27FC236}">
                <a16:creationId xmlns:a16="http://schemas.microsoft.com/office/drawing/2014/main" id="{2FF8ACC6-42E4-43BC-8A85-7E8AF6B074CC}"/>
              </a:ext>
            </a:extLst>
          </p:cNvPr>
          <p:cNvSpPr>
            <a:spLocks noGrp="1"/>
          </p:cNvSpPr>
          <p:nvPr/>
        </p:nvSpPr>
        <p:spPr>
          <a:xfrm>
            <a:off x="2366963" y="3661000"/>
            <a:ext cx="104775" cy="104775"/>
          </a:xfrm>
          <a:prstGeom prst="ellipse">
            <a:avLst/>
          </a:prstGeom>
          <a:solidFill>
            <a:srgbClr val="2869AF"/>
          </a:solidFill>
          <a:ln w="11430">
            <a:solidFill>
              <a:srgbClr val="FFFFFF"/>
            </a:solidFill>
          </a:ln>
        </p:spPr>
      </p:sp>
      <p:sp>
        <p:nvSpPr>
          <p:cNvPr id="2024" name="object-1-measurement-2">
            <a:extLst>
              <a:ext uri="{FF2B5EF4-FFF2-40B4-BE49-F238E27FC236}">
                <a16:creationId xmlns:a16="http://schemas.microsoft.com/office/drawing/2014/main" id="{145123F5-3C7B-40AB-9873-1A3ECCF16FBF}"/>
              </a:ext>
            </a:extLst>
          </p:cNvPr>
          <p:cNvSpPr>
            <a:spLocks noGrp="1"/>
          </p:cNvSpPr>
          <p:nvPr/>
        </p:nvSpPr>
        <p:spPr>
          <a:xfrm>
            <a:off x="2757488" y="3765518"/>
            <a:ext cx="104775" cy="104775"/>
          </a:xfrm>
          <a:prstGeom prst="ellipse">
            <a:avLst/>
          </a:prstGeom>
          <a:solidFill>
            <a:srgbClr val="2869AF"/>
          </a:solidFill>
          <a:ln w="11430">
            <a:solidFill>
              <a:srgbClr val="FFFFFF"/>
            </a:solidFill>
          </a:ln>
        </p:spPr>
      </p:sp>
      <p:sp>
        <p:nvSpPr>
          <p:cNvPr id="2025" name="object-1-measurement-3">
            <a:extLst>
              <a:ext uri="{FF2B5EF4-FFF2-40B4-BE49-F238E27FC236}">
                <a16:creationId xmlns:a16="http://schemas.microsoft.com/office/drawing/2014/main" id="{53A9D273-3C26-45BB-8306-371FF6BFAF31}"/>
              </a:ext>
            </a:extLst>
          </p:cNvPr>
          <p:cNvSpPr>
            <a:spLocks noGrp="1"/>
          </p:cNvSpPr>
          <p:nvPr/>
        </p:nvSpPr>
        <p:spPr>
          <a:xfrm>
            <a:off x="3090863" y="3384795"/>
            <a:ext cx="104775" cy="104775"/>
          </a:xfrm>
          <a:prstGeom prst="ellipse">
            <a:avLst/>
          </a:prstGeom>
          <a:solidFill>
            <a:srgbClr val="2869AF"/>
          </a:solidFill>
          <a:ln w="11430">
            <a:solidFill>
              <a:srgbClr val="FFFFFF"/>
            </a:solidFill>
          </a:ln>
        </p:spPr>
      </p:sp>
      <p:sp>
        <p:nvSpPr>
          <p:cNvPr id="2026" name="object-1-measurement-4">
            <a:extLst>
              <a:ext uri="{FF2B5EF4-FFF2-40B4-BE49-F238E27FC236}">
                <a16:creationId xmlns:a16="http://schemas.microsoft.com/office/drawing/2014/main" id="{CB8782E3-0BA0-48C2-ACB2-A7C61D4282DE}"/>
              </a:ext>
            </a:extLst>
          </p:cNvPr>
          <p:cNvSpPr>
            <a:spLocks noGrp="1"/>
          </p:cNvSpPr>
          <p:nvPr/>
        </p:nvSpPr>
        <p:spPr>
          <a:xfrm>
            <a:off x="3452813" y="3634730"/>
            <a:ext cx="104775" cy="104775"/>
          </a:xfrm>
          <a:prstGeom prst="ellipse">
            <a:avLst/>
          </a:prstGeom>
          <a:solidFill>
            <a:srgbClr val="2869AF"/>
          </a:solidFill>
          <a:ln w="11430">
            <a:solidFill>
              <a:srgbClr val="FFFFFF"/>
            </a:solidFill>
          </a:ln>
        </p:spPr>
      </p:sp>
      <p:sp>
        <p:nvSpPr>
          <p:cNvPr id="2027" name="object-1-measurement-5">
            <a:extLst>
              <a:ext uri="{FF2B5EF4-FFF2-40B4-BE49-F238E27FC236}">
                <a16:creationId xmlns:a16="http://schemas.microsoft.com/office/drawing/2014/main" id="{E51B3613-B4B8-4E0D-BB77-B41180AE3C1D}"/>
              </a:ext>
            </a:extLst>
          </p:cNvPr>
          <p:cNvSpPr>
            <a:spLocks noGrp="1"/>
          </p:cNvSpPr>
          <p:nvPr/>
        </p:nvSpPr>
        <p:spPr>
          <a:xfrm>
            <a:off x="3871913" y="3514730"/>
            <a:ext cx="104775" cy="104775"/>
          </a:xfrm>
          <a:prstGeom prst="ellipse">
            <a:avLst/>
          </a:prstGeom>
          <a:solidFill>
            <a:srgbClr val="2869AF"/>
          </a:solidFill>
          <a:ln w="11430">
            <a:solidFill>
              <a:srgbClr val="FFFFFF"/>
            </a:solidFill>
          </a:ln>
        </p:spPr>
      </p:sp>
      <p:sp>
        <p:nvSpPr>
          <p:cNvPr id="2028" name="object-1-measurement-6">
            <a:extLst>
              <a:ext uri="{FF2B5EF4-FFF2-40B4-BE49-F238E27FC236}">
                <a16:creationId xmlns:a16="http://schemas.microsoft.com/office/drawing/2014/main" id="{0A3E13BC-C876-4DBE-AEA5-A2EB39CC20F7}"/>
              </a:ext>
            </a:extLst>
          </p:cNvPr>
          <p:cNvSpPr>
            <a:spLocks noGrp="1"/>
          </p:cNvSpPr>
          <p:nvPr/>
        </p:nvSpPr>
        <p:spPr>
          <a:xfrm>
            <a:off x="4233863" y="3567541"/>
            <a:ext cx="104775" cy="104775"/>
          </a:xfrm>
          <a:prstGeom prst="ellipse">
            <a:avLst/>
          </a:prstGeom>
          <a:solidFill>
            <a:srgbClr val="2869AF"/>
          </a:solidFill>
          <a:ln w="11430">
            <a:solidFill>
              <a:srgbClr val="FFFFFF"/>
            </a:solidFill>
          </a:ln>
        </p:spPr>
      </p:sp>
      <p:sp>
        <p:nvSpPr>
          <p:cNvPr id="2029" name="object-1-measurement-7">
            <a:extLst>
              <a:ext uri="{FF2B5EF4-FFF2-40B4-BE49-F238E27FC236}">
                <a16:creationId xmlns:a16="http://schemas.microsoft.com/office/drawing/2014/main" id="{BF11B6D4-A2D9-49B8-A070-F4B8A7575BB6}"/>
              </a:ext>
            </a:extLst>
          </p:cNvPr>
          <p:cNvSpPr>
            <a:spLocks noGrp="1"/>
          </p:cNvSpPr>
          <p:nvPr/>
        </p:nvSpPr>
        <p:spPr>
          <a:xfrm>
            <a:off x="4595813" y="3095651"/>
            <a:ext cx="104775" cy="104775"/>
          </a:xfrm>
          <a:prstGeom prst="ellipse">
            <a:avLst/>
          </a:prstGeom>
          <a:solidFill>
            <a:srgbClr val="2869AF"/>
          </a:solidFill>
          <a:ln w="11430">
            <a:solidFill>
              <a:srgbClr val="FFFFFF"/>
            </a:solidFill>
          </a:ln>
        </p:spPr>
      </p:sp>
      <p:sp>
        <p:nvSpPr>
          <p:cNvPr id="2030" name="object-1-measurement-8">
            <a:extLst>
              <a:ext uri="{FF2B5EF4-FFF2-40B4-BE49-F238E27FC236}">
                <a16:creationId xmlns:a16="http://schemas.microsoft.com/office/drawing/2014/main" id="{B5A9ED31-5DAC-49F4-94F5-288F6C00D801}"/>
              </a:ext>
            </a:extLst>
          </p:cNvPr>
          <p:cNvSpPr>
            <a:spLocks noGrp="1"/>
          </p:cNvSpPr>
          <p:nvPr/>
        </p:nvSpPr>
        <p:spPr>
          <a:xfrm>
            <a:off x="4948238" y="3433953"/>
            <a:ext cx="104775" cy="104775"/>
          </a:xfrm>
          <a:prstGeom prst="ellipse">
            <a:avLst/>
          </a:prstGeom>
          <a:solidFill>
            <a:srgbClr val="2869AF"/>
          </a:solidFill>
          <a:ln w="11430">
            <a:solidFill>
              <a:srgbClr val="FFFFFF"/>
            </a:solidFill>
          </a:ln>
        </p:spPr>
      </p:sp>
      <p:sp>
        <p:nvSpPr>
          <p:cNvPr id="2031" name="object-1-measurement-9">
            <a:extLst>
              <a:ext uri="{FF2B5EF4-FFF2-40B4-BE49-F238E27FC236}">
                <a16:creationId xmlns:a16="http://schemas.microsoft.com/office/drawing/2014/main" id="{0EBDA565-2935-40FE-B00E-0739EED80D9D}"/>
              </a:ext>
            </a:extLst>
          </p:cNvPr>
          <p:cNvSpPr>
            <a:spLocks noGrp="1"/>
          </p:cNvSpPr>
          <p:nvPr/>
        </p:nvSpPr>
        <p:spPr>
          <a:xfrm>
            <a:off x="5310188" y="3199771"/>
            <a:ext cx="104775" cy="104775"/>
          </a:xfrm>
          <a:prstGeom prst="ellipse">
            <a:avLst/>
          </a:prstGeom>
          <a:solidFill>
            <a:srgbClr val="2869AF"/>
          </a:solidFill>
          <a:ln w="11430">
            <a:solidFill>
              <a:srgbClr val="FFFFFF"/>
            </a:solidFill>
          </a:ln>
        </p:spPr>
      </p:sp>
      <p:sp>
        <p:nvSpPr>
          <p:cNvPr id="2032" name="object-1-measurement-10">
            <a:extLst>
              <a:ext uri="{FF2B5EF4-FFF2-40B4-BE49-F238E27FC236}">
                <a16:creationId xmlns:a16="http://schemas.microsoft.com/office/drawing/2014/main" id="{58C80422-C940-465B-BC73-7A6454ECA1C6}"/>
              </a:ext>
            </a:extLst>
          </p:cNvPr>
          <p:cNvSpPr>
            <a:spLocks noGrp="1"/>
          </p:cNvSpPr>
          <p:nvPr/>
        </p:nvSpPr>
        <p:spPr>
          <a:xfrm>
            <a:off x="5653088" y="3427659"/>
            <a:ext cx="104775" cy="104775"/>
          </a:xfrm>
          <a:prstGeom prst="ellipse">
            <a:avLst/>
          </a:prstGeom>
          <a:solidFill>
            <a:srgbClr val="2869AF"/>
          </a:solidFill>
          <a:ln w="11430">
            <a:solidFill>
              <a:srgbClr val="FFFFFF"/>
            </a:solidFill>
          </a:ln>
        </p:spPr>
      </p:sp>
      <p:sp>
        <p:nvSpPr>
          <p:cNvPr id="2033" name="object-1-measurement-11">
            <a:extLst>
              <a:ext uri="{FF2B5EF4-FFF2-40B4-BE49-F238E27FC236}">
                <a16:creationId xmlns:a16="http://schemas.microsoft.com/office/drawing/2014/main" id="{10BFF167-0B57-4E4E-B3F5-2FD8CCB4C910}"/>
              </a:ext>
            </a:extLst>
          </p:cNvPr>
          <p:cNvSpPr>
            <a:spLocks noGrp="1"/>
          </p:cNvSpPr>
          <p:nvPr/>
        </p:nvSpPr>
        <p:spPr>
          <a:xfrm>
            <a:off x="6148388" y="3162281"/>
            <a:ext cx="104775" cy="104775"/>
          </a:xfrm>
          <a:prstGeom prst="ellipse">
            <a:avLst/>
          </a:prstGeom>
          <a:solidFill>
            <a:srgbClr val="2869AF"/>
          </a:solidFill>
          <a:ln w="11430">
            <a:solidFill>
              <a:srgbClr val="FFFFFF"/>
            </a:solidFill>
          </a:ln>
        </p:spPr>
      </p:sp>
      <p:sp>
        <p:nvSpPr>
          <p:cNvPr id="2034" name="object-2-measurement-0">
            <a:extLst>
              <a:ext uri="{FF2B5EF4-FFF2-40B4-BE49-F238E27FC236}">
                <a16:creationId xmlns:a16="http://schemas.microsoft.com/office/drawing/2014/main" id="{1C13A53E-C41F-45B9-9019-726ABABB7191}"/>
              </a:ext>
            </a:extLst>
          </p:cNvPr>
          <p:cNvSpPr>
            <a:spLocks noGrp="1"/>
          </p:cNvSpPr>
          <p:nvPr/>
        </p:nvSpPr>
        <p:spPr>
          <a:xfrm>
            <a:off x="1995488" y="4924393"/>
            <a:ext cx="104775" cy="104775"/>
          </a:xfrm>
          <a:prstGeom prst="ellipse">
            <a:avLst/>
          </a:prstGeom>
          <a:solidFill>
            <a:srgbClr val="237D7A"/>
          </a:solidFill>
          <a:ln w="11430">
            <a:solidFill>
              <a:srgbClr val="FFFFFF"/>
            </a:solidFill>
          </a:ln>
        </p:spPr>
      </p:sp>
      <p:sp>
        <p:nvSpPr>
          <p:cNvPr id="2035" name="object-2-measurement-1">
            <a:extLst>
              <a:ext uri="{FF2B5EF4-FFF2-40B4-BE49-F238E27FC236}">
                <a16:creationId xmlns:a16="http://schemas.microsoft.com/office/drawing/2014/main" id="{0C99A01B-6701-49EC-8BF3-88D4514F4FFE}"/>
              </a:ext>
            </a:extLst>
          </p:cNvPr>
          <p:cNvSpPr>
            <a:spLocks noGrp="1"/>
          </p:cNvSpPr>
          <p:nvPr/>
        </p:nvSpPr>
        <p:spPr>
          <a:xfrm>
            <a:off x="2681288" y="4610565"/>
            <a:ext cx="104775" cy="104775"/>
          </a:xfrm>
          <a:prstGeom prst="ellipse">
            <a:avLst/>
          </a:prstGeom>
          <a:solidFill>
            <a:srgbClr val="237D7A"/>
          </a:solidFill>
          <a:ln w="11430">
            <a:solidFill>
              <a:srgbClr val="FFFFFF"/>
            </a:solidFill>
          </a:ln>
        </p:spPr>
      </p:sp>
      <p:sp>
        <p:nvSpPr>
          <p:cNvPr id="2036" name="object-2-measurement-2">
            <a:extLst>
              <a:ext uri="{FF2B5EF4-FFF2-40B4-BE49-F238E27FC236}">
                <a16:creationId xmlns:a16="http://schemas.microsoft.com/office/drawing/2014/main" id="{31E2DAF8-FEC4-43F3-B57C-F9BB6A3098AF}"/>
              </a:ext>
            </a:extLst>
          </p:cNvPr>
          <p:cNvSpPr>
            <a:spLocks noGrp="1"/>
          </p:cNvSpPr>
          <p:nvPr/>
        </p:nvSpPr>
        <p:spPr>
          <a:xfrm>
            <a:off x="3348038" y="4550515"/>
            <a:ext cx="104775" cy="104775"/>
          </a:xfrm>
          <a:prstGeom prst="ellipse">
            <a:avLst/>
          </a:prstGeom>
          <a:solidFill>
            <a:srgbClr val="237D7A"/>
          </a:solidFill>
          <a:ln w="11430">
            <a:solidFill>
              <a:srgbClr val="FFFFFF"/>
            </a:solidFill>
          </a:ln>
        </p:spPr>
      </p:sp>
      <p:sp>
        <p:nvSpPr>
          <p:cNvPr id="2037" name="object-2-measurement-3">
            <a:extLst>
              <a:ext uri="{FF2B5EF4-FFF2-40B4-BE49-F238E27FC236}">
                <a16:creationId xmlns:a16="http://schemas.microsoft.com/office/drawing/2014/main" id="{AA2CD1BA-57A3-4BFC-BCBF-0B6620894BF4}"/>
              </a:ext>
            </a:extLst>
          </p:cNvPr>
          <p:cNvSpPr>
            <a:spLocks noGrp="1"/>
          </p:cNvSpPr>
          <p:nvPr/>
        </p:nvSpPr>
        <p:spPr>
          <a:xfrm>
            <a:off x="4033838" y="4392810"/>
            <a:ext cx="104775" cy="104775"/>
          </a:xfrm>
          <a:prstGeom prst="ellipse">
            <a:avLst/>
          </a:prstGeom>
          <a:solidFill>
            <a:srgbClr val="237D7A"/>
          </a:solidFill>
          <a:ln w="11430">
            <a:solidFill>
              <a:srgbClr val="FFFFFF"/>
            </a:solidFill>
          </a:ln>
        </p:spPr>
      </p:sp>
      <p:sp>
        <p:nvSpPr>
          <p:cNvPr id="2038" name="object-2-measurement-4">
            <a:extLst>
              <a:ext uri="{FF2B5EF4-FFF2-40B4-BE49-F238E27FC236}">
                <a16:creationId xmlns:a16="http://schemas.microsoft.com/office/drawing/2014/main" id="{10056F00-32B3-4709-B059-CAA38059785E}"/>
              </a:ext>
            </a:extLst>
          </p:cNvPr>
          <p:cNvSpPr>
            <a:spLocks noGrp="1"/>
          </p:cNvSpPr>
          <p:nvPr/>
        </p:nvSpPr>
        <p:spPr>
          <a:xfrm>
            <a:off x="4748213" y="5087118"/>
            <a:ext cx="104775" cy="104775"/>
          </a:xfrm>
          <a:prstGeom prst="ellipse">
            <a:avLst/>
          </a:prstGeom>
          <a:solidFill>
            <a:srgbClr val="237D7A"/>
          </a:solidFill>
          <a:ln w="11430">
            <a:solidFill>
              <a:srgbClr val="FFFFFF"/>
            </a:solidFill>
          </a:ln>
        </p:spPr>
      </p:sp>
      <p:sp>
        <p:nvSpPr>
          <p:cNvPr id="2039" name="object-2-measurement-5">
            <a:extLst>
              <a:ext uri="{FF2B5EF4-FFF2-40B4-BE49-F238E27FC236}">
                <a16:creationId xmlns:a16="http://schemas.microsoft.com/office/drawing/2014/main" id="{41786125-404C-48B0-8F31-0D8D8608013A}"/>
              </a:ext>
            </a:extLst>
          </p:cNvPr>
          <p:cNvSpPr>
            <a:spLocks noGrp="1"/>
          </p:cNvSpPr>
          <p:nvPr/>
        </p:nvSpPr>
        <p:spPr>
          <a:xfrm>
            <a:off x="5395913" y="4566868"/>
            <a:ext cx="104775" cy="104775"/>
          </a:xfrm>
          <a:prstGeom prst="ellipse">
            <a:avLst/>
          </a:prstGeom>
          <a:solidFill>
            <a:srgbClr val="237D7A"/>
          </a:solidFill>
          <a:ln w="11430">
            <a:solidFill>
              <a:srgbClr val="FFFFFF"/>
            </a:solidFill>
          </a:ln>
        </p:spPr>
      </p:sp>
      <p:sp>
        <p:nvSpPr>
          <p:cNvPr id="2040" name="object-2-measurement-6">
            <a:extLst>
              <a:ext uri="{FF2B5EF4-FFF2-40B4-BE49-F238E27FC236}">
                <a16:creationId xmlns:a16="http://schemas.microsoft.com/office/drawing/2014/main" id="{0084BE32-42BF-49C3-8F43-2EF59AFD61F2}"/>
              </a:ext>
            </a:extLst>
          </p:cNvPr>
          <p:cNvSpPr>
            <a:spLocks noGrp="1"/>
          </p:cNvSpPr>
          <p:nvPr/>
        </p:nvSpPr>
        <p:spPr>
          <a:xfrm>
            <a:off x="6138863" y="4632674"/>
            <a:ext cx="104775" cy="104775"/>
          </a:xfrm>
          <a:prstGeom prst="ellipse">
            <a:avLst/>
          </a:prstGeom>
          <a:solidFill>
            <a:srgbClr val="237D7A"/>
          </a:solidFill>
          <a:ln w="11430">
            <a:solidFill>
              <a:srgbClr val="FFFFFF"/>
            </a:solidFill>
          </a:ln>
        </p:spPr>
      </p:sp>
      <p:sp>
        <p:nvSpPr>
          <p:cNvPr id="2041" name="x-axis">
            <a:extLst>
              <a:ext uri="{FF2B5EF4-FFF2-40B4-BE49-F238E27FC236}">
                <a16:creationId xmlns:a16="http://schemas.microsoft.com/office/drawing/2014/main" id="{0097C841-E857-40D4-B7D8-5CD6846BC403}"/>
              </a:ext>
            </a:extLst>
          </p:cNvPr>
          <p:cNvSpPr>
            <a:spLocks noGrp="1"/>
          </p:cNvSpPr>
          <p:nvPr/>
        </p:nvSpPr>
        <p:spPr>
          <a:xfrm>
            <a:off x="1266825" y="2171700"/>
            <a:ext cx="953" cy="3143250"/>
          </a:xfrm>
          <a:custGeom>
            <a:avLst/>
            <a:gdLst/>
            <a:ahLst/>
            <a:cxnLst/>
            <a:rect l="0" t="0" r="0" b="0"/>
            <a:pathLst>
              <a:path w="953" h="3143250">
                <a:moveTo>
                  <a:pt x="0" y="3143250"/>
                </a:moveTo>
                <a:lnTo>
                  <a:pt x="0" y="0"/>
                </a:lnTo>
              </a:path>
            </a:pathLst>
          </a:custGeom>
          <a:noFill/>
          <a:ln w="17145">
            <a:solidFill>
              <a:srgbClr val="61707D"/>
            </a:solidFill>
            <a:prstDash val="solid"/>
          </a:ln>
        </p:spPr>
      </p:sp>
      <p:sp>
        <p:nvSpPr>
          <p:cNvPr id="2042" name="x-axis-arrow">
            <a:extLst>
              <a:ext uri="{FF2B5EF4-FFF2-40B4-BE49-F238E27FC236}">
                <a16:creationId xmlns:a16="http://schemas.microsoft.com/office/drawing/2014/main" id="{8273BA8B-C30B-4194-835C-68C5700C566D}"/>
              </a:ext>
            </a:extLst>
          </p:cNvPr>
          <p:cNvSpPr>
            <a:spLocks noGrp="1"/>
          </p:cNvSpPr>
          <p:nvPr/>
        </p:nvSpPr>
        <p:spPr>
          <a:xfrm>
            <a:off x="1209675" y="2047875"/>
            <a:ext cx="114300" cy="133350"/>
          </a:xfrm>
          <a:custGeom>
            <a:avLst/>
            <a:gdLst/>
            <a:ahLst/>
            <a:cxnLst/>
            <a:rect l="0" t="0" r="0" b="0"/>
            <a:pathLst>
              <a:path w="114300" h="133350">
                <a:moveTo>
                  <a:pt x="57150" y="0"/>
                </a:moveTo>
                <a:lnTo>
                  <a:pt x="114300" y="133350"/>
                </a:lnTo>
                <a:lnTo>
                  <a:pt x="0" y="133350"/>
                </a:lnTo>
                <a:close/>
              </a:path>
            </a:pathLst>
          </a:custGeom>
          <a:solidFill>
            <a:srgbClr val="61707D"/>
          </a:solidFill>
          <a:ln w="0">
            <a:noFill/>
          </a:ln>
        </p:spPr>
      </p:sp>
      <p:sp>
        <p:nvSpPr>
          <p:cNvPr id="2043" name="y-axis">
            <a:extLst>
              <a:ext uri="{FF2B5EF4-FFF2-40B4-BE49-F238E27FC236}">
                <a16:creationId xmlns:a16="http://schemas.microsoft.com/office/drawing/2014/main" id="{65075377-C90D-4901-A1E4-462AB6903C15}"/>
              </a:ext>
            </a:extLst>
          </p:cNvPr>
          <p:cNvSpPr>
            <a:spLocks noGrp="1"/>
          </p:cNvSpPr>
          <p:nvPr/>
        </p:nvSpPr>
        <p:spPr>
          <a:xfrm>
            <a:off x="1266825" y="5314950"/>
            <a:ext cx="9401175" cy="953"/>
          </a:xfrm>
          <a:custGeom>
            <a:avLst/>
            <a:gdLst/>
            <a:ahLst/>
            <a:cxnLst/>
            <a:rect l="0" t="0" r="0" b="0"/>
            <a:pathLst>
              <a:path w="9401175" h="953">
                <a:moveTo>
                  <a:pt x="0" y="0"/>
                </a:moveTo>
                <a:lnTo>
                  <a:pt x="9401175" y="0"/>
                </a:lnTo>
              </a:path>
            </a:pathLst>
          </a:custGeom>
          <a:noFill/>
          <a:ln w="17145">
            <a:solidFill>
              <a:srgbClr val="61707D"/>
            </a:solidFill>
            <a:prstDash val="solid"/>
          </a:ln>
        </p:spPr>
      </p:sp>
      <p:sp>
        <p:nvSpPr>
          <p:cNvPr id="2044" name="y-axis-arrow">
            <a:extLst>
              <a:ext uri="{FF2B5EF4-FFF2-40B4-BE49-F238E27FC236}">
                <a16:creationId xmlns:a16="http://schemas.microsoft.com/office/drawing/2014/main" id="{4ABA07EF-7ECD-4B04-9117-D78BB90E8ECA}"/>
              </a:ext>
            </a:extLst>
          </p:cNvPr>
          <p:cNvSpPr>
            <a:spLocks noGrp="1"/>
          </p:cNvSpPr>
          <p:nvPr/>
        </p:nvSpPr>
        <p:spPr>
          <a:xfrm>
            <a:off x="10668000" y="5257800"/>
            <a:ext cx="133350" cy="114300"/>
          </a:xfrm>
          <a:custGeom>
            <a:avLst/>
            <a:gdLst/>
            <a:ahLst/>
            <a:cxnLst/>
            <a:rect l="0" t="0" r="0" b="0"/>
            <a:pathLst>
              <a:path w="133350" h="114300">
                <a:moveTo>
                  <a:pt x="133350" y="57150"/>
                </a:moveTo>
                <a:lnTo>
                  <a:pt x="0" y="114300"/>
                </a:lnTo>
                <a:lnTo>
                  <a:pt x="0" y="0"/>
                </a:lnTo>
                <a:close/>
              </a:path>
            </a:pathLst>
          </a:custGeom>
          <a:solidFill>
            <a:srgbClr val="61707D"/>
          </a:solidFill>
          <a:ln w="0">
            <a:noFill/>
          </a:ln>
        </p:spPr>
      </p:sp>
      <p:sp>
        <p:nvSpPr>
          <p:cNvPr id="2045" name="camera-end-label">
            <a:extLst>
              <a:ext uri="{FF2B5EF4-FFF2-40B4-BE49-F238E27FC236}">
                <a16:creationId xmlns:a16="http://schemas.microsoft.com/office/drawing/2014/main" id="{C56FE90E-CF75-4C6C-85DB-EF89688738D5}"/>
              </a:ext>
            </a:extLst>
          </p:cNvPr>
          <p:cNvSpPr>
            <a:spLocks noGrp="1"/>
          </p:cNvSpPr>
          <p:nvPr/>
        </p:nvSpPr>
        <p:spPr>
          <a:xfrm>
            <a:off x="5467350" y="5400675"/>
            <a:ext cx="2333625" cy="295275"/>
          </a:xfrm>
          <a:prstGeom prst="rect">
            <a:avLst/>
          </a:prstGeom>
          <a:noFill/>
          <a:ln w="0">
            <a:noFill/>
          </a:ln>
        </p:spPr>
        <p:txBody>
          <a:bodyPr wrap="none" lIns="0" tIns="0" rIns="0" bIns="0" anchor="t">
            <a:noAutofit/>
          </a:bodyPr>
          <a:lstStyle/>
          <a:p>
            <a:pPr algn="l">
              <a:spcBef>
                <a:spcPts val="0"/>
              </a:spcBef>
              <a:spcAft>
                <a:spcPts val="0"/>
              </a:spcAft>
              <a:defRPr sz="1700">
                <a:solidFill>
                  <a:srgbClr val="61707D"/>
                </a:solidFill>
                <a:latin typeface="Calibri"/>
                <a:ea typeface="Calibri"/>
                <a:cs typeface="Calibri"/>
              </a:defRPr>
            </a:pPr>
            <a:r>
              <a:rPr sz="1700">
                <a:solidFill>
                  <a:srgbClr val="61707D"/>
                </a:solidFill>
                <a:latin typeface="Calibri"/>
                <a:ea typeface="Calibri"/>
                <a:cs typeface="Calibri"/>
              </a:rPr>
              <a:t>Ende Kamerabild</a:t>
            </a:r>
          </a:p>
        </p:txBody>
      </p:sp>
      <p:sp>
        <p:nvSpPr>
          <p:cNvPr id="2046" name="y-coordinate">
            <a:extLst>
              <a:ext uri="{FF2B5EF4-FFF2-40B4-BE49-F238E27FC236}">
                <a16:creationId xmlns:a16="http://schemas.microsoft.com/office/drawing/2014/main" id="{D3C8B699-E5A9-40E0-922A-BEA5F9F9BA83}"/>
              </a:ext>
            </a:extLst>
          </p:cNvPr>
          <p:cNvSpPr>
            <a:spLocks noGrp="1"/>
          </p:cNvSpPr>
          <p:nvPr/>
        </p:nvSpPr>
        <p:spPr>
          <a:xfrm>
            <a:off x="10874112" y="5167956"/>
            <a:ext cx="214520" cy="295275"/>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dirty="0">
                <a:solidFill>
                  <a:srgbClr val="61707D"/>
                </a:solidFill>
                <a:latin typeface="Calibri"/>
                <a:ea typeface="Calibri"/>
                <a:cs typeface="Calibri"/>
              </a:rPr>
              <a:t>y</a:t>
            </a:r>
          </a:p>
        </p:txBody>
      </p:sp>
      <p:sp>
        <p:nvSpPr>
          <p:cNvPr id="2047" name="legend-object-1-fit">
            <a:extLst>
              <a:ext uri="{FF2B5EF4-FFF2-40B4-BE49-F238E27FC236}">
                <a16:creationId xmlns:a16="http://schemas.microsoft.com/office/drawing/2014/main" id="{3E6340EA-A9AE-4E80-9ADD-BAFC2A953DB4}"/>
              </a:ext>
            </a:extLst>
          </p:cNvPr>
          <p:cNvSpPr>
            <a:spLocks noGrp="1"/>
          </p:cNvSpPr>
          <p:nvPr/>
        </p:nvSpPr>
        <p:spPr>
          <a:xfrm>
            <a:off x="3399448" y="5877753"/>
            <a:ext cx="542925" cy="953"/>
          </a:xfrm>
          <a:custGeom>
            <a:avLst/>
            <a:gdLst/>
            <a:ahLst/>
            <a:cxnLst/>
            <a:rect l="0" t="0" r="0" b="0"/>
            <a:pathLst>
              <a:path w="542925" h="953">
                <a:moveTo>
                  <a:pt x="0" y="0"/>
                </a:moveTo>
                <a:lnTo>
                  <a:pt x="542925" y="0"/>
                </a:lnTo>
              </a:path>
            </a:pathLst>
          </a:custGeom>
          <a:noFill/>
          <a:ln w="22860">
            <a:solidFill>
              <a:srgbClr val="2869AF"/>
            </a:solidFill>
            <a:prstDash val="dash"/>
          </a:ln>
        </p:spPr>
      </p:sp>
      <p:sp>
        <p:nvSpPr>
          <p:cNvPr id="2048" name="legend-object-1-point">
            <a:extLst>
              <a:ext uri="{FF2B5EF4-FFF2-40B4-BE49-F238E27FC236}">
                <a16:creationId xmlns:a16="http://schemas.microsoft.com/office/drawing/2014/main" id="{EB68C668-D96F-4013-B956-BED4D7FC3DB7}"/>
              </a:ext>
            </a:extLst>
          </p:cNvPr>
          <p:cNvSpPr>
            <a:spLocks noGrp="1"/>
          </p:cNvSpPr>
          <p:nvPr/>
        </p:nvSpPr>
        <p:spPr>
          <a:xfrm>
            <a:off x="3628048" y="5830128"/>
            <a:ext cx="95250" cy="95250"/>
          </a:xfrm>
          <a:prstGeom prst="ellipse">
            <a:avLst/>
          </a:prstGeom>
          <a:solidFill>
            <a:srgbClr val="2869AF"/>
          </a:solidFill>
          <a:ln w="11430">
            <a:solidFill>
              <a:srgbClr val="FFFFFF"/>
            </a:solidFill>
          </a:ln>
        </p:spPr>
        <p:txBody>
          <a:bodyPr/>
          <a:lstStyle/>
          <a:p>
            <a:endParaRPr lang="de-DE"/>
          </a:p>
        </p:txBody>
      </p:sp>
      <p:sp>
        <p:nvSpPr>
          <p:cNvPr id="2049" name="legend-object-1">
            <a:extLst>
              <a:ext uri="{FF2B5EF4-FFF2-40B4-BE49-F238E27FC236}">
                <a16:creationId xmlns:a16="http://schemas.microsoft.com/office/drawing/2014/main" id="{0EA94913-B955-4B44-9EBB-74ED571188EC}"/>
              </a:ext>
            </a:extLst>
          </p:cNvPr>
          <p:cNvSpPr>
            <a:spLocks noGrp="1"/>
          </p:cNvSpPr>
          <p:nvPr/>
        </p:nvSpPr>
        <p:spPr>
          <a:xfrm>
            <a:off x="4075723" y="5734878"/>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869AF"/>
                </a:solidFill>
                <a:latin typeface="Calibri"/>
                <a:ea typeface="Calibri"/>
                <a:cs typeface="Calibri"/>
              </a:defRPr>
            </a:pPr>
            <a:r>
              <a:rPr sz="1800">
                <a:solidFill>
                  <a:srgbClr val="2869AF"/>
                </a:solidFill>
                <a:latin typeface="Calibri"/>
                <a:ea typeface="Calibri"/>
                <a:cs typeface="Calibri"/>
              </a:rPr>
              <a:t>Objekt 1</a:t>
            </a:r>
          </a:p>
        </p:txBody>
      </p:sp>
      <p:sp>
        <p:nvSpPr>
          <p:cNvPr id="2050" name="legend-object-2-fit">
            <a:extLst>
              <a:ext uri="{FF2B5EF4-FFF2-40B4-BE49-F238E27FC236}">
                <a16:creationId xmlns:a16="http://schemas.microsoft.com/office/drawing/2014/main" id="{708E0098-9F8E-439D-98B5-C2CCC761C08D}"/>
              </a:ext>
            </a:extLst>
          </p:cNvPr>
          <p:cNvSpPr>
            <a:spLocks noGrp="1"/>
          </p:cNvSpPr>
          <p:nvPr/>
        </p:nvSpPr>
        <p:spPr>
          <a:xfrm>
            <a:off x="5178023" y="5877753"/>
            <a:ext cx="542925" cy="953"/>
          </a:xfrm>
          <a:custGeom>
            <a:avLst/>
            <a:gdLst/>
            <a:ahLst/>
            <a:cxnLst/>
            <a:rect l="0" t="0" r="0" b="0"/>
            <a:pathLst>
              <a:path w="542925" h="953">
                <a:moveTo>
                  <a:pt x="0" y="0"/>
                </a:moveTo>
                <a:lnTo>
                  <a:pt x="542925" y="0"/>
                </a:lnTo>
              </a:path>
            </a:pathLst>
          </a:custGeom>
          <a:noFill/>
          <a:ln w="22860">
            <a:solidFill>
              <a:srgbClr val="237D7A"/>
            </a:solidFill>
            <a:prstDash val="dash"/>
          </a:ln>
        </p:spPr>
        <p:txBody>
          <a:bodyPr/>
          <a:lstStyle/>
          <a:p>
            <a:endParaRPr lang="de-DE"/>
          </a:p>
        </p:txBody>
      </p:sp>
      <p:sp>
        <p:nvSpPr>
          <p:cNvPr id="2051" name="legend-object-2-point">
            <a:extLst>
              <a:ext uri="{FF2B5EF4-FFF2-40B4-BE49-F238E27FC236}">
                <a16:creationId xmlns:a16="http://schemas.microsoft.com/office/drawing/2014/main" id="{70CF4E9F-CCC4-449C-B95C-4B33B33EC334}"/>
              </a:ext>
            </a:extLst>
          </p:cNvPr>
          <p:cNvSpPr>
            <a:spLocks noGrp="1"/>
          </p:cNvSpPr>
          <p:nvPr/>
        </p:nvSpPr>
        <p:spPr>
          <a:xfrm>
            <a:off x="5406623" y="5830128"/>
            <a:ext cx="95250" cy="95250"/>
          </a:xfrm>
          <a:prstGeom prst="ellipse">
            <a:avLst/>
          </a:prstGeom>
          <a:solidFill>
            <a:srgbClr val="237D7A"/>
          </a:solidFill>
          <a:ln w="11430">
            <a:solidFill>
              <a:srgbClr val="FFFFFF"/>
            </a:solidFill>
          </a:ln>
        </p:spPr>
      </p:sp>
      <p:sp>
        <p:nvSpPr>
          <p:cNvPr id="2052" name="legend-object-2">
            <a:extLst>
              <a:ext uri="{FF2B5EF4-FFF2-40B4-BE49-F238E27FC236}">
                <a16:creationId xmlns:a16="http://schemas.microsoft.com/office/drawing/2014/main" id="{B776E6E8-2A05-4F71-BE60-53950CA97300}"/>
              </a:ext>
            </a:extLst>
          </p:cNvPr>
          <p:cNvSpPr>
            <a:spLocks noGrp="1"/>
          </p:cNvSpPr>
          <p:nvPr/>
        </p:nvSpPr>
        <p:spPr>
          <a:xfrm>
            <a:off x="5854298" y="5734878"/>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37D7A"/>
                </a:solidFill>
                <a:latin typeface="Calibri"/>
                <a:ea typeface="Calibri"/>
                <a:cs typeface="Calibri"/>
              </a:defRPr>
            </a:pPr>
            <a:r>
              <a:rPr sz="1800">
                <a:solidFill>
                  <a:srgbClr val="237D7A"/>
                </a:solidFill>
                <a:latin typeface="Calibri"/>
                <a:ea typeface="Calibri"/>
                <a:cs typeface="Calibri"/>
              </a:rPr>
              <a:t>Objekt 2</a:t>
            </a:r>
          </a:p>
        </p:txBody>
      </p:sp>
      <p:sp>
        <p:nvSpPr>
          <p:cNvPr id="2053" name="legend-common-line">
            <a:extLst>
              <a:ext uri="{FF2B5EF4-FFF2-40B4-BE49-F238E27FC236}">
                <a16:creationId xmlns:a16="http://schemas.microsoft.com/office/drawing/2014/main" id="{21289924-B33B-4D9A-9884-F6AA75F618B3}"/>
              </a:ext>
            </a:extLst>
          </p:cNvPr>
          <p:cNvSpPr>
            <a:spLocks noGrp="1"/>
          </p:cNvSpPr>
          <p:nvPr/>
        </p:nvSpPr>
        <p:spPr>
          <a:xfrm>
            <a:off x="6974786" y="5877753"/>
            <a:ext cx="552450" cy="953"/>
          </a:xfrm>
          <a:custGeom>
            <a:avLst/>
            <a:gdLst/>
            <a:ahLst/>
            <a:cxnLst/>
            <a:rect l="0" t="0" r="0" b="0"/>
            <a:pathLst>
              <a:path w="552450" h="953">
                <a:moveTo>
                  <a:pt x="0" y="0"/>
                </a:moveTo>
                <a:lnTo>
                  <a:pt x="552450" y="0"/>
                </a:lnTo>
              </a:path>
            </a:pathLst>
          </a:custGeom>
          <a:noFill/>
          <a:ln w="28575">
            <a:solidFill>
              <a:srgbClr val="C72C32"/>
            </a:solidFill>
            <a:prstDash val="solid"/>
          </a:ln>
        </p:spPr>
      </p:sp>
      <p:sp>
        <p:nvSpPr>
          <p:cNvPr id="2054" name="legend-common">
            <a:extLst>
              <a:ext uri="{FF2B5EF4-FFF2-40B4-BE49-F238E27FC236}">
                <a16:creationId xmlns:a16="http://schemas.microsoft.com/office/drawing/2014/main" id="{416C6A3A-2599-4DB1-938D-603A3488F5B7}"/>
              </a:ext>
            </a:extLst>
          </p:cNvPr>
          <p:cNvSpPr>
            <a:spLocks noGrp="1"/>
          </p:cNvSpPr>
          <p:nvPr/>
        </p:nvSpPr>
        <p:spPr>
          <a:xfrm>
            <a:off x="7660586" y="5734878"/>
            <a:ext cx="438150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C72C32"/>
                </a:solidFill>
                <a:latin typeface="Calibri"/>
                <a:ea typeface="Calibri"/>
                <a:cs typeface="Calibri"/>
              </a:defRPr>
            </a:pPr>
            <a:r>
              <a:rPr sz="1800">
                <a:solidFill>
                  <a:srgbClr val="C72C32"/>
                </a:solidFill>
                <a:latin typeface="Calibri"/>
                <a:ea typeface="Calibri"/>
                <a:cs typeface="Calibri"/>
              </a:rPr>
              <a:t>Gemeinsame Schätzung</a:t>
            </a:r>
          </a:p>
        </p:txBody>
      </p:sp>
      <p:sp>
        <p:nvSpPr>
          <p:cNvPr id="2055" name="schematic-caption">
            <a:extLst>
              <a:ext uri="{FF2B5EF4-FFF2-40B4-BE49-F238E27FC236}">
                <a16:creationId xmlns:a16="http://schemas.microsoft.com/office/drawing/2014/main" id="{9CFEBA4B-3614-451E-B1BB-D2A3724F9D86}"/>
              </a:ext>
            </a:extLst>
          </p:cNvPr>
          <p:cNvSpPr>
            <a:spLocks noGrp="1"/>
          </p:cNvSpPr>
          <p:nvPr/>
        </p:nvSpPr>
        <p:spPr>
          <a:xfrm>
            <a:off x="333375" y="1518259"/>
            <a:ext cx="4572000" cy="228600"/>
          </a:xfrm>
          <a:prstGeom prst="rect">
            <a:avLst/>
          </a:prstGeom>
          <a:noFill/>
          <a:ln w="0">
            <a:noFill/>
          </a:ln>
        </p:spPr>
        <p:txBody>
          <a:bodyPr wrap="none" lIns="0" tIns="0" rIns="0" bIns="0" anchor="t">
            <a:noAutofit/>
          </a:bodyPr>
          <a:lstStyle/>
          <a:p>
            <a:pPr algn="l">
              <a:spcBef>
                <a:spcPts val="0"/>
              </a:spcBef>
              <a:spcAft>
                <a:spcPts val="0"/>
              </a:spcAft>
              <a:defRPr sz="1200">
                <a:solidFill>
                  <a:srgbClr val="61707D"/>
                </a:solidFill>
                <a:latin typeface="Calibri"/>
                <a:ea typeface="Calibri"/>
                <a:cs typeface="Calibri"/>
              </a:defRPr>
            </a:pPr>
            <a:r>
              <a:rPr sz="1200" dirty="0" err="1">
                <a:solidFill>
                  <a:srgbClr val="61707D"/>
                </a:solidFill>
                <a:latin typeface="Calibri"/>
                <a:ea typeface="Calibri"/>
                <a:cs typeface="Calibri"/>
              </a:rPr>
              <a:t>Schematische</a:t>
            </a:r>
            <a:r>
              <a:rPr sz="1200" dirty="0">
                <a:solidFill>
                  <a:srgbClr val="61707D"/>
                </a:solidFill>
                <a:latin typeface="Calibri"/>
                <a:ea typeface="Calibri"/>
                <a:cs typeface="Calibri"/>
              </a:rPr>
              <a:t> </a:t>
            </a:r>
            <a:r>
              <a:rPr sz="1200" dirty="0" err="1">
                <a:solidFill>
                  <a:srgbClr val="61707D"/>
                </a:solidFill>
                <a:latin typeface="Calibri"/>
                <a:ea typeface="Calibri"/>
                <a:cs typeface="Calibri"/>
              </a:rPr>
              <a:t>Draufsicht</a:t>
            </a:r>
            <a:r>
              <a:rPr sz="1200" dirty="0">
                <a:solidFill>
                  <a:srgbClr val="61707D"/>
                </a:solidFill>
                <a:latin typeface="Calibri"/>
                <a:ea typeface="Calibri"/>
                <a:cs typeface="Calibri"/>
              </a:rPr>
              <a:t>, </a:t>
            </a:r>
            <a:r>
              <a:rPr sz="1200" dirty="0" err="1">
                <a:solidFill>
                  <a:srgbClr val="61707D"/>
                </a:solidFill>
                <a:latin typeface="Calibri"/>
                <a:ea typeface="Calibri"/>
                <a:cs typeface="Calibri"/>
              </a:rPr>
              <a:t>keine</a:t>
            </a:r>
            <a:r>
              <a:rPr sz="1200" dirty="0">
                <a:solidFill>
                  <a:srgbClr val="61707D"/>
                </a:solidFill>
                <a:latin typeface="Calibri"/>
                <a:ea typeface="Calibri"/>
                <a:cs typeface="Calibri"/>
              </a:rPr>
              <a:t> </a:t>
            </a:r>
            <a:r>
              <a:rPr sz="1200" dirty="0" err="1">
                <a:solidFill>
                  <a:srgbClr val="61707D"/>
                </a:solidFill>
                <a:latin typeface="Calibri"/>
                <a:ea typeface="Calibri"/>
                <a:cs typeface="Calibri"/>
              </a:rPr>
              <a:t>Messreihe</a:t>
            </a:r>
            <a:endParaRPr sz="1200" dirty="0">
              <a:solidFill>
                <a:srgbClr val="61707D"/>
              </a:solidFill>
              <a:latin typeface="Calibri"/>
              <a:ea typeface="Calibri"/>
              <a:cs typeface="Calibri"/>
            </a:endParaRPr>
          </a:p>
        </p:txBody>
      </p:sp>
      <p:sp>
        <p:nvSpPr>
          <p:cNvPr id="1029" name="slide-title">
            <a:extLst>
              <a:ext uri="{FF2B5EF4-FFF2-40B4-BE49-F238E27FC236}">
                <a16:creationId xmlns:a16="http://schemas.microsoft.com/office/drawing/2014/main" id="{B54BCDF7-FFDF-4370-9B80-864BD2837D09}"/>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dirty="0" err="1">
                <a:solidFill>
                  <a:srgbClr val="2869AF"/>
                </a:solidFill>
                <a:latin typeface="Calibri"/>
                <a:ea typeface="Calibri"/>
                <a:cs typeface="Calibri"/>
              </a:rPr>
              <a:t>Bewegungsschätzung</a:t>
            </a:r>
            <a:r>
              <a:rPr sz="3200" b="0" dirty="0">
                <a:solidFill>
                  <a:srgbClr val="2869AF"/>
                </a:solidFill>
                <a:latin typeface="Calibri"/>
                <a:ea typeface="Calibri"/>
                <a:cs typeface="Calibri"/>
              </a:rPr>
              <a:t> und </a:t>
            </a:r>
            <a:r>
              <a:rPr sz="3200" b="0" dirty="0" err="1">
                <a:solidFill>
                  <a:srgbClr val="2869AF"/>
                </a:solidFill>
                <a:latin typeface="Calibri"/>
                <a:ea typeface="Calibri"/>
                <a:cs typeface="Calibri"/>
              </a:rPr>
              <a:t>Vorhersage</a:t>
            </a:r>
            <a:endParaRPr sz="3200" b="0" dirty="0">
              <a:solidFill>
                <a:srgbClr val="2869AF"/>
              </a:solidFill>
              <a:latin typeface="Calibri"/>
              <a:ea typeface="Calibri"/>
              <a:cs typeface="Calibri"/>
            </a:endParaRP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09.10.2026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8</a:t>
            </a:fld>
            <a:endParaRPr lang="de-DE"/>
          </a:p>
        </p:txBody>
      </p:sp>
      <p:sp>
        <p:nvSpPr>
          <p:cNvPr id="2" name="Textfeld 1">
            <a:extLst>
              <a:ext uri="{FF2B5EF4-FFF2-40B4-BE49-F238E27FC236}">
                <a16:creationId xmlns:a16="http://schemas.microsoft.com/office/drawing/2014/main" id="{AFE4A7B7-E125-6DC4-0872-C0C51D0D4F8C}"/>
              </a:ext>
            </a:extLst>
          </p:cNvPr>
          <p:cNvSpPr txBox="1"/>
          <p:nvPr/>
        </p:nvSpPr>
        <p:spPr>
          <a:xfrm>
            <a:off x="11430000" y="6899564"/>
            <a:ext cx="0" cy="0"/>
          </a:xfrm>
          <a:prstGeom prst="rect">
            <a:avLst/>
          </a:prstGeom>
          <a:ln>
            <a:noFill/>
          </a:ln>
        </p:spPr>
        <p:txBody>
          <a:bodyPr wrap="none" lIns="0" tIns="0" rIns="0" bIns="0" rtlCol="0" anchor="t" anchorCtr="0">
            <a:noAutofit/>
          </a:bodyPr>
          <a:lstStyle/>
          <a:p>
            <a:pPr algn="l"/>
            <a:endParaRPr lang="de-DE" sz="2500" dirty="0" err="1">
              <a:latin typeface="Calibri" pitchFamily="2" charset="77"/>
            </a:endParaRPr>
          </a:p>
        </p:txBody>
      </p:sp>
      <p:cxnSp>
        <p:nvCxnSpPr>
          <p:cNvPr id="7" name="Gerade Verbindung mit Pfeil 6">
            <a:extLst>
              <a:ext uri="{FF2B5EF4-FFF2-40B4-BE49-F238E27FC236}">
                <a16:creationId xmlns:a16="http://schemas.microsoft.com/office/drawing/2014/main" id="{4F539BFE-09C1-8B22-90F1-DA5875211CC1}"/>
              </a:ext>
            </a:extLst>
          </p:cNvPr>
          <p:cNvCxnSpPr/>
          <p:nvPr/>
        </p:nvCxnSpPr>
        <p:spPr>
          <a:xfrm>
            <a:off x="9621982" y="1697180"/>
            <a:ext cx="803564" cy="0"/>
          </a:xfrm>
          <a:prstGeom prst="straightConnector1">
            <a:avLst/>
          </a:prstGeom>
          <a:ln w="19050">
            <a:solidFill>
              <a:srgbClr val="FF7E2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43781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C3D23-93B5-CE89-04CD-3DC6F6637948}"/>
            </a:ext>
          </a:extLst>
        </p:cNvPr>
        <p:cNvGrpSpPr/>
        <p:nvPr/>
      </p:nvGrpSpPr>
      <p:grpSpPr>
        <a:xfrm>
          <a:off x="0" y="0"/>
          <a:ext cx="0" cy="0"/>
          <a:chOff x="0" y="0"/>
          <a:chExt cx="0" cy="0"/>
        </a:xfrm>
      </p:grpSpPr>
      <p:grpSp>
        <p:nvGrpSpPr>
          <p:cNvPr id="2" name="Förderband (drehbare Gruppe)" descr="Bandfläche, Kamerabereich und Bandrollen. Messpunkte, Geraden, Achsen und Beschriftungen sind unabhängig bearbeitbar.">
            <a:extLst>
              <a:ext uri="{FF2B5EF4-FFF2-40B4-BE49-F238E27FC236}">
                <a16:creationId xmlns:a16="http://schemas.microsoft.com/office/drawing/2014/main" id="{26434613-5DBE-BEA3-0D0B-2B6E9F81A57E}"/>
              </a:ext>
            </a:extLst>
          </p:cNvPr>
          <p:cNvGrpSpPr/>
          <p:nvPr/>
        </p:nvGrpSpPr>
        <p:grpSpPr>
          <a:xfrm rot="21179339">
            <a:off x="1692851" y="2181224"/>
            <a:ext cx="9029700" cy="3314700"/>
            <a:chOff x="1438275" y="2162175"/>
            <a:chExt cx="9029700" cy="3314700"/>
          </a:xfrm>
        </p:grpSpPr>
        <p:sp>
          <p:nvSpPr>
            <p:cNvPr id="3" name="belt-surface">
              <a:extLst>
                <a:ext uri="{FF2B5EF4-FFF2-40B4-BE49-F238E27FC236}">
                  <a16:creationId xmlns:a16="http://schemas.microsoft.com/office/drawing/2014/main" id="{5600AE06-E05B-A66E-5B91-099F7D9AA264}"/>
                </a:ext>
              </a:extLst>
            </p:cNvPr>
            <p:cNvSpPr>
              <a:spLocks/>
            </p:cNvSpPr>
            <p:nvPr/>
          </p:nvSpPr>
          <p:spPr>
            <a:xfrm>
              <a:off x="1666875" y="2333625"/>
              <a:ext cx="8572500" cy="2952750"/>
            </a:xfrm>
            <a:prstGeom prst="rect">
              <a:avLst/>
            </a:prstGeom>
            <a:solidFill>
              <a:srgbClr val="EFF4F4"/>
            </a:solidFill>
            <a:ln w="0">
              <a:noFill/>
            </a:ln>
          </p:spPr>
        </p:sp>
        <p:sp>
          <p:nvSpPr>
            <p:cNvPr id="7" name="camera-area">
              <a:extLst>
                <a:ext uri="{FF2B5EF4-FFF2-40B4-BE49-F238E27FC236}">
                  <a16:creationId xmlns:a16="http://schemas.microsoft.com/office/drawing/2014/main" id="{F9A03585-E926-68A4-41BD-5A6454ED153F}"/>
                </a:ext>
              </a:extLst>
            </p:cNvPr>
            <p:cNvSpPr>
              <a:spLocks/>
            </p:cNvSpPr>
            <p:nvPr/>
          </p:nvSpPr>
          <p:spPr>
            <a:xfrm>
              <a:off x="1666875" y="2333625"/>
              <a:ext cx="4905375" cy="2952750"/>
            </a:xfrm>
            <a:prstGeom prst="rect">
              <a:avLst/>
            </a:prstGeom>
            <a:solidFill>
              <a:srgbClr val="E3EFF3"/>
            </a:solidFill>
            <a:ln w="0">
              <a:noFill/>
            </a:ln>
          </p:spPr>
        </p:sp>
        <p:sp>
          <p:nvSpPr>
            <p:cNvPr id="8" name="belt-upper-edge">
              <a:extLst>
                <a:ext uri="{FF2B5EF4-FFF2-40B4-BE49-F238E27FC236}">
                  <a16:creationId xmlns:a16="http://schemas.microsoft.com/office/drawing/2014/main" id="{B6710E29-4E9A-6649-024F-A3BB91DF8DB7}"/>
                </a:ext>
              </a:extLst>
            </p:cNvPr>
            <p:cNvSpPr>
              <a:spLocks/>
            </p:cNvSpPr>
            <p:nvPr/>
          </p:nvSpPr>
          <p:spPr>
            <a:xfrm>
              <a:off x="1666875" y="233362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9" name="belt-lower-edge">
              <a:extLst>
                <a:ext uri="{FF2B5EF4-FFF2-40B4-BE49-F238E27FC236}">
                  <a16:creationId xmlns:a16="http://schemas.microsoft.com/office/drawing/2014/main" id="{C1BFC463-D8DD-E488-7103-ED455F2C050D}"/>
                </a:ext>
              </a:extLst>
            </p:cNvPr>
            <p:cNvSpPr>
              <a:spLocks/>
            </p:cNvSpPr>
            <p:nvPr/>
          </p:nvSpPr>
          <p:spPr>
            <a:xfrm>
              <a:off x="1666875" y="528637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10" name="start-axle">
              <a:extLst>
                <a:ext uri="{FF2B5EF4-FFF2-40B4-BE49-F238E27FC236}">
                  <a16:creationId xmlns:a16="http://schemas.microsoft.com/office/drawing/2014/main" id="{A0676317-4574-F5F4-5F71-8C0B735DC095}"/>
                </a:ext>
              </a:extLst>
            </p:cNvPr>
            <p:cNvSpPr>
              <a:spLocks/>
            </p:cNvSpPr>
            <p:nvPr/>
          </p:nvSpPr>
          <p:spPr>
            <a:xfrm>
              <a:off x="15525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11" name="start-roller">
              <a:extLst>
                <a:ext uri="{FF2B5EF4-FFF2-40B4-BE49-F238E27FC236}">
                  <a16:creationId xmlns:a16="http://schemas.microsoft.com/office/drawing/2014/main" id="{6DB1B1D4-FF53-1F4F-B918-CD7F9BA56ACD}"/>
                </a:ext>
              </a:extLst>
            </p:cNvPr>
            <p:cNvSpPr>
              <a:spLocks/>
            </p:cNvSpPr>
            <p:nvPr/>
          </p:nvSpPr>
          <p:spPr>
            <a:xfrm>
              <a:off x="1438275" y="2257425"/>
              <a:ext cx="228600" cy="3105150"/>
            </a:xfrm>
            <a:prstGeom prst="roundRect">
              <a:avLst>
                <a:gd name="adj" fmla="val 33333"/>
              </a:avLst>
            </a:prstGeom>
            <a:solidFill>
              <a:srgbClr val="C9D2D8"/>
            </a:solidFill>
            <a:ln w="11430">
              <a:solidFill>
                <a:srgbClr val="7B8993"/>
              </a:solidFill>
            </a:ln>
          </p:spPr>
        </p:sp>
        <p:sp>
          <p:nvSpPr>
            <p:cNvPr id="12" name="start-roller-centre">
              <a:extLst>
                <a:ext uri="{FF2B5EF4-FFF2-40B4-BE49-F238E27FC236}">
                  <a16:creationId xmlns:a16="http://schemas.microsoft.com/office/drawing/2014/main" id="{5839CC34-D8EA-7FFD-3AFB-9EC096508616}"/>
                </a:ext>
              </a:extLst>
            </p:cNvPr>
            <p:cNvSpPr>
              <a:spLocks/>
            </p:cNvSpPr>
            <p:nvPr/>
          </p:nvSpPr>
          <p:spPr>
            <a:xfrm>
              <a:off x="15525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13" name="end-axle">
              <a:extLst>
                <a:ext uri="{FF2B5EF4-FFF2-40B4-BE49-F238E27FC236}">
                  <a16:creationId xmlns:a16="http://schemas.microsoft.com/office/drawing/2014/main" id="{2B9E2674-A320-E41A-62F6-F60CE938F7E4}"/>
                </a:ext>
              </a:extLst>
            </p:cNvPr>
            <p:cNvSpPr>
              <a:spLocks/>
            </p:cNvSpPr>
            <p:nvPr/>
          </p:nvSpPr>
          <p:spPr>
            <a:xfrm>
              <a:off x="103536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14" name="end-roller">
              <a:extLst>
                <a:ext uri="{FF2B5EF4-FFF2-40B4-BE49-F238E27FC236}">
                  <a16:creationId xmlns:a16="http://schemas.microsoft.com/office/drawing/2014/main" id="{6EB2E68C-0424-F220-FFDB-A7C55628C29E}"/>
                </a:ext>
              </a:extLst>
            </p:cNvPr>
            <p:cNvSpPr>
              <a:spLocks/>
            </p:cNvSpPr>
            <p:nvPr/>
          </p:nvSpPr>
          <p:spPr>
            <a:xfrm>
              <a:off x="10239375" y="2257425"/>
              <a:ext cx="228600" cy="3105150"/>
            </a:xfrm>
            <a:prstGeom prst="roundRect">
              <a:avLst>
                <a:gd name="adj" fmla="val 33333"/>
              </a:avLst>
            </a:prstGeom>
            <a:solidFill>
              <a:srgbClr val="C9D2D8"/>
            </a:solidFill>
            <a:ln w="11430">
              <a:solidFill>
                <a:srgbClr val="7B8993"/>
              </a:solidFill>
            </a:ln>
          </p:spPr>
        </p:sp>
        <p:sp>
          <p:nvSpPr>
            <p:cNvPr id="15" name="end-roller-centre">
              <a:extLst>
                <a:ext uri="{FF2B5EF4-FFF2-40B4-BE49-F238E27FC236}">
                  <a16:creationId xmlns:a16="http://schemas.microsoft.com/office/drawing/2014/main" id="{2509C7FE-3267-ED62-2CF3-0304B470E98D}"/>
                </a:ext>
              </a:extLst>
            </p:cNvPr>
            <p:cNvSpPr>
              <a:spLocks/>
            </p:cNvSpPr>
            <p:nvPr/>
          </p:nvSpPr>
          <p:spPr>
            <a:xfrm>
              <a:off x="103536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16" name="camera-boundary">
              <a:extLst>
                <a:ext uri="{FF2B5EF4-FFF2-40B4-BE49-F238E27FC236}">
                  <a16:creationId xmlns:a16="http://schemas.microsoft.com/office/drawing/2014/main" id="{C8C0534D-6A0B-5AAC-4DF7-28F3CE68B883}"/>
                </a:ext>
              </a:extLst>
            </p:cNvPr>
            <p:cNvSpPr>
              <a:spLocks/>
            </p:cNvSpPr>
            <p:nvPr/>
          </p:nvSpPr>
          <p:spPr>
            <a:xfrm>
              <a:off x="6572250" y="2333625"/>
              <a:ext cx="953" cy="2952750"/>
            </a:xfrm>
            <a:custGeom>
              <a:avLst/>
              <a:gdLst/>
              <a:ahLst/>
              <a:cxnLst/>
              <a:rect l="0" t="0" r="0" b="0"/>
              <a:pathLst>
                <a:path w="953" h="2952750">
                  <a:moveTo>
                    <a:pt x="0" y="0"/>
                  </a:moveTo>
                  <a:lnTo>
                    <a:pt x="0" y="2952750"/>
                  </a:lnTo>
                </a:path>
              </a:pathLst>
            </a:custGeom>
            <a:noFill/>
            <a:ln w="17145">
              <a:solidFill>
                <a:srgbClr val="61707D"/>
              </a:solidFill>
              <a:prstDash val="dash"/>
            </a:ln>
          </p:spPr>
        </p:sp>
      </p:grpSp>
      <p:sp>
        <p:nvSpPr>
          <p:cNvPr id="2056" name="history-label">
            <a:extLst>
              <a:ext uri="{FF2B5EF4-FFF2-40B4-BE49-F238E27FC236}">
                <a16:creationId xmlns:a16="http://schemas.microsoft.com/office/drawing/2014/main" id="{F0B2CE1A-B67C-4075-53A6-3BDAAEDCE327}"/>
              </a:ext>
            </a:extLst>
          </p:cNvPr>
          <p:cNvSpPr>
            <a:spLocks noGrp="1"/>
          </p:cNvSpPr>
          <p:nvPr/>
        </p:nvSpPr>
        <p:spPr>
          <a:xfrm>
            <a:off x="333375" y="1200150"/>
            <a:ext cx="6191250" cy="409575"/>
          </a:xfrm>
          <a:prstGeom prst="rect">
            <a:avLst/>
          </a:prstGeom>
          <a:noFill/>
          <a:ln w="0">
            <a:noFill/>
          </a:ln>
        </p:spPr>
        <p:txBody>
          <a:bodyPr wrap="none" lIns="0" tIns="0" rIns="0" bIns="0" anchor="t">
            <a:noAutofit/>
          </a:bodyPr>
          <a:lstStyle/>
          <a:p>
            <a:pPr algn="l">
              <a:spcBef>
                <a:spcPts val="0"/>
              </a:spcBef>
              <a:spcAft>
                <a:spcPts val="0"/>
              </a:spcAft>
              <a:defRPr sz="2200">
                <a:solidFill>
                  <a:srgbClr val="2869AF"/>
                </a:solidFill>
                <a:latin typeface="Calibri"/>
                <a:ea typeface="Calibri"/>
                <a:cs typeface="Calibri"/>
              </a:defRPr>
            </a:pPr>
            <a:r>
              <a:rPr sz="2200" dirty="0" err="1">
                <a:solidFill>
                  <a:srgbClr val="2869AF"/>
                </a:solidFill>
                <a:latin typeface="Calibri"/>
                <a:ea typeface="Calibri"/>
                <a:cs typeface="Calibri"/>
              </a:rPr>
              <a:t>Positionshistorie</a:t>
            </a:r>
            <a:r>
              <a:rPr lang="de-DE" sz="2200" dirty="0">
                <a:solidFill>
                  <a:srgbClr val="2869AF"/>
                </a:solidFill>
                <a:latin typeface="Calibri"/>
                <a:ea typeface="Calibri"/>
                <a:cs typeface="Calibri"/>
              </a:rPr>
              <a:t>; zeitlich einheitliche Abstände </a:t>
            </a:r>
            <a:endParaRPr sz="2200" dirty="0">
              <a:solidFill>
                <a:srgbClr val="2869AF"/>
              </a:solidFill>
              <a:latin typeface="Calibri"/>
              <a:ea typeface="Calibri"/>
              <a:cs typeface="Calibri"/>
            </a:endParaRPr>
          </a:p>
        </p:txBody>
      </p:sp>
      <p:sp>
        <p:nvSpPr>
          <p:cNvPr id="2002" name="x-coordinate">
            <a:extLst>
              <a:ext uri="{FF2B5EF4-FFF2-40B4-BE49-F238E27FC236}">
                <a16:creationId xmlns:a16="http://schemas.microsoft.com/office/drawing/2014/main" id="{3C4645FB-49B2-7CF4-47B1-275C265220F4}"/>
              </a:ext>
            </a:extLst>
          </p:cNvPr>
          <p:cNvSpPr>
            <a:spLocks noGrp="1"/>
          </p:cNvSpPr>
          <p:nvPr/>
        </p:nvSpPr>
        <p:spPr>
          <a:xfrm>
            <a:off x="1222099" y="1790516"/>
            <a:ext cx="163582"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dirty="0">
                <a:solidFill>
                  <a:srgbClr val="61707D"/>
                </a:solidFill>
                <a:latin typeface="Calibri"/>
                <a:ea typeface="Calibri"/>
                <a:cs typeface="Calibri"/>
              </a:rPr>
              <a:t>x</a:t>
            </a:r>
          </a:p>
        </p:txBody>
      </p:sp>
      <p:sp>
        <p:nvSpPr>
          <p:cNvPr id="2003" name="camera-label">
            <a:extLst>
              <a:ext uri="{FF2B5EF4-FFF2-40B4-BE49-F238E27FC236}">
                <a16:creationId xmlns:a16="http://schemas.microsoft.com/office/drawing/2014/main" id="{700BF985-5375-B074-DA5E-B90E8495D705}"/>
              </a:ext>
            </a:extLst>
          </p:cNvPr>
          <p:cNvSpPr>
            <a:spLocks noGrp="1"/>
          </p:cNvSpPr>
          <p:nvPr/>
        </p:nvSpPr>
        <p:spPr>
          <a:xfrm>
            <a:off x="2428875" y="1924050"/>
            <a:ext cx="3143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2869AF"/>
                </a:solidFill>
                <a:latin typeface="Calibri"/>
                <a:ea typeface="Calibri"/>
                <a:cs typeface="Calibri"/>
              </a:defRPr>
            </a:pPr>
            <a:r>
              <a:rPr sz="2000">
                <a:solidFill>
                  <a:srgbClr val="2869AF"/>
                </a:solidFill>
                <a:latin typeface="Calibri"/>
                <a:ea typeface="Calibri"/>
                <a:cs typeface="Calibri"/>
              </a:rPr>
              <a:t>Kamerabereich</a:t>
            </a:r>
          </a:p>
        </p:txBody>
      </p:sp>
      <p:sp>
        <p:nvSpPr>
          <p:cNvPr id="2004" name="prediction-label">
            <a:extLst>
              <a:ext uri="{FF2B5EF4-FFF2-40B4-BE49-F238E27FC236}">
                <a16:creationId xmlns:a16="http://schemas.microsoft.com/office/drawing/2014/main" id="{26A50858-BA4B-F13D-BC59-F3E37846DDBF}"/>
              </a:ext>
            </a:extLst>
          </p:cNvPr>
          <p:cNvSpPr>
            <a:spLocks noGrp="1"/>
          </p:cNvSpPr>
          <p:nvPr/>
        </p:nvSpPr>
        <p:spPr>
          <a:xfrm>
            <a:off x="7848600" y="1924050"/>
            <a:ext cx="2381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61707D"/>
                </a:solidFill>
                <a:latin typeface="Calibri"/>
                <a:ea typeface="Calibri"/>
                <a:cs typeface="Calibri"/>
              </a:defRPr>
            </a:pPr>
            <a:r>
              <a:rPr sz="2000">
                <a:solidFill>
                  <a:srgbClr val="61707D"/>
                </a:solidFill>
                <a:latin typeface="Calibri"/>
                <a:ea typeface="Calibri"/>
                <a:cs typeface="Calibri"/>
              </a:rPr>
              <a:t>Vorhersage</a:t>
            </a:r>
          </a:p>
        </p:txBody>
      </p:sp>
      <p:sp>
        <p:nvSpPr>
          <p:cNvPr id="2019" name="object-1-fit">
            <a:extLst>
              <a:ext uri="{FF2B5EF4-FFF2-40B4-BE49-F238E27FC236}">
                <a16:creationId xmlns:a16="http://schemas.microsoft.com/office/drawing/2014/main" id="{09172618-A906-C2B4-B54C-78C4152F847E}"/>
              </a:ext>
            </a:extLst>
          </p:cNvPr>
          <p:cNvSpPr>
            <a:spLocks noGrp="1"/>
          </p:cNvSpPr>
          <p:nvPr/>
        </p:nvSpPr>
        <p:spPr>
          <a:xfrm>
            <a:off x="1762125" y="2520768"/>
            <a:ext cx="8905875" cy="1386441"/>
          </a:xfrm>
          <a:custGeom>
            <a:avLst/>
            <a:gdLst/>
            <a:ahLst/>
            <a:cxnLst/>
            <a:rect l="0" t="0" r="0" b="0"/>
            <a:pathLst>
              <a:path w="8905875" h="1386441">
                <a:moveTo>
                  <a:pt x="0" y="1386441"/>
                </a:moveTo>
                <a:lnTo>
                  <a:pt x="8905875" y="0"/>
                </a:lnTo>
              </a:path>
            </a:pathLst>
          </a:custGeom>
          <a:noFill/>
          <a:ln w="22860">
            <a:solidFill>
              <a:srgbClr val="2869AF"/>
            </a:solidFill>
            <a:prstDash val="dash"/>
          </a:ln>
        </p:spPr>
      </p:sp>
      <p:sp>
        <p:nvSpPr>
          <p:cNvPr id="2020" name="object-2-fit">
            <a:extLst>
              <a:ext uri="{FF2B5EF4-FFF2-40B4-BE49-F238E27FC236}">
                <a16:creationId xmlns:a16="http://schemas.microsoft.com/office/drawing/2014/main" id="{BDF09334-253B-91DE-8381-F07A10BB38E5}"/>
              </a:ext>
            </a:extLst>
          </p:cNvPr>
          <p:cNvSpPr>
            <a:spLocks noGrp="1"/>
          </p:cNvSpPr>
          <p:nvPr/>
        </p:nvSpPr>
        <p:spPr>
          <a:xfrm>
            <a:off x="1762125" y="4044875"/>
            <a:ext cx="8905875" cy="829377"/>
          </a:xfrm>
          <a:custGeom>
            <a:avLst/>
            <a:gdLst/>
            <a:ahLst/>
            <a:cxnLst/>
            <a:rect l="0" t="0" r="0" b="0"/>
            <a:pathLst>
              <a:path w="8905875" h="829377">
                <a:moveTo>
                  <a:pt x="0" y="829377"/>
                </a:moveTo>
                <a:lnTo>
                  <a:pt x="8905875" y="0"/>
                </a:lnTo>
              </a:path>
            </a:pathLst>
          </a:custGeom>
          <a:noFill/>
          <a:ln w="22860">
            <a:solidFill>
              <a:srgbClr val="237D7A"/>
            </a:solidFill>
            <a:prstDash val="dash"/>
          </a:ln>
        </p:spPr>
      </p:sp>
      <p:sp>
        <p:nvSpPr>
          <p:cNvPr id="2021" name="common-direction">
            <a:extLst>
              <a:ext uri="{FF2B5EF4-FFF2-40B4-BE49-F238E27FC236}">
                <a16:creationId xmlns:a16="http://schemas.microsoft.com/office/drawing/2014/main" id="{34775B14-DABC-A889-E54E-494DB9DDFE90}"/>
              </a:ext>
            </a:extLst>
          </p:cNvPr>
          <p:cNvSpPr>
            <a:spLocks noGrp="1"/>
          </p:cNvSpPr>
          <p:nvPr/>
        </p:nvSpPr>
        <p:spPr>
          <a:xfrm>
            <a:off x="1762125" y="3282821"/>
            <a:ext cx="8905875" cy="1107909"/>
          </a:xfrm>
          <a:custGeom>
            <a:avLst/>
            <a:gdLst/>
            <a:ahLst/>
            <a:cxnLst/>
            <a:rect l="0" t="0" r="0" b="0"/>
            <a:pathLst>
              <a:path w="8905875" h="1107909">
                <a:moveTo>
                  <a:pt x="0" y="1107909"/>
                </a:moveTo>
                <a:lnTo>
                  <a:pt x="8905875" y="0"/>
                </a:lnTo>
              </a:path>
            </a:pathLst>
          </a:custGeom>
          <a:noFill/>
          <a:ln w="28575">
            <a:solidFill>
              <a:srgbClr val="C72C32"/>
            </a:solidFill>
            <a:prstDash val="solid"/>
          </a:ln>
        </p:spPr>
      </p:sp>
      <p:sp>
        <p:nvSpPr>
          <p:cNvPr id="2022" name="object-1-measurement-0">
            <a:extLst>
              <a:ext uri="{FF2B5EF4-FFF2-40B4-BE49-F238E27FC236}">
                <a16:creationId xmlns:a16="http://schemas.microsoft.com/office/drawing/2014/main" id="{FB624A1F-B8E3-AD05-FC60-C0F2302D8F00}"/>
              </a:ext>
            </a:extLst>
          </p:cNvPr>
          <p:cNvSpPr>
            <a:spLocks noGrp="1"/>
          </p:cNvSpPr>
          <p:nvPr/>
        </p:nvSpPr>
        <p:spPr>
          <a:xfrm>
            <a:off x="2043113" y="3899106"/>
            <a:ext cx="104775" cy="104775"/>
          </a:xfrm>
          <a:prstGeom prst="ellipse">
            <a:avLst/>
          </a:prstGeom>
          <a:solidFill>
            <a:srgbClr val="2869AF"/>
          </a:solidFill>
          <a:ln w="11430">
            <a:solidFill>
              <a:srgbClr val="FFFFFF"/>
            </a:solidFill>
          </a:ln>
        </p:spPr>
      </p:sp>
      <p:sp>
        <p:nvSpPr>
          <p:cNvPr id="2023" name="object-1-measurement-1">
            <a:extLst>
              <a:ext uri="{FF2B5EF4-FFF2-40B4-BE49-F238E27FC236}">
                <a16:creationId xmlns:a16="http://schemas.microsoft.com/office/drawing/2014/main" id="{29EE9256-8AB3-0223-845E-AD158CC389E1}"/>
              </a:ext>
            </a:extLst>
          </p:cNvPr>
          <p:cNvSpPr>
            <a:spLocks noGrp="1"/>
          </p:cNvSpPr>
          <p:nvPr/>
        </p:nvSpPr>
        <p:spPr>
          <a:xfrm>
            <a:off x="2366963" y="3661000"/>
            <a:ext cx="104775" cy="104775"/>
          </a:xfrm>
          <a:prstGeom prst="ellipse">
            <a:avLst/>
          </a:prstGeom>
          <a:solidFill>
            <a:srgbClr val="2869AF"/>
          </a:solidFill>
          <a:ln w="11430">
            <a:solidFill>
              <a:srgbClr val="FFFFFF"/>
            </a:solidFill>
          </a:ln>
        </p:spPr>
      </p:sp>
      <p:sp>
        <p:nvSpPr>
          <p:cNvPr id="2024" name="object-1-measurement-2">
            <a:extLst>
              <a:ext uri="{FF2B5EF4-FFF2-40B4-BE49-F238E27FC236}">
                <a16:creationId xmlns:a16="http://schemas.microsoft.com/office/drawing/2014/main" id="{4EF5BDE2-85CC-0315-5F24-2C610F9606A7}"/>
              </a:ext>
            </a:extLst>
          </p:cNvPr>
          <p:cNvSpPr>
            <a:spLocks noGrp="1"/>
          </p:cNvSpPr>
          <p:nvPr/>
        </p:nvSpPr>
        <p:spPr>
          <a:xfrm>
            <a:off x="2757488" y="3765518"/>
            <a:ext cx="104775" cy="104775"/>
          </a:xfrm>
          <a:prstGeom prst="ellipse">
            <a:avLst/>
          </a:prstGeom>
          <a:solidFill>
            <a:srgbClr val="2869AF"/>
          </a:solidFill>
          <a:ln w="11430">
            <a:solidFill>
              <a:srgbClr val="FFFFFF"/>
            </a:solidFill>
          </a:ln>
        </p:spPr>
      </p:sp>
      <p:sp>
        <p:nvSpPr>
          <p:cNvPr id="2025" name="object-1-measurement-3">
            <a:extLst>
              <a:ext uri="{FF2B5EF4-FFF2-40B4-BE49-F238E27FC236}">
                <a16:creationId xmlns:a16="http://schemas.microsoft.com/office/drawing/2014/main" id="{0073AC76-79AD-37D0-75E7-F26CD7EFBAF0}"/>
              </a:ext>
            </a:extLst>
          </p:cNvPr>
          <p:cNvSpPr>
            <a:spLocks noGrp="1"/>
          </p:cNvSpPr>
          <p:nvPr/>
        </p:nvSpPr>
        <p:spPr>
          <a:xfrm>
            <a:off x="3090863" y="3384795"/>
            <a:ext cx="104775" cy="104775"/>
          </a:xfrm>
          <a:prstGeom prst="ellipse">
            <a:avLst/>
          </a:prstGeom>
          <a:solidFill>
            <a:srgbClr val="2869AF"/>
          </a:solidFill>
          <a:ln w="11430">
            <a:solidFill>
              <a:srgbClr val="FFFFFF"/>
            </a:solidFill>
          </a:ln>
        </p:spPr>
      </p:sp>
      <p:sp>
        <p:nvSpPr>
          <p:cNvPr id="2026" name="object-1-measurement-4">
            <a:extLst>
              <a:ext uri="{FF2B5EF4-FFF2-40B4-BE49-F238E27FC236}">
                <a16:creationId xmlns:a16="http://schemas.microsoft.com/office/drawing/2014/main" id="{DCFB492F-4AD2-A917-1167-FD50142A8F18}"/>
              </a:ext>
            </a:extLst>
          </p:cNvPr>
          <p:cNvSpPr>
            <a:spLocks noGrp="1"/>
          </p:cNvSpPr>
          <p:nvPr/>
        </p:nvSpPr>
        <p:spPr>
          <a:xfrm>
            <a:off x="3452813" y="3634730"/>
            <a:ext cx="104775" cy="104775"/>
          </a:xfrm>
          <a:prstGeom prst="ellipse">
            <a:avLst/>
          </a:prstGeom>
          <a:solidFill>
            <a:srgbClr val="2869AF"/>
          </a:solidFill>
          <a:ln w="11430">
            <a:solidFill>
              <a:srgbClr val="FFFFFF"/>
            </a:solidFill>
          </a:ln>
        </p:spPr>
      </p:sp>
      <p:sp>
        <p:nvSpPr>
          <p:cNvPr id="2027" name="object-1-measurement-5">
            <a:extLst>
              <a:ext uri="{FF2B5EF4-FFF2-40B4-BE49-F238E27FC236}">
                <a16:creationId xmlns:a16="http://schemas.microsoft.com/office/drawing/2014/main" id="{2EB1D122-84AF-494D-EB82-7A45D1E3D1D9}"/>
              </a:ext>
            </a:extLst>
          </p:cNvPr>
          <p:cNvSpPr>
            <a:spLocks noGrp="1"/>
          </p:cNvSpPr>
          <p:nvPr/>
        </p:nvSpPr>
        <p:spPr>
          <a:xfrm>
            <a:off x="3871913" y="3514730"/>
            <a:ext cx="104775" cy="104775"/>
          </a:xfrm>
          <a:prstGeom prst="ellipse">
            <a:avLst/>
          </a:prstGeom>
          <a:solidFill>
            <a:srgbClr val="2869AF"/>
          </a:solidFill>
          <a:ln w="11430">
            <a:solidFill>
              <a:srgbClr val="FFFFFF"/>
            </a:solidFill>
          </a:ln>
        </p:spPr>
      </p:sp>
      <p:sp>
        <p:nvSpPr>
          <p:cNvPr id="2028" name="object-1-measurement-6">
            <a:extLst>
              <a:ext uri="{FF2B5EF4-FFF2-40B4-BE49-F238E27FC236}">
                <a16:creationId xmlns:a16="http://schemas.microsoft.com/office/drawing/2014/main" id="{1AE45EB2-00A5-1704-98C3-E0A72D9CA3FA}"/>
              </a:ext>
            </a:extLst>
          </p:cNvPr>
          <p:cNvSpPr>
            <a:spLocks noGrp="1"/>
          </p:cNvSpPr>
          <p:nvPr/>
        </p:nvSpPr>
        <p:spPr>
          <a:xfrm>
            <a:off x="4233863" y="3567541"/>
            <a:ext cx="104775" cy="104775"/>
          </a:xfrm>
          <a:prstGeom prst="ellipse">
            <a:avLst/>
          </a:prstGeom>
          <a:solidFill>
            <a:srgbClr val="2869AF"/>
          </a:solidFill>
          <a:ln w="11430">
            <a:solidFill>
              <a:srgbClr val="FFFFFF"/>
            </a:solidFill>
          </a:ln>
        </p:spPr>
      </p:sp>
      <p:sp>
        <p:nvSpPr>
          <p:cNvPr id="2029" name="object-1-measurement-7">
            <a:extLst>
              <a:ext uri="{FF2B5EF4-FFF2-40B4-BE49-F238E27FC236}">
                <a16:creationId xmlns:a16="http://schemas.microsoft.com/office/drawing/2014/main" id="{CAB1764B-DA5A-4992-7C62-F7045066F9F2}"/>
              </a:ext>
            </a:extLst>
          </p:cNvPr>
          <p:cNvSpPr>
            <a:spLocks noGrp="1"/>
          </p:cNvSpPr>
          <p:nvPr/>
        </p:nvSpPr>
        <p:spPr>
          <a:xfrm>
            <a:off x="4595813" y="3095651"/>
            <a:ext cx="104775" cy="104775"/>
          </a:xfrm>
          <a:prstGeom prst="ellipse">
            <a:avLst/>
          </a:prstGeom>
          <a:solidFill>
            <a:srgbClr val="2869AF"/>
          </a:solidFill>
          <a:ln w="11430">
            <a:solidFill>
              <a:srgbClr val="FFFFFF"/>
            </a:solidFill>
          </a:ln>
        </p:spPr>
      </p:sp>
      <p:sp>
        <p:nvSpPr>
          <p:cNvPr id="2030" name="object-1-measurement-8">
            <a:extLst>
              <a:ext uri="{FF2B5EF4-FFF2-40B4-BE49-F238E27FC236}">
                <a16:creationId xmlns:a16="http://schemas.microsoft.com/office/drawing/2014/main" id="{18093651-E0F1-A6CD-DA97-E45A1AFF6A64}"/>
              </a:ext>
            </a:extLst>
          </p:cNvPr>
          <p:cNvSpPr>
            <a:spLocks noGrp="1"/>
          </p:cNvSpPr>
          <p:nvPr/>
        </p:nvSpPr>
        <p:spPr>
          <a:xfrm>
            <a:off x="4948238" y="3433953"/>
            <a:ext cx="104775" cy="104775"/>
          </a:xfrm>
          <a:prstGeom prst="ellipse">
            <a:avLst/>
          </a:prstGeom>
          <a:solidFill>
            <a:srgbClr val="2869AF"/>
          </a:solidFill>
          <a:ln w="11430">
            <a:solidFill>
              <a:srgbClr val="FFFFFF"/>
            </a:solidFill>
          </a:ln>
        </p:spPr>
      </p:sp>
      <p:sp>
        <p:nvSpPr>
          <p:cNvPr id="2031" name="object-1-measurement-9">
            <a:extLst>
              <a:ext uri="{FF2B5EF4-FFF2-40B4-BE49-F238E27FC236}">
                <a16:creationId xmlns:a16="http://schemas.microsoft.com/office/drawing/2014/main" id="{0CF683A4-03FA-9DA8-9462-6244965EA12A}"/>
              </a:ext>
            </a:extLst>
          </p:cNvPr>
          <p:cNvSpPr>
            <a:spLocks noGrp="1"/>
          </p:cNvSpPr>
          <p:nvPr/>
        </p:nvSpPr>
        <p:spPr>
          <a:xfrm>
            <a:off x="5310188" y="3199771"/>
            <a:ext cx="104775" cy="104775"/>
          </a:xfrm>
          <a:prstGeom prst="ellipse">
            <a:avLst/>
          </a:prstGeom>
          <a:solidFill>
            <a:srgbClr val="2869AF"/>
          </a:solidFill>
          <a:ln w="11430">
            <a:solidFill>
              <a:srgbClr val="FFFFFF"/>
            </a:solidFill>
          </a:ln>
        </p:spPr>
      </p:sp>
      <p:sp>
        <p:nvSpPr>
          <p:cNvPr id="2032" name="object-1-measurement-10">
            <a:extLst>
              <a:ext uri="{FF2B5EF4-FFF2-40B4-BE49-F238E27FC236}">
                <a16:creationId xmlns:a16="http://schemas.microsoft.com/office/drawing/2014/main" id="{B3937FE8-24AB-41C9-D7A2-1B99B1695903}"/>
              </a:ext>
            </a:extLst>
          </p:cNvPr>
          <p:cNvSpPr>
            <a:spLocks noGrp="1"/>
          </p:cNvSpPr>
          <p:nvPr/>
        </p:nvSpPr>
        <p:spPr>
          <a:xfrm>
            <a:off x="5653088" y="3427659"/>
            <a:ext cx="104775" cy="104775"/>
          </a:xfrm>
          <a:prstGeom prst="ellipse">
            <a:avLst/>
          </a:prstGeom>
          <a:solidFill>
            <a:srgbClr val="2869AF"/>
          </a:solidFill>
          <a:ln w="11430">
            <a:solidFill>
              <a:srgbClr val="FFFFFF"/>
            </a:solidFill>
          </a:ln>
        </p:spPr>
      </p:sp>
      <p:sp>
        <p:nvSpPr>
          <p:cNvPr id="2033" name="object-1-measurement-11">
            <a:extLst>
              <a:ext uri="{FF2B5EF4-FFF2-40B4-BE49-F238E27FC236}">
                <a16:creationId xmlns:a16="http://schemas.microsoft.com/office/drawing/2014/main" id="{4CC15599-7BEB-A1EF-D809-D231E6B94521}"/>
              </a:ext>
            </a:extLst>
          </p:cNvPr>
          <p:cNvSpPr>
            <a:spLocks noGrp="1"/>
          </p:cNvSpPr>
          <p:nvPr/>
        </p:nvSpPr>
        <p:spPr>
          <a:xfrm>
            <a:off x="6148388" y="3162281"/>
            <a:ext cx="104775" cy="104775"/>
          </a:xfrm>
          <a:prstGeom prst="ellipse">
            <a:avLst/>
          </a:prstGeom>
          <a:solidFill>
            <a:srgbClr val="2869AF"/>
          </a:solidFill>
          <a:ln w="11430">
            <a:solidFill>
              <a:srgbClr val="FFFFFF"/>
            </a:solidFill>
          </a:ln>
        </p:spPr>
      </p:sp>
      <p:sp>
        <p:nvSpPr>
          <p:cNvPr id="2034" name="object-2-measurement-0">
            <a:extLst>
              <a:ext uri="{FF2B5EF4-FFF2-40B4-BE49-F238E27FC236}">
                <a16:creationId xmlns:a16="http://schemas.microsoft.com/office/drawing/2014/main" id="{12A2F190-7899-7190-4DF1-1824B8A03531}"/>
              </a:ext>
            </a:extLst>
          </p:cNvPr>
          <p:cNvSpPr>
            <a:spLocks noGrp="1"/>
          </p:cNvSpPr>
          <p:nvPr/>
        </p:nvSpPr>
        <p:spPr>
          <a:xfrm>
            <a:off x="1995488" y="4924393"/>
            <a:ext cx="104775" cy="104775"/>
          </a:xfrm>
          <a:prstGeom prst="ellipse">
            <a:avLst/>
          </a:prstGeom>
          <a:solidFill>
            <a:srgbClr val="237D7A"/>
          </a:solidFill>
          <a:ln w="11430">
            <a:solidFill>
              <a:srgbClr val="FFFFFF"/>
            </a:solidFill>
          </a:ln>
        </p:spPr>
      </p:sp>
      <p:sp>
        <p:nvSpPr>
          <p:cNvPr id="2035" name="object-2-measurement-1">
            <a:extLst>
              <a:ext uri="{FF2B5EF4-FFF2-40B4-BE49-F238E27FC236}">
                <a16:creationId xmlns:a16="http://schemas.microsoft.com/office/drawing/2014/main" id="{5D8D9221-5B3D-73E1-C52C-A977F0373193}"/>
              </a:ext>
            </a:extLst>
          </p:cNvPr>
          <p:cNvSpPr>
            <a:spLocks noGrp="1"/>
          </p:cNvSpPr>
          <p:nvPr/>
        </p:nvSpPr>
        <p:spPr>
          <a:xfrm>
            <a:off x="2681288" y="4610565"/>
            <a:ext cx="104775" cy="104775"/>
          </a:xfrm>
          <a:prstGeom prst="ellipse">
            <a:avLst/>
          </a:prstGeom>
          <a:solidFill>
            <a:srgbClr val="237D7A"/>
          </a:solidFill>
          <a:ln w="11430">
            <a:solidFill>
              <a:srgbClr val="FFFFFF"/>
            </a:solidFill>
          </a:ln>
        </p:spPr>
      </p:sp>
      <p:sp>
        <p:nvSpPr>
          <p:cNvPr id="2036" name="object-2-measurement-2">
            <a:extLst>
              <a:ext uri="{FF2B5EF4-FFF2-40B4-BE49-F238E27FC236}">
                <a16:creationId xmlns:a16="http://schemas.microsoft.com/office/drawing/2014/main" id="{44137530-331B-F659-80DE-01D035AE291F}"/>
              </a:ext>
            </a:extLst>
          </p:cNvPr>
          <p:cNvSpPr>
            <a:spLocks noGrp="1"/>
          </p:cNvSpPr>
          <p:nvPr/>
        </p:nvSpPr>
        <p:spPr>
          <a:xfrm>
            <a:off x="3348038" y="4550515"/>
            <a:ext cx="104775" cy="104775"/>
          </a:xfrm>
          <a:prstGeom prst="ellipse">
            <a:avLst/>
          </a:prstGeom>
          <a:solidFill>
            <a:srgbClr val="237D7A"/>
          </a:solidFill>
          <a:ln w="11430">
            <a:solidFill>
              <a:srgbClr val="FFFFFF"/>
            </a:solidFill>
          </a:ln>
        </p:spPr>
      </p:sp>
      <p:sp>
        <p:nvSpPr>
          <p:cNvPr id="2037" name="object-2-measurement-3">
            <a:extLst>
              <a:ext uri="{FF2B5EF4-FFF2-40B4-BE49-F238E27FC236}">
                <a16:creationId xmlns:a16="http://schemas.microsoft.com/office/drawing/2014/main" id="{D4CD03CD-E2BD-A7C4-2BE9-37A9EBC4F1B8}"/>
              </a:ext>
            </a:extLst>
          </p:cNvPr>
          <p:cNvSpPr>
            <a:spLocks noGrp="1"/>
          </p:cNvSpPr>
          <p:nvPr/>
        </p:nvSpPr>
        <p:spPr>
          <a:xfrm>
            <a:off x="4033838" y="4392810"/>
            <a:ext cx="104775" cy="104775"/>
          </a:xfrm>
          <a:prstGeom prst="ellipse">
            <a:avLst/>
          </a:prstGeom>
          <a:solidFill>
            <a:srgbClr val="237D7A"/>
          </a:solidFill>
          <a:ln w="11430">
            <a:solidFill>
              <a:srgbClr val="FFFFFF"/>
            </a:solidFill>
          </a:ln>
        </p:spPr>
      </p:sp>
      <p:sp>
        <p:nvSpPr>
          <p:cNvPr id="2038" name="object-2-measurement-4">
            <a:extLst>
              <a:ext uri="{FF2B5EF4-FFF2-40B4-BE49-F238E27FC236}">
                <a16:creationId xmlns:a16="http://schemas.microsoft.com/office/drawing/2014/main" id="{424C399C-2263-4E2D-24FC-9195D9527DE0}"/>
              </a:ext>
            </a:extLst>
          </p:cNvPr>
          <p:cNvSpPr>
            <a:spLocks noGrp="1"/>
          </p:cNvSpPr>
          <p:nvPr/>
        </p:nvSpPr>
        <p:spPr>
          <a:xfrm>
            <a:off x="4748213" y="5087118"/>
            <a:ext cx="104775" cy="104775"/>
          </a:xfrm>
          <a:prstGeom prst="ellipse">
            <a:avLst/>
          </a:prstGeom>
          <a:solidFill>
            <a:srgbClr val="237D7A"/>
          </a:solidFill>
          <a:ln w="11430">
            <a:solidFill>
              <a:srgbClr val="FFFFFF"/>
            </a:solidFill>
          </a:ln>
        </p:spPr>
      </p:sp>
      <p:sp>
        <p:nvSpPr>
          <p:cNvPr id="2039" name="object-2-measurement-5">
            <a:extLst>
              <a:ext uri="{FF2B5EF4-FFF2-40B4-BE49-F238E27FC236}">
                <a16:creationId xmlns:a16="http://schemas.microsoft.com/office/drawing/2014/main" id="{4DE9B8F5-D9D1-D78F-40BA-3DE67FF22C0C}"/>
              </a:ext>
            </a:extLst>
          </p:cNvPr>
          <p:cNvSpPr>
            <a:spLocks noGrp="1"/>
          </p:cNvSpPr>
          <p:nvPr/>
        </p:nvSpPr>
        <p:spPr>
          <a:xfrm>
            <a:off x="5395913" y="4566868"/>
            <a:ext cx="104775" cy="104775"/>
          </a:xfrm>
          <a:prstGeom prst="ellipse">
            <a:avLst/>
          </a:prstGeom>
          <a:solidFill>
            <a:srgbClr val="237D7A"/>
          </a:solidFill>
          <a:ln w="11430">
            <a:solidFill>
              <a:srgbClr val="FFFFFF"/>
            </a:solidFill>
          </a:ln>
        </p:spPr>
      </p:sp>
      <p:sp>
        <p:nvSpPr>
          <p:cNvPr id="2040" name="object-2-measurement-6">
            <a:extLst>
              <a:ext uri="{FF2B5EF4-FFF2-40B4-BE49-F238E27FC236}">
                <a16:creationId xmlns:a16="http://schemas.microsoft.com/office/drawing/2014/main" id="{AB6201A9-9841-FE65-0975-636E88D9C64C}"/>
              </a:ext>
            </a:extLst>
          </p:cNvPr>
          <p:cNvSpPr>
            <a:spLocks noGrp="1"/>
          </p:cNvSpPr>
          <p:nvPr/>
        </p:nvSpPr>
        <p:spPr>
          <a:xfrm>
            <a:off x="6138863" y="4632674"/>
            <a:ext cx="104775" cy="104775"/>
          </a:xfrm>
          <a:prstGeom prst="ellipse">
            <a:avLst/>
          </a:prstGeom>
          <a:solidFill>
            <a:srgbClr val="237D7A"/>
          </a:solidFill>
          <a:ln w="11430">
            <a:solidFill>
              <a:srgbClr val="FFFFFF"/>
            </a:solidFill>
          </a:ln>
        </p:spPr>
      </p:sp>
      <p:sp>
        <p:nvSpPr>
          <p:cNvPr id="2041" name="x-axis">
            <a:extLst>
              <a:ext uri="{FF2B5EF4-FFF2-40B4-BE49-F238E27FC236}">
                <a16:creationId xmlns:a16="http://schemas.microsoft.com/office/drawing/2014/main" id="{8EC23BCF-3978-0199-291F-6F7DE435BC92}"/>
              </a:ext>
            </a:extLst>
          </p:cNvPr>
          <p:cNvSpPr>
            <a:spLocks noGrp="1"/>
          </p:cNvSpPr>
          <p:nvPr/>
        </p:nvSpPr>
        <p:spPr>
          <a:xfrm>
            <a:off x="1266825" y="2171700"/>
            <a:ext cx="953" cy="3143250"/>
          </a:xfrm>
          <a:custGeom>
            <a:avLst/>
            <a:gdLst/>
            <a:ahLst/>
            <a:cxnLst/>
            <a:rect l="0" t="0" r="0" b="0"/>
            <a:pathLst>
              <a:path w="953" h="3143250">
                <a:moveTo>
                  <a:pt x="0" y="3143250"/>
                </a:moveTo>
                <a:lnTo>
                  <a:pt x="0" y="0"/>
                </a:lnTo>
              </a:path>
            </a:pathLst>
          </a:custGeom>
          <a:noFill/>
          <a:ln w="17145">
            <a:solidFill>
              <a:srgbClr val="61707D"/>
            </a:solidFill>
            <a:prstDash val="solid"/>
          </a:ln>
        </p:spPr>
      </p:sp>
      <p:sp>
        <p:nvSpPr>
          <p:cNvPr id="2042" name="x-axis-arrow">
            <a:extLst>
              <a:ext uri="{FF2B5EF4-FFF2-40B4-BE49-F238E27FC236}">
                <a16:creationId xmlns:a16="http://schemas.microsoft.com/office/drawing/2014/main" id="{8236D2ED-A9E6-02F5-F612-02B8D92B69DE}"/>
              </a:ext>
            </a:extLst>
          </p:cNvPr>
          <p:cNvSpPr>
            <a:spLocks noGrp="1"/>
          </p:cNvSpPr>
          <p:nvPr/>
        </p:nvSpPr>
        <p:spPr>
          <a:xfrm>
            <a:off x="1209675" y="2047875"/>
            <a:ext cx="114300" cy="133350"/>
          </a:xfrm>
          <a:custGeom>
            <a:avLst/>
            <a:gdLst/>
            <a:ahLst/>
            <a:cxnLst/>
            <a:rect l="0" t="0" r="0" b="0"/>
            <a:pathLst>
              <a:path w="114300" h="133350">
                <a:moveTo>
                  <a:pt x="57150" y="0"/>
                </a:moveTo>
                <a:lnTo>
                  <a:pt x="114300" y="133350"/>
                </a:lnTo>
                <a:lnTo>
                  <a:pt x="0" y="133350"/>
                </a:lnTo>
                <a:close/>
              </a:path>
            </a:pathLst>
          </a:custGeom>
          <a:solidFill>
            <a:srgbClr val="61707D"/>
          </a:solidFill>
          <a:ln w="0">
            <a:noFill/>
          </a:ln>
        </p:spPr>
      </p:sp>
      <p:sp>
        <p:nvSpPr>
          <p:cNvPr id="2043" name="y-axis">
            <a:extLst>
              <a:ext uri="{FF2B5EF4-FFF2-40B4-BE49-F238E27FC236}">
                <a16:creationId xmlns:a16="http://schemas.microsoft.com/office/drawing/2014/main" id="{61597B4E-D6F7-8DF0-C975-CD86B3559F11}"/>
              </a:ext>
            </a:extLst>
          </p:cNvPr>
          <p:cNvSpPr>
            <a:spLocks noGrp="1"/>
          </p:cNvSpPr>
          <p:nvPr/>
        </p:nvSpPr>
        <p:spPr>
          <a:xfrm>
            <a:off x="1266825" y="5321879"/>
            <a:ext cx="9401175" cy="953"/>
          </a:xfrm>
          <a:custGeom>
            <a:avLst/>
            <a:gdLst/>
            <a:ahLst/>
            <a:cxnLst/>
            <a:rect l="0" t="0" r="0" b="0"/>
            <a:pathLst>
              <a:path w="9401175" h="953">
                <a:moveTo>
                  <a:pt x="0" y="0"/>
                </a:moveTo>
                <a:lnTo>
                  <a:pt x="9401175" y="0"/>
                </a:lnTo>
              </a:path>
            </a:pathLst>
          </a:custGeom>
          <a:noFill/>
          <a:ln w="17145">
            <a:solidFill>
              <a:srgbClr val="61707D"/>
            </a:solidFill>
            <a:prstDash val="solid"/>
          </a:ln>
        </p:spPr>
        <p:txBody>
          <a:bodyPr/>
          <a:lstStyle/>
          <a:p>
            <a:endParaRPr lang="de-DE"/>
          </a:p>
        </p:txBody>
      </p:sp>
      <p:sp>
        <p:nvSpPr>
          <p:cNvPr id="2044" name="y-axis-arrow">
            <a:extLst>
              <a:ext uri="{FF2B5EF4-FFF2-40B4-BE49-F238E27FC236}">
                <a16:creationId xmlns:a16="http://schemas.microsoft.com/office/drawing/2014/main" id="{BAC9D17E-47FD-06E1-3FD8-3A1B2405D4B8}"/>
              </a:ext>
            </a:extLst>
          </p:cNvPr>
          <p:cNvSpPr>
            <a:spLocks noGrp="1"/>
          </p:cNvSpPr>
          <p:nvPr/>
        </p:nvSpPr>
        <p:spPr>
          <a:xfrm>
            <a:off x="10668000" y="5257800"/>
            <a:ext cx="133350" cy="114300"/>
          </a:xfrm>
          <a:custGeom>
            <a:avLst/>
            <a:gdLst/>
            <a:ahLst/>
            <a:cxnLst/>
            <a:rect l="0" t="0" r="0" b="0"/>
            <a:pathLst>
              <a:path w="133350" h="114300">
                <a:moveTo>
                  <a:pt x="133350" y="57150"/>
                </a:moveTo>
                <a:lnTo>
                  <a:pt x="0" y="114300"/>
                </a:lnTo>
                <a:lnTo>
                  <a:pt x="0" y="0"/>
                </a:lnTo>
                <a:close/>
              </a:path>
            </a:pathLst>
          </a:custGeom>
          <a:solidFill>
            <a:srgbClr val="61707D"/>
          </a:solidFill>
          <a:ln w="0">
            <a:noFill/>
          </a:ln>
        </p:spPr>
      </p:sp>
      <p:sp>
        <p:nvSpPr>
          <p:cNvPr id="2045" name="camera-end-label">
            <a:extLst>
              <a:ext uri="{FF2B5EF4-FFF2-40B4-BE49-F238E27FC236}">
                <a16:creationId xmlns:a16="http://schemas.microsoft.com/office/drawing/2014/main" id="{00EA4868-F418-32A1-958B-BE5571BEECEA}"/>
              </a:ext>
            </a:extLst>
          </p:cNvPr>
          <p:cNvSpPr>
            <a:spLocks noGrp="1"/>
          </p:cNvSpPr>
          <p:nvPr/>
        </p:nvSpPr>
        <p:spPr>
          <a:xfrm>
            <a:off x="5467350" y="5400675"/>
            <a:ext cx="2333625" cy="295275"/>
          </a:xfrm>
          <a:prstGeom prst="rect">
            <a:avLst/>
          </a:prstGeom>
          <a:noFill/>
          <a:ln w="0">
            <a:noFill/>
          </a:ln>
        </p:spPr>
        <p:txBody>
          <a:bodyPr wrap="none" lIns="0" tIns="0" rIns="0" bIns="0" anchor="t">
            <a:noAutofit/>
          </a:bodyPr>
          <a:lstStyle/>
          <a:p>
            <a:pPr algn="l">
              <a:spcBef>
                <a:spcPts val="0"/>
              </a:spcBef>
              <a:spcAft>
                <a:spcPts val="0"/>
              </a:spcAft>
              <a:defRPr sz="1700">
                <a:solidFill>
                  <a:srgbClr val="61707D"/>
                </a:solidFill>
                <a:latin typeface="Calibri"/>
                <a:ea typeface="Calibri"/>
                <a:cs typeface="Calibri"/>
              </a:defRPr>
            </a:pPr>
            <a:r>
              <a:rPr sz="1700">
                <a:solidFill>
                  <a:srgbClr val="61707D"/>
                </a:solidFill>
                <a:latin typeface="Calibri"/>
                <a:ea typeface="Calibri"/>
                <a:cs typeface="Calibri"/>
              </a:rPr>
              <a:t>Ende Kamerabild</a:t>
            </a:r>
          </a:p>
        </p:txBody>
      </p:sp>
      <p:sp>
        <p:nvSpPr>
          <p:cNvPr id="2046" name="y-coordinate">
            <a:extLst>
              <a:ext uri="{FF2B5EF4-FFF2-40B4-BE49-F238E27FC236}">
                <a16:creationId xmlns:a16="http://schemas.microsoft.com/office/drawing/2014/main" id="{8B558A94-8D22-ABFD-13D8-DE6AEE385E8A}"/>
              </a:ext>
            </a:extLst>
          </p:cNvPr>
          <p:cNvSpPr>
            <a:spLocks noGrp="1"/>
          </p:cNvSpPr>
          <p:nvPr/>
        </p:nvSpPr>
        <p:spPr>
          <a:xfrm>
            <a:off x="10874112" y="5167956"/>
            <a:ext cx="214520" cy="295275"/>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dirty="0">
                <a:solidFill>
                  <a:srgbClr val="61707D"/>
                </a:solidFill>
                <a:latin typeface="Calibri"/>
                <a:ea typeface="Calibri"/>
                <a:cs typeface="Calibri"/>
              </a:rPr>
              <a:t>y</a:t>
            </a:r>
          </a:p>
        </p:txBody>
      </p:sp>
      <p:sp>
        <p:nvSpPr>
          <p:cNvPr id="2055" name="schematic-caption">
            <a:extLst>
              <a:ext uri="{FF2B5EF4-FFF2-40B4-BE49-F238E27FC236}">
                <a16:creationId xmlns:a16="http://schemas.microsoft.com/office/drawing/2014/main" id="{3A12A4B6-9166-CBD8-B700-7BFAD44405EF}"/>
              </a:ext>
            </a:extLst>
          </p:cNvPr>
          <p:cNvSpPr>
            <a:spLocks noGrp="1"/>
          </p:cNvSpPr>
          <p:nvPr/>
        </p:nvSpPr>
        <p:spPr>
          <a:xfrm>
            <a:off x="333375" y="1518259"/>
            <a:ext cx="4572000" cy="228600"/>
          </a:xfrm>
          <a:prstGeom prst="rect">
            <a:avLst/>
          </a:prstGeom>
          <a:noFill/>
          <a:ln w="0">
            <a:noFill/>
          </a:ln>
        </p:spPr>
        <p:txBody>
          <a:bodyPr wrap="none" lIns="0" tIns="0" rIns="0" bIns="0" anchor="t">
            <a:noAutofit/>
          </a:bodyPr>
          <a:lstStyle/>
          <a:p>
            <a:pPr algn="l">
              <a:spcBef>
                <a:spcPts val="0"/>
              </a:spcBef>
              <a:spcAft>
                <a:spcPts val="0"/>
              </a:spcAft>
              <a:defRPr sz="1200">
                <a:solidFill>
                  <a:srgbClr val="61707D"/>
                </a:solidFill>
                <a:latin typeface="Calibri"/>
                <a:ea typeface="Calibri"/>
                <a:cs typeface="Calibri"/>
              </a:defRPr>
            </a:pPr>
            <a:r>
              <a:rPr sz="1200" dirty="0" err="1">
                <a:solidFill>
                  <a:srgbClr val="61707D"/>
                </a:solidFill>
                <a:latin typeface="Calibri"/>
                <a:ea typeface="Calibri"/>
                <a:cs typeface="Calibri"/>
              </a:rPr>
              <a:t>Schematische</a:t>
            </a:r>
            <a:r>
              <a:rPr sz="1200" dirty="0">
                <a:solidFill>
                  <a:srgbClr val="61707D"/>
                </a:solidFill>
                <a:latin typeface="Calibri"/>
                <a:ea typeface="Calibri"/>
                <a:cs typeface="Calibri"/>
              </a:rPr>
              <a:t> </a:t>
            </a:r>
            <a:r>
              <a:rPr sz="1200" dirty="0" err="1">
                <a:solidFill>
                  <a:srgbClr val="61707D"/>
                </a:solidFill>
                <a:latin typeface="Calibri"/>
                <a:ea typeface="Calibri"/>
                <a:cs typeface="Calibri"/>
              </a:rPr>
              <a:t>Draufsicht</a:t>
            </a:r>
            <a:r>
              <a:rPr sz="1200" dirty="0">
                <a:solidFill>
                  <a:srgbClr val="61707D"/>
                </a:solidFill>
                <a:latin typeface="Calibri"/>
                <a:ea typeface="Calibri"/>
                <a:cs typeface="Calibri"/>
              </a:rPr>
              <a:t>, </a:t>
            </a:r>
            <a:r>
              <a:rPr sz="1200" dirty="0" err="1">
                <a:solidFill>
                  <a:srgbClr val="61707D"/>
                </a:solidFill>
                <a:latin typeface="Calibri"/>
                <a:ea typeface="Calibri"/>
                <a:cs typeface="Calibri"/>
              </a:rPr>
              <a:t>keine</a:t>
            </a:r>
            <a:r>
              <a:rPr sz="1200" dirty="0">
                <a:solidFill>
                  <a:srgbClr val="61707D"/>
                </a:solidFill>
                <a:latin typeface="Calibri"/>
                <a:ea typeface="Calibri"/>
                <a:cs typeface="Calibri"/>
              </a:rPr>
              <a:t> </a:t>
            </a:r>
            <a:r>
              <a:rPr sz="1200" dirty="0" err="1">
                <a:solidFill>
                  <a:srgbClr val="61707D"/>
                </a:solidFill>
                <a:latin typeface="Calibri"/>
                <a:ea typeface="Calibri"/>
                <a:cs typeface="Calibri"/>
              </a:rPr>
              <a:t>Messreihe</a:t>
            </a:r>
            <a:endParaRPr sz="1200" dirty="0">
              <a:solidFill>
                <a:srgbClr val="61707D"/>
              </a:solidFill>
              <a:latin typeface="Calibri"/>
              <a:ea typeface="Calibri"/>
              <a:cs typeface="Calibri"/>
            </a:endParaRPr>
          </a:p>
        </p:txBody>
      </p:sp>
      <p:sp>
        <p:nvSpPr>
          <p:cNvPr id="1029" name="slide-title">
            <a:extLst>
              <a:ext uri="{FF2B5EF4-FFF2-40B4-BE49-F238E27FC236}">
                <a16:creationId xmlns:a16="http://schemas.microsoft.com/office/drawing/2014/main" id="{A7CF258C-C08B-E1F0-F23F-7CA313E514CA}"/>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dirty="0" err="1">
                <a:solidFill>
                  <a:srgbClr val="2869AF"/>
                </a:solidFill>
                <a:latin typeface="Calibri"/>
                <a:ea typeface="Calibri"/>
                <a:cs typeface="Calibri"/>
              </a:rPr>
              <a:t>Bewegungsschätzung</a:t>
            </a:r>
            <a:r>
              <a:rPr sz="3200" b="0" dirty="0">
                <a:solidFill>
                  <a:srgbClr val="2869AF"/>
                </a:solidFill>
                <a:latin typeface="Calibri"/>
                <a:ea typeface="Calibri"/>
                <a:cs typeface="Calibri"/>
              </a:rPr>
              <a:t> und </a:t>
            </a:r>
            <a:r>
              <a:rPr sz="3200" b="0" dirty="0" err="1">
                <a:solidFill>
                  <a:srgbClr val="2869AF"/>
                </a:solidFill>
                <a:latin typeface="Calibri"/>
                <a:ea typeface="Calibri"/>
                <a:cs typeface="Calibri"/>
              </a:rPr>
              <a:t>Vorhersage</a:t>
            </a:r>
            <a:endParaRPr sz="3200" b="0" dirty="0">
              <a:solidFill>
                <a:srgbClr val="2869AF"/>
              </a:solidFill>
              <a:latin typeface="Calibri"/>
              <a:ea typeface="Calibri"/>
              <a:cs typeface="Calibri"/>
            </a:endParaRPr>
          </a:p>
        </p:txBody>
      </p:sp>
      <p:sp>
        <p:nvSpPr>
          <p:cNvPr id="4" name="Datumsplatzhalter 3">
            <a:extLst>
              <a:ext uri="{FF2B5EF4-FFF2-40B4-BE49-F238E27FC236}">
                <a16:creationId xmlns:a16="http://schemas.microsoft.com/office/drawing/2014/main" id="{902161BE-CDD6-6C84-11D1-8BB18F2FE369}"/>
              </a:ext>
            </a:extLst>
          </p:cNvPr>
          <p:cNvSpPr>
            <a:spLocks noGrp="1"/>
          </p:cNvSpPr>
          <p:nvPr>
            <p:ph type="dt" sz="half" idx="27"/>
          </p:nvPr>
        </p:nvSpPr>
        <p:spPr/>
        <p:txBody>
          <a:bodyPr/>
          <a:lstStyle/>
          <a:p>
            <a:r>
              <a:rPr lang="de-DE" dirty="0"/>
              <a:t>FuE-Projekt Sommersemester 2026 | 09.10.2026</a:t>
            </a:r>
          </a:p>
        </p:txBody>
      </p:sp>
      <p:sp>
        <p:nvSpPr>
          <p:cNvPr id="5" name="Fußzeilenplatzhalter 4">
            <a:extLst>
              <a:ext uri="{FF2B5EF4-FFF2-40B4-BE49-F238E27FC236}">
                <a16:creationId xmlns:a16="http://schemas.microsoft.com/office/drawing/2014/main" id="{FC15D078-A8E9-454D-C765-AAC2645CCD36}"/>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A34A1B7-BFDF-AB1D-BE93-C9E9540BBC0B}"/>
              </a:ext>
            </a:extLst>
          </p:cNvPr>
          <p:cNvSpPr>
            <a:spLocks noGrp="1"/>
          </p:cNvSpPr>
          <p:nvPr>
            <p:ph type="sldNum" sz="quarter" idx="29"/>
          </p:nvPr>
        </p:nvSpPr>
        <p:spPr/>
        <p:txBody>
          <a:bodyPr/>
          <a:lstStyle/>
          <a:p>
            <a:fld id="{13005BA2-ABF8-0A46-8B15-84F2660EFA6C}" type="slidenum">
              <a:rPr lang="de-DE" smtClean="0"/>
              <a:pPr/>
              <a:t>9</a:t>
            </a:fld>
            <a:endParaRPr lang="de-DE"/>
          </a:p>
        </p:txBody>
      </p:sp>
      <p:sp>
        <p:nvSpPr>
          <p:cNvPr id="34" name="legend-object-1-fit">
            <a:extLst>
              <a:ext uri="{FF2B5EF4-FFF2-40B4-BE49-F238E27FC236}">
                <a16:creationId xmlns:a16="http://schemas.microsoft.com/office/drawing/2014/main" id="{CDA3E83E-FC2F-D963-2731-8DD5EA7E5174}"/>
              </a:ext>
            </a:extLst>
          </p:cNvPr>
          <p:cNvSpPr>
            <a:spLocks noGrp="1"/>
          </p:cNvSpPr>
          <p:nvPr/>
        </p:nvSpPr>
        <p:spPr>
          <a:xfrm>
            <a:off x="3399448" y="5877753"/>
            <a:ext cx="542925" cy="953"/>
          </a:xfrm>
          <a:custGeom>
            <a:avLst/>
            <a:gdLst/>
            <a:ahLst/>
            <a:cxnLst/>
            <a:rect l="0" t="0" r="0" b="0"/>
            <a:pathLst>
              <a:path w="542925" h="953">
                <a:moveTo>
                  <a:pt x="0" y="0"/>
                </a:moveTo>
                <a:lnTo>
                  <a:pt x="542925" y="0"/>
                </a:lnTo>
              </a:path>
            </a:pathLst>
          </a:custGeom>
          <a:noFill/>
          <a:ln w="22860">
            <a:solidFill>
              <a:srgbClr val="2869AF"/>
            </a:solidFill>
            <a:prstDash val="dash"/>
          </a:ln>
        </p:spPr>
      </p:sp>
      <p:sp>
        <p:nvSpPr>
          <p:cNvPr id="36" name="legend-object-1-point">
            <a:extLst>
              <a:ext uri="{FF2B5EF4-FFF2-40B4-BE49-F238E27FC236}">
                <a16:creationId xmlns:a16="http://schemas.microsoft.com/office/drawing/2014/main" id="{60C56EBC-A2C2-C47C-D75E-28EC8138D671}"/>
              </a:ext>
            </a:extLst>
          </p:cNvPr>
          <p:cNvSpPr>
            <a:spLocks noGrp="1"/>
          </p:cNvSpPr>
          <p:nvPr/>
        </p:nvSpPr>
        <p:spPr>
          <a:xfrm>
            <a:off x="3628048" y="5830128"/>
            <a:ext cx="95250" cy="95250"/>
          </a:xfrm>
          <a:prstGeom prst="ellipse">
            <a:avLst/>
          </a:prstGeom>
          <a:solidFill>
            <a:srgbClr val="2869AF"/>
          </a:solidFill>
          <a:ln w="11430">
            <a:solidFill>
              <a:srgbClr val="FFFFFF"/>
            </a:solidFill>
          </a:ln>
        </p:spPr>
        <p:txBody>
          <a:bodyPr/>
          <a:lstStyle/>
          <a:p>
            <a:endParaRPr lang="de-DE"/>
          </a:p>
        </p:txBody>
      </p:sp>
      <p:sp>
        <p:nvSpPr>
          <p:cNvPr id="38" name="legend-object-1">
            <a:extLst>
              <a:ext uri="{FF2B5EF4-FFF2-40B4-BE49-F238E27FC236}">
                <a16:creationId xmlns:a16="http://schemas.microsoft.com/office/drawing/2014/main" id="{ED593219-3EB8-5C5C-12CB-D55628D6C60C}"/>
              </a:ext>
            </a:extLst>
          </p:cNvPr>
          <p:cNvSpPr>
            <a:spLocks noGrp="1"/>
          </p:cNvSpPr>
          <p:nvPr/>
        </p:nvSpPr>
        <p:spPr>
          <a:xfrm>
            <a:off x="4075723" y="5734878"/>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869AF"/>
                </a:solidFill>
                <a:latin typeface="Calibri"/>
                <a:ea typeface="Calibri"/>
                <a:cs typeface="Calibri"/>
              </a:defRPr>
            </a:pPr>
            <a:r>
              <a:rPr sz="1800">
                <a:solidFill>
                  <a:srgbClr val="2869AF"/>
                </a:solidFill>
                <a:latin typeface="Calibri"/>
                <a:ea typeface="Calibri"/>
                <a:cs typeface="Calibri"/>
              </a:rPr>
              <a:t>Objekt 1</a:t>
            </a:r>
          </a:p>
        </p:txBody>
      </p:sp>
      <p:sp>
        <p:nvSpPr>
          <p:cNvPr id="40" name="legend-object-2-fit">
            <a:extLst>
              <a:ext uri="{FF2B5EF4-FFF2-40B4-BE49-F238E27FC236}">
                <a16:creationId xmlns:a16="http://schemas.microsoft.com/office/drawing/2014/main" id="{AAC02427-F647-5E50-6062-73C39D36E691}"/>
              </a:ext>
            </a:extLst>
          </p:cNvPr>
          <p:cNvSpPr>
            <a:spLocks noGrp="1"/>
          </p:cNvSpPr>
          <p:nvPr/>
        </p:nvSpPr>
        <p:spPr>
          <a:xfrm>
            <a:off x="5178023" y="5877753"/>
            <a:ext cx="542925" cy="953"/>
          </a:xfrm>
          <a:custGeom>
            <a:avLst/>
            <a:gdLst/>
            <a:ahLst/>
            <a:cxnLst/>
            <a:rect l="0" t="0" r="0" b="0"/>
            <a:pathLst>
              <a:path w="542925" h="953">
                <a:moveTo>
                  <a:pt x="0" y="0"/>
                </a:moveTo>
                <a:lnTo>
                  <a:pt x="542925" y="0"/>
                </a:lnTo>
              </a:path>
            </a:pathLst>
          </a:custGeom>
          <a:noFill/>
          <a:ln w="22860">
            <a:solidFill>
              <a:srgbClr val="237D7A"/>
            </a:solidFill>
            <a:prstDash val="dash"/>
          </a:ln>
        </p:spPr>
        <p:txBody>
          <a:bodyPr/>
          <a:lstStyle/>
          <a:p>
            <a:endParaRPr lang="de-DE"/>
          </a:p>
        </p:txBody>
      </p:sp>
      <p:sp>
        <p:nvSpPr>
          <p:cNvPr id="42" name="legend-object-2-point">
            <a:extLst>
              <a:ext uri="{FF2B5EF4-FFF2-40B4-BE49-F238E27FC236}">
                <a16:creationId xmlns:a16="http://schemas.microsoft.com/office/drawing/2014/main" id="{56E5A7C4-1952-6244-EA2C-E1A67DA893F2}"/>
              </a:ext>
            </a:extLst>
          </p:cNvPr>
          <p:cNvSpPr>
            <a:spLocks noGrp="1"/>
          </p:cNvSpPr>
          <p:nvPr/>
        </p:nvSpPr>
        <p:spPr>
          <a:xfrm>
            <a:off x="5406623" y="5830128"/>
            <a:ext cx="95250" cy="95250"/>
          </a:xfrm>
          <a:prstGeom prst="ellipse">
            <a:avLst/>
          </a:prstGeom>
          <a:solidFill>
            <a:srgbClr val="237D7A"/>
          </a:solidFill>
          <a:ln w="11430">
            <a:solidFill>
              <a:srgbClr val="FFFFFF"/>
            </a:solidFill>
          </a:ln>
        </p:spPr>
      </p:sp>
      <p:sp>
        <p:nvSpPr>
          <p:cNvPr id="44" name="legend-object-2">
            <a:extLst>
              <a:ext uri="{FF2B5EF4-FFF2-40B4-BE49-F238E27FC236}">
                <a16:creationId xmlns:a16="http://schemas.microsoft.com/office/drawing/2014/main" id="{5158627B-0FDC-FB7F-066A-D58BE7E4E730}"/>
              </a:ext>
            </a:extLst>
          </p:cNvPr>
          <p:cNvSpPr>
            <a:spLocks noGrp="1"/>
          </p:cNvSpPr>
          <p:nvPr/>
        </p:nvSpPr>
        <p:spPr>
          <a:xfrm>
            <a:off x="5854298" y="5734878"/>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37D7A"/>
                </a:solidFill>
                <a:latin typeface="Calibri"/>
                <a:ea typeface="Calibri"/>
                <a:cs typeface="Calibri"/>
              </a:defRPr>
            </a:pPr>
            <a:r>
              <a:rPr sz="1800">
                <a:solidFill>
                  <a:srgbClr val="237D7A"/>
                </a:solidFill>
                <a:latin typeface="Calibri"/>
                <a:ea typeface="Calibri"/>
                <a:cs typeface="Calibri"/>
              </a:rPr>
              <a:t>Objekt 2</a:t>
            </a:r>
          </a:p>
        </p:txBody>
      </p:sp>
      <p:sp>
        <p:nvSpPr>
          <p:cNvPr id="46" name="legend-common-line">
            <a:extLst>
              <a:ext uri="{FF2B5EF4-FFF2-40B4-BE49-F238E27FC236}">
                <a16:creationId xmlns:a16="http://schemas.microsoft.com/office/drawing/2014/main" id="{D1D89BEB-D335-2A66-D101-3612FF38941D}"/>
              </a:ext>
            </a:extLst>
          </p:cNvPr>
          <p:cNvSpPr>
            <a:spLocks noGrp="1"/>
          </p:cNvSpPr>
          <p:nvPr/>
        </p:nvSpPr>
        <p:spPr>
          <a:xfrm>
            <a:off x="6974786" y="5877753"/>
            <a:ext cx="552450" cy="953"/>
          </a:xfrm>
          <a:custGeom>
            <a:avLst/>
            <a:gdLst/>
            <a:ahLst/>
            <a:cxnLst/>
            <a:rect l="0" t="0" r="0" b="0"/>
            <a:pathLst>
              <a:path w="552450" h="953">
                <a:moveTo>
                  <a:pt x="0" y="0"/>
                </a:moveTo>
                <a:lnTo>
                  <a:pt x="552450" y="0"/>
                </a:lnTo>
              </a:path>
            </a:pathLst>
          </a:custGeom>
          <a:noFill/>
          <a:ln w="28575">
            <a:solidFill>
              <a:srgbClr val="C72C32"/>
            </a:solidFill>
            <a:prstDash val="solid"/>
          </a:ln>
        </p:spPr>
      </p:sp>
      <p:sp>
        <p:nvSpPr>
          <p:cNvPr id="48" name="legend-common">
            <a:extLst>
              <a:ext uri="{FF2B5EF4-FFF2-40B4-BE49-F238E27FC236}">
                <a16:creationId xmlns:a16="http://schemas.microsoft.com/office/drawing/2014/main" id="{D084591C-9E13-3CF1-953B-333F6A093CA2}"/>
              </a:ext>
            </a:extLst>
          </p:cNvPr>
          <p:cNvSpPr>
            <a:spLocks noGrp="1"/>
          </p:cNvSpPr>
          <p:nvPr/>
        </p:nvSpPr>
        <p:spPr>
          <a:xfrm>
            <a:off x="7660586" y="5734878"/>
            <a:ext cx="438150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C72C32"/>
                </a:solidFill>
                <a:latin typeface="Calibri"/>
                <a:ea typeface="Calibri"/>
                <a:cs typeface="Calibri"/>
              </a:defRPr>
            </a:pPr>
            <a:r>
              <a:rPr sz="1800">
                <a:solidFill>
                  <a:srgbClr val="C72C32"/>
                </a:solidFill>
                <a:latin typeface="Calibri"/>
                <a:ea typeface="Calibri"/>
                <a:cs typeface="Calibri"/>
              </a:rPr>
              <a:t>Gemeinsame Schätzung</a:t>
            </a:r>
          </a:p>
        </p:txBody>
      </p:sp>
      <p:sp>
        <p:nvSpPr>
          <p:cNvPr id="1025" name="belt-direction">
            <a:extLst>
              <a:ext uri="{FF2B5EF4-FFF2-40B4-BE49-F238E27FC236}">
                <a16:creationId xmlns:a16="http://schemas.microsoft.com/office/drawing/2014/main" id="{296928B9-864A-A4A5-9B75-E8383B80EA63}"/>
              </a:ext>
            </a:extLst>
          </p:cNvPr>
          <p:cNvSpPr>
            <a:spLocks noGrp="1"/>
          </p:cNvSpPr>
          <p:nvPr/>
        </p:nvSpPr>
        <p:spPr>
          <a:xfrm rot="21261339">
            <a:off x="6974786" y="1532112"/>
            <a:ext cx="2501723" cy="304800"/>
          </a:xfrm>
          <a:prstGeom prst="rect">
            <a:avLst/>
          </a:prstGeom>
          <a:noFill/>
          <a:ln w="0">
            <a:noFill/>
          </a:ln>
        </p:spPr>
        <p:txBody>
          <a:bodyPr wrap="none" lIns="0" tIns="0" rIns="0" bIns="0" anchor="t">
            <a:noAutofit/>
          </a:bodyPr>
          <a:lstStyle/>
          <a:p>
            <a:pPr algn="r">
              <a:spcBef>
                <a:spcPts val="0"/>
              </a:spcBef>
              <a:spcAft>
                <a:spcPts val="0"/>
              </a:spcAft>
              <a:defRPr sz="1800">
                <a:solidFill>
                  <a:srgbClr val="61707D"/>
                </a:solidFill>
                <a:latin typeface="Calibri"/>
                <a:ea typeface="Calibri"/>
                <a:cs typeface="Calibri"/>
              </a:defRPr>
            </a:pPr>
            <a:r>
              <a:rPr lang="de-DE" sz="1800" dirty="0">
                <a:solidFill>
                  <a:srgbClr val="00B050"/>
                </a:solidFill>
                <a:latin typeface="Calibri"/>
                <a:ea typeface="Calibri"/>
                <a:cs typeface="Calibri"/>
              </a:rPr>
              <a:t>tatsächliche </a:t>
            </a:r>
            <a:r>
              <a:rPr sz="1800" dirty="0" err="1">
                <a:solidFill>
                  <a:srgbClr val="00B050"/>
                </a:solidFill>
                <a:latin typeface="Calibri"/>
                <a:ea typeface="Calibri"/>
                <a:cs typeface="Calibri"/>
              </a:rPr>
              <a:t>Bandrichtung</a:t>
            </a:r>
            <a:endParaRPr sz="1800" dirty="0">
              <a:solidFill>
                <a:srgbClr val="00B050"/>
              </a:solidFill>
              <a:latin typeface="Calibri"/>
              <a:ea typeface="Calibri"/>
              <a:cs typeface="Calibri"/>
            </a:endParaRPr>
          </a:p>
        </p:txBody>
      </p:sp>
      <p:cxnSp>
        <p:nvCxnSpPr>
          <p:cNvPr id="1026" name="Gerade Verbindung mit Pfeil 1025">
            <a:extLst>
              <a:ext uri="{FF2B5EF4-FFF2-40B4-BE49-F238E27FC236}">
                <a16:creationId xmlns:a16="http://schemas.microsoft.com/office/drawing/2014/main" id="{37CFF21F-B760-C491-657F-2265EFC5AD2C}"/>
              </a:ext>
            </a:extLst>
          </p:cNvPr>
          <p:cNvCxnSpPr>
            <a:cxnSpLocks/>
          </p:cNvCxnSpPr>
          <p:nvPr/>
        </p:nvCxnSpPr>
        <p:spPr>
          <a:xfrm rot="21261339">
            <a:off x="9621982" y="1515606"/>
            <a:ext cx="80356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30253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 name="slide-title">
            <a:extLst>
              <a:ext uri="{FF2B5EF4-FFF2-40B4-BE49-F238E27FC236}">
                <a16:creationId xmlns:a16="http://schemas.microsoft.com/office/drawing/2014/main" id="{DA63A62F-3C3F-4733-93FC-CB33A7B23978}"/>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dirty="0" err="1">
                <a:solidFill>
                  <a:srgbClr val="2869AF"/>
                </a:solidFill>
                <a:latin typeface="Calibri"/>
                <a:ea typeface="Calibri"/>
                <a:cs typeface="Calibri"/>
              </a:rPr>
              <a:t>Zielauswahl</a:t>
            </a:r>
            <a:r>
              <a:rPr sz="3200" b="0" dirty="0">
                <a:solidFill>
                  <a:srgbClr val="2869AF"/>
                </a:solidFill>
                <a:latin typeface="Calibri"/>
                <a:ea typeface="Calibri"/>
                <a:cs typeface="Calibri"/>
              </a:rPr>
              <a:t> und </a:t>
            </a:r>
            <a:r>
              <a:rPr sz="3200" b="0" dirty="0" err="1">
                <a:solidFill>
                  <a:srgbClr val="2869AF"/>
                </a:solidFill>
                <a:latin typeface="Calibri"/>
                <a:ea typeface="Calibri"/>
                <a:cs typeface="Calibri"/>
              </a:rPr>
              <a:t>Erreichbarkeit</a:t>
            </a:r>
            <a:endParaRPr sz="3200" b="0" dirty="0">
              <a:solidFill>
                <a:srgbClr val="2869AF"/>
              </a:solidFill>
              <a:latin typeface="Calibri"/>
              <a:ea typeface="Calibri"/>
              <a:cs typeface="Calibri"/>
            </a:endParaRPr>
          </a:p>
        </p:txBody>
      </p:sp>
      <p:sp>
        <p:nvSpPr>
          <p:cNvPr id="1002" name="conveyor">
            <a:extLst>
              <a:ext uri="{FF2B5EF4-FFF2-40B4-BE49-F238E27FC236}">
                <a16:creationId xmlns:a16="http://schemas.microsoft.com/office/drawing/2014/main" id="{06E110AE-F1EE-40A7-91D1-AC360E7E0633}"/>
              </a:ext>
            </a:extLst>
          </p:cNvPr>
          <p:cNvSpPr>
            <a:spLocks noGrp="1"/>
          </p:cNvSpPr>
          <p:nvPr/>
        </p:nvSpPr>
        <p:spPr>
          <a:xfrm>
            <a:off x="762000" y="2524125"/>
            <a:ext cx="10048875" cy="1857375"/>
          </a:xfrm>
          <a:prstGeom prst="rect">
            <a:avLst/>
          </a:prstGeom>
          <a:solidFill>
            <a:srgbClr val="EAF0F5"/>
          </a:solidFill>
          <a:ln w="9525">
            <a:solidFill>
              <a:srgbClr val="ADB8C3"/>
            </a:solidFill>
          </a:ln>
        </p:spPr>
      </p:sp>
      <p:sp>
        <p:nvSpPr>
          <p:cNvPr id="1003" name="grip-zone">
            <a:extLst>
              <a:ext uri="{FF2B5EF4-FFF2-40B4-BE49-F238E27FC236}">
                <a16:creationId xmlns:a16="http://schemas.microsoft.com/office/drawing/2014/main" id="{D499349D-2AC6-45BA-83CC-5479179DBC16}"/>
              </a:ext>
            </a:extLst>
          </p:cNvPr>
          <p:cNvSpPr>
            <a:spLocks noGrp="1"/>
          </p:cNvSpPr>
          <p:nvPr/>
        </p:nvSpPr>
        <p:spPr>
          <a:xfrm>
            <a:off x="4000500" y="2524125"/>
            <a:ext cx="6286500" cy="1857375"/>
          </a:xfrm>
          <a:prstGeom prst="rect">
            <a:avLst/>
          </a:prstGeom>
          <a:solidFill>
            <a:srgbClr val="E9F2EB"/>
          </a:solidFill>
          <a:ln w="15240">
            <a:solidFill>
              <a:srgbClr val="39734C"/>
            </a:solidFill>
          </a:ln>
        </p:spPr>
      </p:sp>
      <p:sp>
        <p:nvSpPr>
          <p:cNvPr id="1004" name="grip-zone-label">
            <a:extLst>
              <a:ext uri="{FF2B5EF4-FFF2-40B4-BE49-F238E27FC236}">
                <a16:creationId xmlns:a16="http://schemas.microsoft.com/office/drawing/2014/main" id="{53F8AE99-821F-423C-ADCC-F340EDF2D1DE}"/>
              </a:ext>
            </a:extLst>
          </p:cNvPr>
          <p:cNvSpPr>
            <a:spLocks noGrp="1"/>
          </p:cNvSpPr>
          <p:nvPr/>
        </p:nvSpPr>
        <p:spPr>
          <a:xfrm>
            <a:off x="4206875" y="2647950"/>
            <a:ext cx="2333625" cy="333375"/>
          </a:xfrm>
          <a:prstGeom prst="rect">
            <a:avLst/>
          </a:prstGeom>
          <a:noFill/>
          <a:ln w="0">
            <a:noFill/>
          </a:ln>
        </p:spPr>
        <p:txBody>
          <a:bodyPr wrap="square" lIns="0" tIns="0" rIns="0" bIns="0" anchor="t">
            <a:noAutofit/>
          </a:bodyPr>
          <a:lstStyle/>
          <a:p>
            <a:pPr>
              <a:lnSpc>
                <a:spcPct val="105000"/>
              </a:lnSpc>
              <a:spcBef>
                <a:spcPts val="0"/>
              </a:spcBef>
              <a:spcAft>
                <a:spcPts val="0"/>
              </a:spcAft>
              <a:buNone/>
              <a:defRPr sz="2100" b="0">
                <a:solidFill>
                  <a:srgbClr val="39734C"/>
                </a:solidFill>
                <a:latin typeface="Calibri"/>
                <a:ea typeface="Calibri"/>
                <a:cs typeface="Calibri"/>
              </a:defRPr>
            </a:pPr>
            <a:r>
              <a:rPr sz="2100" b="0" dirty="0" err="1">
                <a:solidFill>
                  <a:srgbClr val="39734C"/>
                </a:solidFill>
                <a:latin typeface="Calibri"/>
                <a:ea typeface="Calibri"/>
                <a:cs typeface="Calibri"/>
              </a:rPr>
              <a:t>Greifzone</a:t>
            </a:r>
            <a:endParaRPr sz="2100" b="0" dirty="0">
              <a:solidFill>
                <a:srgbClr val="39734C"/>
              </a:solidFill>
              <a:latin typeface="Calibri"/>
              <a:ea typeface="Calibri"/>
              <a:cs typeface="Calibri"/>
            </a:endParaRPr>
          </a:p>
        </p:txBody>
      </p:sp>
      <p:sp>
        <p:nvSpPr>
          <p:cNvPr id="1005" name="belt-direction">
            <a:extLst>
              <a:ext uri="{FF2B5EF4-FFF2-40B4-BE49-F238E27FC236}">
                <a16:creationId xmlns:a16="http://schemas.microsoft.com/office/drawing/2014/main" id="{D66EE593-5C04-4A92-A6C0-0A1FAD9D542E}"/>
              </a:ext>
            </a:extLst>
          </p:cNvPr>
          <p:cNvSpPr>
            <a:spLocks noGrp="1"/>
          </p:cNvSpPr>
          <p:nvPr/>
        </p:nvSpPr>
        <p:spPr>
          <a:xfrm>
            <a:off x="762000" y="1781175"/>
            <a:ext cx="2095500" cy="266700"/>
          </a:xfrm>
          <a:prstGeom prst="rightArrow">
            <a:avLst/>
          </a:prstGeom>
          <a:solidFill>
            <a:srgbClr val="2869AF"/>
          </a:solidFill>
          <a:ln w="0">
            <a:noFill/>
          </a:ln>
        </p:spPr>
      </p:sp>
      <p:sp>
        <p:nvSpPr>
          <p:cNvPr id="1006" name="belt-direction-label">
            <a:extLst>
              <a:ext uri="{FF2B5EF4-FFF2-40B4-BE49-F238E27FC236}">
                <a16:creationId xmlns:a16="http://schemas.microsoft.com/office/drawing/2014/main" id="{E4C50435-83D4-4122-99A9-7FA091E61F91}"/>
              </a:ext>
            </a:extLst>
          </p:cNvPr>
          <p:cNvSpPr>
            <a:spLocks noGrp="1"/>
          </p:cNvSpPr>
          <p:nvPr/>
        </p:nvSpPr>
        <p:spPr>
          <a:xfrm>
            <a:off x="3238500" y="1724025"/>
            <a:ext cx="2428875" cy="3810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2869AF"/>
                </a:solidFill>
                <a:latin typeface="Calibri"/>
                <a:ea typeface="Calibri"/>
                <a:cs typeface="Calibri"/>
              </a:defRPr>
            </a:pPr>
            <a:r>
              <a:rPr sz="2000" b="0">
                <a:solidFill>
                  <a:srgbClr val="2869AF"/>
                </a:solidFill>
                <a:latin typeface="Calibri"/>
                <a:ea typeface="Calibri"/>
                <a:cs typeface="Calibri"/>
              </a:rPr>
              <a:t>Bandrichtung</a:t>
            </a:r>
          </a:p>
        </p:txBody>
      </p:sp>
      <p:sp>
        <p:nvSpPr>
          <p:cNvPr id="1007" name="normal-grip-plane">
            <a:extLst>
              <a:ext uri="{FF2B5EF4-FFF2-40B4-BE49-F238E27FC236}">
                <a16:creationId xmlns:a16="http://schemas.microsoft.com/office/drawing/2014/main" id="{E6A18E1D-2166-42EB-81A8-F13C249FE7B9}"/>
              </a:ext>
            </a:extLst>
          </p:cNvPr>
          <p:cNvSpPr>
            <a:spLocks noGrp="1"/>
          </p:cNvSpPr>
          <p:nvPr/>
        </p:nvSpPr>
        <p:spPr>
          <a:xfrm>
            <a:off x="8572500" y="2381249"/>
            <a:ext cx="45719" cy="2728563"/>
          </a:xfrm>
          <a:custGeom>
            <a:avLst/>
            <a:gdLst/>
            <a:ahLst/>
            <a:cxnLst/>
            <a:rect l="0" t="0" r="0" b="0"/>
            <a:pathLst>
              <a:path w="953" h="2152650">
                <a:moveTo>
                  <a:pt x="0" y="0"/>
                </a:moveTo>
                <a:lnTo>
                  <a:pt x="0" y="2152650"/>
                </a:lnTo>
              </a:path>
            </a:pathLst>
          </a:custGeom>
          <a:noFill/>
          <a:ln w="28575">
            <a:solidFill>
              <a:srgbClr val="2869AF"/>
            </a:solidFill>
            <a:prstDash val="dash"/>
          </a:ln>
        </p:spPr>
        <p:txBody>
          <a:bodyPr/>
          <a:lstStyle/>
          <a:p>
            <a:endParaRPr lang="de-DE"/>
          </a:p>
        </p:txBody>
      </p:sp>
      <p:sp>
        <p:nvSpPr>
          <p:cNvPr id="1008" name="fast-grip-plane">
            <a:extLst>
              <a:ext uri="{FF2B5EF4-FFF2-40B4-BE49-F238E27FC236}">
                <a16:creationId xmlns:a16="http://schemas.microsoft.com/office/drawing/2014/main" id="{F3FA55B6-7962-4CB7-8D4E-A6659A4DB67F}"/>
              </a:ext>
            </a:extLst>
          </p:cNvPr>
          <p:cNvSpPr>
            <a:spLocks noGrp="1"/>
          </p:cNvSpPr>
          <p:nvPr/>
        </p:nvSpPr>
        <p:spPr>
          <a:xfrm>
            <a:off x="8181659" y="2047875"/>
            <a:ext cx="45719" cy="2486025"/>
          </a:xfrm>
          <a:custGeom>
            <a:avLst/>
            <a:gdLst/>
            <a:ahLst/>
            <a:cxnLst/>
            <a:rect l="0" t="0" r="0" b="0"/>
            <a:pathLst>
              <a:path w="953" h="2152650">
                <a:moveTo>
                  <a:pt x="0" y="0"/>
                </a:moveTo>
                <a:lnTo>
                  <a:pt x="0" y="2152650"/>
                </a:lnTo>
              </a:path>
            </a:pathLst>
          </a:custGeom>
          <a:noFill/>
          <a:ln w="28575">
            <a:solidFill>
              <a:schemeClr val="accent2">
                <a:lumMod val="60000"/>
                <a:lumOff val="40000"/>
              </a:schemeClr>
            </a:solidFill>
            <a:prstDash val="dash"/>
          </a:ln>
        </p:spPr>
        <p:txBody>
          <a:bodyPr/>
          <a:lstStyle/>
          <a:p>
            <a:endParaRPr lang="de-DE"/>
          </a:p>
        </p:txBody>
      </p:sp>
      <p:sp>
        <p:nvSpPr>
          <p:cNvPr id="1009" name="normal-plane-label">
            <a:extLst>
              <a:ext uri="{FF2B5EF4-FFF2-40B4-BE49-F238E27FC236}">
                <a16:creationId xmlns:a16="http://schemas.microsoft.com/office/drawing/2014/main" id="{1809F7FE-64BD-47B1-9087-9B8E3525DB95}"/>
              </a:ext>
            </a:extLst>
          </p:cNvPr>
          <p:cNvSpPr>
            <a:spLocks noGrp="1"/>
          </p:cNvSpPr>
          <p:nvPr/>
        </p:nvSpPr>
        <p:spPr>
          <a:xfrm>
            <a:off x="7572375" y="5109813"/>
            <a:ext cx="2000250" cy="361950"/>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2869AF"/>
                </a:solidFill>
                <a:latin typeface="Calibri"/>
                <a:ea typeface="Calibri"/>
                <a:cs typeface="Calibri"/>
              </a:defRPr>
            </a:pPr>
            <a:r>
              <a:rPr lang="de-DE" sz="2000" dirty="0">
                <a:solidFill>
                  <a:srgbClr val="2869AF"/>
                </a:solidFill>
                <a:latin typeface="Calibri"/>
                <a:ea typeface="Calibri"/>
                <a:cs typeface="Calibri"/>
              </a:rPr>
              <a:t>Ebene spät. Griff</a:t>
            </a:r>
            <a:endParaRPr sz="2000" b="0" dirty="0">
              <a:solidFill>
                <a:srgbClr val="2869AF"/>
              </a:solidFill>
              <a:latin typeface="Calibri"/>
              <a:ea typeface="Calibri"/>
              <a:cs typeface="Calibri"/>
            </a:endParaRPr>
          </a:p>
        </p:txBody>
      </p:sp>
      <p:sp>
        <p:nvSpPr>
          <p:cNvPr id="1010" name="faster-plane-label">
            <a:extLst>
              <a:ext uri="{FF2B5EF4-FFF2-40B4-BE49-F238E27FC236}">
                <a16:creationId xmlns:a16="http://schemas.microsoft.com/office/drawing/2014/main" id="{44DC8F82-30EC-41BF-B8EB-01D5B1E9ADBA}"/>
              </a:ext>
            </a:extLst>
          </p:cNvPr>
          <p:cNvSpPr>
            <a:spLocks noGrp="1"/>
          </p:cNvSpPr>
          <p:nvPr/>
        </p:nvSpPr>
        <p:spPr>
          <a:xfrm>
            <a:off x="6975476" y="1412877"/>
            <a:ext cx="2406648" cy="619124"/>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1800" b="0">
                <a:solidFill>
                  <a:srgbClr val="C86C18"/>
                </a:solidFill>
                <a:latin typeface="Calibri"/>
                <a:ea typeface="Calibri"/>
                <a:cs typeface="Calibri"/>
              </a:defRPr>
            </a:pPr>
            <a:r>
              <a:rPr lang="de-DE" sz="1800" b="0" dirty="0">
                <a:solidFill>
                  <a:schemeClr val="accent2">
                    <a:lumMod val="60000"/>
                    <a:lumOff val="40000"/>
                  </a:schemeClr>
                </a:solidFill>
                <a:latin typeface="Calibri"/>
                <a:ea typeface="Calibri"/>
                <a:cs typeface="Calibri"/>
              </a:rPr>
              <a:t>Ebene spät. Griff bei höherer Geschwindigkeit</a:t>
            </a:r>
            <a:endParaRPr sz="1800" b="0" dirty="0">
              <a:solidFill>
                <a:schemeClr val="accent2">
                  <a:lumMod val="60000"/>
                  <a:lumOff val="40000"/>
                </a:schemeClr>
              </a:solidFill>
              <a:latin typeface="Calibri"/>
              <a:ea typeface="Calibri"/>
              <a:cs typeface="Calibri"/>
            </a:endParaRPr>
          </a:p>
        </p:txBody>
      </p:sp>
      <p:sp>
        <p:nvSpPr>
          <p:cNvPr id="1011" name="unstable-object">
            <a:extLst>
              <a:ext uri="{FF2B5EF4-FFF2-40B4-BE49-F238E27FC236}">
                <a16:creationId xmlns:a16="http://schemas.microsoft.com/office/drawing/2014/main" id="{4BD14D1F-6912-4A3C-8FEE-E8960D196216}"/>
              </a:ext>
            </a:extLst>
          </p:cNvPr>
          <p:cNvSpPr>
            <a:spLocks noGrp="1"/>
          </p:cNvSpPr>
          <p:nvPr/>
        </p:nvSpPr>
        <p:spPr>
          <a:xfrm>
            <a:off x="2000250" y="3152775"/>
            <a:ext cx="762000" cy="666750"/>
          </a:xfrm>
          <a:prstGeom prst="rect">
            <a:avLst/>
          </a:prstGeom>
          <a:solidFill>
            <a:srgbClr val="DCE1E5"/>
          </a:solidFill>
          <a:ln w="15240">
            <a:solidFill>
              <a:srgbClr val="61707D"/>
            </a:solidFill>
          </a:ln>
        </p:spPr>
        <p:txBody>
          <a:bodyPr lIns="76200" tIns="38100" rIns="76200" bIns="38100" anchor="ctr">
            <a:noAutofit/>
          </a:bodyPr>
          <a:lstStyle/>
          <a:p>
            <a:pPr algn="ctr">
              <a:lnSpc>
                <a:spcPct val="103000"/>
              </a:lnSpc>
              <a:spcBef>
                <a:spcPts val="0"/>
              </a:spcBef>
              <a:spcAft>
                <a:spcPts val="0"/>
              </a:spcAft>
              <a:buNone/>
              <a:defRPr sz="2400">
                <a:solidFill>
                  <a:srgbClr val="17232E"/>
                </a:solidFill>
                <a:latin typeface="Calibri"/>
                <a:ea typeface="Calibri"/>
                <a:cs typeface="Calibri"/>
              </a:defRPr>
            </a:pPr>
            <a:r>
              <a:rPr sz="2400">
                <a:solidFill>
                  <a:srgbClr val="17232E"/>
                </a:solidFill>
                <a:latin typeface="Calibri"/>
                <a:ea typeface="Calibri"/>
                <a:cs typeface="Calibri"/>
              </a:rPr>
              <a:t>A</a:t>
            </a:r>
          </a:p>
        </p:txBody>
      </p:sp>
      <p:sp>
        <p:nvSpPr>
          <p:cNvPr id="1012" name="selected-object">
            <a:extLst>
              <a:ext uri="{FF2B5EF4-FFF2-40B4-BE49-F238E27FC236}">
                <a16:creationId xmlns:a16="http://schemas.microsoft.com/office/drawing/2014/main" id="{A699B7A2-B8EB-4F1A-9CEA-B9AE59157863}"/>
              </a:ext>
            </a:extLst>
          </p:cNvPr>
          <p:cNvSpPr>
            <a:spLocks noGrp="1"/>
          </p:cNvSpPr>
          <p:nvPr/>
        </p:nvSpPr>
        <p:spPr>
          <a:xfrm>
            <a:off x="4953000" y="3152775"/>
            <a:ext cx="857250" cy="666750"/>
          </a:xfrm>
          <a:prstGeom prst="rect">
            <a:avLst/>
          </a:prstGeom>
          <a:solidFill>
            <a:srgbClr val="2869A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400">
                <a:solidFill>
                  <a:srgbClr val="FFFFFF"/>
                </a:solidFill>
                <a:latin typeface="Calibri"/>
                <a:ea typeface="Calibri"/>
                <a:cs typeface="Calibri"/>
              </a:defRPr>
            </a:pPr>
            <a:r>
              <a:rPr sz="2400">
                <a:solidFill>
                  <a:srgbClr val="FFFFFF"/>
                </a:solidFill>
                <a:latin typeface="Calibri"/>
                <a:ea typeface="Calibri"/>
                <a:cs typeface="Calibri"/>
              </a:rPr>
              <a:t>B</a:t>
            </a:r>
          </a:p>
        </p:txBody>
      </p:sp>
      <p:sp>
        <p:nvSpPr>
          <p:cNvPr id="1013" name="late-object">
            <a:extLst>
              <a:ext uri="{FF2B5EF4-FFF2-40B4-BE49-F238E27FC236}">
                <a16:creationId xmlns:a16="http://schemas.microsoft.com/office/drawing/2014/main" id="{D6713A25-39E3-4BF8-B133-A73BBBCDEEC1}"/>
              </a:ext>
            </a:extLst>
          </p:cNvPr>
          <p:cNvSpPr>
            <a:spLocks noGrp="1"/>
          </p:cNvSpPr>
          <p:nvPr/>
        </p:nvSpPr>
        <p:spPr>
          <a:xfrm>
            <a:off x="9153525" y="3152775"/>
            <a:ext cx="781050" cy="666750"/>
          </a:xfrm>
          <a:prstGeom prst="rect">
            <a:avLst/>
          </a:prstGeom>
          <a:solidFill>
            <a:srgbClr val="FFF1E3"/>
          </a:solidFill>
          <a:ln w="15240">
            <a:solidFill>
              <a:srgbClr val="C86C18"/>
            </a:solidFill>
          </a:ln>
        </p:spPr>
        <p:txBody>
          <a:bodyPr lIns="76200" tIns="38100" rIns="76200" bIns="38100" anchor="ctr">
            <a:noAutofit/>
          </a:bodyPr>
          <a:lstStyle/>
          <a:p>
            <a:pPr algn="ctr">
              <a:lnSpc>
                <a:spcPct val="103000"/>
              </a:lnSpc>
              <a:spcBef>
                <a:spcPts val="0"/>
              </a:spcBef>
              <a:spcAft>
                <a:spcPts val="0"/>
              </a:spcAft>
              <a:buNone/>
              <a:defRPr sz="2400">
                <a:solidFill>
                  <a:srgbClr val="17232E"/>
                </a:solidFill>
                <a:latin typeface="Calibri"/>
                <a:ea typeface="Calibri"/>
                <a:cs typeface="Calibri"/>
              </a:defRPr>
            </a:pPr>
            <a:r>
              <a:rPr sz="2400">
                <a:solidFill>
                  <a:srgbClr val="17232E"/>
                </a:solidFill>
                <a:latin typeface="Calibri"/>
                <a:ea typeface="Calibri"/>
                <a:cs typeface="Calibri"/>
              </a:rPr>
              <a:t>C</a:t>
            </a:r>
          </a:p>
        </p:txBody>
      </p:sp>
      <p:sp>
        <p:nvSpPr>
          <p:cNvPr id="1014" name="unstable-label">
            <a:extLst>
              <a:ext uri="{FF2B5EF4-FFF2-40B4-BE49-F238E27FC236}">
                <a16:creationId xmlns:a16="http://schemas.microsoft.com/office/drawing/2014/main" id="{BF925AE4-B5DF-4F86-AE91-DF5C60F72CBC}"/>
              </a:ext>
            </a:extLst>
          </p:cNvPr>
          <p:cNvSpPr>
            <a:spLocks noGrp="1"/>
          </p:cNvSpPr>
          <p:nvPr/>
        </p:nvSpPr>
        <p:spPr>
          <a:xfrm>
            <a:off x="1141346" y="4629150"/>
            <a:ext cx="2476500" cy="352425"/>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61707D"/>
                </a:solidFill>
                <a:latin typeface="Calibri"/>
                <a:ea typeface="Calibri"/>
                <a:cs typeface="Calibri"/>
              </a:defRPr>
            </a:pPr>
            <a:r>
              <a:rPr lang="de-DE" sz="2000" b="0" dirty="0">
                <a:solidFill>
                  <a:srgbClr val="61707D"/>
                </a:solidFill>
                <a:latin typeface="Calibri"/>
                <a:ea typeface="Calibri"/>
                <a:cs typeface="Calibri"/>
              </a:rPr>
              <a:t>Block erfassen &amp; einschwingen</a:t>
            </a:r>
            <a:endParaRPr sz="2000" b="0" dirty="0">
              <a:solidFill>
                <a:srgbClr val="61707D"/>
              </a:solidFill>
              <a:latin typeface="Calibri"/>
              <a:ea typeface="Calibri"/>
              <a:cs typeface="Calibri"/>
            </a:endParaRPr>
          </a:p>
        </p:txBody>
      </p:sp>
      <p:sp>
        <p:nvSpPr>
          <p:cNvPr id="1015" name="selected-label">
            <a:extLst>
              <a:ext uri="{FF2B5EF4-FFF2-40B4-BE49-F238E27FC236}">
                <a16:creationId xmlns:a16="http://schemas.microsoft.com/office/drawing/2014/main" id="{70D1634B-182F-4522-A2EA-FC4280D89DCE}"/>
              </a:ext>
            </a:extLst>
          </p:cNvPr>
          <p:cNvSpPr>
            <a:spLocks noGrp="1"/>
          </p:cNvSpPr>
          <p:nvPr/>
        </p:nvSpPr>
        <p:spPr>
          <a:xfrm>
            <a:off x="4476750" y="4629150"/>
            <a:ext cx="2095500" cy="352425"/>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2869AF"/>
                </a:solidFill>
                <a:latin typeface="Calibri"/>
                <a:ea typeface="Calibri"/>
                <a:cs typeface="Calibri"/>
              </a:defRPr>
            </a:pPr>
            <a:r>
              <a:rPr lang="de-DE" sz="2000" b="0" dirty="0">
                <a:solidFill>
                  <a:srgbClr val="2869AF"/>
                </a:solidFill>
                <a:latin typeface="Calibri"/>
                <a:ea typeface="Calibri"/>
                <a:cs typeface="Calibri"/>
              </a:rPr>
              <a:t>Block a</a:t>
            </a:r>
            <a:r>
              <a:rPr sz="2000" b="0" dirty="0" err="1">
                <a:solidFill>
                  <a:srgbClr val="2869AF"/>
                </a:solidFill>
                <a:latin typeface="Calibri"/>
                <a:ea typeface="Calibri"/>
                <a:cs typeface="Calibri"/>
              </a:rPr>
              <a:t>usgewählt</a:t>
            </a:r>
            <a:endParaRPr sz="2000" b="0" dirty="0">
              <a:solidFill>
                <a:srgbClr val="2869AF"/>
              </a:solidFill>
              <a:latin typeface="Calibri"/>
              <a:ea typeface="Calibri"/>
              <a:cs typeface="Calibri"/>
            </a:endParaRPr>
          </a:p>
        </p:txBody>
      </p:sp>
      <p:sp>
        <p:nvSpPr>
          <p:cNvPr id="1016" name="late-label">
            <a:extLst>
              <a:ext uri="{FF2B5EF4-FFF2-40B4-BE49-F238E27FC236}">
                <a16:creationId xmlns:a16="http://schemas.microsoft.com/office/drawing/2014/main" id="{92F92F70-E486-48E8-AD73-4EAF0D6040B3}"/>
              </a:ext>
            </a:extLst>
          </p:cNvPr>
          <p:cNvSpPr>
            <a:spLocks noGrp="1"/>
          </p:cNvSpPr>
          <p:nvPr/>
        </p:nvSpPr>
        <p:spPr>
          <a:xfrm>
            <a:off x="8836025" y="4422775"/>
            <a:ext cx="2018984" cy="352425"/>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C86C18"/>
                </a:solidFill>
                <a:latin typeface="Calibri"/>
                <a:ea typeface="Calibri"/>
                <a:cs typeface="Calibri"/>
              </a:defRPr>
            </a:pPr>
            <a:r>
              <a:rPr lang="de-DE" sz="2000" dirty="0">
                <a:solidFill>
                  <a:srgbClr val="C86C18"/>
                </a:solidFill>
                <a:latin typeface="Calibri"/>
                <a:ea typeface="Calibri"/>
                <a:cs typeface="Calibri"/>
              </a:rPr>
              <a:t>nicht mehr greifbar</a:t>
            </a:r>
            <a:endParaRPr sz="2000" b="0" dirty="0">
              <a:solidFill>
                <a:srgbClr val="C86C18"/>
              </a:solidFill>
              <a:latin typeface="Calibri"/>
              <a:ea typeface="Calibri"/>
              <a:cs typeface="Calibri"/>
            </a:endParaRPr>
          </a:p>
        </p:txBody>
      </p:sp>
      <p:sp>
        <p:nvSpPr>
          <p:cNvPr id="1017" name="caption-9">
            <a:extLst>
              <a:ext uri="{FF2B5EF4-FFF2-40B4-BE49-F238E27FC236}">
                <a16:creationId xmlns:a16="http://schemas.microsoft.com/office/drawing/2014/main" id="{0DF87677-71B5-44B7-8258-A5ADBFD634B4}"/>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Schematische Kandidaten und geschwindigkeitsabhängige Greifebene</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09.10.2026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10</a:t>
            </a:fld>
            <a:endParaRPr lang="de-DE"/>
          </a:p>
        </p:txBody>
      </p:sp>
      <p:sp>
        <p:nvSpPr>
          <p:cNvPr id="28" name="Ellipse 27">
            <a:extLst>
              <a:ext uri="{FF2B5EF4-FFF2-40B4-BE49-F238E27FC236}">
                <a16:creationId xmlns:a16="http://schemas.microsoft.com/office/drawing/2014/main" id="{FB4AC40B-D575-CE46-9C3C-D88DDDEBDFFC}"/>
              </a:ext>
            </a:extLst>
          </p:cNvPr>
          <p:cNvSpPr>
            <a:spLocks noGrp="1"/>
          </p:cNvSpPr>
          <p:nvPr/>
        </p:nvSpPr>
        <p:spPr>
          <a:xfrm>
            <a:off x="8784907" y="351009"/>
            <a:ext cx="323850" cy="323850"/>
          </a:xfrm>
          <a:prstGeom prst="ellipse">
            <a:avLst/>
          </a:prstGeom>
          <a:solidFill>
            <a:srgbClr val="DCE3E6"/>
          </a:solidFill>
          <a:ln w="11430">
            <a:solidFill>
              <a:srgbClr val="263238"/>
            </a:solidFill>
            <a:prstDash val="solid"/>
          </a:ln>
        </p:spPr>
        <p:txBody>
          <a:bodyPr/>
          <a:lstStyle/>
          <a:p>
            <a:endParaRPr lang="de-DE"/>
          </a:p>
        </p:txBody>
      </p:sp>
      <p:sp>
        <p:nvSpPr>
          <p:cNvPr id="30" name="Rechteck: abgerundete Ecken 29">
            <a:extLst>
              <a:ext uri="{FF2B5EF4-FFF2-40B4-BE49-F238E27FC236}">
                <a16:creationId xmlns:a16="http://schemas.microsoft.com/office/drawing/2014/main" id="{FC25956C-F9E8-22C7-40D1-42205E064E21}"/>
              </a:ext>
            </a:extLst>
          </p:cNvPr>
          <p:cNvSpPr>
            <a:spLocks noGrp="1"/>
          </p:cNvSpPr>
          <p:nvPr/>
        </p:nvSpPr>
        <p:spPr>
          <a:xfrm rot="1683492">
            <a:off x="8806616" y="610864"/>
            <a:ext cx="1047750" cy="171450"/>
          </a:xfrm>
          <a:prstGeom prst="roundRect">
            <a:avLst>
              <a:gd name="adj" fmla="val 33333"/>
            </a:avLst>
          </a:prstGeom>
          <a:solidFill>
            <a:srgbClr val="DCE3E6"/>
          </a:solidFill>
          <a:ln w="0">
            <a:solidFill>
              <a:srgbClr val="DCE3E6"/>
            </a:solidFill>
            <a:prstDash val="solid"/>
          </a:ln>
        </p:spPr>
        <p:txBody>
          <a:bodyPr/>
          <a:lstStyle/>
          <a:p>
            <a:endParaRPr lang="de-DE"/>
          </a:p>
        </p:txBody>
      </p:sp>
      <p:sp>
        <p:nvSpPr>
          <p:cNvPr id="32" name="Ellipse 31">
            <a:extLst>
              <a:ext uri="{FF2B5EF4-FFF2-40B4-BE49-F238E27FC236}">
                <a16:creationId xmlns:a16="http://schemas.microsoft.com/office/drawing/2014/main" id="{13151373-9620-43F2-D9CE-F1C65F1A51B7}"/>
              </a:ext>
            </a:extLst>
          </p:cNvPr>
          <p:cNvSpPr>
            <a:spLocks noGrp="1"/>
          </p:cNvSpPr>
          <p:nvPr/>
        </p:nvSpPr>
        <p:spPr>
          <a:xfrm>
            <a:off x="9572625" y="749300"/>
            <a:ext cx="304800" cy="304800"/>
          </a:xfrm>
          <a:prstGeom prst="ellipse">
            <a:avLst/>
          </a:prstGeom>
          <a:solidFill>
            <a:srgbClr val="DCE3E6"/>
          </a:solidFill>
          <a:ln w="11430">
            <a:solidFill>
              <a:srgbClr val="263238"/>
            </a:solidFill>
            <a:prstDash val="solid"/>
          </a:ln>
        </p:spPr>
      </p:sp>
      <p:sp>
        <p:nvSpPr>
          <p:cNvPr id="34" name="Ellipse 33">
            <a:extLst>
              <a:ext uri="{FF2B5EF4-FFF2-40B4-BE49-F238E27FC236}">
                <a16:creationId xmlns:a16="http://schemas.microsoft.com/office/drawing/2014/main" id="{29EE048F-C1E2-04B2-7A6E-394C418526AF}"/>
              </a:ext>
            </a:extLst>
          </p:cNvPr>
          <p:cNvSpPr>
            <a:spLocks noGrp="1"/>
          </p:cNvSpPr>
          <p:nvPr/>
        </p:nvSpPr>
        <p:spPr>
          <a:xfrm>
            <a:off x="9667875" y="825500"/>
            <a:ext cx="133350" cy="133350"/>
          </a:xfrm>
          <a:prstGeom prst="ellipse">
            <a:avLst/>
          </a:prstGeom>
          <a:solidFill>
            <a:srgbClr val="147EAE"/>
          </a:solidFill>
          <a:ln w="0">
            <a:solidFill>
              <a:srgbClr val="147EAE"/>
            </a:solidFill>
            <a:prstDash val="solid"/>
          </a:ln>
        </p:spPr>
      </p:sp>
      <p:sp>
        <p:nvSpPr>
          <p:cNvPr id="36" name="Gerader Verbinder 35">
            <a:extLst>
              <a:ext uri="{FF2B5EF4-FFF2-40B4-BE49-F238E27FC236}">
                <a16:creationId xmlns:a16="http://schemas.microsoft.com/office/drawing/2014/main" id="{D28BF024-2692-F460-CEDE-F10B46B37BC4}"/>
              </a:ext>
            </a:extLst>
          </p:cNvPr>
          <p:cNvSpPr>
            <a:spLocks noGrp="1"/>
          </p:cNvSpPr>
          <p:nvPr/>
        </p:nvSpPr>
        <p:spPr>
          <a:xfrm>
            <a:off x="9734550" y="958850"/>
            <a:ext cx="0" cy="495300"/>
          </a:xfrm>
          <a:prstGeom prst="line">
            <a:avLst/>
          </a:prstGeom>
          <a:noFill/>
          <a:ln w="11430">
            <a:solidFill>
              <a:srgbClr val="5C6770"/>
            </a:solidFill>
            <a:prstDash val="dash"/>
          </a:ln>
        </p:spPr>
      </p:sp>
      <p:sp>
        <p:nvSpPr>
          <p:cNvPr id="38" name="Rechteck: abgerundete Ecken 37">
            <a:extLst>
              <a:ext uri="{FF2B5EF4-FFF2-40B4-BE49-F238E27FC236}">
                <a16:creationId xmlns:a16="http://schemas.microsoft.com/office/drawing/2014/main" id="{81F695D2-5C04-984E-79AF-8B67659BEE74}"/>
              </a:ext>
            </a:extLst>
          </p:cNvPr>
          <p:cNvSpPr>
            <a:spLocks noGrp="1"/>
          </p:cNvSpPr>
          <p:nvPr/>
        </p:nvSpPr>
        <p:spPr>
          <a:xfrm>
            <a:off x="9448800" y="1454150"/>
            <a:ext cx="571500" cy="723900"/>
          </a:xfrm>
          <a:prstGeom prst="roundRect">
            <a:avLst>
              <a:gd name="adj" fmla="val 5000"/>
            </a:avLst>
          </a:prstGeom>
          <a:solidFill>
            <a:srgbClr val="FFFFFF"/>
          </a:solidFill>
          <a:ln w="13335">
            <a:solidFill>
              <a:srgbClr val="263238"/>
            </a:solidFill>
            <a:prstDash val="solid"/>
          </a:ln>
        </p:spPr>
      </p:sp>
      <p:sp>
        <p:nvSpPr>
          <p:cNvPr id="40" name="Rechteck: abgerundete Ecken 39">
            <a:extLst>
              <a:ext uri="{FF2B5EF4-FFF2-40B4-BE49-F238E27FC236}">
                <a16:creationId xmlns:a16="http://schemas.microsoft.com/office/drawing/2014/main" id="{2CFF33D7-A15C-6611-50B7-216929EE5F4D}"/>
              </a:ext>
            </a:extLst>
          </p:cNvPr>
          <p:cNvSpPr>
            <a:spLocks noGrp="1"/>
          </p:cNvSpPr>
          <p:nvPr/>
        </p:nvSpPr>
        <p:spPr>
          <a:xfrm>
            <a:off x="9334500" y="2120900"/>
            <a:ext cx="171450" cy="666750"/>
          </a:xfrm>
          <a:prstGeom prst="roundRect">
            <a:avLst>
              <a:gd name="adj" fmla="val 11111"/>
            </a:avLst>
          </a:prstGeom>
          <a:solidFill>
            <a:srgbClr val="DCE3E6"/>
          </a:solidFill>
          <a:ln w="11430">
            <a:solidFill>
              <a:srgbClr val="263238"/>
            </a:solidFill>
            <a:prstDash val="solid"/>
          </a:ln>
        </p:spPr>
      </p:sp>
      <p:sp>
        <p:nvSpPr>
          <p:cNvPr id="42" name="Rechteck: abgerundete Ecken 41">
            <a:extLst>
              <a:ext uri="{FF2B5EF4-FFF2-40B4-BE49-F238E27FC236}">
                <a16:creationId xmlns:a16="http://schemas.microsoft.com/office/drawing/2014/main" id="{1DC5DF24-28E4-3594-6B86-91C188BA0C81}"/>
              </a:ext>
            </a:extLst>
          </p:cNvPr>
          <p:cNvSpPr>
            <a:spLocks noGrp="1"/>
          </p:cNvSpPr>
          <p:nvPr/>
        </p:nvSpPr>
        <p:spPr>
          <a:xfrm>
            <a:off x="9963150" y="2120900"/>
            <a:ext cx="171450" cy="666750"/>
          </a:xfrm>
          <a:prstGeom prst="roundRect">
            <a:avLst>
              <a:gd name="adj" fmla="val 11111"/>
            </a:avLst>
          </a:prstGeom>
          <a:solidFill>
            <a:srgbClr val="DCE3E6"/>
          </a:solidFill>
          <a:ln w="11430">
            <a:solidFill>
              <a:srgbClr val="263238"/>
            </a:solidFill>
            <a:prstDash val="solid"/>
          </a:ln>
        </p:spPr>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755115077">
            <a:extLst>
              <a:ext uri="{FF2B5EF4-FFF2-40B4-BE49-F238E27FC236}">
                <a16:creationId xmlns:a16="http://schemas.microsoft.com/office/drawing/2014/main" id="{C5088F6C-1511-32DE-CD13-3342F24CB9FF}"/>
              </a:ext>
            </a:extLst>
          </p:cNvPr>
          <p:cNvPicPr>
            <a:picLocks noChangeAspect="1"/>
          </p:cNvPicPr>
          <p:nvPr/>
        </p:nvPicPr>
        <p:blipFill>
          <a:blip r:embed="rId3"/>
          <a:stretch>
            <a:fillRect/>
          </a:stretch>
        </p:blipFill>
        <p:spPr>
          <a:xfrm>
            <a:off x="365056" y="709432"/>
            <a:ext cx="7957309" cy="4162941"/>
          </a:xfrm>
          <a:prstGeom prst="rect">
            <a:avLst/>
          </a:prstGeom>
        </p:spPr>
      </p:pic>
      <p:sp>
        <p:nvSpPr>
          <p:cNvPr id="1035" name="slide-title">
            <a:extLst>
              <a:ext uri="{FF2B5EF4-FFF2-40B4-BE49-F238E27FC236}">
                <a16:creationId xmlns:a16="http://schemas.microsoft.com/office/drawing/2014/main" id="{CFEE2F63-30CB-4E04-8A78-5BA8CB61EA52}"/>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lang="de-DE" sz="3200" b="0" dirty="0">
                <a:solidFill>
                  <a:srgbClr val="2869AF"/>
                </a:solidFill>
                <a:latin typeface="Calibri"/>
                <a:ea typeface="Calibri"/>
                <a:cs typeface="Calibri"/>
              </a:rPr>
              <a:t>Umsetzung „On the Fly“-Picking</a:t>
            </a:r>
            <a:endParaRPr sz="3200" b="0" dirty="0">
              <a:solidFill>
                <a:srgbClr val="2869AF"/>
              </a:solidFill>
              <a:latin typeface="Calibri"/>
              <a:ea typeface="Calibri"/>
              <a:cs typeface="Calibri"/>
            </a:endParaRPr>
          </a:p>
        </p:txBody>
      </p:sp>
      <p:sp>
        <p:nvSpPr>
          <p:cNvPr id="1018" name="lead-track">
            <a:extLst>
              <a:ext uri="{FF2B5EF4-FFF2-40B4-BE49-F238E27FC236}">
                <a16:creationId xmlns:a16="http://schemas.microsoft.com/office/drawing/2014/main" id="{32DEDF6B-20EA-4C0F-A026-C04CBCB8E2DB}"/>
              </a:ext>
            </a:extLst>
          </p:cNvPr>
          <p:cNvSpPr>
            <a:spLocks noGrp="1"/>
          </p:cNvSpPr>
          <p:nvPr/>
        </p:nvSpPr>
        <p:spPr>
          <a:xfrm>
            <a:off x="581658" y="5791672"/>
            <a:ext cx="9001125" cy="953"/>
          </a:xfrm>
          <a:custGeom>
            <a:avLst/>
            <a:gdLst/>
            <a:ahLst/>
            <a:cxnLst/>
            <a:rect l="0" t="0" r="0" b="0"/>
            <a:pathLst>
              <a:path w="9001125" h="953">
                <a:moveTo>
                  <a:pt x="0" y="0"/>
                </a:moveTo>
                <a:lnTo>
                  <a:pt x="9001125" y="0"/>
                </a:lnTo>
              </a:path>
            </a:pathLst>
          </a:custGeom>
          <a:noFill/>
          <a:ln w="19050">
            <a:solidFill>
              <a:srgbClr val="ADB8C3"/>
            </a:solidFill>
            <a:prstDash val="solid"/>
          </a:ln>
        </p:spPr>
      </p:sp>
      <p:sp>
        <p:nvSpPr>
          <p:cNvPr id="1019" name="block-position">
            <a:extLst>
              <a:ext uri="{FF2B5EF4-FFF2-40B4-BE49-F238E27FC236}">
                <a16:creationId xmlns:a16="http://schemas.microsoft.com/office/drawing/2014/main" id="{41F82690-E5F0-45D0-898B-2147F282FE7A}"/>
              </a:ext>
            </a:extLst>
          </p:cNvPr>
          <p:cNvSpPr>
            <a:spLocks noGrp="1"/>
          </p:cNvSpPr>
          <p:nvPr/>
        </p:nvSpPr>
        <p:spPr>
          <a:xfrm>
            <a:off x="3943983" y="5601172"/>
            <a:ext cx="419100" cy="371475"/>
          </a:xfrm>
          <a:prstGeom prst="rect">
            <a:avLst/>
          </a:prstGeom>
          <a:solidFill>
            <a:srgbClr val="2869AF"/>
          </a:solidFill>
          <a:ln w="0">
            <a:noFill/>
          </a:ln>
        </p:spPr>
      </p:sp>
      <p:sp>
        <p:nvSpPr>
          <p:cNvPr id="1021" name="lead-position">
            <a:extLst>
              <a:ext uri="{FF2B5EF4-FFF2-40B4-BE49-F238E27FC236}">
                <a16:creationId xmlns:a16="http://schemas.microsoft.com/office/drawing/2014/main" id="{75CFEE39-32C8-46B7-84D7-159BCC06C910}"/>
              </a:ext>
            </a:extLst>
          </p:cNvPr>
          <p:cNvSpPr>
            <a:spLocks noGrp="1"/>
          </p:cNvSpPr>
          <p:nvPr/>
        </p:nvSpPr>
        <p:spPr>
          <a:xfrm>
            <a:off x="5467983" y="5620222"/>
            <a:ext cx="285750" cy="285750"/>
          </a:xfrm>
          <a:prstGeom prst="ellipse">
            <a:avLst/>
          </a:prstGeom>
          <a:noFill/>
          <a:ln w="28575">
            <a:solidFill>
              <a:srgbClr val="C86C18"/>
            </a:solidFill>
          </a:ln>
        </p:spPr>
      </p:sp>
      <p:sp>
        <p:nvSpPr>
          <p:cNvPr id="1022" name="lead-direction">
            <a:extLst>
              <a:ext uri="{FF2B5EF4-FFF2-40B4-BE49-F238E27FC236}">
                <a16:creationId xmlns:a16="http://schemas.microsoft.com/office/drawing/2014/main" id="{3CB68947-67B0-44EF-AAB3-ED54F5D5D78A}"/>
              </a:ext>
            </a:extLst>
          </p:cNvPr>
          <p:cNvSpPr>
            <a:spLocks noGrp="1"/>
          </p:cNvSpPr>
          <p:nvPr/>
        </p:nvSpPr>
        <p:spPr>
          <a:xfrm>
            <a:off x="4372608" y="5696422"/>
            <a:ext cx="933450" cy="161925"/>
          </a:xfrm>
          <a:prstGeom prst="rightArrow">
            <a:avLst/>
          </a:prstGeom>
          <a:solidFill>
            <a:srgbClr val="C86C18"/>
          </a:solidFill>
          <a:ln w="0">
            <a:noFill/>
          </a:ln>
        </p:spPr>
        <p:txBody>
          <a:bodyPr/>
          <a:lstStyle/>
          <a:p>
            <a:endParaRPr lang="de-DE"/>
          </a:p>
        </p:txBody>
      </p:sp>
      <p:sp>
        <p:nvSpPr>
          <p:cNvPr id="1024" name="block-tag">
            <a:extLst>
              <a:ext uri="{FF2B5EF4-FFF2-40B4-BE49-F238E27FC236}">
                <a16:creationId xmlns:a16="http://schemas.microsoft.com/office/drawing/2014/main" id="{B72BE5AC-D8FF-4EB8-9680-A5D6AED99802}"/>
              </a:ext>
            </a:extLst>
          </p:cNvPr>
          <p:cNvSpPr>
            <a:spLocks noGrp="1"/>
          </p:cNvSpPr>
          <p:nvPr/>
        </p:nvSpPr>
        <p:spPr>
          <a:xfrm>
            <a:off x="3905883" y="5239222"/>
            <a:ext cx="1571625"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2869AF"/>
                </a:solidFill>
                <a:latin typeface="Calibri"/>
                <a:ea typeface="Calibri"/>
                <a:cs typeface="Calibri"/>
              </a:defRPr>
            </a:pPr>
            <a:r>
              <a:rPr sz="1800" b="0">
                <a:solidFill>
                  <a:srgbClr val="2869AF"/>
                </a:solidFill>
                <a:latin typeface="Calibri"/>
                <a:ea typeface="Calibri"/>
                <a:cs typeface="Calibri"/>
              </a:rPr>
              <a:t>Klotz</a:t>
            </a:r>
          </a:p>
        </p:txBody>
      </p:sp>
      <p:sp>
        <p:nvSpPr>
          <p:cNvPr id="1025" name="lead-tag">
            <a:extLst>
              <a:ext uri="{FF2B5EF4-FFF2-40B4-BE49-F238E27FC236}">
                <a16:creationId xmlns:a16="http://schemas.microsoft.com/office/drawing/2014/main" id="{6824386F-547B-4787-8D43-3EE2B75F256C}"/>
              </a:ext>
            </a:extLst>
          </p:cNvPr>
          <p:cNvSpPr>
            <a:spLocks noGrp="1"/>
          </p:cNvSpPr>
          <p:nvPr/>
        </p:nvSpPr>
        <p:spPr>
          <a:xfrm>
            <a:off x="5382258" y="6067897"/>
            <a:ext cx="381000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C86C18"/>
                </a:solidFill>
                <a:latin typeface="Calibri"/>
                <a:ea typeface="Calibri"/>
                <a:cs typeface="Calibri"/>
              </a:defRPr>
            </a:pPr>
            <a:r>
              <a:rPr sz="1800" b="0">
                <a:solidFill>
                  <a:srgbClr val="C86C18"/>
                </a:solidFill>
                <a:latin typeface="Calibri"/>
                <a:ea typeface="Calibri"/>
                <a:cs typeface="Calibri"/>
              </a:rPr>
              <a:t>Zielpose mit Vorhalt</a:t>
            </a:r>
          </a:p>
        </p:txBody>
      </p:sp>
      <p:sp>
        <p:nvSpPr>
          <p:cNvPr id="1026" name="lead-value">
            <a:extLst>
              <a:ext uri="{FF2B5EF4-FFF2-40B4-BE49-F238E27FC236}">
                <a16:creationId xmlns:a16="http://schemas.microsoft.com/office/drawing/2014/main" id="{32C785F6-33B5-4EEF-BB2E-6CDD0D5554DA}"/>
              </a:ext>
            </a:extLst>
          </p:cNvPr>
          <p:cNvSpPr>
            <a:spLocks noGrp="1"/>
          </p:cNvSpPr>
          <p:nvPr/>
        </p:nvSpPr>
        <p:spPr>
          <a:xfrm>
            <a:off x="5963283" y="5296372"/>
            <a:ext cx="1809750" cy="3238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C86C18"/>
                </a:solidFill>
                <a:latin typeface="Calibri"/>
                <a:ea typeface="Calibri"/>
                <a:cs typeface="Calibri"/>
              </a:defRPr>
            </a:pPr>
            <a:r>
              <a:rPr sz="2000" b="0">
                <a:solidFill>
                  <a:srgbClr val="C86C18"/>
                </a:solidFill>
                <a:latin typeface="Calibri"/>
                <a:ea typeface="Calibri"/>
                <a:cs typeface="Calibri"/>
              </a:rPr>
              <a:t>0,24 s</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09.10.2026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11</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B12C617B-4DF5-201F-51B1-87E59AD16A1F}"/>
              </a:ext>
            </a:extLst>
          </p:cNvPr>
          <p:cNvSpPr>
            <a:spLocks noGrp="1"/>
          </p:cNvSpPr>
          <p:nvPr>
            <p:ph type="body" sz="quarter" idx="18"/>
          </p:nvPr>
        </p:nvSpPr>
        <p:spPr/>
        <p:txBody>
          <a:bodyPr/>
          <a:lstStyle/>
          <a:p>
            <a:r>
              <a:rPr lang="de-DE" dirty="0">
                <a:solidFill>
                  <a:srgbClr val="2869AF"/>
                </a:solidFill>
              </a:rPr>
              <a:t>Vorhanden: </a:t>
            </a:r>
          </a:p>
          <a:p>
            <a:pPr marL="285750" indent="-285750">
              <a:buFont typeface="Arial" panose="020B0604020202020204" pitchFamily="34" charset="0"/>
              <a:buChar char="•"/>
            </a:pPr>
            <a:r>
              <a:rPr lang="de-DE" dirty="0"/>
              <a:t>2 Kalibrierverfahren </a:t>
            </a:r>
          </a:p>
          <a:p>
            <a:pPr marL="285750" indent="-285750">
              <a:buFont typeface="Arial" panose="020B0604020202020204" pitchFamily="34" charset="0"/>
              <a:buChar char="•"/>
            </a:pPr>
            <a:r>
              <a:rPr lang="de-DE" dirty="0"/>
              <a:t>Kalibrierung mit automatischer Schnittstelle zum Hauptprogramm</a:t>
            </a:r>
          </a:p>
          <a:p>
            <a:pPr marL="285750" indent="-285750">
              <a:buFont typeface="Arial" panose="020B0604020202020204" pitchFamily="34" charset="0"/>
              <a:buChar char="•"/>
            </a:pPr>
            <a:r>
              <a:rPr lang="de-DE" dirty="0"/>
              <a:t>Auswahl / Priorisierung der erreichbaren Ziele </a:t>
            </a:r>
          </a:p>
          <a:p>
            <a:pPr marL="285750" indent="-285750">
              <a:buFont typeface="Arial" panose="020B0604020202020204" pitchFamily="34" charset="0"/>
              <a:buChar char="•"/>
            </a:pPr>
            <a:r>
              <a:rPr lang="de-DE" dirty="0"/>
              <a:t>Präzise Geschwindigkeits-, Richtungs- &amp; Positionserkennung</a:t>
            </a:r>
          </a:p>
          <a:p>
            <a:endParaRPr lang="de-DE" dirty="0"/>
          </a:p>
          <a:p>
            <a:r>
              <a:rPr lang="de-DE" dirty="0">
                <a:solidFill>
                  <a:srgbClr val="2869AF"/>
                </a:solidFill>
              </a:rPr>
              <a:t>Optimierungspotenzial: </a:t>
            </a:r>
          </a:p>
          <a:p>
            <a:pPr marL="285750" indent="-285750">
              <a:buFont typeface="Arial" panose="020B0604020202020204" pitchFamily="34" charset="0"/>
              <a:buChar char="•"/>
            </a:pPr>
            <a:r>
              <a:rPr lang="de-DE" dirty="0"/>
              <a:t>Kürzere Ablagewege / Ablage mit gezielter Platzierung („Tetris“)</a:t>
            </a:r>
          </a:p>
          <a:p>
            <a:pPr marL="285750" indent="-285750">
              <a:buFont typeface="Arial" panose="020B0604020202020204" pitchFamily="34" charset="0"/>
              <a:buChar char="•"/>
            </a:pPr>
            <a:r>
              <a:rPr lang="de-DE" dirty="0"/>
              <a:t>Bildverarbeitung auslagern </a:t>
            </a:r>
            <a:r>
              <a:rPr lang="de-DE" dirty="0">
                <a:sym typeface="Wingdings" panose="05000000000000000000" pitchFamily="2" charset="2"/>
              </a:rPr>
              <a:t> kürzere Taktzeiten </a:t>
            </a:r>
          </a:p>
          <a:p>
            <a:pPr marL="285750" indent="-285750">
              <a:buFont typeface="Arial" panose="020B0604020202020204" pitchFamily="34" charset="0"/>
              <a:buChar char="•"/>
            </a:pPr>
            <a:r>
              <a:rPr lang="de-DE" dirty="0"/>
              <a:t>Integration Roboter-Kamera (wenn vorteilhaft)</a:t>
            </a:r>
          </a:p>
          <a:p>
            <a:pPr marL="285750" indent="-285750">
              <a:buFont typeface="Arial" panose="020B0604020202020204" pitchFamily="34" charset="0"/>
              <a:buChar char="•"/>
            </a:pPr>
            <a:r>
              <a:rPr lang="de-DE" dirty="0"/>
              <a:t>Kürzere Detektion &amp; Schnellerer Bewegungsablauf </a:t>
            </a:r>
          </a:p>
        </p:txBody>
      </p:sp>
      <p:sp>
        <p:nvSpPr>
          <p:cNvPr id="3" name="Datumsplatzhalter 2">
            <a:extLst>
              <a:ext uri="{FF2B5EF4-FFF2-40B4-BE49-F238E27FC236}">
                <a16:creationId xmlns:a16="http://schemas.microsoft.com/office/drawing/2014/main" id="{C486571C-AD2F-9633-1C9C-32E08B7D478D}"/>
              </a:ext>
            </a:extLst>
          </p:cNvPr>
          <p:cNvSpPr>
            <a:spLocks noGrp="1"/>
          </p:cNvSpPr>
          <p:nvPr>
            <p:ph type="dt" sz="half" idx="28"/>
          </p:nvPr>
        </p:nvSpPr>
        <p:spPr/>
        <p:txBody>
          <a:bodyPr/>
          <a:lstStyle/>
          <a:p>
            <a:r>
              <a:rPr lang="de-DE" dirty="0"/>
              <a:t>FuE-Projekt Sommersemester 2026 | 09.10.2026</a:t>
            </a:r>
          </a:p>
        </p:txBody>
      </p:sp>
      <p:sp>
        <p:nvSpPr>
          <p:cNvPr id="4" name="Fußzeilenplatzhalter 3">
            <a:extLst>
              <a:ext uri="{FF2B5EF4-FFF2-40B4-BE49-F238E27FC236}">
                <a16:creationId xmlns:a16="http://schemas.microsoft.com/office/drawing/2014/main" id="{E6622074-AF92-4EAD-220A-FE75450E9C81}"/>
              </a:ext>
            </a:extLst>
          </p:cNvPr>
          <p:cNvSpPr>
            <a:spLocks noGrp="1"/>
          </p:cNvSpPr>
          <p:nvPr>
            <p:ph type="ftr" sz="quarter" idx="29"/>
          </p:nvPr>
        </p:nvSpPr>
        <p:spPr/>
        <p:txBody>
          <a:bodyPr/>
          <a:lstStyle/>
          <a:p>
            <a:r>
              <a:rPr lang="de-DE"/>
              <a:t>Hochschule Karlsruhe</a:t>
            </a:r>
          </a:p>
        </p:txBody>
      </p:sp>
      <p:sp>
        <p:nvSpPr>
          <p:cNvPr id="5" name="Foliennummernplatzhalter 4">
            <a:extLst>
              <a:ext uri="{FF2B5EF4-FFF2-40B4-BE49-F238E27FC236}">
                <a16:creationId xmlns:a16="http://schemas.microsoft.com/office/drawing/2014/main" id="{CAE0A970-8A16-2549-EEAB-D8AA6D4D1B49}"/>
              </a:ext>
            </a:extLst>
          </p:cNvPr>
          <p:cNvSpPr>
            <a:spLocks noGrp="1"/>
          </p:cNvSpPr>
          <p:nvPr>
            <p:ph type="sldNum" sz="quarter" idx="30"/>
          </p:nvPr>
        </p:nvSpPr>
        <p:spPr/>
        <p:txBody>
          <a:bodyPr/>
          <a:lstStyle/>
          <a:p>
            <a:fld id="{13005BA2-ABF8-0A46-8B15-84F2660EFA6C}" type="slidenum">
              <a:rPr lang="de-DE" smtClean="0"/>
              <a:pPr/>
              <a:t>12</a:t>
            </a:fld>
            <a:endParaRPr lang="de-DE"/>
          </a:p>
        </p:txBody>
      </p:sp>
      <p:sp>
        <p:nvSpPr>
          <p:cNvPr id="6" name="Textplatzhalter 5">
            <a:extLst>
              <a:ext uri="{FF2B5EF4-FFF2-40B4-BE49-F238E27FC236}">
                <a16:creationId xmlns:a16="http://schemas.microsoft.com/office/drawing/2014/main" id="{9C3D3D88-3FE6-650F-67BB-6FE269FA0535}"/>
              </a:ext>
            </a:extLst>
          </p:cNvPr>
          <p:cNvSpPr>
            <a:spLocks noGrp="1"/>
          </p:cNvSpPr>
          <p:nvPr>
            <p:ph type="body" sz="quarter" idx="24"/>
          </p:nvPr>
        </p:nvSpPr>
        <p:spPr/>
        <p:txBody>
          <a:bodyPr/>
          <a:lstStyle/>
          <a:p>
            <a:r>
              <a:rPr lang="de-DE" dirty="0"/>
              <a:t>Fazit und Ausblick</a:t>
            </a:r>
          </a:p>
        </p:txBody>
      </p:sp>
    </p:spTree>
    <p:extLst>
      <p:ext uri="{BB962C8B-B14F-4D97-AF65-F5344CB8AC3E}">
        <p14:creationId xmlns:p14="http://schemas.microsoft.com/office/powerpoint/2010/main" val="799398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5D1AD3B2-3A58-B3D5-453B-F940F8A1E096}"/>
              </a:ext>
            </a:extLst>
          </p:cNvPr>
          <p:cNvSpPr>
            <a:spLocks noGrp="1"/>
          </p:cNvSpPr>
          <p:nvPr>
            <p:ph type="body" sz="quarter" idx="11"/>
          </p:nvPr>
        </p:nvSpPr>
        <p:spPr/>
        <p:txBody>
          <a:bodyPr/>
          <a:lstStyle/>
          <a:p>
            <a:r>
              <a:rPr lang="de-DE" dirty="0"/>
              <a:t>Vielen Dank für Ihre Aufmerksamkeit!</a:t>
            </a:r>
          </a:p>
          <a:p>
            <a:endParaRPr lang="de-DE" dirty="0"/>
          </a:p>
          <a:p>
            <a:r>
              <a:rPr lang="de-DE" dirty="0"/>
              <a:t>Haben Sie noch Fragen?</a:t>
            </a:r>
          </a:p>
        </p:txBody>
      </p:sp>
      <p:sp>
        <p:nvSpPr>
          <p:cNvPr id="3" name="Bildplatzhalter 2">
            <a:extLst>
              <a:ext uri="{FF2B5EF4-FFF2-40B4-BE49-F238E27FC236}">
                <a16:creationId xmlns:a16="http://schemas.microsoft.com/office/drawing/2014/main" id="{CEDBFA9C-FF98-1CF4-6AFF-B016208C3BA2}"/>
              </a:ext>
            </a:extLst>
          </p:cNvPr>
          <p:cNvSpPr>
            <a:spLocks noGrp="1"/>
          </p:cNvSpPr>
          <p:nvPr>
            <p:ph type="pic" sz="quarter" idx="12"/>
          </p:nvPr>
        </p:nvSpPr>
        <p:spPr/>
        <p:txBody>
          <a:bodyPr/>
          <a:lstStyle/>
          <a:p>
            <a:endParaRPr lang="de-DE"/>
          </a:p>
        </p:txBody>
      </p:sp>
      <p:sp>
        <p:nvSpPr>
          <p:cNvPr id="4" name="Textplatzhalter 3">
            <a:extLst>
              <a:ext uri="{FF2B5EF4-FFF2-40B4-BE49-F238E27FC236}">
                <a16:creationId xmlns:a16="http://schemas.microsoft.com/office/drawing/2014/main" id="{C61DC95C-AF10-A715-17F4-462FA20AA330}"/>
              </a:ext>
            </a:extLst>
          </p:cNvPr>
          <p:cNvSpPr>
            <a:spLocks noGrp="1"/>
          </p:cNvSpPr>
          <p:nvPr>
            <p:ph type="body" sz="quarter" idx="15"/>
          </p:nvPr>
        </p:nvSpPr>
        <p:spPr/>
        <p:txBody>
          <a:bodyPr/>
          <a:lstStyle/>
          <a:p>
            <a:r>
              <a:rPr lang="de-DE" dirty="0"/>
              <a:t>FuE-Projekt Sommersemester 2026 | 09.10.2026</a:t>
            </a:r>
          </a:p>
        </p:txBody>
      </p:sp>
    </p:spTree>
    <p:extLst>
      <p:ext uri="{BB962C8B-B14F-4D97-AF65-F5344CB8AC3E}">
        <p14:creationId xmlns:p14="http://schemas.microsoft.com/office/powerpoint/2010/main" val="2471770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7C8093CA-8FAF-2ED6-13F4-9BAC45529093}"/>
              </a:ext>
            </a:extLst>
          </p:cNvPr>
          <p:cNvSpPr>
            <a:spLocks noGrp="1"/>
          </p:cNvSpPr>
          <p:nvPr>
            <p:ph type="body" sz="quarter" idx="11"/>
          </p:nvPr>
        </p:nvSpPr>
        <p:spPr/>
        <p:txBody>
          <a:bodyPr/>
          <a:lstStyle/>
          <a:p>
            <a:r>
              <a:rPr lang="de-DE" dirty="0" err="1"/>
              <a:t>BackUp</a:t>
            </a:r>
            <a:r>
              <a:rPr lang="de-DE" dirty="0"/>
              <a:t> Folien</a:t>
            </a:r>
          </a:p>
        </p:txBody>
      </p:sp>
      <p:sp>
        <p:nvSpPr>
          <p:cNvPr id="3" name="Bildplatzhalter 2">
            <a:extLst>
              <a:ext uri="{FF2B5EF4-FFF2-40B4-BE49-F238E27FC236}">
                <a16:creationId xmlns:a16="http://schemas.microsoft.com/office/drawing/2014/main" id="{5B8D70A3-9364-C999-CFB8-2A3D86210BDB}"/>
              </a:ext>
            </a:extLst>
          </p:cNvPr>
          <p:cNvSpPr>
            <a:spLocks noGrp="1" noChangeAspect="1"/>
          </p:cNvSpPr>
          <p:nvPr>
            <p:ph type="pic" sz="quarter" idx="12"/>
          </p:nvPr>
        </p:nvSpPr>
        <p:spPr/>
      </p:sp>
      <p:sp>
        <p:nvSpPr>
          <p:cNvPr id="4" name="Textplatzhalter 3">
            <a:extLst>
              <a:ext uri="{FF2B5EF4-FFF2-40B4-BE49-F238E27FC236}">
                <a16:creationId xmlns:a16="http://schemas.microsoft.com/office/drawing/2014/main" id="{D9031A88-51BE-C99E-30F2-2FF573090D31}"/>
              </a:ext>
            </a:extLst>
          </p:cNvPr>
          <p:cNvSpPr>
            <a:spLocks noGrp="1"/>
          </p:cNvSpPr>
          <p:nvPr>
            <p:ph type="body" sz="quarter" idx="15"/>
          </p:nvPr>
        </p:nvSpPr>
        <p:spPr/>
        <p:txBody>
          <a:bodyPr/>
          <a:lstStyle/>
          <a:p>
            <a:endParaRPr lang="de-DE"/>
          </a:p>
        </p:txBody>
      </p:sp>
    </p:spTree>
    <p:extLst>
      <p:ext uri="{BB962C8B-B14F-4D97-AF65-F5344CB8AC3E}">
        <p14:creationId xmlns:p14="http://schemas.microsoft.com/office/powerpoint/2010/main" val="1946815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88E054D-B2D8-B24B-B63F-996F7F18109B}"/>
              </a:ext>
            </a:extLst>
          </p:cNvPr>
          <p:cNvSpPr>
            <a:spLocks noGrp="1"/>
          </p:cNvSpPr>
          <p:nvPr>
            <p:ph type="dt" sz="half" idx="28"/>
          </p:nvPr>
        </p:nvSpPr>
        <p:spPr/>
        <p:txBody>
          <a:bodyPr/>
          <a:lstStyle/>
          <a:p>
            <a:r>
              <a:rPr lang="de-DE" dirty="0"/>
              <a:t>FuE-Projekt Sommersemester 2026 | 09.10.2026</a:t>
            </a:r>
          </a:p>
        </p:txBody>
      </p:sp>
      <p:sp>
        <p:nvSpPr>
          <p:cNvPr id="4" name="Fußzeilenplatzhalter 3">
            <a:extLst>
              <a:ext uri="{FF2B5EF4-FFF2-40B4-BE49-F238E27FC236}">
                <a16:creationId xmlns:a16="http://schemas.microsoft.com/office/drawing/2014/main" id="{7BBA9579-282E-8C5D-7B72-F558F8091AF5}"/>
              </a:ext>
            </a:extLst>
          </p:cNvPr>
          <p:cNvSpPr>
            <a:spLocks noGrp="1"/>
          </p:cNvSpPr>
          <p:nvPr>
            <p:ph type="ftr" sz="quarter" idx="29"/>
          </p:nvPr>
        </p:nvSpPr>
        <p:spPr/>
        <p:txBody>
          <a:bodyPr/>
          <a:lstStyle/>
          <a:p>
            <a:r>
              <a:rPr lang="de-DE"/>
              <a:t>Hochschule Karlsruhe</a:t>
            </a:r>
          </a:p>
        </p:txBody>
      </p:sp>
      <p:sp>
        <p:nvSpPr>
          <p:cNvPr id="5" name="Foliennummernplatzhalter 4">
            <a:extLst>
              <a:ext uri="{FF2B5EF4-FFF2-40B4-BE49-F238E27FC236}">
                <a16:creationId xmlns:a16="http://schemas.microsoft.com/office/drawing/2014/main" id="{285F5CE8-F3BC-7293-D1EF-73EAD368810C}"/>
              </a:ext>
            </a:extLst>
          </p:cNvPr>
          <p:cNvSpPr>
            <a:spLocks noGrp="1"/>
          </p:cNvSpPr>
          <p:nvPr>
            <p:ph type="sldNum" sz="quarter" idx="30"/>
          </p:nvPr>
        </p:nvSpPr>
        <p:spPr/>
        <p:txBody>
          <a:bodyPr/>
          <a:lstStyle/>
          <a:p>
            <a:fld id="{13005BA2-ABF8-0A46-8B15-84F2660EFA6C}" type="slidenum">
              <a:rPr lang="de-DE" smtClean="0"/>
              <a:pPr/>
              <a:t>15</a:t>
            </a:fld>
            <a:endParaRPr lang="de-DE"/>
          </a:p>
        </p:txBody>
      </p:sp>
      <p:sp>
        <p:nvSpPr>
          <p:cNvPr id="6" name="Textplatzhalter 5">
            <a:extLst>
              <a:ext uri="{FF2B5EF4-FFF2-40B4-BE49-F238E27FC236}">
                <a16:creationId xmlns:a16="http://schemas.microsoft.com/office/drawing/2014/main" id="{44EE76A5-0510-65F6-CEFE-8AB9B4738799}"/>
              </a:ext>
            </a:extLst>
          </p:cNvPr>
          <p:cNvSpPr>
            <a:spLocks noGrp="1"/>
          </p:cNvSpPr>
          <p:nvPr>
            <p:ph type="body" sz="quarter" idx="24"/>
          </p:nvPr>
        </p:nvSpPr>
        <p:spPr/>
        <p:txBody>
          <a:bodyPr/>
          <a:lstStyle/>
          <a:p>
            <a:r>
              <a:rPr lang="de-DE" dirty="0"/>
              <a:t>Probleme Bildverarbeitung Roboter-Kamera</a:t>
            </a:r>
          </a:p>
        </p:txBody>
      </p:sp>
      <p:pic>
        <p:nvPicPr>
          <p:cNvPr id="8" name="Grafik 7">
            <a:extLst>
              <a:ext uri="{FF2B5EF4-FFF2-40B4-BE49-F238E27FC236}">
                <a16:creationId xmlns:a16="http://schemas.microsoft.com/office/drawing/2014/main" id="{43F61627-153B-62A0-518F-1EC338EF4C1C}"/>
              </a:ext>
            </a:extLst>
          </p:cNvPr>
          <p:cNvPicPr>
            <a:picLocks noChangeAspect="1"/>
          </p:cNvPicPr>
          <p:nvPr/>
        </p:nvPicPr>
        <p:blipFill>
          <a:blip r:embed="rId2"/>
          <a:srcRect t="693"/>
          <a:stretch>
            <a:fillRect/>
          </a:stretch>
        </p:blipFill>
        <p:spPr>
          <a:xfrm rot="5400000">
            <a:off x="1732607" y="-488733"/>
            <a:ext cx="5105468" cy="7901284"/>
          </a:xfrm>
          <a:prstGeom prst="rect">
            <a:avLst/>
          </a:prstGeom>
        </p:spPr>
      </p:pic>
    </p:spTree>
    <p:extLst>
      <p:ext uri="{BB962C8B-B14F-4D97-AF65-F5344CB8AC3E}">
        <p14:creationId xmlns:p14="http://schemas.microsoft.com/office/powerpoint/2010/main" val="3893658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23" name="Gerade Verbindung mit Pfeil 2022"/>
          <p:cNvCxnSpPr>
            <a:stCxn id="2019" idx="2"/>
            <a:endCxn id="2005" idx="0"/>
          </p:cNvCxnSpPr>
          <p:nvPr/>
        </p:nvCxnSpPr>
        <p:spPr>
          <a:xfrm flipH="1">
            <a:off x="9786938" y="3333750"/>
            <a:ext cx="797720" cy="857250"/>
          </a:xfrm>
          <a:prstGeom prst="straightConnector1">
            <a:avLst/>
          </a:prstGeom>
          <a:ln w="19050">
            <a:solidFill>
              <a:srgbClr val="2869AF"/>
            </a:solidFill>
            <a:tailEnd type="triangle" w="sm" len="sm"/>
          </a:ln>
        </p:spPr>
      </p:cxnSp>
      <p:cxnSp>
        <p:nvCxnSpPr>
          <p:cNvPr id="2024" name="Gerade Verbindung mit Pfeil 2023"/>
          <p:cNvCxnSpPr>
            <a:stCxn id="2018" idx="2"/>
            <a:endCxn id="2005" idx="0"/>
          </p:cNvCxnSpPr>
          <p:nvPr/>
        </p:nvCxnSpPr>
        <p:spPr>
          <a:xfrm>
            <a:off x="8989219" y="3333750"/>
            <a:ext cx="797719" cy="857250"/>
          </a:xfrm>
          <a:prstGeom prst="straightConnector1">
            <a:avLst/>
          </a:prstGeom>
          <a:ln w="19050">
            <a:solidFill>
              <a:srgbClr val="2869AF"/>
            </a:solidFill>
            <a:tailEnd type="triangle" w="sm" len="sm"/>
          </a:ln>
        </p:spPr>
      </p:cxnSp>
      <p:cxnSp>
        <p:nvCxnSpPr>
          <p:cNvPr id="2025" name="Gerade Verbindung mit Pfeil 2024"/>
          <p:cNvCxnSpPr>
            <a:stCxn id="2016" idx="2"/>
            <a:endCxn id="2004" idx="0"/>
          </p:cNvCxnSpPr>
          <p:nvPr/>
        </p:nvCxnSpPr>
        <p:spPr>
          <a:xfrm>
            <a:off x="7239000" y="3333750"/>
            <a:ext cx="0" cy="857250"/>
          </a:xfrm>
          <a:prstGeom prst="straightConnector1">
            <a:avLst/>
          </a:prstGeom>
          <a:ln w="19050">
            <a:solidFill>
              <a:srgbClr val="2869AF"/>
            </a:solidFill>
            <a:tailEnd type="triangle" w="sm" len="sm"/>
          </a:ln>
        </p:spPr>
      </p:cxnSp>
      <p:cxnSp>
        <p:nvCxnSpPr>
          <p:cNvPr id="2026" name="Gerade Verbindung mit Pfeil 2025"/>
          <p:cNvCxnSpPr>
            <a:stCxn id="2014" idx="2"/>
            <a:endCxn id="2003" idx="0"/>
          </p:cNvCxnSpPr>
          <p:nvPr/>
        </p:nvCxnSpPr>
        <p:spPr>
          <a:xfrm>
            <a:off x="5238750" y="3333750"/>
            <a:ext cx="0" cy="857250"/>
          </a:xfrm>
          <a:prstGeom prst="straightConnector1">
            <a:avLst/>
          </a:prstGeom>
          <a:ln w="19050">
            <a:solidFill>
              <a:srgbClr val="2869AF"/>
            </a:solidFill>
            <a:tailEnd type="triangle" w="sm" len="sm"/>
          </a:ln>
        </p:spPr>
      </p:cxnSp>
      <p:cxnSp>
        <p:nvCxnSpPr>
          <p:cNvPr id="2027" name="Gerade Verbindung mit Pfeil 2026"/>
          <p:cNvCxnSpPr>
            <a:stCxn id="2012" idx="2"/>
            <a:endCxn id="2002" idx="0"/>
          </p:cNvCxnSpPr>
          <p:nvPr/>
        </p:nvCxnSpPr>
        <p:spPr>
          <a:xfrm>
            <a:off x="3238500" y="3333750"/>
            <a:ext cx="0" cy="857250"/>
          </a:xfrm>
          <a:prstGeom prst="straightConnector1">
            <a:avLst/>
          </a:prstGeom>
          <a:ln w="19050">
            <a:solidFill>
              <a:srgbClr val="2869AF"/>
            </a:solidFill>
            <a:tailEnd type="triangle" w="sm" len="sm"/>
          </a:ln>
        </p:spPr>
      </p:cxnSp>
      <p:cxnSp>
        <p:nvCxnSpPr>
          <p:cNvPr id="2028" name="Gerade Verbindung mit Pfeil 2027"/>
          <p:cNvCxnSpPr>
            <a:stCxn id="2010" idx="2"/>
            <a:endCxn id="2001" idx="0"/>
          </p:cNvCxnSpPr>
          <p:nvPr/>
        </p:nvCxnSpPr>
        <p:spPr>
          <a:xfrm>
            <a:off x="1238250" y="3333750"/>
            <a:ext cx="0" cy="857250"/>
          </a:xfrm>
          <a:prstGeom prst="straightConnector1">
            <a:avLst/>
          </a:prstGeom>
          <a:ln w="19050">
            <a:solidFill>
              <a:srgbClr val="2869AF"/>
            </a:solidFill>
            <a:tailEnd type="triangle" w="sm" len="sm"/>
          </a:ln>
        </p:spPr>
      </p:cxnSp>
      <p:cxnSp>
        <p:nvCxnSpPr>
          <p:cNvPr id="2029" name="Gerade Verbindung mit Pfeil 2028"/>
          <p:cNvCxnSpPr>
            <a:stCxn id="2004" idx="3"/>
            <a:endCxn id="2005" idx="1"/>
          </p:cNvCxnSpPr>
          <p:nvPr/>
        </p:nvCxnSpPr>
        <p:spPr>
          <a:xfrm>
            <a:off x="8143875" y="4714875"/>
            <a:ext cx="190500" cy="0"/>
          </a:xfrm>
          <a:prstGeom prst="straightConnector1">
            <a:avLst/>
          </a:prstGeom>
          <a:ln w="19050">
            <a:solidFill>
              <a:srgbClr val="2869AF"/>
            </a:solidFill>
            <a:tailEnd type="triangle" w="sm" len="sm"/>
          </a:ln>
        </p:spPr>
      </p:cxnSp>
      <p:cxnSp>
        <p:nvCxnSpPr>
          <p:cNvPr id="2030" name="Gerade Verbindung mit Pfeil 2029"/>
          <p:cNvCxnSpPr>
            <a:stCxn id="2003" idx="3"/>
            <a:endCxn id="2004" idx="1"/>
          </p:cNvCxnSpPr>
          <p:nvPr/>
        </p:nvCxnSpPr>
        <p:spPr>
          <a:xfrm>
            <a:off x="6143625" y="4714875"/>
            <a:ext cx="190500" cy="0"/>
          </a:xfrm>
          <a:prstGeom prst="straightConnector1">
            <a:avLst/>
          </a:prstGeom>
          <a:ln w="19050">
            <a:solidFill>
              <a:srgbClr val="2869AF"/>
            </a:solidFill>
            <a:tailEnd type="triangle" w="sm" len="sm"/>
          </a:ln>
        </p:spPr>
      </p:cxnSp>
      <p:cxnSp>
        <p:nvCxnSpPr>
          <p:cNvPr id="2031" name="Gerade Verbindung mit Pfeil 2030"/>
          <p:cNvCxnSpPr>
            <a:stCxn id="2002" idx="3"/>
            <a:endCxn id="2003" idx="1"/>
          </p:cNvCxnSpPr>
          <p:nvPr/>
        </p:nvCxnSpPr>
        <p:spPr>
          <a:xfrm>
            <a:off x="4143375" y="4714875"/>
            <a:ext cx="190500" cy="0"/>
          </a:xfrm>
          <a:prstGeom prst="straightConnector1">
            <a:avLst/>
          </a:prstGeom>
          <a:ln w="19050">
            <a:solidFill>
              <a:srgbClr val="2869AF"/>
            </a:solidFill>
            <a:tailEnd type="triangle" w="sm" len="sm"/>
          </a:ln>
        </p:spPr>
      </p:cxnSp>
      <p:cxnSp>
        <p:nvCxnSpPr>
          <p:cNvPr id="2032" name="Gerade Verbindung mit Pfeil 2031"/>
          <p:cNvCxnSpPr>
            <a:stCxn id="2001" idx="3"/>
            <a:endCxn id="2002" idx="1"/>
          </p:cNvCxnSpPr>
          <p:nvPr/>
        </p:nvCxnSpPr>
        <p:spPr>
          <a:xfrm>
            <a:off x="2143125" y="4714875"/>
            <a:ext cx="190500" cy="0"/>
          </a:xfrm>
          <a:prstGeom prst="straightConnector1">
            <a:avLst/>
          </a:prstGeom>
          <a:ln w="19050">
            <a:solidFill>
              <a:srgbClr val="2869AF"/>
            </a:solidFill>
            <a:tailEnd type="triangle" w="sm" len="sm"/>
          </a:ln>
        </p:spPr>
      </p:cxnSp>
      <p:sp>
        <p:nvSpPr>
          <p:cNvPr id="2033" name="function-0">
            <a:extLst>
              <a:ext uri="{FF2B5EF4-FFF2-40B4-BE49-F238E27FC236}">
                <a16:creationId xmlns:a16="http://schemas.microsoft.com/office/drawing/2014/main" id="{44D4AAFC-EFA6-4602-A370-3EDB30FD54B2}"/>
              </a:ext>
            </a:extLst>
          </p:cNvPr>
          <p:cNvSpPr>
            <a:spLocks noGrp="1"/>
          </p:cNvSpPr>
          <p:nvPr/>
        </p:nvSpPr>
        <p:spPr>
          <a:xfrm>
            <a:off x="33337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Bild-</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auswertung</a:t>
            </a:r>
          </a:p>
        </p:txBody>
      </p:sp>
      <p:sp>
        <p:nvSpPr>
          <p:cNvPr id="2002" name="function-1">
            <a:extLst>
              <a:ext uri="{FF2B5EF4-FFF2-40B4-BE49-F238E27FC236}">
                <a16:creationId xmlns:a16="http://schemas.microsoft.com/office/drawing/2014/main" id="{A656B1C6-CD45-4F23-B177-D255F49ABD3E}"/>
              </a:ext>
            </a:extLst>
          </p:cNvPr>
          <p:cNvSpPr>
            <a:spLocks noGrp="1"/>
          </p:cNvSpPr>
          <p:nvPr/>
        </p:nvSpPr>
        <p:spPr>
          <a:xfrm>
            <a:off x="233362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Bewegungs-</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schätzung</a:t>
            </a:r>
          </a:p>
        </p:txBody>
      </p:sp>
      <p:sp>
        <p:nvSpPr>
          <p:cNvPr id="2003" name="function-2">
            <a:extLst>
              <a:ext uri="{FF2B5EF4-FFF2-40B4-BE49-F238E27FC236}">
                <a16:creationId xmlns:a16="http://schemas.microsoft.com/office/drawing/2014/main" id="{186F39AA-A9C1-4E77-A588-30BC19709AD0}"/>
              </a:ext>
            </a:extLst>
          </p:cNvPr>
          <p:cNvSpPr>
            <a:spLocks noGrp="1"/>
          </p:cNvSpPr>
          <p:nvPr/>
        </p:nvSpPr>
        <p:spPr>
          <a:xfrm>
            <a:off x="433387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Ziel-</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auswahl</a:t>
            </a:r>
          </a:p>
        </p:txBody>
      </p:sp>
      <p:sp>
        <p:nvSpPr>
          <p:cNvPr id="2004" name="function-3">
            <a:extLst>
              <a:ext uri="{FF2B5EF4-FFF2-40B4-BE49-F238E27FC236}">
                <a16:creationId xmlns:a16="http://schemas.microsoft.com/office/drawing/2014/main" id="{A1F46318-8A04-453E-AD6E-18899F276EDD}"/>
              </a:ext>
            </a:extLst>
          </p:cNvPr>
          <p:cNvSpPr>
            <a:spLocks noGrp="1"/>
          </p:cNvSpPr>
          <p:nvPr/>
        </p:nvSpPr>
        <p:spPr>
          <a:xfrm>
            <a:off x="633412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Greif-</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ablauf</a:t>
            </a:r>
          </a:p>
        </p:txBody>
      </p:sp>
      <p:sp>
        <p:nvSpPr>
          <p:cNvPr id="2005" name="function-4">
            <a:extLst>
              <a:ext uri="{FF2B5EF4-FFF2-40B4-BE49-F238E27FC236}">
                <a16:creationId xmlns:a16="http://schemas.microsoft.com/office/drawing/2014/main" id="{4368BCF1-926F-45DE-8668-511E8276357E}"/>
              </a:ext>
            </a:extLst>
          </p:cNvPr>
          <p:cNvSpPr>
            <a:spLocks noGrp="1"/>
          </p:cNvSpPr>
          <p:nvPr/>
        </p:nvSpPr>
        <p:spPr>
          <a:xfrm>
            <a:off x="8334375" y="4191000"/>
            <a:ext cx="2905125"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Bewegungs-</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regelung</a:t>
            </a:r>
          </a:p>
        </p:txBody>
      </p:sp>
      <p:sp>
        <p:nvSpPr>
          <p:cNvPr id="2010" name="component-0">
            <a:extLst>
              <a:ext uri="{FF2B5EF4-FFF2-40B4-BE49-F238E27FC236}">
                <a16:creationId xmlns:a16="http://schemas.microsoft.com/office/drawing/2014/main" id="{BECED619-220E-4E92-AD6C-351DD0BBA698}"/>
              </a:ext>
            </a:extLst>
          </p:cNvPr>
          <p:cNvSpPr>
            <a:spLocks noGrp="1"/>
          </p:cNvSpPr>
          <p:nvPr/>
        </p:nvSpPr>
        <p:spPr>
          <a:xfrm>
            <a:off x="33337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base_cam</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15 Hz</a:t>
            </a:r>
          </a:p>
        </p:txBody>
      </p:sp>
      <p:sp>
        <p:nvSpPr>
          <p:cNvPr id="2012" name="component-1">
            <a:extLst>
              <a:ext uri="{FF2B5EF4-FFF2-40B4-BE49-F238E27FC236}">
                <a16:creationId xmlns:a16="http://schemas.microsoft.com/office/drawing/2014/main" id="{15E7295C-006B-4312-A66A-D383151A4D4A}"/>
              </a:ext>
            </a:extLst>
          </p:cNvPr>
          <p:cNvSpPr>
            <a:spLocks noGrp="1"/>
          </p:cNvSpPr>
          <p:nvPr/>
        </p:nvSpPr>
        <p:spPr>
          <a:xfrm>
            <a:off x="233362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vectoring</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15 Hz</a:t>
            </a:r>
          </a:p>
        </p:txBody>
      </p:sp>
      <p:sp>
        <p:nvSpPr>
          <p:cNvPr id="2014" name="component-2">
            <a:extLst>
              <a:ext uri="{FF2B5EF4-FFF2-40B4-BE49-F238E27FC236}">
                <a16:creationId xmlns:a16="http://schemas.microsoft.com/office/drawing/2014/main" id="{B24AC9B5-DEE8-4A45-BA8C-32699F557A60}"/>
              </a:ext>
            </a:extLst>
          </p:cNvPr>
          <p:cNvSpPr>
            <a:spLocks noGrp="1"/>
          </p:cNvSpPr>
          <p:nvPr/>
        </p:nvSpPr>
        <p:spPr>
          <a:xfrm>
            <a:off x="433387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priority_handler</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20 Hz</a:t>
            </a:r>
          </a:p>
        </p:txBody>
      </p:sp>
      <p:sp>
        <p:nvSpPr>
          <p:cNvPr id="2016" name="component-3">
            <a:extLst>
              <a:ext uri="{FF2B5EF4-FFF2-40B4-BE49-F238E27FC236}">
                <a16:creationId xmlns:a16="http://schemas.microsoft.com/office/drawing/2014/main" id="{26253840-1AD0-4306-B43B-4ACE212BBC83}"/>
              </a:ext>
            </a:extLst>
          </p:cNvPr>
          <p:cNvSpPr>
            <a:spLocks noGrp="1"/>
          </p:cNvSpPr>
          <p:nvPr/>
        </p:nvSpPr>
        <p:spPr>
          <a:xfrm>
            <a:off x="633412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object_follower</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50 Hz</a:t>
            </a:r>
          </a:p>
        </p:txBody>
      </p:sp>
      <p:sp>
        <p:nvSpPr>
          <p:cNvPr id="2018" name="component-attractor">
            <a:extLst>
              <a:ext uri="{FF2B5EF4-FFF2-40B4-BE49-F238E27FC236}">
                <a16:creationId xmlns:a16="http://schemas.microsoft.com/office/drawing/2014/main" id="{6273EF17-8995-44E7-98C4-04BBE932C355}"/>
              </a:ext>
            </a:extLst>
          </p:cNvPr>
          <p:cNvSpPr>
            <a:spLocks noGrp="1"/>
          </p:cNvSpPr>
          <p:nvPr/>
        </p:nvSpPr>
        <p:spPr>
          <a:xfrm>
            <a:off x="8334375" y="2333625"/>
            <a:ext cx="1309688"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Signal Point</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Attractor</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50 Hz</a:t>
            </a:r>
          </a:p>
        </p:txBody>
      </p:sp>
      <p:sp>
        <p:nvSpPr>
          <p:cNvPr id="2019" name="component-ik">
            <a:extLst>
              <a:ext uri="{FF2B5EF4-FFF2-40B4-BE49-F238E27FC236}">
                <a16:creationId xmlns:a16="http://schemas.microsoft.com/office/drawing/2014/main" id="{E542B850-0F58-4276-AADE-AD1FFFDDF6C2}"/>
              </a:ext>
            </a:extLst>
          </p:cNvPr>
          <p:cNvSpPr>
            <a:spLocks noGrp="1"/>
          </p:cNvSpPr>
          <p:nvPr/>
        </p:nvSpPr>
        <p:spPr>
          <a:xfrm>
            <a:off x="9929813" y="2333625"/>
            <a:ext cx="1309688"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IK Velocity</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Controller</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500 Hz</a:t>
            </a:r>
          </a:p>
        </p:txBody>
      </p:sp>
      <p:sp>
        <p:nvSpPr>
          <p:cNvPr id="2022" name="mapping-caption">
            <a:extLst>
              <a:ext uri="{FF2B5EF4-FFF2-40B4-BE49-F238E27FC236}">
                <a16:creationId xmlns:a16="http://schemas.microsoft.com/office/drawing/2014/main" id="{50C31E94-931B-4537-A8C6-F7D29910A3FC}"/>
              </a:ext>
            </a:extLst>
          </p:cNvPr>
          <p:cNvSpPr>
            <a:spLocks noGrp="1"/>
          </p:cNvSpPr>
          <p:nvPr/>
        </p:nvSpPr>
        <p:spPr>
          <a:xfrm>
            <a:off x="333375" y="5743575"/>
            <a:ext cx="10906125" cy="257175"/>
          </a:xfrm>
          <a:prstGeom prst="rect">
            <a:avLst/>
          </a:prstGeom>
          <a:noFill/>
          <a:ln w="0">
            <a:noFill/>
          </a:ln>
        </p:spPr>
        <p:txBody>
          <a:bodyPr wrap="none" lIns="0" tIns="0" rIns="0" bIns="0" anchor="t">
            <a:noAutofit/>
          </a:bodyPr>
          <a:lstStyle/>
          <a:p>
            <a:pPr algn="l">
              <a:spcBef>
                <a:spcPts val="0"/>
              </a:spcBef>
              <a:spcAft>
                <a:spcPts val="0"/>
              </a:spcAft>
              <a:defRPr sz="1200">
                <a:solidFill>
                  <a:srgbClr val="61707D"/>
                </a:solidFill>
                <a:latin typeface="Calibri"/>
                <a:ea typeface="Calibri"/>
                <a:cs typeface="Calibri"/>
              </a:defRPr>
            </a:pPr>
            <a:r>
              <a:rPr sz="1200">
                <a:solidFill>
                  <a:srgbClr val="61707D"/>
                </a:solidFill>
                <a:latin typeface="Calibri"/>
                <a:ea typeface="Calibri"/>
                <a:cs typeface="Calibri"/>
              </a:rPr>
              <a:t>AICA-Komponenten, konfigurierte Taktraten und Funktionsgruppen</a:t>
            </a:r>
          </a:p>
        </p:txBody>
      </p:sp>
      <p:sp>
        <p:nvSpPr>
          <p:cNvPr id="1028" name="slide-title">
            <a:extLst>
              <a:ext uri="{FF2B5EF4-FFF2-40B4-BE49-F238E27FC236}">
                <a16:creationId xmlns:a16="http://schemas.microsoft.com/office/drawing/2014/main" id="{DE494103-EA52-47CF-92CA-523F2A8E6074}"/>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Systemkonzept und AICA</a:t>
            </a:r>
          </a:p>
        </p:txBody>
      </p:sp>
      <p:sp>
        <p:nvSpPr>
          <p:cNvPr id="1002" name="aica-label">
            <a:extLst>
              <a:ext uri="{FF2B5EF4-FFF2-40B4-BE49-F238E27FC236}">
                <a16:creationId xmlns:a16="http://schemas.microsoft.com/office/drawing/2014/main" id="{AB37586A-E685-41B0-B2B1-8E9D58336070}"/>
              </a:ext>
            </a:extLst>
          </p:cNvPr>
          <p:cNvSpPr>
            <a:spLocks noGrp="1"/>
          </p:cNvSpPr>
          <p:nvPr/>
        </p:nvSpPr>
        <p:spPr>
          <a:xfrm>
            <a:off x="333375" y="1381125"/>
            <a:ext cx="10906125"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600" b="0">
                <a:solidFill>
                  <a:srgbClr val="2869AF"/>
                </a:solidFill>
                <a:latin typeface="Calibri"/>
                <a:ea typeface="Calibri"/>
                <a:cs typeface="Calibri"/>
              </a:defRPr>
            </a:pPr>
            <a:r>
              <a:rPr sz="2600" b="0">
                <a:solidFill>
                  <a:srgbClr val="2869AF"/>
                </a:solidFill>
                <a:latin typeface="Calibri"/>
                <a:ea typeface="Calibri"/>
                <a:cs typeface="Calibri"/>
              </a:rPr>
              <a:t>Echtzeitsteuerung mit AICA</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09.10.2026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16</a:t>
            </a:fld>
            <a:endParaRPr lang="de-DE"/>
          </a:p>
        </p:txBody>
      </p:sp>
    </p:spTree>
    <p:extLst>
      <p:ext uri="{BB962C8B-B14F-4D97-AF65-F5344CB8AC3E}">
        <p14:creationId xmlns:p14="http://schemas.microsoft.com/office/powerpoint/2010/main" val="3355191270"/>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 name="slide-title">
            <a:extLst>
              <a:ext uri="{FF2B5EF4-FFF2-40B4-BE49-F238E27FC236}">
                <a16:creationId xmlns:a16="http://schemas.microsoft.com/office/drawing/2014/main" id="{7138D7A5-9018-4CFB-A7B9-545A26D0766A}"/>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Inbetriebnahme und Rechenlast</a:t>
            </a:r>
          </a:p>
        </p:txBody>
      </p:sp>
      <p:sp>
        <p:nvSpPr>
          <p:cNvPr id="1002" name="chart-unit">
            <a:extLst>
              <a:ext uri="{FF2B5EF4-FFF2-40B4-BE49-F238E27FC236}">
                <a16:creationId xmlns:a16="http://schemas.microsoft.com/office/drawing/2014/main" id="{FF10B3A0-E506-4D20-AB2E-5CF39943550B}"/>
              </a:ext>
            </a:extLst>
          </p:cNvPr>
          <p:cNvSpPr>
            <a:spLocks noGrp="1"/>
          </p:cNvSpPr>
          <p:nvPr/>
        </p:nvSpPr>
        <p:spPr>
          <a:xfrm>
            <a:off x="333375" y="1247775"/>
            <a:ext cx="6191250" cy="3143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Mittleres Messalter (ms)</a:t>
            </a:r>
          </a:p>
        </p:txBody>
      </p:sp>
      <p:graphicFrame>
        <p:nvGraphicFramePr>
          <p:cNvPr id="1010" name="Chart"/>
          <p:cNvGraphicFramePr/>
          <p:nvPr/>
        </p:nvGraphicFramePr>
        <p:xfrm>
          <a:off x="333375" y="1666875"/>
          <a:ext cx="6191250" cy="2971800"/>
        </p:xfrm>
        <a:graphic>
          <a:graphicData uri="http://schemas.openxmlformats.org/drawingml/2006/chart">
            <c:chart xmlns:c="http://schemas.openxmlformats.org/drawingml/2006/chart" xmlns:r="http://schemas.openxmlformats.org/officeDocument/2006/relationships" r:id="rId3"/>
          </a:graphicData>
        </a:graphic>
      </p:graphicFrame>
      <p:pic>
        <p:nvPicPr>
          <p:cNvPr id="1011" name="Grafik 1010"/>
          <p:cNvPicPr>
            <a:picLocks noChangeAspect="1"/>
          </p:cNvPicPr>
          <p:nvPr/>
        </p:nvPicPr>
        <p:blipFill>
          <a:blip r:embed="rId4"/>
          <a:srcRect l="69200" t="43100" r="300" b="44000"/>
          <a:stretch/>
        </p:blipFill>
        <p:spPr>
          <a:xfrm>
            <a:off x="7143750" y="1809750"/>
            <a:ext cx="4095750" cy="895350"/>
          </a:xfrm>
          <a:prstGeom prst="rect">
            <a:avLst/>
          </a:prstGeom>
        </p:spPr>
      </p:pic>
      <p:sp>
        <p:nvSpPr>
          <p:cNvPr id="1005" name="rate-crop-caption">
            <a:extLst>
              <a:ext uri="{FF2B5EF4-FFF2-40B4-BE49-F238E27FC236}">
                <a16:creationId xmlns:a16="http://schemas.microsoft.com/office/drawing/2014/main" id="{83E77CE3-6B66-4238-B71E-403D7D603958}"/>
              </a:ext>
            </a:extLst>
          </p:cNvPr>
          <p:cNvSpPr>
            <a:spLocks noGrp="1"/>
          </p:cNvSpPr>
          <p:nvPr/>
        </p:nvSpPr>
        <p:spPr>
          <a:xfrm>
            <a:off x="7143750" y="3038475"/>
            <a:ext cx="4095750"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700" b="0">
                <a:solidFill>
                  <a:srgbClr val="61707D"/>
                </a:solidFill>
                <a:latin typeface="Calibri"/>
                <a:ea typeface="Calibri"/>
                <a:cs typeface="Calibri"/>
              </a:defRPr>
            </a:pPr>
            <a:r>
              <a:rPr sz="1700" b="0" dirty="0">
                <a:solidFill>
                  <a:srgbClr val="61707D"/>
                </a:solidFill>
                <a:latin typeface="Calibri"/>
                <a:ea typeface="Calibri"/>
                <a:cs typeface="Calibri"/>
              </a:rPr>
              <a:t>Rate </a:t>
            </a:r>
            <a:r>
              <a:rPr lang="de-DE" sz="1700" b="0" dirty="0">
                <a:solidFill>
                  <a:srgbClr val="61707D"/>
                </a:solidFill>
                <a:latin typeface="Calibri"/>
                <a:ea typeface="Calibri"/>
                <a:cs typeface="Calibri"/>
              </a:rPr>
              <a:t>für Komponente „Vectoring“ </a:t>
            </a:r>
          </a:p>
          <a:p>
            <a:pPr algn="l">
              <a:lnSpc>
                <a:spcPct val="105000"/>
              </a:lnSpc>
              <a:spcBef>
                <a:spcPts val="0"/>
              </a:spcBef>
              <a:spcAft>
                <a:spcPts val="0"/>
              </a:spcAft>
              <a:buNone/>
              <a:defRPr sz="1700" b="0">
                <a:solidFill>
                  <a:srgbClr val="61707D"/>
                </a:solidFill>
                <a:latin typeface="Calibri"/>
                <a:ea typeface="Calibri"/>
                <a:cs typeface="Calibri"/>
              </a:defRPr>
            </a:pPr>
            <a:r>
              <a:rPr sz="1700" b="0" dirty="0" err="1">
                <a:solidFill>
                  <a:srgbClr val="61707D"/>
                </a:solidFill>
                <a:latin typeface="Calibri"/>
                <a:ea typeface="Calibri"/>
                <a:cs typeface="Calibri"/>
              </a:rPr>
              <a:t>im</a:t>
            </a:r>
            <a:r>
              <a:rPr sz="1700" b="0" dirty="0">
                <a:solidFill>
                  <a:srgbClr val="61707D"/>
                </a:solidFill>
                <a:latin typeface="Calibri"/>
                <a:ea typeface="Calibri"/>
                <a:cs typeface="Calibri"/>
              </a:rPr>
              <a:t> AICA-Interface</a:t>
            </a:r>
          </a:p>
        </p:txBody>
      </p:sp>
      <p:sp>
        <p:nvSpPr>
          <p:cNvPr id="1007" name="caption-11">
            <a:extLst>
              <a:ext uri="{FF2B5EF4-FFF2-40B4-BE49-F238E27FC236}">
                <a16:creationId xmlns:a16="http://schemas.microsoft.com/office/drawing/2014/main" id="{11AAE44A-EFDC-41A1-AF88-11ECA465D126}"/>
              </a:ext>
            </a:extLst>
          </p:cNvPr>
          <p:cNvSpPr>
            <a:spLocks noGrp="1"/>
          </p:cNvSpPr>
          <p:nvPr/>
        </p:nvSpPr>
        <p:spPr>
          <a:xfrm>
            <a:off x="333375" y="4801467"/>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dirty="0" err="1">
                <a:solidFill>
                  <a:srgbClr val="61707D"/>
                </a:solidFill>
                <a:latin typeface="Calibri"/>
                <a:ea typeface="Calibri"/>
                <a:cs typeface="Calibri"/>
              </a:rPr>
              <a:t>Dokumentierte</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Entwicklungsstände</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Maßnahmen</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gemeinsam</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angepasst</a:t>
            </a:r>
            <a:endParaRPr sz="1200" b="0" dirty="0">
              <a:solidFill>
                <a:srgbClr val="61707D"/>
              </a:solidFill>
              <a:latin typeface="Calibri"/>
              <a:ea typeface="Calibri"/>
              <a:cs typeface="Calibri"/>
            </a:endParaRP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09.10.2026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17</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 name="slide-title">
            <a:extLst>
              <a:ext uri="{FF2B5EF4-FFF2-40B4-BE49-F238E27FC236}">
                <a16:creationId xmlns:a16="http://schemas.microsoft.com/office/drawing/2014/main" id="{3808468A-C58E-4065-A915-87F8165B1860}"/>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Entwicklungsabnahme und Ergebnisse</a:t>
            </a:r>
          </a:p>
        </p:txBody>
      </p:sp>
      <p:pic>
        <p:nvPicPr>
          <p:cNvPr id="1013" name="Grafik 1012"/>
          <p:cNvPicPr>
            <a:picLocks noChangeAspect="1"/>
          </p:cNvPicPr>
          <p:nvPr/>
        </p:nvPicPr>
        <p:blipFill>
          <a:blip r:embed="rId3"/>
          <a:srcRect r="24832" b="12959"/>
          <a:stretch>
            <a:fillRect/>
          </a:stretch>
        </p:blipFill>
        <p:spPr>
          <a:xfrm>
            <a:off x="277881" y="1043303"/>
            <a:ext cx="6445112" cy="3678610"/>
          </a:xfrm>
          <a:prstGeom prst="rect">
            <a:avLst/>
          </a:prstGeom>
        </p:spPr>
      </p:pic>
      <p:sp>
        <p:nvSpPr>
          <p:cNvPr id="1003" name="run-before-label">
            <a:extLst>
              <a:ext uri="{FF2B5EF4-FFF2-40B4-BE49-F238E27FC236}">
                <a16:creationId xmlns:a16="http://schemas.microsoft.com/office/drawing/2014/main" id="{72B74606-102F-4175-9DB8-51E3A125FFEC}"/>
              </a:ext>
            </a:extLst>
          </p:cNvPr>
          <p:cNvSpPr>
            <a:spLocks noGrp="1"/>
          </p:cNvSpPr>
          <p:nvPr/>
        </p:nvSpPr>
        <p:spPr>
          <a:xfrm>
            <a:off x="6990109" y="1072600"/>
            <a:ext cx="4095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61707D"/>
                </a:solidFill>
                <a:latin typeface="Calibri"/>
                <a:ea typeface="Calibri"/>
                <a:cs typeface="Calibri"/>
              </a:defRPr>
            </a:pPr>
            <a:r>
              <a:rPr sz="2000" b="0" dirty="0" err="1">
                <a:solidFill>
                  <a:srgbClr val="61707D"/>
                </a:solidFill>
                <a:latin typeface="Calibri"/>
                <a:ea typeface="Calibri"/>
                <a:cs typeface="Calibri"/>
              </a:rPr>
              <a:t>Zeitgrenzen</a:t>
            </a:r>
            <a:r>
              <a:rPr sz="2000" b="0" dirty="0">
                <a:solidFill>
                  <a:srgbClr val="61707D"/>
                </a:solidFill>
                <a:latin typeface="Calibri"/>
                <a:ea typeface="Calibri"/>
                <a:cs typeface="Calibri"/>
              </a:rPr>
              <a:t> </a:t>
            </a:r>
            <a:r>
              <a:rPr sz="2000" b="0" dirty="0" err="1">
                <a:solidFill>
                  <a:srgbClr val="61707D"/>
                </a:solidFill>
                <a:latin typeface="Calibri"/>
                <a:ea typeface="Calibri"/>
                <a:cs typeface="Calibri"/>
              </a:rPr>
              <a:t>vorher</a:t>
            </a:r>
            <a:endParaRPr sz="2000" b="0" dirty="0">
              <a:solidFill>
                <a:srgbClr val="61707D"/>
              </a:solidFill>
              <a:latin typeface="Calibri"/>
              <a:ea typeface="Calibri"/>
              <a:cs typeface="Calibri"/>
            </a:endParaRPr>
          </a:p>
        </p:txBody>
      </p:sp>
      <p:sp>
        <p:nvSpPr>
          <p:cNvPr id="1004" name="run-before-value">
            <a:extLst>
              <a:ext uri="{FF2B5EF4-FFF2-40B4-BE49-F238E27FC236}">
                <a16:creationId xmlns:a16="http://schemas.microsoft.com/office/drawing/2014/main" id="{8F3FA940-90C6-4A3D-AA01-7F3332E9014D}"/>
              </a:ext>
            </a:extLst>
          </p:cNvPr>
          <p:cNvSpPr>
            <a:spLocks noGrp="1"/>
          </p:cNvSpPr>
          <p:nvPr/>
        </p:nvSpPr>
        <p:spPr>
          <a:xfrm>
            <a:off x="6990108" y="1434550"/>
            <a:ext cx="4831715" cy="5048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000" b="1">
                <a:solidFill>
                  <a:srgbClr val="2869AF"/>
                </a:solidFill>
                <a:latin typeface="Calibri"/>
                <a:ea typeface="Calibri"/>
                <a:cs typeface="Calibri"/>
              </a:defRPr>
            </a:pPr>
            <a:r>
              <a:rPr sz="3000" b="1" dirty="0">
                <a:solidFill>
                  <a:srgbClr val="2869AF"/>
                </a:solidFill>
                <a:latin typeface="Calibri"/>
                <a:ea typeface="Calibri"/>
                <a:cs typeface="Calibri"/>
              </a:rPr>
              <a:t>3 von 7 </a:t>
            </a:r>
            <a:r>
              <a:rPr lang="de-DE" sz="3000" b="1" dirty="0">
                <a:solidFill>
                  <a:srgbClr val="2869AF"/>
                </a:solidFill>
                <a:latin typeface="Calibri"/>
                <a:ea typeface="Calibri"/>
                <a:cs typeface="Calibri"/>
              </a:rPr>
              <a:t>Griffen erfolgreich</a:t>
            </a:r>
            <a:endParaRPr sz="3000" b="1" dirty="0">
              <a:solidFill>
                <a:srgbClr val="2869AF"/>
              </a:solidFill>
              <a:latin typeface="Calibri"/>
              <a:ea typeface="Calibri"/>
              <a:cs typeface="Calibri"/>
            </a:endParaRPr>
          </a:p>
        </p:txBody>
      </p:sp>
      <p:sp>
        <p:nvSpPr>
          <p:cNvPr id="1005" name="run-after-label">
            <a:extLst>
              <a:ext uri="{FF2B5EF4-FFF2-40B4-BE49-F238E27FC236}">
                <a16:creationId xmlns:a16="http://schemas.microsoft.com/office/drawing/2014/main" id="{BC86444D-A9B6-418E-BEEA-DD6D9DC6EE01}"/>
              </a:ext>
            </a:extLst>
          </p:cNvPr>
          <p:cNvSpPr>
            <a:spLocks noGrp="1"/>
          </p:cNvSpPr>
          <p:nvPr/>
        </p:nvSpPr>
        <p:spPr>
          <a:xfrm>
            <a:off x="6990109" y="2177500"/>
            <a:ext cx="4095750" cy="661776"/>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61707D"/>
                </a:solidFill>
                <a:latin typeface="Calibri"/>
                <a:ea typeface="Calibri"/>
                <a:cs typeface="Calibri"/>
              </a:defRPr>
            </a:pPr>
            <a:r>
              <a:rPr sz="2000" b="0" dirty="0" err="1">
                <a:solidFill>
                  <a:srgbClr val="61707D"/>
                </a:solidFill>
                <a:latin typeface="Calibri"/>
                <a:ea typeface="Calibri"/>
                <a:cs typeface="Calibri"/>
              </a:rPr>
              <a:t>Zeitgrenzen</a:t>
            </a:r>
            <a:r>
              <a:rPr sz="2000" b="0" dirty="0">
                <a:solidFill>
                  <a:srgbClr val="61707D"/>
                </a:solidFill>
                <a:latin typeface="Calibri"/>
                <a:ea typeface="Calibri"/>
                <a:cs typeface="Calibri"/>
              </a:rPr>
              <a:t> </a:t>
            </a:r>
            <a:r>
              <a:rPr sz="2000" b="0" dirty="0" err="1">
                <a:solidFill>
                  <a:srgbClr val="61707D"/>
                </a:solidFill>
                <a:latin typeface="Calibri"/>
                <a:ea typeface="Calibri"/>
                <a:cs typeface="Calibri"/>
              </a:rPr>
              <a:t>angepasst</a:t>
            </a:r>
            <a:endParaRPr lang="de-DE" sz="2000" b="0" dirty="0">
              <a:solidFill>
                <a:srgbClr val="61707D"/>
              </a:solidFill>
              <a:latin typeface="Calibri"/>
              <a:ea typeface="Calibri"/>
              <a:cs typeface="Calibri"/>
            </a:endParaRPr>
          </a:p>
          <a:p>
            <a:pPr algn="l">
              <a:lnSpc>
                <a:spcPct val="105000"/>
              </a:lnSpc>
              <a:spcBef>
                <a:spcPts val="0"/>
              </a:spcBef>
              <a:spcAft>
                <a:spcPts val="0"/>
              </a:spcAft>
              <a:buNone/>
              <a:defRPr sz="2000" b="0">
                <a:solidFill>
                  <a:srgbClr val="61707D"/>
                </a:solidFill>
                <a:latin typeface="Calibri"/>
                <a:ea typeface="Calibri"/>
                <a:cs typeface="Calibri"/>
              </a:defRPr>
            </a:pPr>
            <a:r>
              <a:rPr lang="de-DE" sz="2000" dirty="0">
                <a:solidFill>
                  <a:srgbClr val="61707D"/>
                </a:solidFill>
                <a:latin typeface="Calibri"/>
                <a:ea typeface="Calibri"/>
                <a:cs typeface="Calibri"/>
              </a:rPr>
              <a:t>(Extrapolationsgrenze, Ziel-Timeout)</a:t>
            </a:r>
            <a:endParaRPr sz="2000" b="0" dirty="0">
              <a:solidFill>
                <a:srgbClr val="61707D"/>
              </a:solidFill>
              <a:latin typeface="Calibri"/>
              <a:ea typeface="Calibri"/>
              <a:cs typeface="Calibri"/>
            </a:endParaRPr>
          </a:p>
        </p:txBody>
      </p:sp>
      <p:sp>
        <p:nvSpPr>
          <p:cNvPr id="1006" name="run-after-value">
            <a:extLst>
              <a:ext uri="{FF2B5EF4-FFF2-40B4-BE49-F238E27FC236}">
                <a16:creationId xmlns:a16="http://schemas.microsoft.com/office/drawing/2014/main" id="{73FDCB29-0031-4C87-9CF6-2D0BBE815EF9}"/>
              </a:ext>
            </a:extLst>
          </p:cNvPr>
          <p:cNvSpPr>
            <a:spLocks noGrp="1"/>
          </p:cNvSpPr>
          <p:nvPr/>
        </p:nvSpPr>
        <p:spPr>
          <a:xfrm>
            <a:off x="6990108" y="2877376"/>
            <a:ext cx="4364355" cy="504825"/>
          </a:xfrm>
          <a:prstGeom prst="rect">
            <a:avLst/>
          </a:prstGeom>
          <a:noFill/>
          <a:ln w="0">
            <a:noFill/>
          </a:ln>
        </p:spPr>
        <p:txBody>
          <a:bodyPr wrap="square" lIns="0" tIns="0" rIns="0" bIns="0" anchor="t">
            <a:noAutofit/>
          </a:bodyPr>
          <a:lstStyle/>
          <a:p>
            <a:pPr>
              <a:lnSpc>
                <a:spcPct val="105000"/>
              </a:lnSpc>
              <a:defRPr sz="3000" b="1">
                <a:solidFill>
                  <a:srgbClr val="2869AF"/>
                </a:solidFill>
                <a:latin typeface="Calibri"/>
                <a:ea typeface="Calibri"/>
                <a:cs typeface="Calibri"/>
              </a:defRPr>
            </a:pPr>
            <a:r>
              <a:rPr sz="3000" b="1" dirty="0">
                <a:solidFill>
                  <a:srgbClr val="2869AF"/>
                </a:solidFill>
                <a:latin typeface="Calibri"/>
                <a:ea typeface="Calibri"/>
                <a:cs typeface="Calibri"/>
              </a:rPr>
              <a:t>9 von 9 </a:t>
            </a:r>
            <a:r>
              <a:rPr lang="de-DE" sz="3000" b="1" dirty="0">
                <a:solidFill>
                  <a:srgbClr val="2869AF"/>
                </a:solidFill>
                <a:latin typeface="Calibri"/>
                <a:ea typeface="Calibri"/>
                <a:cs typeface="Calibri"/>
              </a:rPr>
              <a:t>Griffen erfolgreich</a:t>
            </a:r>
            <a:endParaRPr sz="3000" b="1" dirty="0">
              <a:solidFill>
                <a:srgbClr val="2869AF"/>
              </a:solidFill>
              <a:latin typeface="Calibri"/>
              <a:ea typeface="Calibri"/>
              <a:cs typeface="Calibri"/>
            </a:endParaRPr>
          </a:p>
        </p:txBody>
      </p:sp>
      <p:sp>
        <p:nvSpPr>
          <p:cNvPr id="1007" name="run-endurance-label">
            <a:extLst>
              <a:ext uri="{FF2B5EF4-FFF2-40B4-BE49-F238E27FC236}">
                <a16:creationId xmlns:a16="http://schemas.microsoft.com/office/drawing/2014/main" id="{196F3EA7-FA3B-4A61-B5F5-401C8CF494EE}"/>
              </a:ext>
            </a:extLst>
          </p:cNvPr>
          <p:cNvSpPr>
            <a:spLocks noGrp="1"/>
          </p:cNvSpPr>
          <p:nvPr/>
        </p:nvSpPr>
        <p:spPr>
          <a:xfrm>
            <a:off x="6990108" y="3616258"/>
            <a:ext cx="4095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61707D"/>
                </a:solidFill>
                <a:latin typeface="Calibri"/>
                <a:ea typeface="Calibri"/>
                <a:cs typeface="Calibri"/>
              </a:defRPr>
            </a:pPr>
            <a:r>
              <a:rPr sz="2000" b="0" dirty="0" err="1">
                <a:solidFill>
                  <a:srgbClr val="61707D"/>
                </a:solidFill>
                <a:latin typeface="Calibri"/>
                <a:ea typeface="Calibri"/>
                <a:cs typeface="Calibri"/>
              </a:rPr>
              <a:t>Separater</a:t>
            </a:r>
            <a:r>
              <a:rPr sz="2000" b="0" dirty="0">
                <a:solidFill>
                  <a:srgbClr val="61707D"/>
                </a:solidFill>
                <a:latin typeface="Calibri"/>
                <a:ea typeface="Calibri"/>
                <a:cs typeface="Calibri"/>
              </a:rPr>
              <a:t> Dauerlauf</a:t>
            </a:r>
          </a:p>
        </p:txBody>
      </p:sp>
      <p:sp>
        <p:nvSpPr>
          <p:cNvPr id="1008" name="run-endurance-value">
            <a:extLst>
              <a:ext uri="{FF2B5EF4-FFF2-40B4-BE49-F238E27FC236}">
                <a16:creationId xmlns:a16="http://schemas.microsoft.com/office/drawing/2014/main" id="{518E772B-2299-45A5-9731-0FBB03B056D5}"/>
              </a:ext>
            </a:extLst>
          </p:cNvPr>
          <p:cNvSpPr>
            <a:spLocks noGrp="1"/>
          </p:cNvSpPr>
          <p:nvPr/>
        </p:nvSpPr>
        <p:spPr>
          <a:xfrm>
            <a:off x="6990108" y="3987522"/>
            <a:ext cx="4095750" cy="4762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700" b="1">
                <a:solidFill>
                  <a:srgbClr val="2869AF"/>
                </a:solidFill>
                <a:latin typeface="Calibri"/>
                <a:ea typeface="Calibri"/>
                <a:cs typeface="Calibri"/>
              </a:defRPr>
            </a:pPr>
            <a:r>
              <a:rPr sz="2700" b="1" dirty="0">
                <a:solidFill>
                  <a:srgbClr val="2869AF"/>
                </a:solidFill>
                <a:latin typeface="Calibri"/>
                <a:ea typeface="Calibri"/>
                <a:cs typeface="Calibri"/>
              </a:rPr>
              <a:t>15 </a:t>
            </a:r>
            <a:r>
              <a:rPr sz="2700" b="1" dirty="0" err="1">
                <a:solidFill>
                  <a:srgbClr val="2869AF"/>
                </a:solidFill>
                <a:latin typeface="Calibri"/>
                <a:ea typeface="Calibri"/>
                <a:cs typeface="Calibri"/>
              </a:rPr>
              <a:t>Ablagen</a:t>
            </a:r>
            <a:r>
              <a:rPr sz="2700" b="1" dirty="0">
                <a:solidFill>
                  <a:srgbClr val="2869AF"/>
                </a:solidFill>
                <a:latin typeface="Calibri"/>
                <a:ea typeface="Calibri"/>
                <a:cs typeface="Calibri"/>
              </a:rPr>
              <a:t> / ca. 2 min</a:t>
            </a:r>
          </a:p>
        </p:txBody>
      </p:sp>
      <p:sp>
        <p:nvSpPr>
          <p:cNvPr id="1009" name="run-other">
            <a:extLst>
              <a:ext uri="{FF2B5EF4-FFF2-40B4-BE49-F238E27FC236}">
                <a16:creationId xmlns:a16="http://schemas.microsoft.com/office/drawing/2014/main" id="{38E55A21-ED92-408E-844E-61389314752C}"/>
              </a:ext>
            </a:extLst>
          </p:cNvPr>
          <p:cNvSpPr>
            <a:spLocks noGrp="1"/>
          </p:cNvSpPr>
          <p:nvPr/>
        </p:nvSpPr>
        <p:spPr>
          <a:xfrm>
            <a:off x="6990108" y="4530447"/>
            <a:ext cx="4095750" cy="7429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17232E"/>
                </a:solidFill>
                <a:latin typeface="Calibri"/>
                <a:ea typeface="Calibri"/>
                <a:cs typeface="Calibri"/>
              </a:defRPr>
            </a:pPr>
            <a:r>
              <a:rPr sz="2000" b="0">
                <a:solidFill>
                  <a:srgbClr val="17232E"/>
                </a:solidFill>
                <a:latin typeface="Calibri"/>
                <a:ea typeface="Calibri"/>
                <a:cs typeface="Calibri"/>
              </a:rPr>
              <a:t>1 Fehlgriff</a:t>
            </a:r>
          </a:p>
          <a:p>
            <a:pPr algn="l">
              <a:lnSpc>
                <a:spcPct val="105000"/>
              </a:lnSpc>
              <a:spcBef>
                <a:spcPts val="0"/>
              </a:spcBef>
              <a:spcAft>
                <a:spcPts val="0"/>
              </a:spcAft>
              <a:buNone/>
              <a:defRPr sz="2000" b="0">
                <a:solidFill>
                  <a:srgbClr val="17232E"/>
                </a:solidFill>
                <a:latin typeface="Calibri"/>
                <a:ea typeface="Calibri"/>
                <a:cs typeface="Calibri"/>
              </a:defRPr>
            </a:pPr>
            <a:r>
              <a:rPr sz="2000" b="0">
                <a:solidFill>
                  <a:srgbClr val="17232E"/>
                </a:solidFill>
                <a:latin typeface="Calibri"/>
                <a:ea typeface="Calibri"/>
                <a:cs typeface="Calibri"/>
              </a:rPr>
              <a:t>9 durchgelaufene Klötze</a:t>
            </a:r>
          </a:p>
        </p:txBody>
      </p:sp>
      <p:sp>
        <p:nvSpPr>
          <p:cNvPr id="1010" name="higher-stage">
            <a:extLst>
              <a:ext uri="{FF2B5EF4-FFF2-40B4-BE49-F238E27FC236}">
                <a16:creationId xmlns:a16="http://schemas.microsoft.com/office/drawing/2014/main" id="{D234FBCF-B69D-4AE1-A8B0-02A57F89C92B}"/>
              </a:ext>
            </a:extLst>
          </p:cNvPr>
          <p:cNvSpPr>
            <a:spLocks noGrp="1"/>
          </p:cNvSpPr>
          <p:nvPr/>
        </p:nvSpPr>
        <p:spPr>
          <a:xfrm>
            <a:off x="333375" y="4733099"/>
            <a:ext cx="6334125" cy="7810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100" b="0">
                <a:solidFill>
                  <a:srgbClr val="2869AF"/>
                </a:solidFill>
                <a:latin typeface="Calibri"/>
                <a:ea typeface="Calibri"/>
                <a:cs typeface="Calibri"/>
              </a:defRPr>
            </a:pPr>
            <a:r>
              <a:rPr lang="de-DE" sz="2100" dirty="0">
                <a:solidFill>
                  <a:srgbClr val="2869AF"/>
                </a:solidFill>
                <a:latin typeface="Calibri"/>
                <a:ea typeface="Calibri"/>
                <a:cs typeface="Calibri"/>
              </a:rPr>
              <a:t>h</a:t>
            </a:r>
            <a:r>
              <a:rPr sz="2100" b="0" dirty="0" err="1">
                <a:solidFill>
                  <a:srgbClr val="2869AF"/>
                </a:solidFill>
                <a:latin typeface="Calibri"/>
                <a:ea typeface="Calibri"/>
                <a:cs typeface="Calibri"/>
              </a:rPr>
              <a:t>öhere</a:t>
            </a:r>
            <a:r>
              <a:rPr sz="2100" b="0" dirty="0">
                <a:solidFill>
                  <a:srgbClr val="2869AF"/>
                </a:solidFill>
                <a:latin typeface="Calibri"/>
                <a:ea typeface="Calibri"/>
                <a:cs typeface="Calibri"/>
              </a:rPr>
              <a:t> Band</a:t>
            </a:r>
            <a:r>
              <a:rPr lang="de-DE" sz="2100" b="0" dirty="0" err="1">
                <a:solidFill>
                  <a:srgbClr val="2869AF"/>
                </a:solidFill>
                <a:latin typeface="Calibri"/>
                <a:ea typeface="Calibri"/>
                <a:cs typeface="Calibri"/>
              </a:rPr>
              <a:t>geschwindigkeiten</a:t>
            </a:r>
            <a:r>
              <a:rPr sz="2100" b="0" dirty="0">
                <a:solidFill>
                  <a:srgbClr val="2869AF"/>
                </a:solidFill>
                <a:latin typeface="Calibri"/>
                <a:ea typeface="Calibri"/>
                <a:cs typeface="Calibri"/>
              </a:rPr>
              <a:t> bis </a:t>
            </a:r>
            <a:r>
              <a:rPr lang="de-DE" sz="2100" b="0" dirty="0">
                <a:solidFill>
                  <a:srgbClr val="2869AF"/>
                </a:solidFill>
                <a:latin typeface="Calibri"/>
                <a:ea typeface="Calibri"/>
                <a:cs typeface="Calibri"/>
              </a:rPr>
              <a:t>Stufe </a:t>
            </a:r>
            <a:r>
              <a:rPr sz="2100" b="0" dirty="0">
                <a:solidFill>
                  <a:srgbClr val="2869AF"/>
                </a:solidFill>
                <a:latin typeface="Calibri"/>
                <a:ea typeface="Calibri"/>
                <a:cs typeface="Calibri"/>
              </a:rPr>
              <a:t>3</a:t>
            </a:r>
          </a:p>
          <a:p>
            <a:pPr algn="l">
              <a:lnSpc>
                <a:spcPct val="105000"/>
              </a:lnSpc>
              <a:spcBef>
                <a:spcPts val="0"/>
              </a:spcBef>
              <a:spcAft>
                <a:spcPts val="0"/>
              </a:spcAft>
              <a:buNone/>
              <a:defRPr sz="2100" b="0">
                <a:solidFill>
                  <a:srgbClr val="2869AF"/>
                </a:solidFill>
                <a:latin typeface="Calibri"/>
                <a:ea typeface="Calibri"/>
                <a:cs typeface="Calibri"/>
              </a:defRPr>
            </a:pPr>
            <a:r>
              <a:rPr lang="de-DE" sz="2100" dirty="0">
                <a:solidFill>
                  <a:srgbClr val="2869AF"/>
                </a:solidFill>
                <a:latin typeface="Calibri"/>
                <a:ea typeface="Calibri"/>
                <a:cs typeface="Calibri"/>
              </a:rPr>
              <a:t>q</a:t>
            </a:r>
            <a:r>
              <a:rPr sz="2100" b="0" dirty="0" err="1">
                <a:solidFill>
                  <a:srgbClr val="2869AF"/>
                </a:solidFill>
                <a:latin typeface="Calibri"/>
                <a:ea typeface="Calibri"/>
                <a:cs typeface="Calibri"/>
              </a:rPr>
              <a:t>ualitativ</a:t>
            </a:r>
            <a:r>
              <a:rPr sz="2100" b="0" dirty="0">
                <a:solidFill>
                  <a:srgbClr val="2869AF"/>
                </a:solidFill>
                <a:latin typeface="Calibri"/>
                <a:ea typeface="Calibri"/>
                <a:cs typeface="Calibri"/>
              </a:rPr>
              <a:t> </a:t>
            </a:r>
            <a:r>
              <a:rPr sz="2100" b="0" dirty="0" err="1">
                <a:solidFill>
                  <a:srgbClr val="2869AF"/>
                </a:solidFill>
                <a:latin typeface="Calibri"/>
                <a:ea typeface="Calibri"/>
                <a:cs typeface="Calibri"/>
              </a:rPr>
              <a:t>erfolgreich</a:t>
            </a:r>
            <a:endParaRPr sz="2100" b="0" dirty="0">
              <a:solidFill>
                <a:srgbClr val="2869AF"/>
              </a:solidFill>
              <a:latin typeface="Calibri"/>
              <a:ea typeface="Calibri"/>
              <a:cs typeface="Calibri"/>
            </a:endParaRPr>
          </a:p>
        </p:txBody>
      </p:sp>
      <p:sp>
        <p:nvSpPr>
          <p:cNvPr id="1011" name="caption-12">
            <a:extLst>
              <a:ext uri="{FF2B5EF4-FFF2-40B4-BE49-F238E27FC236}">
                <a16:creationId xmlns:a16="http://schemas.microsoft.com/office/drawing/2014/main" id="{63671181-1977-4B60-A38B-05721186480C}"/>
              </a:ext>
            </a:extLst>
          </p:cNvPr>
          <p:cNvSpPr>
            <a:spLocks noGrp="1"/>
          </p:cNvSpPr>
          <p:nvPr/>
        </p:nvSpPr>
        <p:spPr>
          <a:xfrm>
            <a:off x="333375" y="5571299"/>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dirty="0" err="1">
                <a:solidFill>
                  <a:srgbClr val="61707D"/>
                </a:solidFill>
                <a:latin typeface="Calibri"/>
                <a:ea typeface="Calibri"/>
                <a:cs typeface="Calibri"/>
              </a:rPr>
              <a:t>Entwicklungsläufe</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mit</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unterschiedlichen</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Konfigurationen</a:t>
            </a:r>
            <a:endParaRPr sz="1200" b="0" dirty="0">
              <a:solidFill>
                <a:srgbClr val="61707D"/>
              </a:solidFill>
              <a:latin typeface="Calibri"/>
              <a:ea typeface="Calibri"/>
              <a:cs typeface="Calibri"/>
            </a:endParaRP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09.10.2026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18</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theme/theme1.xml><?xml version="1.0" encoding="utf-8"?>
<a:theme xmlns:a="http://schemas.openxmlformats.org/drawingml/2006/main" name="MMT_Präsentation // Cover">
  <a:themeElements>
    <a:clrScheme name="HKA _ RGB _200330">
      <a:dk1>
        <a:srgbClr val="000000"/>
      </a:dk1>
      <a:lt1>
        <a:srgbClr val="FFFFFF"/>
      </a:lt1>
      <a:dk2>
        <a:srgbClr val="FFFFFF"/>
      </a:dk2>
      <a:lt2>
        <a:srgbClr val="D72305"/>
      </a:lt2>
      <a:accent1>
        <a:srgbClr val="D62305"/>
      </a:accent1>
      <a:accent2>
        <a:srgbClr val="8C2C82"/>
      </a:accent2>
      <a:accent3>
        <a:srgbClr val="64378C"/>
      </a:accent3>
      <a:accent4>
        <a:srgbClr val="004F92"/>
      </a:accent4>
      <a:accent5>
        <a:srgbClr val="2869AF"/>
      </a:accent5>
      <a:accent6>
        <a:srgbClr val="198282"/>
      </a:accent6>
      <a:hlink>
        <a:srgbClr val="288705"/>
      </a:hlink>
      <a:folHlink>
        <a:srgbClr val="D6230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ln>
          <a:solidFill>
            <a:schemeClr val="accent1"/>
          </a:solidFill>
        </a:ln>
      </a:spPr>
      <a:bodyPr anchor="b">
        <a:noAutofit/>
      </a:bodyPr>
      <a:lstStyle>
        <a:defPPr algn="l">
          <a:defRPr dirty="0" err="1" smtClean="0"/>
        </a:defPPr>
      </a:lstStyle>
    </a:txDef>
  </a:objectDefaults>
  <a:extraClrSchemeLst/>
  <a:extLst>
    <a:ext uri="{05A4C25C-085E-4340-85A3-A5531E510DB2}">
      <thm15:themeFamily xmlns:thm15="http://schemas.microsoft.com/office/thememl/2012/main" name="Powerpoint-HKA_MMT_16-9.pptx" id="{A962E0ED-618D-4E05-9C47-5258E298CEC2}" vid="{2B1A4854-DCC0-496D-9A17-EB050DF25C9A}"/>
    </a:ext>
  </a:extLst>
</a:theme>
</file>

<file path=ppt/theme/theme2.xml><?xml version="1.0" encoding="utf-8"?>
<a:theme xmlns:a="http://schemas.openxmlformats.org/drawingml/2006/main" name="MMT_Präsentation // Inhalt">
  <a:themeElements>
    <a:clrScheme name="HKA RGB 200528">
      <a:dk1>
        <a:srgbClr val="000000"/>
      </a:dk1>
      <a:lt1>
        <a:srgbClr val="FFFFFF"/>
      </a:lt1>
      <a:dk2>
        <a:srgbClr val="FFFFFF"/>
      </a:dk2>
      <a:lt2>
        <a:srgbClr val="288632"/>
      </a:lt2>
      <a:accent1>
        <a:srgbClr val="D62305"/>
      </a:accent1>
      <a:accent2>
        <a:srgbClr val="8C2C82"/>
      </a:accent2>
      <a:accent3>
        <a:srgbClr val="64378C"/>
      </a:accent3>
      <a:accent4>
        <a:srgbClr val="004F92"/>
      </a:accent4>
      <a:accent5>
        <a:srgbClr val="2869AF"/>
      </a:accent5>
      <a:accent6>
        <a:srgbClr val="198282"/>
      </a:accent6>
      <a:hlink>
        <a:srgbClr val="288705"/>
      </a:hlink>
      <a:folHlink>
        <a:srgbClr val="D6230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ln>
          <a:noFill/>
        </a:ln>
      </a:spPr>
      <a:bodyPr wrap="none" lIns="0" tIns="0" rIns="0" bIns="0" rtlCol="0" anchor="t" anchorCtr="0">
        <a:noAutofit/>
      </a:bodyPr>
      <a:lstStyle>
        <a:defPPr algn="l">
          <a:defRPr sz="2500" dirty="0" err="1" smtClean="0">
            <a:latin typeface="Calibri" pitchFamily="2" charset="77"/>
          </a:defRPr>
        </a:defPPr>
      </a:lstStyle>
    </a:txDef>
  </a:objectDefaults>
  <a:extraClrSchemeLst/>
  <a:extLst>
    <a:ext uri="{05A4C25C-085E-4340-85A3-A5531E510DB2}">
      <thm15:themeFamily xmlns:thm15="http://schemas.microsoft.com/office/thememl/2012/main" name="Powerpoint-HKA_MMT_16-9.pptx" id="{A962E0ED-618D-4E05-9C47-5258E298CEC2}" vid="{0C2CCC8C-4BE5-4CFB-BED5-23031B06809B}"/>
    </a:ext>
  </a:extLst>
</a:theme>
</file>

<file path=ppt/theme/theme3.xml><?xml version="1.0" encoding="utf-8"?>
<a:theme xmlns:a="http://schemas.openxmlformats.org/drawingml/2006/main" name="MMT_Präsentation // ENDE">
  <a:themeElements>
    <a:clrScheme name="HKA RGB_">
      <a:dk1>
        <a:srgbClr val="000000"/>
      </a:dk1>
      <a:lt1>
        <a:srgbClr val="FFFFFF"/>
      </a:lt1>
      <a:dk2>
        <a:srgbClr val="FFFFFF"/>
      </a:dk2>
      <a:lt2>
        <a:srgbClr val="E5322A"/>
      </a:lt2>
      <a:accent1>
        <a:srgbClr val="E53214"/>
      </a:accent1>
      <a:accent2>
        <a:srgbClr val="8B2C83"/>
      </a:accent2>
      <a:accent3>
        <a:srgbClr val="633680"/>
      </a:accent3>
      <a:accent4>
        <a:srgbClr val="1D4595"/>
      </a:accent4>
      <a:accent5>
        <a:srgbClr val="2869AF"/>
      </a:accent5>
      <a:accent6>
        <a:srgbClr val="198282"/>
      </a:accent6>
      <a:hlink>
        <a:srgbClr val="32AA45"/>
      </a:hlink>
      <a:folHlink>
        <a:srgbClr val="E63214"/>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HKA_MMT_16-9.pptx" id="{A962E0ED-618D-4E05-9C47-5258E298CEC2}" vid="{774C135F-2BA4-425F-B2F9-A7FB0ED19C24}"/>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Powerpoint-HKA_MMT_16-9_styles</Template>
  <TotalTime>0</TotalTime>
  <Words>3890</Words>
  <Application>Microsoft Macintosh PowerPoint</Application>
  <PresentationFormat>Breitbild</PresentationFormat>
  <Paragraphs>379</Paragraphs>
  <Slides>18</Slides>
  <Notes>14</Notes>
  <HiddenSlides>0</HiddenSlides>
  <MMClips>0</MMClips>
  <ScaleCrop>false</ScaleCrop>
  <HeadingPairs>
    <vt:vector size="6" baseType="variant">
      <vt:variant>
        <vt:lpstr>Verwendete Schriftarten</vt:lpstr>
      </vt:variant>
      <vt:variant>
        <vt:i4>4</vt:i4>
      </vt:variant>
      <vt:variant>
        <vt:lpstr>Design</vt:lpstr>
      </vt:variant>
      <vt:variant>
        <vt:i4>3</vt:i4>
      </vt:variant>
      <vt:variant>
        <vt:lpstr>Folientitel</vt:lpstr>
      </vt:variant>
      <vt:variant>
        <vt:i4>18</vt:i4>
      </vt:variant>
    </vt:vector>
  </HeadingPairs>
  <TitlesOfParts>
    <vt:vector size="25" baseType="lpstr">
      <vt:lpstr>Calibri Bold</vt:lpstr>
      <vt:lpstr>Arial</vt:lpstr>
      <vt:lpstr>Calibri</vt:lpstr>
      <vt:lpstr>Wingdings</vt:lpstr>
      <vt:lpstr>MMT_Präsentation // Cover</vt:lpstr>
      <vt:lpstr>MMT_Präsentation // Inhalt</vt:lpstr>
      <vt:lpstr>MMT_Präsentation // ENDE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Luis Göbes</dc:creator>
  <cp:keywords/>
  <dc:description/>
  <cp:lastModifiedBy>Lukas Norz</cp:lastModifiedBy>
  <cp:revision>7</cp:revision>
  <cp:lastPrinted>2020-09-16T09:23:03Z</cp:lastPrinted>
  <dcterms:created xsi:type="dcterms:W3CDTF">2024-06-23T17:11:02Z</dcterms:created>
  <dcterms:modified xsi:type="dcterms:W3CDTF">2026-10-09T09:38:33Z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0x010100929829DF8264B34C91F4BFE28CF5CC7F</vt:lpwstr>
  </property>
  <property fmtid="{D5CDD505-2E9C-101B-9397-08002B2CF9AE}" pid="3" name="MediaServiceImageTags">
    <vt:lpwstr/>
  </property>
</Properties>
</file>